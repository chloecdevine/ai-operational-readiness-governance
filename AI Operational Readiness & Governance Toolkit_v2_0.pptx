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91"/>
  </p:notesMasterIdLst>
  <p:sldIdLst>
    <p:sldId id="256" r:id="rId2"/>
    <p:sldId id="257" r:id="rId3"/>
    <p:sldId id="268" r:id="rId4"/>
    <p:sldId id="258" r:id="rId5"/>
    <p:sldId id="259" r:id="rId6"/>
    <p:sldId id="260" r:id="rId7"/>
    <p:sldId id="261" r:id="rId8"/>
    <p:sldId id="262" r:id="rId9"/>
    <p:sldId id="263" r:id="rId10"/>
    <p:sldId id="267" r:id="rId11"/>
    <p:sldId id="264" r:id="rId12"/>
    <p:sldId id="265" r:id="rId13"/>
    <p:sldId id="266"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319" r:id="rId64"/>
    <p:sldId id="320" r:id="rId65"/>
    <p:sldId id="321" r:id="rId66"/>
    <p:sldId id="322" r:id="rId67"/>
    <p:sldId id="323" r:id="rId68"/>
    <p:sldId id="324" r:id="rId69"/>
    <p:sldId id="325" r:id="rId70"/>
    <p:sldId id="326" r:id="rId71"/>
    <p:sldId id="327" r:id="rId72"/>
    <p:sldId id="328" r:id="rId73"/>
    <p:sldId id="329" r:id="rId74"/>
    <p:sldId id="330" r:id="rId75"/>
    <p:sldId id="331" r:id="rId76"/>
    <p:sldId id="332" r:id="rId77"/>
    <p:sldId id="333" r:id="rId78"/>
    <p:sldId id="334" r:id="rId79"/>
    <p:sldId id="335" r:id="rId80"/>
    <p:sldId id="336" r:id="rId81"/>
    <p:sldId id="337" r:id="rId82"/>
    <p:sldId id="338" r:id="rId83"/>
    <p:sldId id="339" r:id="rId84"/>
    <p:sldId id="340" r:id="rId85"/>
    <p:sldId id="341" r:id="rId86"/>
    <p:sldId id="342" r:id="rId87"/>
    <p:sldId id="343" r:id="rId88"/>
    <p:sldId id="344" r:id="rId89"/>
    <p:sldId id="269" r:id="rId9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iscovery Workbook" id="{2A69330E-7D08-475B-BB8A-E9B522107782}">
          <p14:sldIdLst>
            <p14:sldId id="256"/>
            <p14:sldId id="257"/>
            <p14:sldId id="268"/>
            <p14:sldId id="258"/>
            <p14:sldId id="259"/>
            <p14:sldId id="260"/>
            <p14:sldId id="261"/>
            <p14:sldId id="262"/>
            <p14:sldId id="263"/>
            <p14:sldId id="267"/>
            <p14:sldId id="264"/>
            <p14:sldId id="265"/>
            <p14:sldId id="266"/>
          </p14:sldIdLst>
        </p14:section>
        <p14:section name="Opportunity Prioritization Matrix" id="{DAC48674-901F-41D6-BD3C-36161D318846}">
          <p14:sldIdLst>
            <p14:sldId id="270"/>
            <p14:sldId id="271"/>
            <p14:sldId id="272"/>
            <p14:sldId id="273"/>
            <p14:sldId id="274"/>
            <p14:sldId id="275"/>
            <p14:sldId id="276"/>
          </p14:sldIdLst>
        </p14:section>
        <p14:section name="AI Use Case Categories" id="{871D7B9F-DB46-4EAC-AACB-028DB1DA7DC8}">
          <p14:sldIdLst>
            <p14:sldId id="277"/>
            <p14:sldId id="278"/>
            <p14:sldId id="279"/>
            <p14:sldId id="280"/>
            <p14:sldId id="281"/>
            <p14:sldId id="282"/>
            <p14:sldId id="283"/>
            <p14:sldId id="284"/>
            <p14:sldId id="285"/>
            <p14:sldId id="286"/>
            <p14:sldId id="287"/>
          </p14:sldIdLst>
        </p14:section>
        <p14:section name="Current-State - Future-State Framework" id="{021B850F-26C6-4D56-996C-243522CD45DB}">
          <p14:sldIdLst>
            <p14:sldId id="288"/>
            <p14:sldId id="289"/>
            <p14:sldId id="290"/>
            <p14:sldId id="291"/>
            <p14:sldId id="292"/>
            <p14:sldId id="293"/>
            <p14:sldId id="294"/>
            <p14:sldId id="295"/>
            <p14:sldId id="296"/>
            <p14:sldId id="297"/>
          </p14:sldIdLst>
        </p14:section>
        <p14:section name="Decision Rights Framework" id="{FA9CD696-4BAB-414A-804E-B69FAA881B8E}">
          <p14:sldIdLst>
            <p14:sldId id="298"/>
            <p14:sldId id="299"/>
            <p14:sldId id="300"/>
            <p14:sldId id="301"/>
            <p14:sldId id="302"/>
            <p14:sldId id="303"/>
            <p14:sldId id="304"/>
            <p14:sldId id="305"/>
            <p14:sldId id="306"/>
            <p14:sldId id="307"/>
            <p14:sldId id="308"/>
          </p14:sldIdLst>
        </p14:section>
        <p14:section name="Evidence Framework" id="{D1ECE013-FF14-4903-B584-1A32F6D2799B}">
          <p14:sldIdLst>
            <p14:sldId id="309"/>
            <p14:sldId id="310"/>
            <p14:sldId id="311"/>
            <p14:sldId id="312"/>
            <p14:sldId id="313"/>
            <p14:sldId id="314"/>
            <p14:sldId id="315"/>
            <p14:sldId id="316"/>
            <p14:sldId id="317"/>
            <p14:sldId id="318"/>
          </p14:sldIdLst>
        </p14:section>
        <p14:section name="Pilot Readiness Framework" id="{9AE73309-191A-413B-865B-85729FE62E59}">
          <p14:sldIdLst>
            <p14:sldId id="319"/>
            <p14:sldId id="320"/>
            <p14:sldId id="321"/>
            <p14:sldId id="322"/>
            <p14:sldId id="323"/>
            <p14:sldId id="324"/>
            <p14:sldId id="325"/>
            <p14:sldId id="326"/>
            <p14:sldId id="327"/>
            <p14:sldId id="328"/>
            <p14:sldId id="329"/>
            <p14:sldId id="330"/>
            <p14:sldId id="331"/>
          </p14:sldIdLst>
        </p14:section>
        <p14:section name="AI Opportunity Executive Briefing" id="{5131D2D8-EE74-4257-82D5-5A07DABE3368}">
          <p14:sldIdLst>
            <p14:sldId id="332"/>
            <p14:sldId id="333"/>
            <p14:sldId id="334"/>
            <p14:sldId id="335"/>
            <p14:sldId id="336"/>
            <p14:sldId id="337"/>
            <p14:sldId id="338"/>
            <p14:sldId id="339"/>
            <p14:sldId id="340"/>
            <p14:sldId id="341"/>
            <p14:sldId id="342"/>
            <p14:sldId id="343"/>
            <p14:sldId id="344"/>
          </p14:sldIdLst>
        </p14:section>
        <p14:section name="Toolkit Use &amp; Attribution" id="{F62FD256-506A-4718-BE30-39807C16C429}">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1836"/>
    <a:srgbClr val="0396A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83414" autoAdjust="0"/>
  </p:normalViewPr>
  <p:slideViewPr>
    <p:cSldViewPr snapToGrid="0">
      <p:cViewPr varScale="1">
        <p:scale>
          <a:sx n="88" d="100"/>
          <a:sy n="88" d="100"/>
        </p:scale>
        <p:origin x="3864" y="66"/>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tableStyles" Target="tableStyle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AAA174-5B9F-4F33-A9A5-AB3E46EB36D0}" type="datetimeFigureOut">
              <a:rPr lang="en-US" smtClean="0"/>
              <a:t>9/26/2026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9129AA-2745-4BF0-814C-26B881CAE40E}" type="slidenum">
              <a:rPr lang="en-US" smtClean="0"/>
              <a:t>‹#›</a:t>
            </a:fld>
            <a:endParaRPr lang="en-US"/>
          </a:p>
        </p:txBody>
      </p:sp>
    </p:spTree>
    <p:extLst>
      <p:ext uri="{BB962C8B-B14F-4D97-AF65-F5344CB8AC3E}">
        <p14:creationId xmlns:p14="http://schemas.microsoft.com/office/powerpoint/2010/main" val="23324229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Examples of High-consequence decisions are decisions where being wrong materially harms people, money, customers, compliance, reputation, or operations.</a:t>
            </a:r>
          </a:p>
        </p:txBody>
      </p:sp>
      <p:sp>
        <p:nvSpPr>
          <p:cNvPr id="4" name="Slide Number Placeholder 3"/>
          <p:cNvSpPr>
            <a:spLocks noGrp="1"/>
          </p:cNvSpPr>
          <p:nvPr>
            <p:ph type="sldNum" sz="quarter" idx="5"/>
          </p:nvPr>
        </p:nvSpPr>
        <p:spPr/>
        <p:txBody>
          <a:bodyPr/>
          <a:lstStyle/>
          <a:p>
            <a:fld id="{029129AA-2745-4BF0-814C-26B881CAE40E}" type="slidenum">
              <a:rPr lang="en-US" smtClean="0"/>
              <a:t>7</a:t>
            </a:fld>
            <a:endParaRPr lang="en-US"/>
          </a:p>
        </p:txBody>
      </p:sp>
    </p:spTree>
    <p:extLst>
      <p:ext uri="{BB962C8B-B14F-4D97-AF65-F5344CB8AC3E}">
        <p14:creationId xmlns:p14="http://schemas.microsoft.com/office/powerpoint/2010/main" val="12820123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AA2BFD-432F-3D13-C7F7-D1E4D6A35A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52AC6E-CB79-4C95-5AEE-DACF7D0061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2A05C6-A51A-5ABB-1B2C-AC92E722325B}"/>
              </a:ext>
            </a:extLst>
          </p:cNvPr>
          <p:cNvSpPr>
            <a:spLocks noGrp="1"/>
          </p:cNvSpPr>
          <p:nvPr>
            <p:ph type="body" idx="1"/>
          </p:nvPr>
        </p:nvSpPr>
        <p:spPr/>
        <p:txBody>
          <a:bodyPr/>
          <a:lstStyle/>
          <a:p>
            <a:r>
              <a:rPr lang="en-US" dirty="0"/>
              <a:t>An example of review burden is how much time it takes to verify that AI didn’t make a mistake. Let’s say you have meeting notes and it took 30 minutes to write the notes without AI. With AI it took 5 minutes to generate and 5 minutes to review, meaning you gained 20 minutes so it is a low burden. Organizations often measure faster generation but forget to measure time spent checking outputs, number of corrections, human approval effort, escalations, and rework.</a:t>
            </a:r>
          </a:p>
        </p:txBody>
      </p:sp>
      <p:sp>
        <p:nvSpPr>
          <p:cNvPr id="4" name="Slide Number Placeholder 3">
            <a:extLst>
              <a:ext uri="{FF2B5EF4-FFF2-40B4-BE49-F238E27FC236}">
                <a16:creationId xmlns:a16="http://schemas.microsoft.com/office/drawing/2014/main" id="{816DED6D-649B-963D-A6F7-88ABAC82CB18}"/>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29129AA-2745-4BF0-814C-26B881CAE40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578252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3D9395-CB00-17CA-57F7-1BA8F07714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69CE0B-5555-4D7F-EEA9-E425D0EC1A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8DEA59-38A7-3443-8B01-5D492653613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5380D6C-7EEB-25DA-A249-9098ADA6F8B9}"/>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29129AA-2745-4BF0-814C-26B881CAE40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6783977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25481A-EDD1-79CD-07F3-D957F1B985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036D60-31F3-1DA9-8479-42943FF673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22E43D-B2FB-9466-E962-0FCA91B579F2}"/>
              </a:ext>
            </a:extLst>
          </p:cNvPr>
          <p:cNvSpPr>
            <a:spLocks noGrp="1"/>
          </p:cNvSpPr>
          <p:nvPr>
            <p:ph type="body" idx="1"/>
          </p:nvPr>
        </p:nvSpPr>
        <p:spPr/>
        <p:txBody>
          <a:bodyPr/>
          <a:lstStyle/>
          <a:p>
            <a:r>
              <a:rPr lang="en-US" dirty="0"/>
              <a:t>Silent failure examples include:</a:t>
            </a:r>
            <a:br>
              <a:rPr lang="en-US" dirty="0"/>
            </a:br>
            <a:r>
              <a:rPr lang="en-US" dirty="0"/>
              <a:t>- Hallucinations that aren't reported.</a:t>
            </a:r>
          </a:p>
          <a:p>
            <a:pPr marL="171450" indent="-171450">
              <a:buFontTx/>
              <a:buChar char="-"/>
            </a:pPr>
            <a:r>
              <a:rPr lang="en-US" dirty="0"/>
              <a:t>Employees quietly working around AI.</a:t>
            </a:r>
          </a:p>
          <a:p>
            <a:pPr marL="171450" indent="-171450">
              <a:buFontTx/>
              <a:buChar char="-"/>
            </a:pPr>
            <a:r>
              <a:rPr lang="en-US" dirty="0"/>
              <a:t>Review burden increasing.</a:t>
            </a:r>
          </a:p>
          <a:p>
            <a:pPr marL="171450" indent="-171450">
              <a:buFontTx/>
              <a:buChar char="-"/>
            </a:pPr>
            <a:r>
              <a:rPr lang="en-US" dirty="0"/>
              <a:t>Low trust causing abandonment.</a:t>
            </a:r>
          </a:p>
          <a:p>
            <a:pPr marL="171450" indent="-171450">
              <a:buFontTx/>
              <a:buChar char="-"/>
            </a:pPr>
            <a:endParaRPr lang="en-US" dirty="0"/>
          </a:p>
          <a:p>
            <a:pPr marL="0" indent="0">
              <a:buFontTx/>
              <a:buNone/>
            </a:pPr>
            <a:r>
              <a:rPr lang="en-US" dirty="0"/>
              <a:t>Near misses are “tell me about the things that almost became a crash.”</a:t>
            </a:r>
          </a:p>
        </p:txBody>
      </p:sp>
      <p:sp>
        <p:nvSpPr>
          <p:cNvPr id="4" name="Slide Number Placeholder 3">
            <a:extLst>
              <a:ext uri="{FF2B5EF4-FFF2-40B4-BE49-F238E27FC236}">
                <a16:creationId xmlns:a16="http://schemas.microsoft.com/office/drawing/2014/main" id="{D13FF272-1D5D-87B9-FB4A-08A63F245B0A}"/>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29129AA-2745-4BF0-814C-26B881CAE40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578496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6D5A22-E4F6-04C2-55FC-07A55FD5CE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E399DC-1A34-B67C-A177-AFA4647622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117F63-60AB-F661-D9D4-837FFFB387A4}"/>
              </a:ext>
            </a:extLst>
          </p:cNvPr>
          <p:cNvSpPr>
            <a:spLocks noGrp="1"/>
          </p:cNvSpPr>
          <p:nvPr>
            <p:ph type="body" idx="1"/>
          </p:nvPr>
        </p:nvSpPr>
        <p:spPr/>
        <p:txBody>
          <a:bodyPr/>
          <a:lstStyle/>
          <a:p>
            <a:pPr marL="0" indent="0">
              <a:buFontTx/>
              <a:buNone/>
            </a:pPr>
            <a:endParaRPr lang="en-US" dirty="0"/>
          </a:p>
        </p:txBody>
      </p:sp>
      <p:sp>
        <p:nvSpPr>
          <p:cNvPr id="4" name="Slide Number Placeholder 3">
            <a:extLst>
              <a:ext uri="{FF2B5EF4-FFF2-40B4-BE49-F238E27FC236}">
                <a16:creationId xmlns:a16="http://schemas.microsoft.com/office/drawing/2014/main" id="{EEE7187E-BF5A-2DE1-0BB7-3350ED013F5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29129AA-2745-4BF0-814C-26B881CAE40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062164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7E14A1-E6EC-41AD-FEAF-EEF434DD35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FE3CA4-748C-1130-A5A6-9C3E6DE3E8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A29899-8E12-8C28-26D9-4B49BC138C2D}"/>
              </a:ext>
            </a:extLst>
          </p:cNvPr>
          <p:cNvSpPr>
            <a:spLocks noGrp="1"/>
          </p:cNvSpPr>
          <p:nvPr>
            <p:ph type="body" idx="1"/>
          </p:nvPr>
        </p:nvSpPr>
        <p:spPr/>
        <p:txBody>
          <a:bodyPr/>
          <a:lstStyle/>
          <a:p>
            <a:pPr marL="0" indent="0">
              <a:buFontTx/>
              <a:buNone/>
            </a:pPr>
            <a:endParaRPr lang="en-US" dirty="0"/>
          </a:p>
        </p:txBody>
      </p:sp>
      <p:sp>
        <p:nvSpPr>
          <p:cNvPr id="4" name="Slide Number Placeholder 3">
            <a:extLst>
              <a:ext uri="{FF2B5EF4-FFF2-40B4-BE49-F238E27FC236}">
                <a16:creationId xmlns:a16="http://schemas.microsoft.com/office/drawing/2014/main" id="{730C77DF-EC16-A9FB-21E9-D2E709C1A454}"/>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29129AA-2745-4BF0-814C-26B881CAE40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890292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Theme should indicate where the opportunity emerged during the Discovery Workbook conversations.</a:t>
            </a:r>
          </a:p>
          <a:p>
            <a:pPr marL="171450" indent="-171450">
              <a:buFontTx/>
              <a:buChar char="-"/>
            </a:pPr>
            <a:r>
              <a:rPr lang="en-US" dirty="0"/>
              <a:t>People</a:t>
            </a:r>
          </a:p>
          <a:p>
            <a:pPr marL="171450" indent="-171450">
              <a:buFontTx/>
              <a:buChar char="-"/>
            </a:pPr>
            <a:r>
              <a:rPr lang="en-US" dirty="0"/>
              <a:t>Process</a:t>
            </a:r>
          </a:p>
          <a:p>
            <a:pPr marL="171450" indent="-171450">
              <a:buFontTx/>
              <a:buChar char="-"/>
            </a:pPr>
            <a:r>
              <a:rPr lang="en-US" dirty="0"/>
              <a:t>Technology </a:t>
            </a:r>
          </a:p>
          <a:p>
            <a:pPr marL="171450" indent="-171450">
              <a:buFontTx/>
              <a:buChar char="-"/>
            </a:pPr>
            <a:r>
              <a:rPr lang="en-US" dirty="0"/>
              <a:t>Governance</a:t>
            </a:r>
          </a:p>
          <a:p>
            <a:pPr marL="171450" indent="-171450">
              <a:buFontTx/>
              <a:buChar char="-"/>
            </a:pPr>
            <a:r>
              <a:rPr lang="en-US" dirty="0"/>
              <a:t>Measurement</a:t>
            </a:r>
          </a:p>
          <a:p>
            <a:pPr marL="171450" indent="-171450">
              <a:buFontTx/>
              <a:buChar char="-"/>
            </a:pPr>
            <a:r>
              <a:rPr lang="en-US" dirty="0"/>
              <a:t>Adoption</a:t>
            </a:r>
          </a:p>
          <a:p>
            <a:pPr marL="171450" indent="-171450">
              <a:buFontTx/>
              <a:buChar char="-"/>
            </a:pPr>
            <a:r>
              <a:rPr lang="en-US" dirty="0"/>
              <a:t>Escalation</a:t>
            </a:r>
          </a:p>
          <a:p>
            <a:pPr marL="171450" indent="-171450">
              <a:buFontTx/>
              <a:buChar char="-"/>
            </a:pPr>
            <a:r>
              <a:rPr lang="en-US" dirty="0"/>
              <a:t>Ownership</a:t>
            </a:r>
          </a:p>
          <a:p>
            <a:pPr marL="171450" indent="-171450">
              <a:buFontTx/>
              <a:buChar char="-"/>
            </a:pPr>
            <a:endParaRPr lang="en-US" dirty="0"/>
          </a:p>
          <a:p>
            <a:r>
              <a:rPr lang="en-US" dirty="0"/>
              <a:t>Complexity considers:</a:t>
            </a:r>
          </a:p>
          <a:p>
            <a:pPr lvl="0"/>
            <a:r>
              <a:rPr lang="en-US" dirty="0"/>
              <a:t>- Process Change</a:t>
            </a:r>
          </a:p>
          <a:p>
            <a:pPr lvl="0"/>
            <a:r>
              <a:rPr lang="en-US" dirty="0"/>
              <a:t>- Technical Integration</a:t>
            </a:r>
          </a:p>
          <a:p>
            <a:pPr lvl="0"/>
            <a:r>
              <a:rPr lang="en-US" dirty="0"/>
              <a:t>- Data Readiness</a:t>
            </a:r>
          </a:p>
          <a:p>
            <a:pPr lvl="0"/>
            <a:r>
              <a:rPr lang="en-US" dirty="0"/>
              <a:t>- Stakeholder Coordination</a:t>
            </a:r>
          </a:p>
          <a:p>
            <a:pPr lvl="0"/>
            <a:r>
              <a:rPr lang="en-US" dirty="0"/>
              <a:t>- Change Management</a:t>
            </a:r>
          </a:p>
          <a:p>
            <a:endParaRPr lang="en-US" dirty="0"/>
          </a:p>
          <a:p>
            <a:r>
              <a:rPr lang="en-US" dirty="0"/>
              <a:t>Risk considers:</a:t>
            </a:r>
          </a:p>
          <a:p>
            <a:pPr lvl="0"/>
            <a:r>
              <a:rPr lang="en-US" dirty="0"/>
              <a:t>- Data Sensitivity</a:t>
            </a:r>
          </a:p>
          <a:p>
            <a:pPr lvl="0"/>
            <a:r>
              <a:rPr lang="en-US" dirty="0"/>
              <a:t>- Decision Consequence</a:t>
            </a:r>
          </a:p>
          <a:p>
            <a:pPr lvl="0"/>
            <a:r>
              <a:rPr lang="en-US" dirty="0"/>
              <a:t>- Human Oversight</a:t>
            </a:r>
          </a:p>
          <a:p>
            <a:pPr lvl="0"/>
            <a:r>
              <a:rPr lang="en-US" dirty="0"/>
              <a:t>- External Exposure</a:t>
            </a:r>
          </a:p>
          <a:p>
            <a:pPr lvl="0"/>
            <a:r>
              <a:rPr lang="en-US" dirty="0"/>
              <a:t>- Compliance / Reputation</a:t>
            </a:r>
          </a:p>
          <a:p>
            <a:pPr marL="171450" indent="-171450">
              <a:buFontTx/>
              <a:buChar char="-"/>
            </a:pPr>
            <a:endParaRPr lang="en-US" dirty="0"/>
          </a:p>
          <a:p>
            <a:endParaRPr lang="en-US" dirty="0"/>
          </a:p>
        </p:txBody>
      </p:sp>
      <p:sp>
        <p:nvSpPr>
          <p:cNvPr id="4" name="Slide Number Placeholder 3"/>
          <p:cNvSpPr>
            <a:spLocks noGrp="1"/>
          </p:cNvSpPr>
          <p:nvPr>
            <p:ph type="sldNum" sz="quarter" idx="5"/>
          </p:nvPr>
        </p:nvSpPr>
        <p:spPr/>
        <p:txBody>
          <a:bodyPr/>
          <a:lstStyle/>
          <a:p>
            <a:fld id="{029129AA-2745-4BF0-814C-26B881CAE40E}" type="slidenum">
              <a:rPr lang="en-US" smtClean="0"/>
              <a:t>15</a:t>
            </a:fld>
            <a:endParaRPr lang="en-US"/>
          </a:p>
        </p:txBody>
      </p:sp>
    </p:spTree>
    <p:extLst>
      <p:ext uri="{BB962C8B-B14F-4D97-AF65-F5344CB8AC3E}">
        <p14:creationId xmlns:p14="http://schemas.microsoft.com/office/powerpoint/2010/main" val="15911526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Participants</a:t>
            </a:r>
          </a:p>
          <a:p>
            <a:r>
              <a:rPr lang="en-US" dirty="0"/>
              <a:t>- PM </a:t>
            </a:r>
          </a:p>
          <a:p>
            <a:r>
              <a:rPr lang="en-US" dirty="0"/>
              <a:t>- Process Owner </a:t>
            </a:r>
          </a:p>
          <a:p>
            <a:r>
              <a:rPr lang="en-US" dirty="0"/>
              <a:t>- SMEs </a:t>
            </a:r>
          </a:p>
          <a:p>
            <a:r>
              <a:rPr lang="en-US" dirty="0"/>
              <a:t>- Architects </a:t>
            </a:r>
          </a:p>
          <a:p>
            <a:r>
              <a:rPr lang="en-US" dirty="0"/>
              <a:t>- Governance </a:t>
            </a:r>
          </a:p>
          <a:p>
            <a:r>
              <a:rPr lang="en-US" dirty="0"/>
              <a:t>- Security </a:t>
            </a:r>
          </a:p>
          <a:p>
            <a:r>
              <a:rPr lang="en-US" dirty="0"/>
              <a:t>- Data </a:t>
            </a:r>
          </a:p>
          <a:p>
            <a:r>
              <a:rPr lang="en-US" dirty="0"/>
              <a:t>- Sponsors</a:t>
            </a:r>
          </a:p>
          <a:p>
            <a:endParaRPr lang="en-US" dirty="0"/>
          </a:p>
        </p:txBody>
      </p:sp>
      <p:sp>
        <p:nvSpPr>
          <p:cNvPr id="4" name="Slide Number Placeholder 3"/>
          <p:cNvSpPr>
            <a:spLocks noGrp="1"/>
          </p:cNvSpPr>
          <p:nvPr>
            <p:ph type="sldNum" sz="quarter" idx="5"/>
          </p:nvPr>
        </p:nvSpPr>
        <p:spPr/>
        <p:txBody>
          <a:bodyPr/>
          <a:lstStyle/>
          <a:p>
            <a:fld id="{029129AA-2745-4BF0-814C-26B881CAE40E}" type="slidenum">
              <a:rPr lang="en-US" smtClean="0"/>
              <a:t>22</a:t>
            </a:fld>
            <a:endParaRPr lang="en-US"/>
          </a:p>
        </p:txBody>
      </p:sp>
    </p:spTree>
    <p:extLst>
      <p:ext uri="{BB962C8B-B14F-4D97-AF65-F5344CB8AC3E}">
        <p14:creationId xmlns:p14="http://schemas.microsoft.com/office/powerpoint/2010/main" val="15911526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Outputs - Constraints include:</a:t>
            </a:r>
          </a:p>
          <a:p>
            <a:pPr marL="171450" indent="-171450">
              <a:buFontTx/>
              <a:buChar char="-"/>
            </a:pPr>
            <a:r>
              <a:rPr lang="en-US" dirty="0"/>
              <a:t>Pain points</a:t>
            </a:r>
          </a:p>
          <a:p>
            <a:pPr marL="171450" indent="-171450">
              <a:buFontTx/>
              <a:buChar char="-"/>
            </a:pPr>
            <a:r>
              <a:rPr lang="en-US" dirty="0"/>
              <a:t>Delays</a:t>
            </a:r>
          </a:p>
          <a:p>
            <a:pPr marL="171450" indent="-171450">
              <a:buFontTx/>
              <a:buChar char="-"/>
            </a:pPr>
            <a:r>
              <a:rPr lang="en-US" dirty="0"/>
              <a:t>Review burden</a:t>
            </a:r>
          </a:p>
          <a:p>
            <a:pPr marL="171450" indent="-171450">
              <a:buFontTx/>
              <a:buChar char="-"/>
            </a:pPr>
            <a:r>
              <a:rPr lang="en-US" dirty="0"/>
              <a:t>Waiting</a:t>
            </a:r>
          </a:p>
          <a:p>
            <a:pPr marL="171450" indent="-171450">
              <a:buFontTx/>
              <a:buChar char="-"/>
            </a:pPr>
            <a:r>
              <a:rPr lang="en-US" dirty="0"/>
              <a:t>Organizational silos</a:t>
            </a:r>
          </a:p>
          <a:p>
            <a:pPr marL="171450" indent="-171450">
              <a:buFontTx/>
              <a:buChar char="-"/>
            </a:pPr>
            <a:r>
              <a:rPr lang="en-US" dirty="0"/>
              <a:t>Technology limitations</a:t>
            </a:r>
          </a:p>
          <a:p>
            <a:pPr marL="171450" indent="-171450">
              <a:buFontTx/>
              <a:buChar char="-"/>
            </a:pPr>
            <a:r>
              <a:rPr lang="en-US" dirty="0"/>
              <a:t>Policy restrictions</a:t>
            </a:r>
          </a:p>
        </p:txBody>
      </p:sp>
      <p:sp>
        <p:nvSpPr>
          <p:cNvPr id="4" name="Slide Number Placeholder 3"/>
          <p:cNvSpPr>
            <a:spLocks noGrp="1"/>
          </p:cNvSpPr>
          <p:nvPr>
            <p:ph type="sldNum" sz="quarter" idx="5"/>
          </p:nvPr>
        </p:nvSpPr>
        <p:spPr/>
        <p:txBody>
          <a:bodyPr/>
          <a:lstStyle/>
          <a:p>
            <a:fld id="{029129AA-2745-4BF0-814C-26B881CAE40E}" type="slidenum">
              <a:rPr lang="en-US" smtClean="0"/>
              <a:t>24</a:t>
            </a:fld>
            <a:endParaRPr lang="en-US"/>
          </a:p>
        </p:txBody>
      </p:sp>
    </p:spTree>
    <p:extLst>
      <p:ext uri="{BB962C8B-B14F-4D97-AF65-F5344CB8AC3E}">
        <p14:creationId xmlns:p14="http://schemas.microsoft.com/office/powerpoint/2010/main" val="38603393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9251D7-22C7-D4E7-1DFD-2EDB10C3B1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3D3E5F-837B-F6BB-4F52-C3A64D0779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DAF93E-4602-0420-ACB6-F87A1EBDA978}"/>
              </a:ext>
            </a:extLst>
          </p:cNvPr>
          <p:cNvSpPr>
            <a:spLocks noGrp="1"/>
          </p:cNvSpPr>
          <p:nvPr>
            <p:ph type="body" idx="1"/>
          </p:nvPr>
        </p:nvSpPr>
        <p:spPr/>
        <p:txBody>
          <a:bodyPr/>
          <a:lstStyle/>
          <a:p>
            <a:r>
              <a:rPr lang="en-US" dirty="0"/>
              <a:t>Outputs - Constraints include:</a:t>
            </a:r>
          </a:p>
          <a:p>
            <a:pPr marL="171450" indent="-171450">
              <a:buFontTx/>
              <a:buChar char="-"/>
            </a:pPr>
            <a:r>
              <a:rPr lang="en-US" dirty="0"/>
              <a:t>Pain points</a:t>
            </a:r>
          </a:p>
          <a:p>
            <a:pPr marL="171450" indent="-171450">
              <a:buFontTx/>
              <a:buChar char="-"/>
            </a:pPr>
            <a:r>
              <a:rPr lang="en-US" dirty="0"/>
              <a:t>Delays</a:t>
            </a:r>
          </a:p>
          <a:p>
            <a:pPr marL="171450" indent="-171450">
              <a:buFontTx/>
              <a:buChar char="-"/>
            </a:pPr>
            <a:r>
              <a:rPr lang="en-US" dirty="0"/>
              <a:t>Review burden</a:t>
            </a:r>
          </a:p>
          <a:p>
            <a:pPr marL="171450" indent="-171450">
              <a:buFontTx/>
              <a:buChar char="-"/>
            </a:pPr>
            <a:r>
              <a:rPr lang="en-US" dirty="0"/>
              <a:t>Waiting</a:t>
            </a:r>
          </a:p>
          <a:p>
            <a:pPr marL="171450" indent="-171450">
              <a:buFontTx/>
              <a:buChar char="-"/>
            </a:pPr>
            <a:r>
              <a:rPr lang="en-US" dirty="0"/>
              <a:t>Organizational silos</a:t>
            </a:r>
          </a:p>
          <a:p>
            <a:pPr marL="171450" indent="-171450">
              <a:buFontTx/>
              <a:buChar char="-"/>
            </a:pPr>
            <a:r>
              <a:rPr lang="en-US" dirty="0"/>
              <a:t>Technology limitations</a:t>
            </a:r>
          </a:p>
          <a:p>
            <a:pPr marL="171450" indent="-171450">
              <a:buFontTx/>
              <a:buChar char="-"/>
            </a:pPr>
            <a:r>
              <a:rPr lang="en-US" dirty="0"/>
              <a:t>Policy restrictions</a:t>
            </a:r>
          </a:p>
        </p:txBody>
      </p:sp>
      <p:sp>
        <p:nvSpPr>
          <p:cNvPr id="4" name="Slide Number Placeholder 3">
            <a:extLst>
              <a:ext uri="{FF2B5EF4-FFF2-40B4-BE49-F238E27FC236}">
                <a16:creationId xmlns:a16="http://schemas.microsoft.com/office/drawing/2014/main" id="{B95E9943-5DE1-967E-D7FC-DF38BBA2876C}"/>
              </a:ext>
            </a:extLst>
          </p:cNvPr>
          <p:cNvSpPr>
            <a:spLocks noGrp="1"/>
          </p:cNvSpPr>
          <p:nvPr>
            <p:ph type="sldNum" sz="quarter" idx="5"/>
          </p:nvPr>
        </p:nvSpPr>
        <p:spPr/>
        <p:txBody>
          <a:bodyPr/>
          <a:lstStyle/>
          <a:p>
            <a:fld id="{029129AA-2745-4BF0-814C-26B881CAE40E}" type="slidenum">
              <a:rPr lang="en-US" smtClean="0"/>
              <a:t>25</a:t>
            </a:fld>
            <a:endParaRPr lang="en-US"/>
          </a:p>
        </p:txBody>
      </p:sp>
    </p:spTree>
    <p:extLst>
      <p:ext uri="{BB962C8B-B14F-4D97-AF65-F5344CB8AC3E}">
        <p14:creationId xmlns:p14="http://schemas.microsoft.com/office/powerpoint/2010/main" val="4765546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Extraction = turning information buried inside documents, emails, images, or conversations into structured data that can be used elsewhere.</a:t>
            </a:r>
          </a:p>
          <a:p>
            <a:r>
              <a:rPr lang="en-US" dirty="0"/>
              <a:t>Example: </a:t>
            </a:r>
          </a:p>
          <a:p>
            <a:r>
              <a:rPr lang="en-US" b="1" dirty="0"/>
              <a:t>Invoice Processing:</a:t>
            </a:r>
          </a:p>
          <a:p>
            <a:r>
              <a:rPr lang="en-US" b="1" dirty="0"/>
              <a:t>Current State</a:t>
            </a:r>
          </a:p>
          <a:p>
            <a:r>
              <a:rPr lang="en-US" dirty="0"/>
              <a:t>Someone opens a PDF invoice and manually enters:</a:t>
            </a:r>
          </a:p>
          <a:p>
            <a:r>
              <a:rPr lang="en-US" dirty="0"/>
              <a:t>Vendor name </a:t>
            </a:r>
          </a:p>
          <a:p>
            <a:r>
              <a:rPr lang="en-US" dirty="0"/>
              <a:t>Invoice number </a:t>
            </a:r>
          </a:p>
          <a:p>
            <a:r>
              <a:rPr lang="en-US" dirty="0"/>
              <a:t>Amount </a:t>
            </a:r>
          </a:p>
          <a:p>
            <a:r>
              <a:rPr lang="en-US" dirty="0"/>
              <a:t>Due date </a:t>
            </a:r>
          </a:p>
          <a:p>
            <a:r>
              <a:rPr lang="en-US" dirty="0"/>
              <a:t>into SAP or Excel.</a:t>
            </a:r>
          </a:p>
          <a:p>
            <a:endParaRPr lang="en-US" dirty="0"/>
          </a:p>
          <a:p>
            <a:r>
              <a:rPr lang="en-US" b="1" dirty="0"/>
              <a:t>AI Assistance</a:t>
            </a:r>
          </a:p>
          <a:p>
            <a:r>
              <a:rPr lang="en-US" dirty="0"/>
              <a:t>Extract those fields automatically.</a:t>
            </a:r>
          </a:p>
          <a:p>
            <a:endParaRPr lang="en-US" dirty="0"/>
          </a:p>
        </p:txBody>
      </p:sp>
      <p:sp>
        <p:nvSpPr>
          <p:cNvPr id="4" name="Slide Number Placeholder 3"/>
          <p:cNvSpPr>
            <a:spLocks noGrp="1"/>
          </p:cNvSpPr>
          <p:nvPr>
            <p:ph type="sldNum" sz="quarter" idx="5"/>
          </p:nvPr>
        </p:nvSpPr>
        <p:spPr/>
        <p:txBody>
          <a:bodyPr/>
          <a:lstStyle/>
          <a:p>
            <a:fld id="{029129AA-2745-4BF0-814C-26B881CAE40E}" type="slidenum">
              <a:rPr lang="en-US" smtClean="0"/>
              <a:t>26</a:t>
            </a:fld>
            <a:endParaRPr lang="en-US"/>
          </a:p>
        </p:txBody>
      </p:sp>
    </p:spTree>
    <p:extLst>
      <p:ext uri="{BB962C8B-B14F-4D97-AF65-F5344CB8AC3E}">
        <p14:creationId xmlns:p14="http://schemas.microsoft.com/office/powerpoint/2010/main" val="6743737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Classification identifies that the AI is intended to act.</a:t>
            </a:r>
            <a:br>
              <a:rPr lang="en-US" b="0" dirty="0"/>
            </a:br>
            <a:r>
              <a:rPr lang="en-US" b="0" dirty="0"/>
              <a:t>Design determines how that action fits into the workflow.</a:t>
            </a:r>
            <a:br>
              <a:rPr lang="en-US" b="0" dirty="0"/>
            </a:br>
            <a:r>
              <a:rPr lang="en-US" b="0" dirty="0"/>
              <a:t>Governance determines whether, when, and under whose authority it may act.</a:t>
            </a:r>
          </a:p>
        </p:txBody>
      </p:sp>
      <p:sp>
        <p:nvSpPr>
          <p:cNvPr id="4" name="Slide Number Placeholder 3"/>
          <p:cNvSpPr>
            <a:spLocks noGrp="1"/>
          </p:cNvSpPr>
          <p:nvPr>
            <p:ph type="sldNum" sz="quarter" idx="5"/>
          </p:nvPr>
        </p:nvSpPr>
        <p:spPr/>
        <p:txBody>
          <a:bodyPr/>
          <a:lstStyle/>
          <a:p>
            <a:fld id="{029129AA-2745-4BF0-814C-26B881CAE40E}" type="slidenum">
              <a:rPr lang="en-US" smtClean="0"/>
              <a:t>31</a:t>
            </a:fld>
            <a:endParaRPr lang="en-US"/>
          </a:p>
        </p:txBody>
      </p:sp>
    </p:spTree>
    <p:extLst>
      <p:ext uri="{BB962C8B-B14F-4D97-AF65-F5344CB8AC3E}">
        <p14:creationId xmlns:p14="http://schemas.microsoft.com/office/powerpoint/2010/main" val="29731350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Participants</a:t>
            </a:r>
          </a:p>
          <a:p>
            <a:r>
              <a:rPr lang="en-US" dirty="0"/>
              <a:t>- PM </a:t>
            </a:r>
          </a:p>
          <a:p>
            <a:r>
              <a:rPr lang="en-US" dirty="0"/>
              <a:t>- Process Owner </a:t>
            </a:r>
          </a:p>
          <a:p>
            <a:r>
              <a:rPr lang="en-US" dirty="0"/>
              <a:t>- SMEs </a:t>
            </a:r>
          </a:p>
          <a:p>
            <a:r>
              <a:rPr lang="en-US" dirty="0"/>
              <a:t>- Architects </a:t>
            </a:r>
          </a:p>
          <a:p>
            <a:r>
              <a:rPr lang="en-US" dirty="0"/>
              <a:t>- Governance </a:t>
            </a:r>
          </a:p>
          <a:p>
            <a:r>
              <a:rPr lang="en-US" dirty="0"/>
              <a:t>- Security </a:t>
            </a:r>
          </a:p>
          <a:p>
            <a:r>
              <a:rPr lang="en-US" dirty="0"/>
              <a:t>- Data </a:t>
            </a:r>
          </a:p>
          <a:p>
            <a:r>
              <a:rPr lang="en-US" dirty="0"/>
              <a:t>- Sponsors</a:t>
            </a:r>
          </a:p>
          <a:p>
            <a:endParaRPr lang="en-US" dirty="0"/>
          </a:p>
        </p:txBody>
      </p:sp>
      <p:sp>
        <p:nvSpPr>
          <p:cNvPr id="4" name="Slide Number Placeholder 3"/>
          <p:cNvSpPr>
            <a:spLocks noGrp="1"/>
          </p:cNvSpPr>
          <p:nvPr>
            <p:ph type="sldNum" sz="quarter" idx="5"/>
          </p:nvPr>
        </p:nvSpPr>
        <p:spPr/>
        <p:txBody>
          <a:bodyPr/>
          <a:lstStyle/>
          <a:p>
            <a:fld id="{029129AA-2745-4BF0-814C-26B881CAE40E}" type="slidenum">
              <a:rPr lang="en-US" smtClean="0"/>
              <a:t>33</a:t>
            </a:fld>
            <a:endParaRPr lang="en-US"/>
          </a:p>
        </p:txBody>
      </p:sp>
    </p:spTree>
    <p:extLst>
      <p:ext uri="{BB962C8B-B14F-4D97-AF65-F5344CB8AC3E}">
        <p14:creationId xmlns:p14="http://schemas.microsoft.com/office/powerpoint/2010/main" val="15911526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Outputs - Constraints include:</a:t>
            </a:r>
          </a:p>
          <a:p>
            <a:pPr marL="171450" indent="-171450">
              <a:buFontTx/>
              <a:buChar char="-"/>
            </a:pPr>
            <a:r>
              <a:rPr lang="en-US" dirty="0"/>
              <a:t>Pain points</a:t>
            </a:r>
          </a:p>
          <a:p>
            <a:pPr marL="171450" indent="-171450">
              <a:buFontTx/>
              <a:buChar char="-"/>
            </a:pPr>
            <a:r>
              <a:rPr lang="en-US" dirty="0"/>
              <a:t>Delays</a:t>
            </a:r>
          </a:p>
          <a:p>
            <a:pPr marL="171450" indent="-171450">
              <a:buFontTx/>
              <a:buChar char="-"/>
            </a:pPr>
            <a:r>
              <a:rPr lang="en-US" dirty="0"/>
              <a:t>Review burden</a:t>
            </a:r>
          </a:p>
          <a:p>
            <a:pPr marL="171450" indent="-171450">
              <a:buFontTx/>
              <a:buChar char="-"/>
            </a:pPr>
            <a:r>
              <a:rPr lang="en-US" dirty="0"/>
              <a:t>Waiting</a:t>
            </a:r>
          </a:p>
          <a:p>
            <a:pPr marL="171450" indent="-171450">
              <a:buFontTx/>
              <a:buChar char="-"/>
            </a:pPr>
            <a:r>
              <a:rPr lang="en-US" dirty="0"/>
              <a:t>Organizational silos</a:t>
            </a:r>
          </a:p>
          <a:p>
            <a:pPr marL="171450" indent="-171450">
              <a:buFontTx/>
              <a:buChar char="-"/>
            </a:pPr>
            <a:r>
              <a:rPr lang="en-US" dirty="0"/>
              <a:t>Technology limitations</a:t>
            </a:r>
          </a:p>
          <a:p>
            <a:pPr marL="171450" indent="-171450">
              <a:buFontTx/>
              <a:buChar char="-"/>
            </a:pPr>
            <a:r>
              <a:rPr lang="en-US" dirty="0"/>
              <a:t>Policy restrictions</a:t>
            </a:r>
          </a:p>
        </p:txBody>
      </p:sp>
      <p:sp>
        <p:nvSpPr>
          <p:cNvPr id="4" name="Slide Number Placeholder 3"/>
          <p:cNvSpPr>
            <a:spLocks noGrp="1"/>
          </p:cNvSpPr>
          <p:nvPr>
            <p:ph type="sldNum" sz="quarter" idx="5"/>
          </p:nvPr>
        </p:nvSpPr>
        <p:spPr/>
        <p:txBody>
          <a:bodyPr/>
          <a:lstStyle/>
          <a:p>
            <a:fld id="{029129AA-2745-4BF0-814C-26B881CAE40E}" type="slidenum">
              <a:rPr lang="en-US" smtClean="0"/>
              <a:t>35</a:t>
            </a:fld>
            <a:endParaRPr lang="en-US"/>
          </a:p>
        </p:txBody>
      </p:sp>
    </p:spTree>
    <p:extLst>
      <p:ext uri="{BB962C8B-B14F-4D97-AF65-F5344CB8AC3E}">
        <p14:creationId xmlns:p14="http://schemas.microsoft.com/office/powerpoint/2010/main" val="38603393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9251D7-22C7-D4E7-1DFD-2EDB10C3B1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3D3E5F-837B-F6BB-4F52-C3A64D0779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DAF93E-4602-0420-ACB6-F87A1EBDA978}"/>
              </a:ext>
            </a:extLst>
          </p:cNvPr>
          <p:cNvSpPr>
            <a:spLocks noGrp="1"/>
          </p:cNvSpPr>
          <p:nvPr>
            <p:ph type="body" idx="1"/>
          </p:nvPr>
        </p:nvSpPr>
        <p:spPr/>
        <p:txBody>
          <a:bodyPr/>
          <a:lstStyle/>
          <a:p>
            <a:r>
              <a:rPr lang="en-US" dirty="0"/>
              <a:t>Outputs - Constraints include:</a:t>
            </a:r>
          </a:p>
          <a:p>
            <a:pPr marL="171450" indent="-171450">
              <a:buFontTx/>
              <a:buChar char="-"/>
            </a:pPr>
            <a:r>
              <a:rPr lang="en-US" dirty="0"/>
              <a:t>Pain points</a:t>
            </a:r>
          </a:p>
          <a:p>
            <a:pPr marL="171450" indent="-171450">
              <a:buFontTx/>
              <a:buChar char="-"/>
            </a:pPr>
            <a:r>
              <a:rPr lang="en-US" dirty="0"/>
              <a:t>Delays</a:t>
            </a:r>
          </a:p>
          <a:p>
            <a:pPr marL="171450" indent="-171450">
              <a:buFontTx/>
              <a:buChar char="-"/>
            </a:pPr>
            <a:r>
              <a:rPr lang="en-US" dirty="0"/>
              <a:t>Review burden</a:t>
            </a:r>
          </a:p>
          <a:p>
            <a:pPr marL="171450" indent="-171450">
              <a:buFontTx/>
              <a:buChar char="-"/>
            </a:pPr>
            <a:r>
              <a:rPr lang="en-US" dirty="0"/>
              <a:t>Waiting</a:t>
            </a:r>
          </a:p>
          <a:p>
            <a:pPr marL="171450" indent="-171450">
              <a:buFontTx/>
              <a:buChar char="-"/>
            </a:pPr>
            <a:r>
              <a:rPr lang="en-US" dirty="0"/>
              <a:t>Organizational silos</a:t>
            </a:r>
          </a:p>
          <a:p>
            <a:pPr marL="171450" indent="-171450">
              <a:buFontTx/>
              <a:buChar char="-"/>
            </a:pPr>
            <a:r>
              <a:rPr lang="en-US" dirty="0"/>
              <a:t>Technology limitations</a:t>
            </a:r>
          </a:p>
          <a:p>
            <a:pPr marL="171450" indent="-171450">
              <a:buFontTx/>
              <a:buChar char="-"/>
            </a:pPr>
            <a:r>
              <a:rPr lang="en-US" dirty="0"/>
              <a:t>Policy restrictions</a:t>
            </a:r>
          </a:p>
        </p:txBody>
      </p:sp>
      <p:sp>
        <p:nvSpPr>
          <p:cNvPr id="4" name="Slide Number Placeholder 3">
            <a:extLst>
              <a:ext uri="{FF2B5EF4-FFF2-40B4-BE49-F238E27FC236}">
                <a16:creationId xmlns:a16="http://schemas.microsoft.com/office/drawing/2014/main" id="{B95E9943-5DE1-967E-D7FC-DF38BBA2876C}"/>
              </a:ext>
            </a:extLst>
          </p:cNvPr>
          <p:cNvSpPr>
            <a:spLocks noGrp="1"/>
          </p:cNvSpPr>
          <p:nvPr>
            <p:ph type="sldNum" sz="quarter" idx="5"/>
          </p:nvPr>
        </p:nvSpPr>
        <p:spPr/>
        <p:txBody>
          <a:bodyPr/>
          <a:lstStyle/>
          <a:p>
            <a:fld id="{029129AA-2745-4BF0-814C-26B881CAE40E}" type="slidenum">
              <a:rPr lang="en-US" smtClean="0"/>
              <a:t>36</a:t>
            </a:fld>
            <a:endParaRPr lang="en-US"/>
          </a:p>
        </p:txBody>
      </p:sp>
    </p:spTree>
    <p:extLst>
      <p:ext uri="{BB962C8B-B14F-4D97-AF65-F5344CB8AC3E}">
        <p14:creationId xmlns:p14="http://schemas.microsoft.com/office/powerpoint/2010/main" val="4765546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Extraction = turning information buried inside documents, emails, images, or conversations into structured data that can be used elsewhere.</a:t>
            </a:r>
          </a:p>
          <a:p>
            <a:r>
              <a:rPr lang="en-US" dirty="0"/>
              <a:t>Example: </a:t>
            </a:r>
          </a:p>
          <a:p>
            <a:r>
              <a:rPr lang="en-US" b="1" dirty="0"/>
              <a:t>Invoice Processing:</a:t>
            </a:r>
          </a:p>
          <a:p>
            <a:r>
              <a:rPr lang="en-US" b="1" dirty="0"/>
              <a:t>Current State</a:t>
            </a:r>
          </a:p>
          <a:p>
            <a:r>
              <a:rPr lang="en-US" dirty="0"/>
              <a:t>Someone opens a PDF invoice and manually enters:</a:t>
            </a:r>
          </a:p>
          <a:p>
            <a:r>
              <a:rPr lang="en-US" dirty="0"/>
              <a:t>Vendor name </a:t>
            </a:r>
          </a:p>
          <a:p>
            <a:r>
              <a:rPr lang="en-US" dirty="0"/>
              <a:t>Invoice number </a:t>
            </a:r>
          </a:p>
          <a:p>
            <a:r>
              <a:rPr lang="en-US" dirty="0"/>
              <a:t>Amount </a:t>
            </a:r>
          </a:p>
          <a:p>
            <a:r>
              <a:rPr lang="en-US" dirty="0"/>
              <a:t>Due date </a:t>
            </a:r>
          </a:p>
          <a:p>
            <a:r>
              <a:rPr lang="en-US" dirty="0"/>
              <a:t>into SAP or Excel.</a:t>
            </a:r>
          </a:p>
          <a:p>
            <a:endParaRPr lang="en-US" dirty="0"/>
          </a:p>
          <a:p>
            <a:r>
              <a:rPr lang="en-US" b="1" dirty="0"/>
              <a:t>AI Assistance</a:t>
            </a:r>
          </a:p>
          <a:p>
            <a:r>
              <a:rPr lang="en-US" dirty="0"/>
              <a:t>Extract those fields automatically.</a:t>
            </a:r>
          </a:p>
          <a:p>
            <a:endParaRPr lang="en-US" dirty="0"/>
          </a:p>
        </p:txBody>
      </p:sp>
      <p:sp>
        <p:nvSpPr>
          <p:cNvPr id="4" name="Slide Number Placeholder 3"/>
          <p:cNvSpPr>
            <a:spLocks noGrp="1"/>
          </p:cNvSpPr>
          <p:nvPr>
            <p:ph type="sldNum" sz="quarter" idx="5"/>
          </p:nvPr>
        </p:nvSpPr>
        <p:spPr/>
        <p:txBody>
          <a:bodyPr/>
          <a:lstStyle/>
          <a:p>
            <a:fld id="{029129AA-2745-4BF0-814C-26B881CAE40E}" type="slidenum">
              <a:rPr lang="en-US" smtClean="0"/>
              <a:t>37</a:t>
            </a:fld>
            <a:endParaRPr lang="en-US"/>
          </a:p>
        </p:txBody>
      </p:sp>
    </p:spTree>
    <p:extLst>
      <p:ext uri="{BB962C8B-B14F-4D97-AF65-F5344CB8AC3E}">
        <p14:creationId xmlns:p14="http://schemas.microsoft.com/office/powerpoint/2010/main" val="6743737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Participants</a:t>
            </a:r>
          </a:p>
          <a:p>
            <a:r>
              <a:rPr lang="en-US" dirty="0"/>
              <a:t>- PM </a:t>
            </a:r>
          </a:p>
          <a:p>
            <a:r>
              <a:rPr lang="en-US" dirty="0"/>
              <a:t>- Process Owner </a:t>
            </a:r>
          </a:p>
          <a:p>
            <a:r>
              <a:rPr lang="en-US" dirty="0"/>
              <a:t>- SMEs </a:t>
            </a:r>
          </a:p>
          <a:p>
            <a:r>
              <a:rPr lang="en-US" dirty="0"/>
              <a:t>- Architects </a:t>
            </a:r>
          </a:p>
          <a:p>
            <a:r>
              <a:rPr lang="en-US" dirty="0"/>
              <a:t>- Governance </a:t>
            </a:r>
          </a:p>
          <a:p>
            <a:r>
              <a:rPr lang="en-US" dirty="0"/>
              <a:t>- Security </a:t>
            </a:r>
          </a:p>
          <a:p>
            <a:r>
              <a:rPr lang="en-US" dirty="0"/>
              <a:t>- Data </a:t>
            </a:r>
          </a:p>
          <a:p>
            <a:r>
              <a:rPr lang="en-US" dirty="0"/>
              <a:t>- Sponsors</a:t>
            </a:r>
          </a:p>
          <a:p>
            <a:endParaRPr lang="en-US" dirty="0"/>
          </a:p>
        </p:txBody>
      </p:sp>
      <p:sp>
        <p:nvSpPr>
          <p:cNvPr id="4" name="Slide Number Placeholder 3"/>
          <p:cNvSpPr>
            <a:spLocks noGrp="1"/>
          </p:cNvSpPr>
          <p:nvPr>
            <p:ph type="sldNum" sz="quarter" idx="5"/>
          </p:nvPr>
        </p:nvSpPr>
        <p:spPr/>
        <p:txBody>
          <a:bodyPr/>
          <a:lstStyle/>
          <a:p>
            <a:fld id="{029129AA-2745-4BF0-814C-26B881CAE40E}" type="slidenum">
              <a:rPr lang="en-US" smtClean="0"/>
              <a:t>43</a:t>
            </a:fld>
            <a:endParaRPr lang="en-US"/>
          </a:p>
        </p:txBody>
      </p:sp>
    </p:spTree>
    <p:extLst>
      <p:ext uri="{BB962C8B-B14F-4D97-AF65-F5344CB8AC3E}">
        <p14:creationId xmlns:p14="http://schemas.microsoft.com/office/powerpoint/2010/main" val="15911526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Outputs - Constraints include:</a:t>
            </a:r>
          </a:p>
          <a:p>
            <a:pPr marL="171450" indent="-171450">
              <a:buFontTx/>
              <a:buChar char="-"/>
            </a:pPr>
            <a:r>
              <a:rPr lang="en-US" dirty="0"/>
              <a:t>Pain points</a:t>
            </a:r>
          </a:p>
          <a:p>
            <a:pPr marL="171450" indent="-171450">
              <a:buFontTx/>
              <a:buChar char="-"/>
            </a:pPr>
            <a:r>
              <a:rPr lang="en-US" dirty="0"/>
              <a:t>Delays</a:t>
            </a:r>
          </a:p>
          <a:p>
            <a:pPr marL="171450" indent="-171450">
              <a:buFontTx/>
              <a:buChar char="-"/>
            </a:pPr>
            <a:r>
              <a:rPr lang="en-US" dirty="0"/>
              <a:t>Review burden</a:t>
            </a:r>
          </a:p>
          <a:p>
            <a:pPr marL="171450" indent="-171450">
              <a:buFontTx/>
              <a:buChar char="-"/>
            </a:pPr>
            <a:r>
              <a:rPr lang="en-US" dirty="0"/>
              <a:t>Waiting</a:t>
            </a:r>
          </a:p>
          <a:p>
            <a:pPr marL="171450" indent="-171450">
              <a:buFontTx/>
              <a:buChar char="-"/>
            </a:pPr>
            <a:r>
              <a:rPr lang="en-US" dirty="0"/>
              <a:t>Organizational silos</a:t>
            </a:r>
          </a:p>
          <a:p>
            <a:pPr marL="171450" indent="-171450">
              <a:buFontTx/>
              <a:buChar char="-"/>
            </a:pPr>
            <a:r>
              <a:rPr lang="en-US" dirty="0"/>
              <a:t>Technology limitations</a:t>
            </a:r>
          </a:p>
          <a:p>
            <a:pPr marL="171450" indent="-171450">
              <a:buFontTx/>
              <a:buChar char="-"/>
            </a:pPr>
            <a:r>
              <a:rPr lang="en-US" dirty="0"/>
              <a:t>Policy restrictions</a:t>
            </a:r>
          </a:p>
        </p:txBody>
      </p:sp>
      <p:sp>
        <p:nvSpPr>
          <p:cNvPr id="4" name="Slide Number Placeholder 3"/>
          <p:cNvSpPr>
            <a:spLocks noGrp="1"/>
          </p:cNvSpPr>
          <p:nvPr>
            <p:ph type="sldNum" sz="quarter" idx="5"/>
          </p:nvPr>
        </p:nvSpPr>
        <p:spPr/>
        <p:txBody>
          <a:bodyPr/>
          <a:lstStyle/>
          <a:p>
            <a:fld id="{029129AA-2745-4BF0-814C-26B881CAE40E}" type="slidenum">
              <a:rPr lang="en-US" smtClean="0"/>
              <a:t>45</a:t>
            </a:fld>
            <a:endParaRPr lang="en-US"/>
          </a:p>
        </p:txBody>
      </p:sp>
    </p:spTree>
    <p:extLst>
      <p:ext uri="{BB962C8B-B14F-4D97-AF65-F5344CB8AC3E}">
        <p14:creationId xmlns:p14="http://schemas.microsoft.com/office/powerpoint/2010/main" val="386033937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02E865-D358-416E-FF2A-C9C124379B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0A2837-5652-4783-5AE6-33F5A3D100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DEE563-831B-E03A-200D-FE4481F0802C}"/>
              </a:ext>
            </a:extLst>
          </p:cNvPr>
          <p:cNvSpPr>
            <a:spLocks noGrp="1"/>
          </p:cNvSpPr>
          <p:nvPr>
            <p:ph type="body" idx="1"/>
          </p:nvPr>
        </p:nvSpPr>
        <p:spPr/>
        <p:txBody>
          <a:bodyPr/>
          <a:lstStyle/>
          <a:p>
            <a:r>
              <a:rPr lang="en-US" dirty="0"/>
              <a:t>Outputs - Constraints include:</a:t>
            </a:r>
          </a:p>
          <a:p>
            <a:pPr marL="171450" indent="-171450">
              <a:buFontTx/>
              <a:buChar char="-"/>
            </a:pPr>
            <a:r>
              <a:rPr lang="en-US" dirty="0"/>
              <a:t>Pain points</a:t>
            </a:r>
          </a:p>
          <a:p>
            <a:pPr marL="171450" indent="-171450">
              <a:buFontTx/>
              <a:buChar char="-"/>
            </a:pPr>
            <a:r>
              <a:rPr lang="en-US" dirty="0"/>
              <a:t>Delays</a:t>
            </a:r>
          </a:p>
          <a:p>
            <a:pPr marL="171450" indent="-171450">
              <a:buFontTx/>
              <a:buChar char="-"/>
            </a:pPr>
            <a:r>
              <a:rPr lang="en-US" dirty="0"/>
              <a:t>Review burden</a:t>
            </a:r>
          </a:p>
          <a:p>
            <a:pPr marL="171450" indent="-171450">
              <a:buFontTx/>
              <a:buChar char="-"/>
            </a:pPr>
            <a:r>
              <a:rPr lang="en-US" dirty="0"/>
              <a:t>Waiting</a:t>
            </a:r>
          </a:p>
          <a:p>
            <a:pPr marL="171450" indent="-171450">
              <a:buFontTx/>
              <a:buChar char="-"/>
            </a:pPr>
            <a:r>
              <a:rPr lang="en-US" dirty="0"/>
              <a:t>Organizational silos</a:t>
            </a:r>
          </a:p>
          <a:p>
            <a:pPr marL="171450" indent="-171450">
              <a:buFontTx/>
              <a:buChar char="-"/>
            </a:pPr>
            <a:r>
              <a:rPr lang="en-US" dirty="0"/>
              <a:t>Technology limitations</a:t>
            </a:r>
          </a:p>
          <a:p>
            <a:pPr marL="171450" indent="-171450">
              <a:buFontTx/>
              <a:buChar char="-"/>
            </a:pPr>
            <a:r>
              <a:rPr lang="en-US" dirty="0"/>
              <a:t>Policy restrictions</a:t>
            </a:r>
          </a:p>
        </p:txBody>
      </p:sp>
      <p:sp>
        <p:nvSpPr>
          <p:cNvPr id="4" name="Slide Number Placeholder 3">
            <a:extLst>
              <a:ext uri="{FF2B5EF4-FFF2-40B4-BE49-F238E27FC236}">
                <a16:creationId xmlns:a16="http://schemas.microsoft.com/office/drawing/2014/main" id="{06688DBC-863B-C580-1D14-56AFCA937163}"/>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29129AA-2745-4BF0-814C-26B881CAE40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27640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FD92D-9943-AE2E-FE93-13381CB393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AE304C-8BC7-06E5-4889-C57FDC29A6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B518D7-B166-8C4C-5A10-ABB83E9662C1}"/>
              </a:ext>
            </a:extLst>
          </p:cNvPr>
          <p:cNvSpPr>
            <a:spLocks noGrp="1"/>
          </p:cNvSpPr>
          <p:nvPr>
            <p:ph type="body" idx="1"/>
          </p:nvPr>
        </p:nvSpPr>
        <p:spPr/>
        <p:txBody>
          <a:bodyPr/>
          <a:lstStyle/>
          <a:p>
            <a:r>
              <a:rPr lang="en-US" dirty="0"/>
              <a:t>Outputs - Constraints include:</a:t>
            </a:r>
          </a:p>
          <a:p>
            <a:pPr marL="171450" indent="-171450">
              <a:buFontTx/>
              <a:buChar char="-"/>
            </a:pPr>
            <a:r>
              <a:rPr lang="en-US" dirty="0"/>
              <a:t>Pain points</a:t>
            </a:r>
          </a:p>
          <a:p>
            <a:pPr marL="171450" indent="-171450">
              <a:buFontTx/>
              <a:buChar char="-"/>
            </a:pPr>
            <a:r>
              <a:rPr lang="en-US" dirty="0"/>
              <a:t>Delays</a:t>
            </a:r>
          </a:p>
          <a:p>
            <a:pPr marL="171450" indent="-171450">
              <a:buFontTx/>
              <a:buChar char="-"/>
            </a:pPr>
            <a:r>
              <a:rPr lang="en-US" dirty="0"/>
              <a:t>Review burden</a:t>
            </a:r>
          </a:p>
          <a:p>
            <a:pPr marL="171450" indent="-171450">
              <a:buFontTx/>
              <a:buChar char="-"/>
            </a:pPr>
            <a:r>
              <a:rPr lang="en-US" dirty="0"/>
              <a:t>Waiting</a:t>
            </a:r>
          </a:p>
          <a:p>
            <a:pPr marL="171450" indent="-171450">
              <a:buFontTx/>
              <a:buChar char="-"/>
            </a:pPr>
            <a:r>
              <a:rPr lang="en-US" dirty="0"/>
              <a:t>Organizational silos</a:t>
            </a:r>
          </a:p>
          <a:p>
            <a:pPr marL="171450" indent="-171450">
              <a:buFontTx/>
              <a:buChar char="-"/>
            </a:pPr>
            <a:r>
              <a:rPr lang="en-US" dirty="0"/>
              <a:t>Technology limitations</a:t>
            </a:r>
          </a:p>
          <a:p>
            <a:pPr marL="171450" indent="-171450">
              <a:buFontTx/>
              <a:buChar char="-"/>
            </a:pPr>
            <a:r>
              <a:rPr lang="en-US" dirty="0"/>
              <a:t>Policy restrictions</a:t>
            </a:r>
          </a:p>
        </p:txBody>
      </p:sp>
      <p:sp>
        <p:nvSpPr>
          <p:cNvPr id="4" name="Slide Number Placeholder 3">
            <a:extLst>
              <a:ext uri="{FF2B5EF4-FFF2-40B4-BE49-F238E27FC236}">
                <a16:creationId xmlns:a16="http://schemas.microsoft.com/office/drawing/2014/main" id="{05F449EC-2DE1-DB34-49C7-1E33252153CE}"/>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29129AA-2745-4BF0-814C-26B881CAE40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779218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865533-EB30-5C78-15E6-4E100E0FC6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712D44-1680-0BF4-80CB-62914FE28B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072B2A-455B-3F8A-8C1A-77E07EC3A820}"/>
              </a:ext>
            </a:extLst>
          </p:cNvPr>
          <p:cNvSpPr>
            <a:spLocks noGrp="1"/>
          </p:cNvSpPr>
          <p:nvPr>
            <p:ph type="body" idx="1"/>
          </p:nvPr>
        </p:nvSpPr>
        <p:spPr/>
        <p:txBody>
          <a:bodyPr/>
          <a:lstStyle/>
          <a:p>
            <a:r>
              <a:rPr lang="en-US" dirty="0"/>
              <a:t>Outputs - Constraints include:</a:t>
            </a:r>
          </a:p>
          <a:p>
            <a:pPr marL="171450" indent="-171450">
              <a:buFontTx/>
              <a:buChar char="-"/>
            </a:pPr>
            <a:r>
              <a:rPr lang="en-US" dirty="0"/>
              <a:t>Pain points</a:t>
            </a:r>
          </a:p>
          <a:p>
            <a:pPr marL="171450" indent="-171450">
              <a:buFontTx/>
              <a:buChar char="-"/>
            </a:pPr>
            <a:r>
              <a:rPr lang="en-US" dirty="0"/>
              <a:t>Delays</a:t>
            </a:r>
          </a:p>
          <a:p>
            <a:pPr marL="171450" indent="-171450">
              <a:buFontTx/>
              <a:buChar char="-"/>
            </a:pPr>
            <a:r>
              <a:rPr lang="en-US" dirty="0"/>
              <a:t>Review burden</a:t>
            </a:r>
          </a:p>
          <a:p>
            <a:pPr marL="171450" indent="-171450">
              <a:buFontTx/>
              <a:buChar char="-"/>
            </a:pPr>
            <a:r>
              <a:rPr lang="en-US" dirty="0"/>
              <a:t>Waiting</a:t>
            </a:r>
          </a:p>
          <a:p>
            <a:pPr marL="171450" indent="-171450">
              <a:buFontTx/>
              <a:buChar char="-"/>
            </a:pPr>
            <a:r>
              <a:rPr lang="en-US" dirty="0"/>
              <a:t>Organizational silos</a:t>
            </a:r>
          </a:p>
          <a:p>
            <a:pPr marL="171450" indent="-171450">
              <a:buFontTx/>
              <a:buChar char="-"/>
            </a:pPr>
            <a:r>
              <a:rPr lang="en-US" dirty="0"/>
              <a:t>Technology limitations</a:t>
            </a:r>
          </a:p>
          <a:p>
            <a:pPr marL="171450" indent="-171450">
              <a:buFontTx/>
              <a:buChar char="-"/>
            </a:pPr>
            <a:r>
              <a:rPr lang="en-US" dirty="0"/>
              <a:t>Policy restrictions</a:t>
            </a:r>
          </a:p>
        </p:txBody>
      </p:sp>
      <p:sp>
        <p:nvSpPr>
          <p:cNvPr id="4" name="Slide Number Placeholder 3">
            <a:extLst>
              <a:ext uri="{FF2B5EF4-FFF2-40B4-BE49-F238E27FC236}">
                <a16:creationId xmlns:a16="http://schemas.microsoft.com/office/drawing/2014/main" id="{9E8445BD-E555-5847-F171-3307D999CFEF}"/>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29129AA-2745-4BF0-814C-26B881CAE40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699924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D78EB4-E2CB-2ED3-FC29-6CFC0BA884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ED4D07-16B9-9E89-3036-73AE9696A9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DAD2D9-05A7-CC71-7F8D-46B83CEF9FA8}"/>
              </a:ext>
            </a:extLst>
          </p:cNvPr>
          <p:cNvSpPr>
            <a:spLocks noGrp="1"/>
          </p:cNvSpPr>
          <p:nvPr>
            <p:ph type="body" idx="1"/>
          </p:nvPr>
        </p:nvSpPr>
        <p:spPr/>
        <p:txBody>
          <a:bodyPr/>
          <a:lstStyle/>
          <a:p>
            <a:r>
              <a:rPr lang="en-US" dirty="0"/>
              <a:t>Outputs - Constraints include:</a:t>
            </a:r>
          </a:p>
          <a:p>
            <a:pPr marL="171450" indent="-171450">
              <a:buFontTx/>
              <a:buChar char="-"/>
            </a:pPr>
            <a:r>
              <a:rPr lang="en-US" dirty="0"/>
              <a:t>Pain points</a:t>
            </a:r>
          </a:p>
          <a:p>
            <a:pPr marL="171450" indent="-171450">
              <a:buFontTx/>
              <a:buChar char="-"/>
            </a:pPr>
            <a:r>
              <a:rPr lang="en-US" dirty="0"/>
              <a:t>Delays</a:t>
            </a:r>
          </a:p>
          <a:p>
            <a:pPr marL="171450" indent="-171450">
              <a:buFontTx/>
              <a:buChar char="-"/>
            </a:pPr>
            <a:r>
              <a:rPr lang="en-US" dirty="0"/>
              <a:t>Review burden</a:t>
            </a:r>
          </a:p>
          <a:p>
            <a:pPr marL="171450" indent="-171450">
              <a:buFontTx/>
              <a:buChar char="-"/>
            </a:pPr>
            <a:r>
              <a:rPr lang="en-US" dirty="0"/>
              <a:t>Waiting</a:t>
            </a:r>
          </a:p>
          <a:p>
            <a:pPr marL="171450" indent="-171450">
              <a:buFontTx/>
              <a:buChar char="-"/>
            </a:pPr>
            <a:r>
              <a:rPr lang="en-US" dirty="0"/>
              <a:t>Organizational silos</a:t>
            </a:r>
          </a:p>
          <a:p>
            <a:pPr marL="171450" indent="-171450">
              <a:buFontTx/>
              <a:buChar char="-"/>
            </a:pPr>
            <a:r>
              <a:rPr lang="en-US" dirty="0"/>
              <a:t>Technology limitations</a:t>
            </a:r>
          </a:p>
          <a:p>
            <a:pPr marL="171450" indent="-171450">
              <a:buFontTx/>
              <a:buChar char="-"/>
            </a:pPr>
            <a:r>
              <a:rPr lang="en-US" dirty="0"/>
              <a:t>Policy restrictions</a:t>
            </a:r>
          </a:p>
        </p:txBody>
      </p:sp>
      <p:sp>
        <p:nvSpPr>
          <p:cNvPr id="4" name="Slide Number Placeholder 3">
            <a:extLst>
              <a:ext uri="{FF2B5EF4-FFF2-40B4-BE49-F238E27FC236}">
                <a16:creationId xmlns:a16="http://schemas.microsoft.com/office/drawing/2014/main" id="{EA97DDAF-8AF6-0A77-C86D-47C4396727F8}"/>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29129AA-2745-4BF0-814C-26B881CAE40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410344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1C7C84-97E1-E73A-5BB9-68A8B7D343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B84BC0-A234-A102-15FD-0CC77108CF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831F9B-92A3-BF7D-1CE0-0D9672AED26B}"/>
              </a:ext>
            </a:extLst>
          </p:cNvPr>
          <p:cNvSpPr>
            <a:spLocks noGrp="1"/>
          </p:cNvSpPr>
          <p:nvPr>
            <p:ph type="body" idx="1"/>
          </p:nvPr>
        </p:nvSpPr>
        <p:spPr/>
        <p:txBody>
          <a:bodyPr/>
          <a:lstStyle/>
          <a:p>
            <a:r>
              <a:rPr lang="en-US" dirty="0"/>
              <a:t>Outputs - Constraints include:</a:t>
            </a:r>
          </a:p>
          <a:p>
            <a:pPr marL="171450" indent="-171450">
              <a:buFontTx/>
              <a:buChar char="-"/>
            </a:pPr>
            <a:r>
              <a:rPr lang="en-US" dirty="0"/>
              <a:t>Pain points</a:t>
            </a:r>
          </a:p>
          <a:p>
            <a:pPr marL="171450" indent="-171450">
              <a:buFontTx/>
              <a:buChar char="-"/>
            </a:pPr>
            <a:r>
              <a:rPr lang="en-US" dirty="0"/>
              <a:t>Delays</a:t>
            </a:r>
          </a:p>
          <a:p>
            <a:pPr marL="171450" indent="-171450">
              <a:buFontTx/>
              <a:buChar char="-"/>
            </a:pPr>
            <a:r>
              <a:rPr lang="en-US" dirty="0"/>
              <a:t>Review burden</a:t>
            </a:r>
          </a:p>
          <a:p>
            <a:pPr marL="171450" indent="-171450">
              <a:buFontTx/>
              <a:buChar char="-"/>
            </a:pPr>
            <a:r>
              <a:rPr lang="en-US" dirty="0"/>
              <a:t>Waiting</a:t>
            </a:r>
          </a:p>
          <a:p>
            <a:pPr marL="171450" indent="-171450">
              <a:buFontTx/>
              <a:buChar char="-"/>
            </a:pPr>
            <a:r>
              <a:rPr lang="en-US" dirty="0"/>
              <a:t>Organizational silos</a:t>
            </a:r>
          </a:p>
          <a:p>
            <a:pPr marL="171450" indent="-171450">
              <a:buFontTx/>
              <a:buChar char="-"/>
            </a:pPr>
            <a:r>
              <a:rPr lang="en-US" dirty="0"/>
              <a:t>Technology limitations</a:t>
            </a:r>
          </a:p>
          <a:p>
            <a:pPr marL="171450" indent="-171450">
              <a:buFontTx/>
              <a:buChar char="-"/>
            </a:pPr>
            <a:r>
              <a:rPr lang="en-US" dirty="0"/>
              <a:t>Policy restrictions</a:t>
            </a:r>
          </a:p>
        </p:txBody>
      </p:sp>
      <p:sp>
        <p:nvSpPr>
          <p:cNvPr id="4" name="Slide Number Placeholder 3">
            <a:extLst>
              <a:ext uri="{FF2B5EF4-FFF2-40B4-BE49-F238E27FC236}">
                <a16:creationId xmlns:a16="http://schemas.microsoft.com/office/drawing/2014/main" id="{EAFBFE76-B3F1-7E09-605A-81396942710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29129AA-2745-4BF0-814C-26B881CAE40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1367228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Participants</a:t>
            </a:r>
          </a:p>
          <a:p>
            <a:r>
              <a:rPr lang="en-US" dirty="0"/>
              <a:t>- PM </a:t>
            </a:r>
          </a:p>
          <a:p>
            <a:r>
              <a:rPr lang="en-US" dirty="0"/>
              <a:t>- Process Owner </a:t>
            </a:r>
          </a:p>
          <a:p>
            <a:r>
              <a:rPr lang="en-US" dirty="0"/>
              <a:t>- SMEs </a:t>
            </a:r>
          </a:p>
          <a:p>
            <a:r>
              <a:rPr lang="en-US" dirty="0"/>
              <a:t>- Architects </a:t>
            </a:r>
          </a:p>
          <a:p>
            <a:r>
              <a:rPr lang="en-US" dirty="0"/>
              <a:t>- Governance </a:t>
            </a:r>
          </a:p>
          <a:p>
            <a:r>
              <a:rPr lang="en-US" dirty="0"/>
              <a:t>- Security </a:t>
            </a:r>
          </a:p>
          <a:p>
            <a:r>
              <a:rPr lang="en-US" dirty="0"/>
              <a:t>- Data </a:t>
            </a:r>
          </a:p>
          <a:p>
            <a:r>
              <a:rPr lang="en-US" dirty="0"/>
              <a:t>- Sponsors</a:t>
            </a:r>
          </a:p>
          <a:p>
            <a:endParaRPr lang="en-US" dirty="0"/>
          </a:p>
        </p:txBody>
      </p:sp>
      <p:sp>
        <p:nvSpPr>
          <p:cNvPr id="4" name="Slide Number Placeholder 3"/>
          <p:cNvSpPr>
            <a:spLocks noGrp="1"/>
          </p:cNvSpPr>
          <p:nvPr>
            <p:ph type="sldNum" sz="quarter" idx="5"/>
          </p:nvPr>
        </p:nvSpPr>
        <p:spPr/>
        <p:txBody>
          <a:bodyPr/>
          <a:lstStyle/>
          <a:p>
            <a:fld id="{029129AA-2745-4BF0-814C-26B881CAE40E}" type="slidenum">
              <a:rPr lang="en-US" smtClean="0"/>
              <a:t>54</a:t>
            </a:fld>
            <a:endParaRPr lang="en-US"/>
          </a:p>
        </p:txBody>
      </p:sp>
    </p:spTree>
    <p:extLst>
      <p:ext uri="{BB962C8B-B14F-4D97-AF65-F5344CB8AC3E}">
        <p14:creationId xmlns:p14="http://schemas.microsoft.com/office/powerpoint/2010/main" val="159115262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29129AA-2745-4BF0-814C-26B881CAE40E}" type="slidenum">
              <a:rPr lang="en-US" smtClean="0"/>
              <a:t>56</a:t>
            </a:fld>
            <a:endParaRPr lang="en-US"/>
          </a:p>
        </p:txBody>
      </p:sp>
    </p:spTree>
    <p:extLst>
      <p:ext uri="{BB962C8B-B14F-4D97-AF65-F5344CB8AC3E}">
        <p14:creationId xmlns:p14="http://schemas.microsoft.com/office/powerpoint/2010/main" val="386033937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02E865-D358-416E-FF2A-C9C124379B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0A2837-5652-4783-5AE6-33F5A3D100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DEE563-831B-E03A-200D-FE4481F0802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6688DBC-863B-C580-1D14-56AFCA937163}"/>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29129AA-2745-4BF0-814C-26B881CAE40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276405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FD92D-9943-AE2E-FE93-13381CB393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AE304C-8BC7-06E5-4889-C57FDC29A6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B518D7-B166-8C4C-5A10-ABB83E9662C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5F449EC-2DE1-DB34-49C7-1E33252153CE}"/>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29129AA-2745-4BF0-814C-26B881CAE40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7792188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865533-EB30-5C78-15E6-4E100E0FC6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712D44-1680-0BF4-80CB-62914FE28B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072B2A-455B-3F8A-8C1A-77E07EC3A82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E8445BD-E555-5847-F171-3307D999CFEF}"/>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29129AA-2745-4BF0-814C-26B881CAE40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6999244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D78EB4-E2CB-2ED3-FC29-6CFC0BA884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ED4D07-16B9-9E89-3036-73AE9696A9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DAD2D9-05A7-CC71-7F8D-46B83CEF9FA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A97DDAF-8AF6-0A77-C86D-47C4396727F8}"/>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29129AA-2745-4BF0-814C-26B881CAE40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4103443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9D1A8-BB65-2BE0-0C2B-3690909921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71E8F1-8220-8B29-3EA2-FFBD6F67FE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46C7C1-6915-B580-ACC6-24D1B978122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FA5798E-B16E-E0B8-DE93-C13966E2448D}"/>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29129AA-2745-4BF0-814C-26B881CAE40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2942422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Participants</a:t>
            </a:r>
          </a:p>
          <a:p>
            <a:r>
              <a:rPr lang="en-US" dirty="0"/>
              <a:t>- PM </a:t>
            </a:r>
          </a:p>
          <a:p>
            <a:r>
              <a:rPr lang="en-US" dirty="0"/>
              <a:t>- Process Owner </a:t>
            </a:r>
          </a:p>
          <a:p>
            <a:r>
              <a:rPr lang="en-US" dirty="0"/>
              <a:t>- SMEs </a:t>
            </a:r>
          </a:p>
          <a:p>
            <a:r>
              <a:rPr lang="en-US" dirty="0"/>
              <a:t>- Architects </a:t>
            </a:r>
          </a:p>
          <a:p>
            <a:r>
              <a:rPr lang="en-US" dirty="0"/>
              <a:t>- Governance </a:t>
            </a:r>
          </a:p>
          <a:p>
            <a:r>
              <a:rPr lang="en-US" dirty="0"/>
              <a:t>- Security </a:t>
            </a:r>
          </a:p>
          <a:p>
            <a:r>
              <a:rPr lang="en-US" dirty="0"/>
              <a:t>- Data </a:t>
            </a:r>
          </a:p>
          <a:p>
            <a:r>
              <a:rPr lang="en-US" dirty="0"/>
              <a:t>- Sponsors</a:t>
            </a:r>
          </a:p>
          <a:p>
            <a:endParaRPr lang="en-US" dirty="0"/>
          </a:p>
        </p:txBody>
      </p:sp>
      <p:sp>
        <p:nvSpPr>
          <p:cNvPr id="4" name="Slide Number Placeholder 3"/>
          <p:cNvSpPr>
            <a:spLocks noGrp="1"/>
          </p:cNvSpPr>
          <p:nvPr>
            <p:ph type="sldNum" sz="quarter" idx="5"/>
          </p:nvPr>
        </p:nvSpPr>
        <p:spPr/>
        <p:txBody>
          <a:bodyPr/>
          <a:lstStyle/>
          <a:p>
            <a:fld id="{029129AA-2745-4BF0-814C-26B881CAE40E}" type="slidenum">
              <a:rPr lang="en-US" smtClean="0"/>
              <a:t>64</a:t>
            </a:fld>
            <a:endParaRPr lang="en-US"/>
          </a:p>
        </p:txBody>
      </p:sp>
    </p:spTree>
    <p:extLst>
      <p:ext uri="{BB962C8B-B14F-4D97-AF65-F5344CB8AC3E}">
        <p14:creationId xmlns:p14="http://schemas.microsoft.com/office/powerpoint/2010/main" val="159115262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29129AA-2745-4BF0-814C-26B881CAE40E}" type="slidenum">
              <a:rPr lang="en-US" smtClean="0"/>
              <a:t>66</a:t>
            </a:fld>
            <a:endParaRPr lang="en-US"/>
          </a:p>
        </p:txBody>
      </p:sp>
    </p:spTree>
    <p:extLst>
      <p:ext uri="{BB962C8B-B14F-4D97-AF65-F5344CB8AC3E}">
        <p14:creationId xmlns:p14="http://schemas.microsoft.com/office/powerpoint/2010/main" val="386033937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02E865-D358-416E-FF2A-C9C124379B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0A2837-5652-4783-5AE6-33F5A3D100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DEE563-831B-E03A-200D-FE4481F0802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6688DBC-863B-C580-1D14-56AFCA937163}"/>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29129AA-2745-4BF0-814C-26B881CAE40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276405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FD92D-9943-AE2E-FE93-13381CB393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AE304C-8BC7-06E5-4889-C57FDC29A6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B518D7-B166-8C4C-5A10-ABB83E9662C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5F449EC-2DE1-DB34-49C7-1E33252153CE}"/>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29129AA-2745-4BF0-814C-26B881CAE40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7792188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865533-EB30-5C78-15E6-4E100E0FC6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712D44-1680-0BF4-80CB-62914FE28B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072B2A-455B-3F8A-8C1A-77E07EC3A82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E8445BD-E555-5847-F171-3307D999CFEF}"/>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29129AA-2745-4BF0-814C-26B881CAE40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6999244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D78EB4-E2CB-2ED3-FC29-6CFC0BA884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ED4D07-16B9-9E89-3036-73AE9696A9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DAD2D9-05A7-CC71-7F8D-46B83CEF9FA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A97DDAF-8AF6-0A77-C86D-47C4396727F8}"/>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29129AA-2745-4BF0-814C-26B881CAE40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4103443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C6463D-7835-9E23-6FB9-1598F5E0B3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61A645-6A5F-398A-7651-A69D2C2D47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59E460-8BA7-6885-C36E-A9B9C973EC7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DB9A3C9-BC4C-29AF-2D54-69D027F7B5D2}"/>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29129AA-2745-4BF0-814C-26B881CAE40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5071652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AFB49-D79B-5A97-C19D-128BDEB4B7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D4AD2E-445E-D201-5A6C-EB2720DC15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87AABC-7F26-1A9B-4461-C7148C450A2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2C518F4-515B-878A-0526-EB84357568D6}"/>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29129AA-2745-4BF0-814C-26B881CAE40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669351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3F77F3-64F9-85E4-750C-E2480D24E0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E73C64-A28D-DC5D-D3E7-87934418FF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AC8579-E63F-4D09-2F2C-A2726991A79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5845896-2E51-53F0-7AE2-D9F15E684E09}"/>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29129AA-2745-4BF0-814C-26B881CAE40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9346609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goal is to learn:</a:t>
            </a:r>
          </a:p>
          <a:p>
            <a:r>
              <a:rPr lang="en-US" dirty="0"/>
              <a:t>- Does this workflow actually create value? </a:t>
            </a:r>
          </a:p>
          <a:p>
            <a:r>
              <a:rPr lang="en-US" dirty="0"/>
              <a:t>- Do users trust it? </a:t>
            </a:r>
          </a:p>
          <a:p>
            <a:r>
              <a:rPr lang="en-US" dirty="0"/>
              <a:t>- Are the outputs good enough? </a:t>
            </a:r>
          </a:p>
          <a:p>
            <a:r>
              <a:rPr lang="en-US" dirty="0"/>
              <a:t>- Are the review and approval processes sufficient? </a:t>
            </a:r>
          </a:p>
          <a:p>
            <a:r>
              <a:rPr lang="en-US" dirty="0"/>
              <a:t>- What risks appear in practice? </a:t>
            </a:r>
          </a:p>
          <a:p>
            <a:r>
              <a:rPr lang="en-US" dirty="0"/>
              <a:t>- Are the metrics meaningful? </a:t>
            </a:r>
          </a:p>
          <a:p>
            <a:r>
              <a:rPr lang="en-US" dirty="0"/>
              <a:t>- Is adoption occurring? </a:t>
            </a:r>
          </a:p>
          <a:p>
            <a:r>
              <a:rPr lang="en-US" dirty="0"/>
              <a:t>- Are the assumptions we made during design correct? </a:t>
            </a:r>
          </a:p>
          <a:p>
            <a:pPr marL="0" indent="0">
              <a:buFontTx/>
              <a:buNone/>
            </a:pPr>
            <a:r>
              <a:rPr lang="en-US"/>
              <a:t>- Should </a:t>
            </a:r>
            <a:r>
              <a:rPr lang="en-US" dirty="0"/>
              <a:t>we scale, redesign, pause, or retire the solution?</a:t>
            </a:r>
          </a:p>
          <a:p>
            <a:pPr marL="0" indent="0">
              <a:buFontTx/>
              <a:buNone/>
            </a:pPr>
            <a:r>
              <a:rPr lang="en-US" dirty="0"/>
              <a:t>- Do the governance controls work as intended in practice?</a:t>
            </a:r>
          </a:p>
          <a:p>
            <a:pPr marL="0" indent="0">
              <a:buFontTx/>
              <a:buNone/>
            </a:pPr>
            <a:r>
              <a:rPr lang="en-US" dirty="0"/>
              <a:t>- Can the organization produce the evidence needed to support its decisions?</a:t>
            </a:r>
          </a:p>
          <a:p>
            <a:endParaRPr lang="en-US" dirty="0"/>
          </a:p>
        </p:txBody>
      </p:sp>
      <p:sp>
        <p:nvSpPr>
          <p:cNvPr id="4" name="Slide Number Placeholder 3"/>
          <p:cNvSpPr>
            <a:spLocks noGrp="1"/>
          </p:cNvSpPr>
          <p:nvPr>
            <p:ph type="sldNum" sz="quarter" idx="5"/>
          </p:nvPr>
        </p:nvSpPr>
        <p:spPr/>
        <p:txBody>
          <a:bodyPr/>
          <a:lstStyle/>
          <a:p>
            <a:fld id="{029129AA-2745-4BF0-814C-26B881CAE40E}" type="slidenum">
              <a:rPr lang="en-US" smtClean="0"/>
              <a:t>75</a:t>
            </a:fld>
            <a:endParaRPr lang="en-US"/>
          </a:p>
        </p:txBody>
      </p:sp>
    </p:spTree>
    <p:extLst>
      <p:ext uri="{BB962C8B-B14F-4D97-AF65-F5344CB8AC3E}">
        <p14:creationId xmlns:p14="http://schemas.microsoft.com/office/powerpoint/2010/main" val="197120954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29129AA-2745-4BF0-814C-26B881CAE40E}" type="slidenum">
              <a:rPr lang="en-US" smtClean="0"/>
              <a:t>77</a:t>
            </a:fld>
            <a:endParaRPr lang="en-US"/>
          </a:p>
        </p:txBody>
      </p:sp>
    </p:spTree>
    <p:extLst>
      <p:ext uri="{BB962C8B-B14F-4D97-AF65-F5344CB8AC3E}">
        <p14:creationId xmlns:p14="http://schemas.microsoft.com/office/powerpoint/2010/main" val="159115262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29129AA-2745-4BF0-814C-26B881CAE40E}" type="slidenum">
              <a:rPr lang="en-US" smtClean="0"/>
              <a:t>79</a:t>
            </a:fld>
            <a:endParaRPr lang="en-US"/>
          </a:p>
        </p:txBody>
      </p:sp>
    </p:spTree>
    <p:extLst>
      <p:ext uri="{BB962C8B-B14F-4D97-AF65-F5344CB8AC3E}">
        <p14:creationId xmlns:p14="http://schemas.microsoft.com/office/powerpoint/2010/main" val="386033937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02E865-D358-416E-FF2A-C9C124379B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0A2837-5652-4783-5AE6-33F5A3D100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DEE563-831B-E03A-200D-FE4481F0802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6688DBC-863B-C580-1D14-56AFCA937163}"/>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29129AA-2745-4BF0-814C-26B881CAE40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276405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FD92D-9943-AE2E-FE93-13381CB393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AE304C-8BC7-06E5-4889-C57FDC29A6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B518D7-B166-8C4C-5A10-ABB83E9662C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5F449EC-2DE1-DB34-49C7-1E33252153CE}"/>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29129AA-2745-4BF0-814C-26B881CAE40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7792188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865533-EB30-5C78-15E6-4E100E0FC6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712D44-1680-0BF4-80CB-62914FE28B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072B2A-455B-3F8A-8C1A-77E07EC3A82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E8445BD-E555-5847-F171-3307D999CFEF}"/>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29129AA-2745-4BF0-814C-26B881CAE40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6999244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D78EB4-E2CB-2ED3-FC29-6CFC0BA884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ED4D07-16B9-9E89-3036-73AE9696A9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DAD2D9-05A7-CC71-7F8D-46B83CEF9FA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A97DDAF-8AF6-0A77-C86D-47C4396727F8}"/>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29129AA-2745-4BF0-814C-26B881CAE40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4103443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C6463D-7835-9E23-6FB9-1598F5E0B3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61A645-6A5F-398A-7651-A69D2C2D47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59E460-8BA7-6885-C36E-A9B9C973EC7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DB9A3C9-BC4C-29AF-2D54-69D027F7B5D2}"/>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29129AA-2745-4BF0-814C-26B881CAE40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5071652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3F77F3-64F9-85E4-750C-E2480D24E0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E73C64-A28D-DC5D-D3E7-87934418FF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AC8579-E63F-4D09-2F2C-A2726991A79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5845896-2E51-53F0-7AE2-D9F15E684E09}"/>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29129AA-2745-4BF0-814C-26B881CAE40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9346609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F32C5-E4D8-CC47-111D-2C54652E07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6DABB5-3352-CCF8-46A6-FC9A56CCE6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1CA2E9-F9A5-8F71-57C9-EA311FDDE80D}"/>
              </a:ext>
            </a:extLst>
          </p:cNvPr>
          <p:cNvSpPr>
            <a:spLocks noGrp="1"/>
          </p:cNvSpPr>
          <p:nvPr>
            <p:ph type="body" idx="1"/>
          </p:nvPr>
        </p:nvSpPr>
        <p:spPr/>
        <p:txBody>
          <a:bodyPr/>
          <a:lstStyle/>
          <a:p>
            <a:pPr marL="0" indent="0">
              <a:buFontTx/>
              <a:buNone/>
            </a:pPr>
            <a:endParaRPr lang="en-US" dirty="0"/>
          </a:p>
        </p:txBody>
      </p:sp>
      <p:sp>
        <p:nvSpPr>
          <p:cNvPr id="4" name="Slide Number Placeholder 3">
            <a:extLst>
              <a:ext uri="{FF2B5EF4-FFF2-40B4-BE49-F238E27FC236}">
                <a16:creationId xmlns:a16="http://schemas.microsoft.com/office/drawing/2014/main" id="{789D51DB-BD74-A77F-2AFC-688634152573}"/>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29129AA-2745-4BF0-814C-26B881CAE40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952537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BDE212E-65C1-48F8-8266-FF33E8107007}" type="datetimeFigureOut">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AC9175-A530-4057-9A12-63CB091A0A4D}" type="slidenum">
              <a:rPr lang="en-US" smtClean="0"/>
              <a:t>‹#›</a:t>
            </a:fld>
            <a:endParaRPr lang="en-US"/>
          </a:p>
        </p:txBody>
      </p:sp>
    </p:spTree>
    <p:extLst>
      <p:ext uri="{BB962C8B-B14F-4D97-AF65-F5344CB8AC3E}">
        <p14:creationId xmlns:p14="http://schemas.microsoft.com/office/powerpoint/2010/main" val="24659782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C688469-2F7E-8E4A-16B5-43A299F616A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299968" y="4517261"/>
            <a:ext cx="3844031" cy="2562688"/>
          </a:xfrm>
          <a:prstGeom prst="rect">
            <a:avLst/>
          </a:prstGeom>
        </p:spPr>
      </p:pic>
      <p:sp>
        <p:nvSpPr>
          <p:cNvPr id="2" name="Title 1"/>
          <p:cNvSpPr>
            <a:spLocks noGrp="1"/>
          </p:cNvSpPr>
          <p:nvPr>
            <p:ph type="title"/>
          </p:nvPr>
        </p:nvSpPr>
        <p:spPr>
          <a:xfrm>
            <a:off x="273534" y="-96519"/>
            <a:ext cx="7886700" cy="1325563"/>
          </a:xfrm>
        </p:spPr>
        <p:txBody>
          <a:bodyPr/>
          <a:lstStyle>
            <a:lvl1pPr>
              <a:defRPr>
                <a:solidFill>
                  <a:srgbClr val="021836"/>
                </a:solidFill>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2">
            <a:extLst>
              <a:ext uri="{FF2B5EF4-FFF2-40B4-BE49-F238E27FC236}">
                <a16:creationId xmlns:a16="http://schemas.microsoft.com/office/drawing/2014/main" id="{D4D7B2AF-7B95-BD1A-24EF-5346EB48B02A}"/>
              </a:ext>
            </a:extLst>
          </p:cNvPr>
          <p:cNvSpPr txBox="1">
            <a:spLocks/>
          </p:cNvSpPr>
          <p:nvPr userDrawn="1"/>
        </p:nvSpPr>
        <p:spPr>
          <a:xfrm>
            <a:off x="7356702" y="6515438"/>
            <a:ext cx="1787298" cy="32033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ts val="0"/>
              </a:spcBef>
            </a:pPr>
            <a:r>
              <a:rPr lang="en-US" sz="1200" dirty="0">
                <a:solidFill>
                  <a:schemeClr val="bg1">
                    <a:lumMod val="65000"/>
                  </a:schemeClr>
                </a:solidFill>
              </a:rPr>
              <a:t>© 2026 Chloe C. Devine</a:t>
            </a:r>
          </a:p>
          <a:p>
            <a:pPr algn="l">
              <a:lnSpc>
                <a:spcPct val="100000"/>
              </a:lnSpc>
              <a:spcBef>
                <a:spcPts val="0"/>
              </a:spcBef>
            </a:pPr>
            <a:endParaRPr lang="en-US" sz="1200" dirty="0">
              <a:solidFill>
                <a:schemeClr val="bg1">
                  <a:lumMod val="65000"/>
                </a:schemeClr>
              </a:solidFill>
            </a:endParaRPr>
          </a:p>
        </p:txBody>
      </p:sp>
    </p:spTree>
    <p:extLst>
      <p:ext uri="{BB962C8B-B14F-4D97-AF65-F5344CB8AC3E}">
        <p14:creationId xmlns:p14="http://schemas.microsoft.com/office/powerpoint/2010/main" val="1706822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BDE212E-65C1-48F8-8266-FF33E8107007}" type="datetimeFigureOut">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AC9175-A530-4057-9A12-63CB091A0A4D}" type="slidenum">
              <a:rPr lang="en-US" smtClean="0"/>
              <a:t>‹#›</a:t>
            </a:fld>
            <a:endParaRPr lang="en-US"/>
          </a:p>
        </p:txBody>
      </p:sp>
    </p:spTree>
    <p:extLst>
      <p:ext uri="{BB962C8B-B14F-4D97-AF65-F5344CB8AC3E}">
        <p14:creationId xmlns:p14="http://schemas.microsoft.com/office/powerpoint/2010/main" val="39933895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21836"/>
                </a:solidFill>
              </a:defRPr>
            </a:lvl1pPr>
          </a:lstStyle>
          <a:p>
            <a:r>
              <a:rPr lang="en-US" dirty="0"/>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BDE212E-65C1-48F8-8266-FF33E8107007}" type="datetimeFigureOut">
              <a:rPr lang="en-US" smtClean="0"/>
              <a:t>9/26/2026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EAC9175-A530-4057-9A12-63CB091A0A4D}" type="slidenum">
              <a:rPr lang="en-US" smtClean="0"/>
              <a:t>‹#›</a:t>
            </a:fld>
            <a:endParaRPr lang="en-US"/>
          </a:p>
        </p:txBody>
      </p:sp>
    </p:spTree>
    <p:extLst>
      <p:ext uri="{BB962C8B-B14F-4D97-AF65-F5344CB8AC3E}">
        <p14:creationId xmlns:p14="http://schemas.microsoft.com/office/powerpoint/2010/main" val="3647542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lvl1pPr>
              <a:defRPr>
                <a:solidFill>
                  <a:srgbClr val="021836"/>
                </a:solidFill>
              </a:defRPr>
            </a:lvl1pPr>
          </a:lstStyle>
          <a:p>
            <a:r>
              <a:rPr lang="en-US" dirty="0"/>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BDE212E-65C1-48F8-8266-FF33E8107007}" type="datetimeFigureOut">
              <a:rPr lang="en-US" smtClean="0"/>
              <a:t>9/26/2026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EAC9175-A530-4057-9A12-63CB091A0A4D}" type="slidenum">
              <a:rPr lang="en-US" smtClean="0"/>
              <a:t>‹#›</a:t>
            </a:fld>
            <a:endParaRPr lang="en-US"/>
          </a:p>
        </p:txBody>
      </p:sp>
    </p:spTree>
    <p:extLst>
      <p:ext uri="{BB962C8B-B14F-4D97-AF65-F5344CB8AC3E}">
        <p14:creationId xmlns:p14="http://schemas.microsoft.com/office/powerpoint/2010/main" val="10089138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21836"/>
                </a:solidFill>
              </a:defRPr>
            </a:lvl1pPr>
          </a:lstStyle>
          <a:p>
            <a:r>
              <a:rPr lang="en-US" dirty="0"/>
              <a:t>Click to edit Master title style</a:t>
            </a:r>
          </a:p>
        </p:txBody>
      </p:sp>
      <p:sp>
        <p:nvSpPr>
          <p:cNvPr id="3" name="Date Placeholder 2"/>
          <p:cNvSpPr>
            <a:spLocks noGrp="1"/>
          </p:cNvSpPr>
          <p:nvPr>
            <p:ph type="dt" sz="half" idx="10"/>
          </p:nvPr>
        </p:nvSpPr>
        <p:spPr/>
        <p:txBody>
          <a:bodyPr/>
          <a:lstStyle/>
          <a:p>
            <a:fld id="{ABDE212E-65C1-48F8-8266-FF33E8107007}" type="datetimeFigureOut">
              <a:rPr lang="en-US" smtClean="0"/>
              <a:t>9/26/2026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EAC9175-A530-4057-9A12-63CB091A0A4D}" type="slidenum">
              <a:rPr lang="en-US" smtClean="0"/>
              <a:t>‹#›</a:t>
            </a:fld>
            <a:endParaRPr lang="en-US"/>
          </a:p>
        </p:txBody>
      </p:sp>
    </p:spTree>
    <p:extLst>
      <p:ext uri="{BB962C8B-B14F-4D97-AF65-F5344CB8AC3E}">
        <p14:creationId xmlns:p14="http://schemas.microsoft.com/office/powerpoint/2010/main" val="13397524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BDE212E-65C1-48F8-8266-FF33E8107007}" type="datetimeFigureOut">
              <a:rPr lang="en-US" smtClean="0"/>
              <a:t>9/26/2026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EAC9175-A530-4057-9A12-63CB091A0A4D}" type="slidenum">
              <a:rPr lang="en-US" smtClean="0"/>
              <a:t>‹#›</a:t>
            </a:fld>
            <a:endParaRPr lang="en-US"/>
          </a:p>
        </p:txBody>
      </p:sp>
    </p:spTree>
    <p:extLst>
      <p:ext uri="{BB962C8B-B14F-4D97-AF65-F5344CB8AC3E}">
        <p14:creationId xmlns:p14="http://schemas.microsoft.com/office/powerpoint/2010/main" val="39874016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BDE212E-65C1-48F8-8266-FF33E8107007}" type="datetimeFigureOut">
              <a:rPr lang="en-US" smtClean="0"/>
              <a:t>9/26/2026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EAC9175-A530-4057-9A12-63CB091A0A4D}" type="slidenum">
              <a:rPr lang="en-US" smtClean="0"/>
              <a:t>‹#›</a:t>
            </a:fld>
            <a:endParaRPr lang="en-US"/>
          </a:p>
        </p:txBody>
      </p:sp>
    </p:spTree>
    <p:extLst>
      <p:ext uri="{BB962C8B-B14F-4D97-AF65-F5344CB8AC3E}">
        <p14:creationId xmlns:p14="http://schemas.microsoft.com/office/powerpoint/2010/main" val="12635068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BDE212E-65C1-48F8-8266-FF33E8107007}" type="datetimeFigureOut">
              <a:rPr lang="en-US" smtClean="0"/>
              <a:t>9/26/2026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EAC9175-A530-4057-9A12-63CB091A0A4D}" type="slidenum">
              <a:rPr lang="en-US" smtClean="0"/>
              <a:t>‹#›</a:t>
            </a:fld>
            <a:endParaRPr lang="en-US"/>
          </a:p>
        </p:txBody>
      </p:sp>
    </p:spTree>
    <p:extLst>
      <p:ext uri="{BB962C8B-B14F-4D97-AF65-F5344CB8AC3E}">
        <p14:creationId xmlns:p14="http://schemas.microsoft.com/office/powerpoint/2010/main" val="33574122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BDE212E-65C1-48F8-8266-FF33E8107007}" type="datetimeFigureOut">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AC9175-A530-4057-9A12-63CB091A0A4D}" type="slidenum">
              <a:rPr lang="en-US" smtClean="0"/>
              <a:t>‹#›</a:t>
            </a:fld>
            <a:endParaRPr lang="en-US"/>
          </a:p>
        </p:txBody>
      </p:sp>
    </p:spTree>
    <p:extLst>
      <p:ext uri="{BB962C8B-B14F-4D97-AF65-F5344CB8AC3E}">
        <p14:creationId xmlns:p14="http://schemas.microsoft.com/office/powerpoint/2010/main" val="5767339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BDE212E-65C1-48F8-8266-FF33E8107007}" type="datetimeFigureOut">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AC9175-A530-4057-9A12-63CB091A0A4D}" type="slidenum">
              <a:rPr lang="en-US" smtClean="0"/>
              <a:t>‹#›</a:t>
            </a:fld>
            <a:endParaRPr lang="en-US"/>
          </a:p>
        </p:txBody>
      </p:sp>
    </p:spTree>
    <p:extLst>
      <p:ext uri="{BB962C8B-B14F-4D97-AF65-F5344CB8AC3E}">
        <p14:creationId xmlns:p14="http://schemas.microsoft.com/office/powerpoint/2010/main" val="3120241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BDE212E-65C1-48F8-8266-FF33E8107007}" type="datetimeFigureOut">
              <a:rPr lang="en-US" smtClean="0"/>
              <a:t>9/26/2026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EAC9175-A530-4057-9A12-63CB091A0A4D}" type="slidenum">
              <a:rPr lang="en-US" smtClean="0"/>
              <a:t>‹#›</a:t>
            </a:fld>
            <a:endParaRPr lang="en-US"/>
          </a:p>
        </p:txBody>
      </p:sp>
    </p:spTree>
    <p:extLst>
      <p:ext uri="{BB962C8B-B14F-4D97-AF65-F5344CB8AC3E}">
        <p14:creationId xmlns:p14="http://schemas.microsoft.com/office/powerpoint/2010/main" val="338840716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hyperlink" Target="https://zenodo.org/records/22911433" TargetMode="External"/><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5BA25F8-DF03-7024-AFB1-8801954322C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9144000" cy="6858000"/>
          </a:xfrm>
          <a:prstGeom prst="rect">
            <a:avLst/>
          </a:prstGeom>
        </p:spPr>
      </p:pic>
    </p:spTree>
    <p:extLst>
      <p:ext uri="{BB962C8B-B14F-4D97-AF65-F5344CB8AC3E}">
        <p14:creationId xmlns:p14="http://schemas.microsoft.com/office/powerpoint/2010/main" val="11014079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F44F6-AAF9-F6E6-B3DC-C2D8FC3F68FB}"/>
              </a:ext>
            </a:extLst>
          </p:cNvPr>
          <p:cNvSpPr>
            <a:spLocks noGrp="1"/>
          </p:cNvSpPr>
          <p:nvPr>
            <p:ph type="title"/>
          </p:nvPr>
        </p:nvSpPr>
        <p:spPr>
          <a:xfrm>
            <a:off x="285750" y="-158749"/>
            <a:ext cx="7886700" cy="1325563"/>
          </a:xfrm>
        </p:spPr>
        <p:txBody>
          <a:bodyPr/>
          <a:lstStyle/>
          <a:p>
            <a:r>
              <a:rPr lang="en-US" dirty="0"/>
              <a:t>Discovery Overview</a:t>
            </a:r>
          </a:p>
        </p:txBody>
      </p:sp>
      <p:cxnSp>
        <p:nvCxnSpPr>
          <p:cNvPr id="5" name="Straight Connector 4">
            <a:extLst>
              <a:ext uri="{FF2B5EF4-FFF2-40B4-BE49-F238E27FC236}">
                <a16:creationId xmlns:a16="http://schemas.microsoft.com/office/drawing/2014/main" id="{0CE47D76-760B-9EED-768A-C7CD13F731CE}"/>
              </a:ext>
            </a:extLst>
          </p:cNvPr>
          <p:cNvCxnSpPr>
            <a:cxnSpLocks/>
          </p:cNvCxnSpPr>
          <p:nvPr/>
        </p:nvCxnSpPr>
        <p:spPr>
          <a:xfrm>
            <a:off x="185737" y="3009900"/>
            <a:ext cx="8801100" cy="0"/>
          </a:xfrm>
          <a:prstGeom prst="line">
            <a:avLst/>
          </a:prstGeom>
          <a:ln w="9525">
            <a:solidFill>
              <a:srgbClr val="0396A6"/>
            </a:solidFill>
          </a:ln>
        </p:spPr>
        <p:style>
          <a:lnRef idx="2">
            <a:schemeClr val="accent1"/>
          </a:lnRef>
          <a:fillRef idx="0">
            <a:schemeClr val="accent1"/>
          </a:fillRef>
          <a:effectRef idx="1">
            <a:schemeClr val="accent1"/>
          </a:effectRef>
          <a:fontRef idx="minor">
            <a:schemeClr val="tx1"/>
          </a:fontRef>
        </p:style>
      </p:cxnSp>
      <p:sp>
        <p:nvSpPr>
          <p:cNvPr id="6" name="Content Placeholder 2">
            <a:extLst>
              <a:ext uri="{FF2B5EF4-FFF2-40B4-BE49-F238E27FC236}">
                <a16:creationId xmlns:a16="http://schemas.microsoft.com/office/drawing/2014/main" id="{BABF091C-0707-4AC9-F12E-F907427B1CFA}"/>
              </a:ext>
            </a:extLst>
          </p:cNvPr>
          <p:cNvSpPr txBox="1">
            <a:spLocks/>
          </p:cNvSpPr>
          <p:nvPr/>
        </p:nvSpPr>
        <p:spPr>
          <a:xfrm>
            <a:off x="628650" y="3067845"/>
            <a:ext cx="7886700" cy="32146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b="1" dirty="0">
                <a:solidFill>
                  <a:srgbClr val="021836"/>
                </a:solidFill>
              </a:rPr>
              <a:t>What We’re Looking For</a:t>
            </a:r>
          </a:p>
        </p:txBody>
      </p:sp>
      <p:graphicFrame>
        <p:nvGraphicFramePr>
          <p:cNvPr id="7" name="Table 6">
            <a:extLst>
              <a:ext uri="{FF2B5EF4-FFF2-40B4-BE49-F238E27FC236}">
                <a16:creationId xmlns:a16="http://schemas.microsoft.com/office/drawing/2014/main" id="{3BF72070-BDCF-7844-9A3E-D7F349AF031B}"/>
              </a:ext>
            </a:extLst>
          </p:cNvPr>
          <p:cNvGraphicFramePr>
            <a:graphicFrameLocks noGrp="1"/>
          </p:cNvGraphicFramePr>
          <p:nvPr>
            <p:extLst>
              <p:ext uri="{D42A27DB-BD31-4B8C-83A1-F6EECF244321}">
                <p14:modId xmlns:p14="http://schemas.microsoft.com/office/powerpoint/2010/main" val="2653637078"/>
              </p:ext>
            </p:extLst>
          </p:nvPr>
        </p:nvGraphicFramePr>
        <p:xfrm>
          <a:off x="714375" y="3389314"/>
          <a:ext cx="6096000" cy="1371600"/>
        </p:xfrm>
        <a:graphic>
          <a:graphicData uri="http://schemas.openxmlformats.org/drawingml/2006/table">
            <a:tbl>
              <a:tblPr firstRow="1" bandRow="1">
                <a:tableStyleId>{2D5ABB26-0587-4C30-8999-92F81FD0307C}</a:tableStyleId>
              </a:tblPr>
              <a:tblGrid>
                <a:gridCol w="2032000">
                  <a:extLst>
                    <a:ext uri="{9D8B030D-6E8A-4147-A177-3AD203B41FA5}">
                      <a16:colId xmlns:a16="http://schemas.microsoft.com/office/drawing/2014/main" val="2728554600"/>
                    </a:ext>
                  </a:extLst>
                </a:gridCol>
                <a:gridCol w="2032000">
                  <a:extLst>
                    <a:ext uri="{9D8B030D-6E8A-4147-A177-3AD203B41FA5}">
                      <a16:colId xmlns:a16="http://schemas.microsoft.com/office/drawing/2014/main" val="682756451"/>
                    </a:ext>
                  </a:extLst>
                </a:gridCol>
                <a:gridCol w="2032000">
                  <a:extLst>
                    <a:ext uri="{9D8B030D-6E8A-4147-A177-3AD203B41FA5}">
                      <a16:colId xmlns:a16="http://schemas.microsoft.com/office/drawing/2014/main" val="2426205724"/>
                    </a:ext>
                  </a:extLst>
                </a:gridCol>
              </a:tblGrid>
              <a:tr h="220027">
                <a:tc>
                  <a:txBody>
                    <a:bodyPr/>
                    <a:lstStyle/>
                    <a:p>
                      <a:r>
                        <a:rPr lang="en-US" sz="1200" b="1" dirty="0">
                          <a:solidFill>
                            <a:srgbClr val="021836"/>
                          </a:solidFill>
                        </a:rPr>
                        <a:t>Identify</a:t>
                      </a:r>
                    </a:p>
                  </a:txBody>
                  <a:tcPr>
                    <a:lnB w="12700" cap="flat" cmpd="sng" algn="ctr">
                      <a:solidFill>
                        <a:srgbClr val="0396A6"/>
                      </a:solidFill>
                      <a:prstDash val="solid"/>
                      <a:round/>
                      <a:headEnd type="none" w="med" len="med"/>
                      <a:tailEnd type="none" w="med" len="med"/>
                    </a:lnB>
                  </a:tcPr>
                </a:tc>
                <a:tc>
                  <a:txBody>
                    <a:bodyPr/>
                    <a:lstStyle/>
                    <a:p>
                      <a:r>
                        <a:rPr lang="en-US" sz="1200" b="1" dirty="0">
                          <a:solidFill>
                            <a:srgbClr val="021836"/>
                          </a:solidFill>
                        </a:rPr>
                        <a:t>Understand</a:t>
                      </a:r>
                    </a:p>
                  </a:txBody>
                  <a:tcPr>
                    <a:lnB w="12700" cap="flat" cmpd="sng" algn="ctr">
                      <a:solidFill>
                        <a:srgbClr val="0396A6"/>
                      </a:solidFill>
                      <a:prstDash val="solid"/>
                      <a:round/>
                      <a:headEnd type="none" w="med" len="med"/>
                      <a:tailEnd type="none" w="med" len="med"/>
                    </a:lnB>
                  </a:tcPr>
                </a:tc>
                <a:tc>
                  <a:txBody>
                    <a:bodyPr/>
                    <a:lstStyle/>
                    <a:p>
                      <a:r>
                        <a:rPr lang="en-US" sz="1200" b="1" dirty="0">
                          <a:solidFill>
                            <a:srgbClr val="021836"/>
                          </a:solidFill>
                        </a:rPr>
                        <a:t>Evaluate</a:t>
                      </a:r>
                    </a:p>
                  </a:txBody>
                  <a:tcPr>
                    <a:lnB w="12700" cap="flat" cmpd="sng" algn="ctr">
                      <a:solidFill>
                        <a:srgbClr val="0396A6"/>
                      </a:solidFill>
                      <a:prstDash val="solid"/>
                      <a:round/>
                      <a:headEnd type="none" w="med" len="med"/>
                      <a:tailEnd type="none" w="med" len="med"/>
                    </a:lnB>
                  </a:tcPr>
                </a:tc>
                <a:extLst>
                  <a:ext uri="{0D108BD9-81ED-4DB2-BD59-A6C34878D82A}">
                    <a16:rowId xmlns:a16="http://schemas.microsoft.com/office/drawing/2014/main" val="3173400939"/>
                  </a:ext>
                </a:extLst>
              </a:tr>
              <a:tr h="220027">
                <a:tc>
                  <a:txBody>
                    <a:bodyPr/>
                    <a:lstStyle/>
                    <a:p>
                      <a:r>
                        <a:rPr lang="en-US" sz="1200" dirty="0"/>
                        <a:t>Friction</a:t>
                      </a:r>
                    </a:p>
                  </a:txBody>
                  <a:tcPr>
                    <a:lnT w="12700" cap="flat" cmpd="sng" algn="ctr">
                      <a:solidFill>
                        <a:srgbClr val="0396A6"/>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sz="1200" dirty="0"/>
                        <a:t>Workflows</a:t>
                      </a:r>
                    </a:p>
                  </a:txBody>
                  <a:tcPr>
                    <a:lnT w="12700" cap="flat" cmpd="sng" algn="ctr">
                      <a:solidFill>
                        <a:srgbClr val="0396A6"/>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sz="1200" dirty="0"/>
                        <a:t>Opportunities</a:t>
                      </a:r>
                    </a:p>
                  </a:txBody>
                  <a:tcPr>
                    <a:lnT w="12700" cap="flat" cmpd="sng" algn="ctr">
                      <a:solidFill>
                        <a:srgbClr val="0396A6"/>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185261034"/>
                  </a:ext>
                </a:extLst>
              </a:tr>
              <a:tr h="220027">
                <a:tc>
                  <a:txBody>
                    <a:bodyPr/>
                    <a:lstStyle/>
                    <a:p>
                      <a:r>
                        <a:rPr lang="en-US" sz="1200" dirty="0"/>
                        <a:t>Repetition</a:t>
                      </a:r>
                    </a:p>
                  </a:txBody>
                  <a:tcP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sz="1200" dirty="0"/>
                        <a:t>Bottlenecks</a:t>
                      </a:r>
                    </a:p>
                  </a:txBody>
                  <a:tcP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sz="1200" dirty="0"/>
                        <a:t>Risks</a:t>
                      </a:r>
                    </a:p>
                  </a:txBody>
                  <a:tcP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4220512722"/>
                  </a:ext>
                </a:extLst>
              </a:tr>
              <a:tr h="220027">
                <a:tc>
                  <a:txBody>
                    <a:bodyPr/>
                    <a:lstStyle/>
                    <a:p>
                      <a:r>
                        <a:rPr lang="en-US" sz="1200" dirty="0"/>
                        <a:t>Handoffs</a:t>
                      </a:r>
                    </a:p>
                  </a:txBody>
                  <a:tcP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sz="1200" dirty="0"/>
                        <a:t>Data</a:t>
                      </a:r>
                    </a:p>
                  </a:txBody>
                  <a:tcP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sz="1200" dirty="0"/>
                        <a:t>Human Oversight</a:t>
                      </a:r>
                    </a:p>
                  </a:txBody>
                  <a:tcP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022554168"/>
                  </a:ext>
                </a:extLst>
              </a:tr>
              <a:tr h="220027">
                <a:tc>
                  <a:txBody>
                    <a:bodyPr/>
                    <a:lstStyle/>
                    <a:p>
                      <a:r>
                        <a:rPr lang="en-US" sz="1200" dirty="0"/>
                        <a:t>Pain Points</a:t>
                      </a:r>
                    </a:p>
                  </a:txBody>
                  <a:tcPr>
                    <a:lnT w="12700" cap="flat" cmpd="sng" algn="ctr">
                      <a:solidFill>
                        <a:schemeClr val="bg1">
                          <a:lumMod val="85000"/>
                        </a:schemeClr>
                      </a:solidFill>
                      <a:prstDash val="solid"/>
                      <a:round/>
                      <a:headEnd type="none" w="med" len="med"/>
                      <a:tailEnd type="none" w="med" len="med"/>
                    </a:lnT>
                  </a:tcPr>
                </a:tc>
                <a:tc>
                  <a:txBody>
                    <a:bodyPr/>
                    <a:lstStyle/>
                    <a:p>
                      <a:r>
                        <a:rPr lang="en-US" sz="1200" dirty="0"/>
                        <a:t>Dependencies</a:t>
                      </a:r>
                    </a:p>
                  </a:txBody>
                  <a:tcPr>
                    <a:lnT w="12700" cap="flat" cmpd="sng" algn="ctr">
                      <a:solidFill>
                        <a:schemeClr val="bg1">
                          <a:lumMod val="85000"/>
                        </a:schemeClr>
                      </a:solidFill>
                      <a:prstDash val="solid"/>
                      <a:round/>
                      <a:headEnd type="none" w="med" len="med"/>
                      <a:tailEnd type="none" w="med" len="med"/>
                    </a:lnT>
                  </a:tcPr>
                </a:tc>
                <a:tc>
                  <a:txBody>
                    <a:bodyPr/>
                    <a:lstStyle/>
                    <a:p>
                      <a:r>
                        <a:rPr lang="en-US" sz="1200" dirty="0"/>
                        <a:t>Business Impact</a:t>
                      </a:r>
                    </a:p>
                  </a:txBody>
                  <a:tcPr>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828954539"/>
                  </a:ext>
                </a:extLst>
              </a:tr>
            </a:tbl>
          </a:graphicData>
        </a:graphic>
      </p:graphicFrame>
      <p:cxnSp>
        <p:nvCxnSpPr>
          <p:cNvPr id="10" name="Straight Connector 9">
            <a:extLst>
              <a:ext uri="{FF2B5EF4-FFF2-40B4-BE49-F238E27FC236}">
                <a16:creationId xmlns:a16="http://schemas.microsoft.com/office/drawing/2014/main" id="{C0020D96-D985-F85D-9155-2AFC35B6AE59}"/>
              </a:ext>
            </a:extLst>
          </p:cNvPr>
          <p:cNvCxnSpPr>
            <a:cxnSpLocks/>
          </p:cNvCxnSpPr>
          <p:nvPr/>
        </p:nvCxnSpPr>
        <p:spPr>
          <a:xfrm>
            <a:off x="185737" y="4816475"/>
            <a:ext cx="8801100" cy="0"/>
          </a:xfrm>
          <a:prstGeom prst="line">
            <a:avLst/>
          </a:prstGeom>
          <a:ln w="9525">
            <a:solidFill>
              <a:srgbClr val="0396A6"/>
            </a:solidFill>
          </a:ln>
        </p:spPr>
        <p:style>
          <a:lnRef idx="2">
            <a:schemeClr val="accent1"/>
          </a:lnRef>
          <a:fillRef idx="0">
            <a:schemeClr val="accent1"/>
          </a:fillRef>
          <a:effectRef idx="1">
            <a:schemeClr val="accent1"/>
          </a:effectRef>
          <a:fontRef idx="minor">
            <a:schemeClr val="tx1"/>
          </a:fontRef>
        </p:style>
      </p:cxnSp>
      <p:grpSp>
        <p:nvGrpSpPr>
          <p:cNvPr id="37" name="Group 36">
            <a:extLst>
              <a:ext uri="{FF2B5EF4-FFF2-40B4-BE49-F238E27FC236}">
                <a16:creationId xmlns:a16="http://schemas.microsoft.com/office/drawing/2014/main" id="{07427C67-24F8-34E3-16AD-56FCB95CE120}"/>
              </a:ext>
            </a:extLst>
          </p:cNvPr>
          <p:cNvGrpSpPr/>
          <p:nvPr/>
        </p:nvGrpSpPr>
        <p:grpSpPr>
          <a:xfrm>
            <a:off x="628650" y="4873626"/>
            <a:ext cx="7886700" cy="908049"/>
            <a:chOff x="628650" y="4778376"/>
            <a:chExt cx="7886700" cy="908049"/>
          </a:xfrm>
        </p:grpSpPr>
        <p:sp>
          <p:nvSpPr>
            <p:cNvPr id="9" name="Content Placeholder 2">
              <a:extLst>
                <a:ext uri="{FF2B5EF4-FFF2-40B4-BE49-F238E27FC236}">
                  <a16:creationId xmlns:a16="http://schemas.microsoft.com/office/drawing/2014/main" id="{8C9AC330-2344-BEDA-9EC6-BFB62190E7E3}"/>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b="1" dirty="0">
                  <a:solidFill>
                    <a:srgbClr val="021836"/>
                  </a:solidFill>
                </a:rPr>
                <a:t>Guiding Principles</a:t>
              </a:r>
            </a:p>
          </p:txBody>
        </p:sp>
        <p:sp>
          <p:nvSpPr>
            <p:cNvPr id="11" name="Content Placeholder 2">
              <a:extLst>
                <a:ext uri="{FF2B5EF4-FFF2-40B4-BE49-F238E27FC236}">
                  <a16:creationId xmlns:a16="http://schemas.microsoft.com/office/drawing/2014/main" id="{FD78CC86-2052-A718-2145-5489B68A5D91}"/>
                </a:ext>
              </a:extLst>
            </p:cNvPr>
            <p:cNvSpPr txBox="1">
              <a:spLocks/>
            </p:cNvSpPr>
            <p:nvPr/>
          </p:nvSpPr>
          <p:spPr>
            <a:xfrm>
              <a:off x="628650" y="5119688"/>
              <a:ext cx="7886700" cy="566737"/>
            </a:xfrm>
            <a:prstGeom prst="rect">
              <a:avLst/>
            </a:prstGeom>
          </p:spPr>
          <p:txBody>
            <a:bodyPr vert="horz" lIns="91440" tIns="45720" rIns="91440" bIns="45720" numCol="2"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021836"/>
                </a:buClr>
                <a:buFont typeface="Wingdings" panose="05000000000000000000" pitchFamily="2" charset="2"/>
                <a:buChar char="ü"/>
              </a:pPr>
              <a:r>
                <a:rPr lang="en-US" sz="1200" dirty="0"/>
                <a:t>Start with work, not tools</a:t>
              </a:r>
            </a:p>
            <a:p>
              <a:pPr>
                <a:buClr>
                  <a:srgbClr val="021836"/>
                </a:buClr>
                <a:buFont typeface="Wingdings" panose="05000000000000000000" pitchFamily="2" charset="2"/>
                <a:buChar char="ü"/>
              </a:pPr>
              <a:r>
                <a:rPr lang="en-US" sz="1200" dirty="0"/>
                <a:t>Focus on outcomes, not hype</a:t>
              </a:r>
            </a:p>
            <a:p>
              <a:pPr>
                <a:buClr>
                  <a:srgbClr val="021836"/>
                </a:buClr>
                <a:buFont typeface="Wingdings" panose="05000000000000000000" pitchFamily="2" charset="2"/>
                <a:buChar char="ü"/>
              </a:pPr>
              <a:r>
                <a:rPr lang="en-US" sz="1200" dirty="0"/>
                <a:t>Preserve opportunities based on value and risk</a:t>
              </a:r>
            </a:p>
            <a:p>
              <a:pPr>
                <a:buClr>
                  <a:srgbClr val="021836"/>
                </a:buClr>
                <a:buFont typeface="Wingdings" panose="05000000000000000000" pitchFamily="2" charset="2"/>
                <a:buChar char="ü"/>
              </a:pPr>
              <a:r>
                <a:rPr lang="en-US" sz="1200" dirty="0"/>
                <a:t>Adopt AI responsibly and measurably</a:t>
              </a:r>
            </a:p>
          </p:txBody>
        </p:sp>
      </p:grpSp>
      <p:grpSp>
        <p:nvGrpSpPr>
          <p:cNvPr id="36" name="Group 35">
            <a:extLst>
              <a:ext uri="{FF2B5EF4-FFF2-40B4-BE49-F238E27FC236}">
                <a16:creationId xmlns:a16="http://schemas.microsoft.com/office/drawing/2014/main" id="{F5149595-F0B4-42D4-508A-6767A887BA6C}"/>
              </a:ext>
            </a:extLst>
          </p:cNvPr>
          <p:cNvGrpSpPr/>
          <p:nvPr/>
        </p:nvGrpSpPr>
        <p:grpSpPr>
          <a:xfrm>
            <a:off x="628650" y="5885657"/>
            <a:ext cx="7886700" cy="908049"/>
            <a:chOff x="628650" y="5780882"/>
            <a:chExt cx="7886700" cy="908049"/>
          </a:xfrm>
        </p:grpSpPr>
        <p:sp>
          <p:nvSpPr>
            <p:cNvPr id="26" name="Content Placeholder 2">
              <a:extLst>
                <a:ext uri="{FF2B5EF4-FFF2-40B4-BE49-F238E27FC236}">
                  <a16:creationId xmlns:a16="http://schemas.microsoft.com/office/drawing/2014/main" id="{21FED324-53C6-FF1A-3ECB-975A783F7AAB}"/>
                </a:ext>
              </a:extLst>
            </p:cNvPr>
            <p:cNvSpPr txBox="1">
              <a:spLocks/>
            </p:cNvSpPr>
            <p:nvPr/>
          </p:nvSpPr>
          <p:spPr>
            <a:xfrm>
              <a:off x="628650" y="5780882"/>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b="1" dirty="0">
                  <a:solidFill>
                    <a:srgbClr val="021836"/>
                  </a:solidFill>
                </a:rPr>
                <a:t>This workbook helps organizations:</a:t>
              </a:r>
            </a:p>
          </p:txBody>
        </p:sp>
        <p:sp>
          <p:nvSpPr>
            <p:cNvPr id="27" name="Content Placeholder 2">
              <a:extLst>
                <a:ext uri="{FF2B5EF4-FFF2-40B4-BE49-F238E27FC236}">
                  <a16:creationId xmlns:a16="http://schemas.microsoft.com/office/drawing/2014/main" id="{4F966475-1F94-75C7-4B73-817BD9641135}"/>
                </a:ext>
              </a:extLst>
            </p:cNvPr>
            <p:cNvSpPr txBox="1">
              <a:spLocks/>
            </p:cNvSpPr>
            <p:nvPr/>
          </p:nvSpPr>
          <p:spPr>
            <a:xfrm>
              <a:off x="628650" y="6122194"/>
              <a:ext cx="7886700" cy="566737"/>
            </a:xfrm>
            <a:prstGeom prst="rect">
              <a:avLst/>
            </a:prstGeom>
          </p:spPr>
          <p:txBody>
            <a:bodyPr vert="horz" lIns="91440" tIns="45720" rIns="91440" bIns="45720" numCol="2"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021836"/>
                </a:buClr>
                <a:buFont typeface="Wingdings" panose="05000000000000000000" pitchFamily="2" charset="2"/>
                <a:buChar char="ü"/>
              </a:pPr>
              <a:r>
                <a:rPr lang="en-US" sz="1200" dirty="0"/>
                <a:t>Identify friction</a:t>
              </a:r>
            </a:p>
            <a:p>
              <a:pPr>
                <a:buClr>
                  <a:srgbClr val="021836"/>
                </a:buClr>
                <a:buFont typeface="Wingdings" panose="05000000000000000000" pitchFamily="2" charset="2"/>
                <a:buChar char="ü"/>
              </a:pPr>
              <a:r>
                <a:rPr lang="en-US" sz="1200" dirty="0"/>
                <a:t>Understand work</a:t>
              </a:r>
            </a:p>
            <a:p>
              <a:pPr>
                <a:buClr>
                  <a:srgbClr val="021836"/>
                </a:buClr>
                <a:buFont typeface="Wingdings" panose="05000000000000000000" pitchFamily="2" charset="2"/>
                <a:buChar char="ü"/>
              </a:pPr>
              <a:r>
                <a:rPr lang="en-US" sz="1200" dirty="0"/>
                <a:t>Evaluate opportunities</a:t>
              </a:r>
            </a:p>
            <a:p>
              <a:pPr>
                <a:buClr>
                  <a:srgbClr val="021836"/>
                </a:buClr>
                <a:buFont typeface="Wingdings" panose="05000000000000000000" pitchFamily="2" charset="2"/>
                <a:buChar char="ü"/>
              </a:pPr>
              <a:r>
                <a:rPr lang="en-US" sz="1200" dirty="0"/>
                <a:t>Preserve accountability</a:t>
              </a:r>
            </a:p>
          </p:txBody>
        </p:sp>
      </p:grpSp>
      <p:cxnSp>
        <p:nvCxnSpPr>
          <p:cNvPr id="28" name="Straight Connector 27">
            <a:extLst>
              <a:ext uri="{FF2B5EF4-FFF2-40B4-BE49-F238E27FC236}">
                <a16:creationId xmlns:a16="http://schemas.microsoft.com/office/drawing/2014/main" id="{EDEFB91B-6827-3E23-679D-230387F01E7B}"/>
              </a:ext>
            </a:extLst>
          </p:cNvPr>
          <p:cNvCxnSpPr>
            <a:cxnSpLocks/>
          </p:cNvCxnSpPr>
          <p:nvPr/>
        </p:nvCxnSpPr>
        <p:spPr>
          <a:xfrm>
            <a:off x="185737" y="5826125"/>
            <a:ext cx="8801100" cy="0"/>
          </a:xfrm>
          <a:prstGeom prst="line">
            <a:avLst/>
          </a:prstGeom>
          <a:ln w="9525">
            <a:solidFill>
              <a:srgbClr val="0396A6"/>
            </a:solidFill>
          </a:ln>
        </p:spPr>
        <p:style>
          <a:lnRef idx="2">
            <a:schemeClr val="accent1"/>
          </a:lnRef>
          <a:fillRef idx="0">
            <a:schemeClr val="accent1"/>
          </a:fillRef>
          <a:effectRef idx="1">
            <a:schemeClr val="accent1"/>
          </a:effectRef>
          <a:fontRef idx="minor">
            <a:schemeClr val="tx1"/>
          </a:fontRef>
        </p:style>
      </p:cxnSp>
      <p:grpSp>
        <p:nvGrpSpPr>
          <p:cNvPr id="39" name="Group 38">
            <a:extLst>
              <a:ext uri="{FF2B5EF4-FFF2-40B4-BE49-F238E27FC236}">
                <a16:creationId xmlns:a16="http://schemas.microsoft.com/office/drawing/2014/main" id="{7D57B0D2-588B-7BDC-61A4-829B8854908B}"/>
              </a:ext>
            </a:extLst>
          </p:cNvPr>
          <p:cNvGrpSpPr/>
          <p:nvPr/>
        </p:nvGrpSpPr>
        <p:grpSpPr>
          <a:xfrm>
            <a:off x="628650" y="815976"/>
            <a:ext cx="7886700" cy="1767682"/>
            <a:chOff x="628650" y="882651"/>
            <a:chExt cx="7886700" cy="1767682"/>
          </a:xfrm>
        </p:grpSpPr>
        <p:sp>
          <p:nvSpPr>
            <p:cNvPr id="32" name="Content Placeholder 2">
              <a:extLst>
                <a:ext uri="{FF2B5EF4-FFF2-40B4-BE49-F238E27FC236}">
                  <a16:creationId xmlns:a16="http://schemas.microsoft.com/office/drawing/2014/main" id="{3100EC29-4DE1-0548-69CA-66C82A4659A2}"/>
                </a:ext>
              </a:extLst>
            </p:cNvPr>
            <p:cNvSpPr txBox="1">
              <a:spLocks/>
            </p:cNvSpPr>
            <p:nvPr/>
          </p:nvSpPr>
          <p:spPr>
            <a:xfrm>
              <a:off x="628650" y="882651"/>
              <a:ext cx="7886700" cy="176768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b="1" dirty="0">
                  <a:solidFill>
                    <a:srgbClr val="021836"/>
                  </a:solidFill>
                </a:rPr>
                <a:t>Purpose</a:t>
              </a:r>
            </a:p>
            <a:p>
              <a:pPr marL="0" indent="0">
                <a:buFont typeface="Arial" panose="020B0604020202020204" pitchFamily="34" charset="0"/>
                <a:buNone/>
              </a:pPr>
              <a:r>
                <a:rPr lang="en-US" sz="1200" dirty="0"/>
                <a:t>This workbook is designed to help organizations identify where AI can create value responsibly by examining:</a:t>
              </a:r>
            </a:p>
            <a:p>
              <a:pPr marL="342900" indent="0">
                <a:buFont typeface="Arial" panose="020B0604020202020204" pitchFamily="34" charset="0"/>
                <a:buNone/>
                <a:tabLst>
                  <a:tab pos="342900" algn="l"/>
                </a:tabLst>
              </a:pPr>
              <a:r>
                <a:rPr lang="en-US" sz="1200" dirty="0"/>
                <a:t>People</a:t>
              </a:r>
            </a:p>
            <a:p>
              <a:pPr marL="342900" indent="0">
                <a:buFont typeface="Arial" panose="020B0604020202020204" pitchFamily="34" charset="0"/>
                <a:buNone/>
                <a:tabLst>
                  <a:tab pos="342900" algn="l"/>
                </a:tabLst>
              </a:pPr>
              <a:r>
                <a:rPr lang="en-US" sz="1200" dirty="0"/>
                <a:t>Process</a:t>
              </a:r>
            </a:p>
            <a:p>
              <a:pPr marL="342900" indent="0">
                <a:buFont typeface="Arial" panose="020B0604020202020204" pitchFamily="34" charset="0"/>
                <a:buNone/>
                <a:tabLst>
                  <a:tab pos="342900" algn="l"/>
                </a:tabLst>
              </a:pPr>
              <a:r>
                <a:rPr lang="en-US" sz="1200" dirty="0"/>
                <a:t>Technology</a:t>
              </a:r>
            </a:p>
            <a:p>
              <a:pPr marL="342900" indent="0">
                <a:buFont typeface="Arial" panose="020B0604020202020204" pitchFamily="34" charset="0"/>
                <a:buNone/>
                <a:tabLst>
                  <a:tab pos="342900" algn="l"/>
                </a:tabLst>
              </a:pPr>
              <a:r>
                <a:rPr lang="en-US" sz="1200" dirty="0"/>
                <a:t>Governance</a:t>
              </a:r>
            </a:p>
            <a:p>
              <a:pPr marL="0" indent="0">
                <a:buFont typeface="Arial" panose="020B0604020202020204" pitchFamily="34" charset="0"/>
                <a:buNone/>
              </a:pPr>
              <a:endParaRPr lang="en-US" sz="1600" dirty="0"/>
            </a:p>
          </p:txBody>
        </p:sp>
        <p:pic>
          <p:nvPicPr>
            <p:cNvPr id="16" name="Graphic 15" descr="Shield Tick with solid fill">
              <a:extLst>
                <a:ext uri="{FF2B5EF4-FFF2-40B4-BE49-F238E27FC236}">
                  <a16:creationId xmlns:a16="http://schemas.microsoft.com/office/drawing/2014/main" id="{7D27F7F5-6978-B89A-F4D1-EA29518BBEE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68744" y="2370875"/>
              <a:ext cx="210312" cy="210312"/>
            </a:xfrm>
            <a:prstGeom prst="rect">
              <a:avLst/>
            </a:prstGeom>
          </p:spPr>
        </p:pic>
        <p:pic>
          <p:nvPicPr>
            <p:cNvPr id="18" name="Graphic 17" descr="Laptop with solid fill">
              <a:extLst>
                <a:ext uri="{FF2B5EF4-FFF2-40B4-BE49-F238E27FC236}">
                  <a16:creationId xmlns:a16="http://schemas.microsoft.com/office/drawing/2014/main" id="{7FEAE5FC-50EE-00B9-7C79-7B10BCFFD5C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68744" y="2085952"/>
              <a:ext cx="210312" cy="210312"/>
            </a:xfrm>
            <a:prstGeom prst="rect">
              <a:avLst/>
            </a:prstGeom>
          </p:spPr>
        </p:pic>
        <p:pic>
          <p:nvPicPr>
            <p:cNvPr id="20" name="Graphic 19" descr="Single gear with solid fill">
              <a:extLst>
                <a:ext uri="{FF2B5EF4-FFF2-40B4-BE49-F238E27FC236}">
                  <a16:creationId xmlns:a16="http://schemas.microsoft.com/office/drawing/2014/main" id="{185E81E2-A5D3-8D50-B77B-2ABEC80693D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68744" y="1790732"/>
              <a:ext cx="210312" cy="210312"/>
            </a:xfrm>
            <a:prstGeom prst="rect">
              <a:avLst/>
            </a:prstGeom>
          </p:spPr>
        </p:pic>
        <p:grpSp>
          <p:nvGrpSpPr>
            <p:cNvPr id="25" name="Group 24">
              <a:extLst>
                <a:ext uri="{FF2B5EF4-FFF2-40B4-BE49-F238E27FC236}">
                  <a16:creationId xmlns:a16="http://schemas.microsoft.com/office/drawing/2014/main" id="{514BE948-4BB8-8A2F-DF54-E02C27860B64}"/>
                </a:ext>
              </a:extLst>
            </p:cNvPr>
            <p:cNvGrpSpPr/>
            <p:nvPr/>
          </p:nvGrpSpPr>
          <p:grpSpPr>
            <a:xfrm>
              <a:off x="714375" y="1505154"/>
              <a:ext cx="319050" cy="212521"/>
              <a:chOff x="-1857375" y="1959750"/>
              <a:chExt cx="1383450" cy="921525"/>
            </a:xfrm>
            <a:solidFill>
              <a:srgbClr val="7030A0"/>
            </a:solidFill>
          </p:grpSpPr>
          <p:pic>
            <p:nvPicPr>
              <p:cNvPr id="22" name="Graphic 21" descr="Male profile with solid fill">
                <a:extLst>
                  <a:ext uri="{FF2B5EF4-FFF2-40B4-BE49-F238E27FC236}">
                    <a16:creationId xmlns:a16="http://schemas.microsoft.com/office/drawing/2014/main" id="{2FE544BA-1BC8-2FD5-8B08-5761750C2CE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857375" y="1966875"/>
                <a:ext cx="914400" cy="914400"/>
              </a:xfrm>
              <a:prstGeom prst="rect">
                <a:avLst/>
              </a:prstGeom>
            </p:spPr>
          </p:pic>
          <p:pic>
            <p:nvPicPr>
              <p:cNvPr id="24" name="Graphic 23" descr="Female Profile with solid fill">
                <a:extLst>
                  <a:ext uri="{FF2B5EF4-FFF2-40B4-BE49-F238E27FC236}">
                    <a16:creationId xmlns:a16="http://schemas.microsoft.com/office/drawing/2014/main" id="{E726ED61-2243-BD9B-366A-CAA5856E580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388325" y="1959750"/>
                <a:ext cx="914400" cy="914400"/>
              </a:xfrm>
              <a:prstGeom prst="rect">
                <a:avLst/>
              </a:prstGeom>
            </p:spPr>
          </p:pic>
        </p:grpSp>
      </p:grpSp>
      <p:grpSp>
        <p:nvGrpSpPr>
          <p:cNvPr id="40" name="Group 39">
            <a:extLst>
              <a:ext uri="{FF2B5EF4-FFF2-40B4-BE49-F238E27FC236}">
                <a16:creationId xmlns:a16="http://schemas.microsoft.com/office/drawing/2014/main" id="{712D55E6-B779-6854-1A33-59FACE39C93C}"/>
              </a:ext>
            </a:extLst>
          </p:cNvPr>
          <p:cNvGrpSpPr/>
          <p:nvPr/>
        </p:nvGrpSpPr>
        <p:grpSpPr>
          <a:xfrm>
            <a:off x="628650" y="2685257"/>
            <a:ext cx="7886700" cy="321468"/>
            <a:chOff x="628650" y="2675732"/>
            <a:chExt cx="7886700" cy="337344"/>
          </a:xfrm>
        </p:grpSpPr>
        <p:sp>
          <p:nvSpPr>
            <p:cNvPr id="29" name="Content Placeholder 2">
              <a:extLst>
                <a:ext uri="{FF2B5EF4-FFF2-40B4-BE49-F238E27FC236}">
                  <a16:creationId xmlns:a16="http://schemas.microsoft.com/office/drawing/2014/main" id="{F2CA7E28-8EB8-852B-C7E3-0F93775FDA88}"/>
                </a:ext>
              </a:extLst>
            </p:cNvPr>
            <p:cNvSpPr txBox="1">
              <a:spLocks/>
            </p:cNvSpPr>
            <p:nvPr/>
          </p:nvSpPr>
          <p:spPr>
            <a:xfrm>
              <a:off x="628650" y="2675732"/>
              <a:ext cx="7886700" cy="32146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b="1" dirty="0">
                  <a:solidFill>
                    <a:srgbClr val="021836"/>
                  </a:solidFill>
                </a:rPr>
                <a:t>Guiding Philosophy:</a:t>
              </a:r>
              <a:endParaRPr lang="en-US" sz="1400" dirty="0"/>
            </a:p>
          </p:txBody>
        </p:sp>
        <p:sp>
          <p:nvSpPr>
            <p:cNvPr id="34" name="Content Placeholder 2">
              <a:extLst>
                <a:ext uri="{FF2B5EF4-FFF2-40B4-BE49-F238E27FC236}">
                  <a16:creationId xmlns:a16="http://schemas.microsoft.com/office/drawing/2014/main" id="{1921B499-7098-D316-3324-27373FB61333}"/>
                </a:ext>
              </a:extLst>
            </p:cNvPr>
            <p:cNvSpPr txBox="1">
              <a:spLocks/>
            </p:cNvSpPr>
            <p:nvPr/>
          </p:nvSpPr>
          <p:spPr>
            <a:xfrm>
              <a:off x="2302688" y="2698754"/>
              <a:ext cx="5469712" cy="31432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200" i="1" dirty="0">
                  <a:solidFill>
                    <a:srgbClr val="021836"/>
                  </a:solidFill>
                </a:rPr>
                <a:t>AI Operational Readiness begins by understanding work, not by selecting tools.</a:t>
              </a:r>
            </a:p>
            <a:p>
              <a:pPr marL="0" indent="0">
                <a:buFont typeface="Arial" panose="020B0604020202020204" pitchFamily="34" charset="0"/>
                <a:buNone/>
              </a:pPr>
              <a:endParaRPr lang="en-US" sz="1600" dirty="0"/>
            </a:p>
          </p:txBody>
        </p:sp>
      </p:grpSp>
      <p:cxnSp>
        <p:nvCxnSpPr>
          <p:cNvPr id="38" name="Straight Connector 37">
            <a:extLst>
              <a:ext uri="{FF2B5EF4-FFF2-40B4-BE49-F238E27FC236}">
                <a16:creationId xmlns:a16="http://schemas.microsoft.com/office/drawing/2014/main" id="{F800E316-966F-CE1A-1463-4E66A7FD44DD}"/>
              </a:ext>
            </a:extLst>
          </p:cNvPr>
          <p:cNvCxnSpPr>
            <a:cxnSpLocks/>
          </p:cNvCxnSpPr>
          <p:nvPr/>
        </p:nvCxnSpPr>
        <p:spPr>
          <a:xfrm>
            <a:off x="185737" y="2612233"/>
            <a:ext cx="8801100" cy="0"/>
          </a:xfrm>
          <a:prstGeom prst="line">
            <a:avLst/>
          </a:prstGeom>
          <a:ln w="9525">
            <a:solidFill>
              <a:srgbClr val="0396A6"/>
            </a:solidFill>
          </a:ln>
        </p:spPr>
        <p:style>
          <a:lnRef idx="2">
            <a:schemeClr val="accent1"/>
          </a:lnRef>
          <a:fillRef idx="0">
            <a:schemeClr val="accent1"/>
          </a:fillRef>
          <a:effectRef idx="1">
            <a:schemeClr val="accent1"/>
          </a:effectRef>
          <a:fontRef idx="minor">
            <a:schemeClr val="tx1"/>
          </a:fontRef>
        </p:style>
      </p:cxnSp>
      <p:sp>
        <p:nvSpPr>
          <p:cNvPr id="12" name="Subtitle 2">
            <a:extLst>
              <a:ext uri="{FF2B5EF4-FFF2-40B4-BE49-F238E27FC236}">
                <a16:creationId xmlns:a16="http://schemas.microsoft.com/office/drawing/2014/main" id="{44FC8ECD-3BF0-FB51-5F9A-36E4B693AF3D}"/>
              </a:ext>
            </a:extLst>
          </p:cNvPr>
          <p:cNvSpPr txBox="1">
            <a:spLocks/>
          </p:cNvSpPr>
          <p:nvPr/>
        </p:nvSpPr>
        <p:spPr>
          <a:xfrm>
            <a:off x="-6272212" y="4440577"/>
            <a:ext cx="1787298" cy="32033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ts val="0"/>
              </a:spcBef>
            </a:pPr>
            <a:r>
              <a:rPr lang="en-US" sz="1200" dirty="0">
                <a:solidFill>
                  <a:schemeClr val="bg1">
                    <a:lumMod val="65000"/>
                  </a:schemeClr>
                </a:solidFill>
              </a:rPr>
              <a:t>© 2026 Chloe C. Devine</a:t>
            </a:r>
          </a:p>
          <a:p>
            <a:pPr algn="l">
              <a:lnSpc>
                <a:spcPct val="100000"/>
              </a:lnSpc>
              <a:spcBef>
                <a:spcPts val="0"/>
              </a:spcBef>
            </a:pPr>
            <a:endParaRPr lang="en-US" sz="1200" dirty="0">
              <a:solidFill>
                <a:schemeClr val="bg1">
                  <a:lumMod val="65000"/>
                </a:schemeClr>
              </a:solidFill>
            </a:endParaRPr>
          </a:p>
        </p:txBody>
      </p:sp>
      <p:sp>
        <p:nvSpPr>
          <p:cNvPr id="4" name="TextBox 3">
            <a:extLst>
              <a:ext uri="{FF2B5EF4-FFF2-40B4-BE49-F238E27FC236}">
                <a16:creationId xmlns:a16="http://schemas.microsoft.com/office/drawing/2014/main" id="{B937644C-4A6E-E848-C6FC-21CB14569674}"/>
              </a:ext>
            </a:extLst>
          </p:cNvPr>
          <p:cNvSpPr txBox="1"/>
          <p:nvPr/>
        </p:nvSpPr>
        <p:spPr>
          <a:xfrm>
            <a:off x="5680038" y="64309"/>
            <a:ext cx="3357424" cy="276999"/>
          </a:xfrm>
          <a:prstGeom prst="rect">
            <a:avLst/>
          </a:prstGeom>
          <a:noFill/>
        </p:spPr>
        <p:txBody>
          <a:bodyPr wrap="square" rtlCol="0">
            <a:spAutoFit/>
          </a:bodyPr>
          <a:lstStyle/>
          <a:p>
            <a:r>
              <a:rPr lang="en-US" sz="1200" dirty="0">
                <a:solidFill>
                  <a:schemeClr val="bg1">
                    <a:lumMod val="50000"/>
                  </a:schemeClr>
                </a:solidFill>
              </a:rPr>
              <a:t>AI Operational Readiness • Discovery Workbook</a:t>
            </a:r>
          </a:p>
        </p:txBody>
      </p:sp>
    </p:spTree>
    <p:extLst>
      <p:ext uri="{BB962C8B-B14F-4D97-AF65-F5344CB8AC3E}">
        <p14:creationId xmlns:p14="http://schemas.microsoft.com/office/powerpoint/2010/main" val="19697193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907FC1-61B8-DBA1-6F81-759E6F6CCB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39DB6F-FEA3-53DC-4452-DA9D8CE7C089}"/>
              </a:ext>
            </a:extLst>
          </p:cNvPr>
          <p:cNvSpPr>
            <a:spLocks noGrp="1"/>
          </p:cNvSpPr>
          <p:nvPr>
            <p:ph type="title"/>
          </p:nvPr>
        </p:nvSpPr>
        <p:spPr>
          <a:xfrm>
            <a:off x="273534" y="-86630"/>
            <a:ext cx="7886700" cy="1325563"/>
          </a:xfrm>
        </p:spPr>
        <p:txBody>
          <a:bodyPr/>
          <a:lstStyle/>
          <a:p>
            <a:r>
              <a:rPr lang="en-US" dirty="0"/>
              <a:t>Discovery Mode</a:t>
            </a:r>
          </a:p>
        </p:txBody>
      </p:sp>
      <p:cxnSp>
        <p:nvCxnSpPr>
          <p:cNvPr id="5" name="Straight Connector 4">
            <a:extLst>
              <a:ext uri="{FF2B5EF4-FFF2-40B4-BE49-F238E27FC236}">
                <a16:creationId xmlns:a16="http://schemas.microsoft.com/office/drawing/2014/main" id="{619FD5B8-F60B-B69A-F602-0B2C196A197C}"/>
              </a:ext>
            </a:extLst>
          </p:cNvPr>
          <p:cNvCxnSpPr>
            <a:cxnSpLocks/>
          </p:cNvCxnSpPr>
          <p:nvPr/>
        </p:nvCxnSpPr>
        <p:spPr>
          <a:xfrm>
            <a:off x="171450" y="5330824"/>
            <a:ext cx="8801100" cy="0"/>
          </a:xfrm>
          <a:prstGeom prst="line">
            <a:avLst/>
          </a:prstGeom>
          <a:ln w="9525">
            <a:solidFill>
              <a:srgbClr val="0396A6"/>
            </a:solidFill>
          </a:ln>
        </p:spPr>
        <p:style>
          <a:lnRef idx="2">
            <a:schemeClr val="accent1"/>
          </a:lnRef>
          <a:fillRef idx="0">
            <a:schemeClr val="accent1"/>
          </a:fillRef>
          <a:effectRef idx="1">
            <a:schemeClr val="accent1"/>
          </a:effectRef>
          <a:fontRef idx="minor">
            <a:schemeClr val="tx1"/>
          </a:fontRef>
        </p:style>
      </p:cxnSp>
      <p:sp>
        <p:nvSpPr>
          <p:cNvPr id="7" name="Content Placeholder 2">
            <a:extLst>
              <a:ext uri="{FF2B5EF4-FFF2-40B4-BE49-F238E27FC236}">
                <a16:creationId xmlns:a16="http://schemas.microsoft.com/office/drawing/2014/main" id="{18C997CE-7A02-DDB8-30CC-605FEF4BA78F}"/>
              </a:ext>
            </a:extLst>
          </p:cNvPr>
          <p:cNvSpPr txBox="1">
            <a:spLocks/>
          </p:cNvSpPr>
          <p:nvPr/>
        </p:nvSpPr>
        <p:spPr>
          <a:xfrm>
            <a:off x="542925" y="5422901"/>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Both modes begin with the work as it happens – not with the AI tool.</a:t>
            </a:r>
          </a:p>
        </p:txBody>
      </p:sp>
      <p:sp>
        <p:nvSpPr>
          <p:cNvPr id="9" name="Content Placeholder 2">
            <a:extLst>
              <a:ext uri="{FF2B5EF4-FFF2-40B4-BE49-F238E27FC236}">
                <a16:creationId xmlns:a16="http://schemas.microsoft.com/office/drawing/2014/main" id="{7B096A8C-CA1A-A59D-2A36-7F7C276E786E}"/>
              </a:ext>
            </a:extLst>
          </p:cNvPr>
          <p:cNvSpPr txBox="1">
            <a:spLocks/>
          </p:cNvSpPr>
          <p:nvPr/>
        </p:nvSpPr>
        <p:spPr>
          <a:xfrm>
            <a:off x="273534" y="931355"/>
            <a:ext cx="7886700" cy="299244"/>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Choose the discovery lens based on the current state of the work.</a:t>
            </a:r>
          </a:p>
        </p:txBody>
      </p:sp>
      <p:graphicFrame>
        <p:nvGraphicFramePr>
          <p:cNvPr id="16" name="Table 15">
            <a:extLst>
              <a:ext uri="{FF2B5EF4-FFF2-40B4-BE49-F238E27FC236}">
                <a16:creationId xmlns:a16="http://schemas.microsoft.com/office/drawing/2014/main" id="{692313F8-297B-950F-0E50-2D13A1D998EE}"/>
              </a:ext>
            </a:extLst>
          </p:cNvPr>
          <p:cNvGraphicFramePr>
            <a:graphicFrameLocks noGrp="1"/>
          </p:cNvGraphicFramePr>
          <p:nvPr>
            <p:extLst>
              <p:ext uri="{D42A27DB-BD31-4B8C-83A1-F6EECF244321}">
                <p14:modId xmlns:p14="http://schemas.microsoft.com/office/powerpoint/2010/main" val="3679990365"/>
              </p:ext>
            </p:extLst>
          </p:nvPr>
        </p:nvGraphicFramePr>
        <p:xfrm>
          <a:off x="542925" y="2017705"/>
          <a:ext cx="8160200" cy="1920240"/>
        </p:xfrm>
        <a:graphic>
          <a:graphicData uri="http://schemas.openxmlformats.org/drawingml/2006/table">
            <a:tbl>
              <a:tblPr firstRow="1" bandRow="1">
                <a:tableStyleId>{2D5ABB26-0587-4C30-8999-92F81FD0307C}</a:tableStyleId>
              </a:tblPr>
              <a:tblGrid>
                <a:gridCol w="4080100">
                  <a:extLst>
                    <a:ext uri="{9D8B030D-6E8A-4147-A177-3AD203B41FA5}">
                      <a16:colId xmlns:a16="http://schemas.microsoft.com/office/drawing/2014/main" val="2728554600"/>
                    </a:ext>
                  </a:extLst>
                </a:gridCol>
                <a:gridCol w="4080100">
                  <a:extLst>
                    <a:ext uri="{9D8B030D-6E8A-4147-A177-3AD203B41FA5}">
                      <a16:colId xmlns:a16="http://schemas.microsoft.com/office/drawing/2014/main" val="682756451"/>
                    </a:ext>
                  </a:extLst>
                </a:gridCol>
              </a:tblGrid>
              <a:tr h="220027">
                <a:tc>
                  <a:txBody>
                    <a:bodyPr/>
                    <a:lstStyle/>
                    <a:p>
                      <a:r>
                        <a:rPr lang="en-US" sz="1200" b="1" dirty="0">
                          <a:solidFill>
                            <a:srgbClr val="021836"/>
                          </a:solidFill>
                        </a:rPr>
                        <a:t>Proposed AI</a:t>
                      </a:r>
                    </a:p>
                  </a:txBody>
                  <a:tcPr>
                    <a:lnB w="12700" cap="flat" cmpd="sng" algn="ctr">
                      <a:solidFill>
                        <a:srgbClr val="0396A6"/>
                      </a:solidFill>
                      <a:prstDash val="solid"/>
                      <a:round/>
                      <a:headEnd type="none" w="med" len="med"/>
                      <a:tailEnd type="none" w="med" len="med"/>
                    </a:lnB>
                  </a:tcPr>
                </a:tc>
                <a:tc>
                  <a:txBody>
                    <a:bodyPr/>
                    <a:lstStyle/>
                    <a:p>
                      <a:r>
                        <a:rPr lang="en-US" sz="1200" b="1" dirty="0">
                          <a:solidFill>
                            <a:srgbClr val="021836"/>
                          </a:solidFill>
                        </a:rPr>
                        <a:t>Existing or In-Flight AI</a:t>
                      </a:r>
                    </a:p>
                  </a:txBody>
                  <a:tcPr>
                    <a:lnB w="12700" cap="flat" cmpd="sng" algn="ctr">
                      <a:solidFill>
                        <a:srgbClr val="0396A6"/>
                      </a:solidFill>
                      <a:prstDash val="solid"/>
                      <a:round/>
                      <a:headEnd type="none" w="med" len="med"/>
                      <a:tailEnd type="none" w="med" len="med"/>
                    </a:lnB>
                  </a:tcPr>
                </a:tc>
                <a:extLst>
                  <a:ext uri="{0D108BD9-81ED-4DB2-BD59-A6C34878D82A}">
                    <a16:rowId xmlns:a16="http://schemas.microsoft.com/office/drawing/2014/main" val="3173400939"/>
                  </a:ext>
                </a:extLst>
              </a:tr>
              <a:tr h="220027">
                <a:tc>
                  <a:txBody>
                    <a:bodyPr/>
                    <a:lstStyle/>
                    <a:p>
                      <a:r>
                        <a:rPr lang="en-US" sz="1200" dirty="0"/>
                        <a:t>Understand how the work happens today</a:t>
                      </a:r>
                    </a:p>
                  </a:txBody>
                  <a:tcPr>
                    <a:lnT w="12700" cap="flat" cmpd="sng" algn="ctr">
                      <a:solidFill>
                        <a:srgbClr val="0396A6"/>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sz="1200" i="0" dirty="0">
                          <a:solidFill>
                            <a:schemeClr val="tx1"/>
                          </a:solidFill>
                        </a:rPr>
                        <a:t>Reconstruct how the AI-enabled work actually operates</a:t>
                      </a:r>
                    </a:p>
                  </a:txBody>
                  <a:tcPr>
                    <a:lnT w="12700" cap="flat" cmpd="sng" algn="ctr">
                      <a:solidFill>
                        <a:srgbClr val="0396A6"/>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185261034"/>
                  </a:ext>
                </a:extLst>
              </a:tr>
              <a:tr h="220027">
                <a:tc>
                  <a:txBody>
                    <a:bodyPr/>
                    <a:lstStyle/>
                    <a:p>
                      <a:r>
                        <a:rPr lang="en-US" sz="1200" dirty="0"/>
                        <a:t>Identify friction, pain, dependencies, and business need</a:t>
                      </a:r>
                    </a:p>
                  </a:txBody>
                  <a:tcP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sz="1200" i="0" dirty="0">
                          <a:solidFill>
                            <a:schemeClr val="tx1"/>
                          </a:solidFill>
                        </a:rPr>
                        <a:t>Trace workflow, AI use, dependencies, oversight, evidence, and ownership</a:t>
                      </a:r>
                    </a:p>
                  </a:txBody>
                  <a:tcP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4220512722"/>
                  </a:ext>
                </a:extLst>
              </a:tr>
              <a:tr h="220027">
                <a:tc>
                  <a:txBody>
                    <a:bodyPr/>
                    <a:lstStyle/>
                    <a:p>
                      <a:r>
                        <a:rPr lang="en-US" sz="1200" dirty="0"/>
                        <a:t>Determine whether AI is an appropriate opportunity</a:t>
                      </a:r>
                    </a:p>
                  </a:txBody>
                  <a:tcP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sz="1200" i="0" dirty="0">
                          <a:solidFill>
                            <a:schemeClr val="tx1"/>
                          </a:solidFill>
                        </a:rPr>
                        <a:t>Identify operational gaps, risks, workarounds, and improvement needs</a:t>
                      </a:r>
                    </a:p>
                  </a:txBody>
                  <a:tcP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022554168"/>
                  </a:ext>
                </a:extLst>
              </a:tr>
              <a:tr h="220027">
                <a:tc>
                  <a:txBody>
                    <a:bodyPr/>
                    <a:lstStyle/>
                    <a:p>
                      <a:r>
                        <a:rPr lang="en-US" sz="1200" b="1" dirty="0"/>
                        <a:t>Output: </a:t>
                      </a:r>
                      <a:r>
                        <a:rPr lang="en-US" sz="1200" b="0" dirty="0"/>
                        <a:t>Opportunity signals and current-state observations</a:t>
                      </a:r>
                      <a:endParaRPr lang="en-US" sz="1200" b="1" dirty="0"/>
                    </a:p>
                  </a:txBody>
                  <a:tcP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sz="1200" b="1" i="0" dirty="0">
                          <a:solidFill>
                            <a:schemeClr val="tx1"/>
                          </a:solidFill>
                        </a:rPr>
                        <a:t>Output: </a:t>
                      </a:r>
                      <a:r>
                        <a:rPr lang="en-US" sz="1200" b="0" i="0" dirty="0">
                          <a:solidFill>
                            <a:schemeClr val="tx1"/>
                          </a:solidFill>
                        </a:rPr>
                        <a:t>Operational findings and current-state observations</a:t>
                      </a:r>
                      <a:endParaRPr lang="en-US" sz="1200" b="1" i="0" dirty="0">
                        <a:solidFill>
                          <a:schemeClr val="tx1"/>
                        </a:solidFill>
                      </a:endParaRPr>
                    </a:p>
                  </a:txBody>
                  <a:tcP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828954539"/>
                  </a:ext>
                </a:extLst>
              </a:tr>
            </a:tbl>
          </a:graphicData>
        </a:graphic>
      </p:graphicFrame>
      <p:sp>
        <p:nvSpPr>
          <p:cNvPr id="4" name="TextBox 3">
            <a:extLst>
              <a:ext uri="{FF2B5EF4-FFF2-40B4-BE49-F238E27FC236}">
                <a16:creationId xmlns:a16="http://schemas.microsoft.com/office/drawing/2014/main" id="{9BA43DAA-6100-483B-9C18-A1C9A6A95FE6}"/>
              </a:ext>
            </a:extLst>
          </p:cNvPr>
          <p:cNvSpPr txBox="1"/>
          <p:nvPr/>
        </p:nvSpPr>
        <p:spPr>
          <a:xfrm>
            <a:off x="5680038" y="64309"/>
            <a:ext cx="3357424" cy="276999"/>
          </a:xfrm>
          <a:prstGeom prst="rect">
            <a:avLst/>
          </a:prstGeom>
          <a:noFill/>
        </p:spPr>
        <p:txBody>
          <a:bodyPr wrap="square" rtlCol="0">
            <a:spAutoFit/>
          </a:bodyPr>
          <a:lstStyle/>
          <a:p>
            <a:r>
              <a:rPr lang="en-US" sz="1200" dirty="0">
                <a:solidFill>
                  <a:schemeClr val="bg1">
                    <a:lumMod val="50000"/>
                  </a:schemeClr>
                </a:solidFill>
              </a:rPr>
              <a:t>AI Operational Readiness • Discovery Workbook</a:t>
            </a:r>
          </a:p>
        </p:txBody>
      </p:sp>
    </p:spTree>
    <p:extLst>
      <p:ext uri="{BB962C8B-B14F-4D97-AF65-F5344CB8AC3E}">
        <p14:creationId xmlns:p14="http://schemas.microsoft.com/office/powerpoint/2010/main" val="33206020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4A20EB-F0F1-633E-A917-29CACC76D2DD}"/>
              </a:ext>
            </a:extLst>
          </p:cNvPr>
          <p:cNvSpPr>
            <a:spLocks noGrp="1"/>
          </p:cNvSpPr>
          <p:nvPr>
            <p:ph type="title"/>
          </p:nvPr>
        </p:nvSpPr>
        <p:spPr>
          <a:xfrm>
            <a:off x="273534" y="-86630"/>
            <a:ext cx="7886700" cy="1325563"/>
          </a:xfrm>
        </p:spPr>
        <p:txBody>
          <a:bodyPr/>
          <a:lstStyle/>
          <a:p>
            <a:r>
              <a:rPr lang="en-US" dirty="0"/>
              <a:t>People</a:t>
            </a:r>
          </a:p>
        </p:txBody>
      </p:sp>
      <p:sp>
        <p:nvSpPr>
          <p:cNvPr id="3" name="Content Placeholder 2">
            <a:extLst>
              <a:ext uri="{FF2B5EF4-FFF2-40B4-BE49-F238E27FC236}">
                <a16:creationId xmlns:a16="http://schemas.microsoft.com/office/drawing/2014/main" id="{EA7E87FA-E71F-3673-6666-AC2EBD59A30D}"/>
              </a:ext>
            </a:extLst>
          </p:cNvPr>
          <p:cNvSpPr>
            <a:spLocks noGrp="1"/>
          </p:cNvSpPr>
          <p:nvPr>
            <p:ph idx="1"/>
          </p:nvPr>
        </p:nvSpPr>
        <p:spPr>
          <a:xfrm>
            <a:off x="628650" y="1216025"/>
            <a:ext cx="3857625" cy="4518025"/>
          </a:xfrm>
        </p:spPr>
        <p:txBody>
          <a:bodyPr>
            <a:normAutofit/>
          </a:bodyPr>
          <a:lstStyle/>
          <a:p>
            <a:pPr marL="0" indent="0">
              <a:buNone/>
            </a:pPr>
            <a:r>
              <a:rPr lang="en-US" sz="1400" b="1" dirty="0">
                <a:solidFill>
                  <a:srgbClr val="021836"/>
                </a:solidFill>
              </a:rPr>
              <a:t>Key Questions</a:t>
            </a:r>
          </a:p>
          <a:p>
            <a:pPr>
              <a:buClr>
                <a:schemeClr val="bg1">
                  <a:lumMod val="50000"/>
                </a:schemeClr>
              </a:buClr>
            </a:pPr>
            <a:r>
              <a:rPr lang="en-US" sz="1200" dirty="0"/>
              <a:t>Where do teams spend the most time?</a:t>
            </a:r>
          </a:p>
          <a:p>
            <a:pPr>
              <a:buClr>
                <a:schemeClr val="bg1">
                  <a:lumMod val="50000"/>
                </a:schemeClr>
              </a:buClr>
            </a:pPr>
            <a:r>
              <a:rPr lang="en-US" sz="1200" dirty="0"/>
              <a:t>What work feels repetitive?</a:t>
            </a:r>
          </a:p>
          <a:p>
            <a:pPr>
              <a:buClr>
                <a:schemeClr val="bg1">
                  <a:lumMod val="50000"/>
                </a:schemeClr>
              </a:buClr>
            </a:pPr>
            <a:r>
              <a:rPr lang="en-US" sz="1200" dirty="0"/>
              <a:t>Where are handoffs painful?</a:t>
            </a:r>
          </a:p>
          <a:p>
            <a:pPr>
              <a:buClr>
                <a:schemeClr val="bg1">
                  <a:lumMod val="50000"/>
                </a:schemeClr>
              </a:buClr>
            </a:pPr>
            <a:r>
              <a:rPr lang="en-US" sz="1200" dirty="0"/>
              <a:t>What frustrates employees?</a:t>
            </a:r>
          </a:p>
          <a:p>
            <a:pPr>
              <a:buClr>
                <a:schemeClr val="bg1">
                  <a:lumMod val="50000"/>
                </a:schemeClr>
              </a:buClr>
            </a:pPr>
            <a:r>
              <a:rPr lang="en-US" sz="1200" dirty="0"/>
              <a:t>Where do people spend time gathering information?</a:t>
            </a:r>
          </a:p>
          <a:p>
            <a:pPr>
              <a:buClr>
                <a:schemeClr val="bg1">
                  <a:lumMod val="50000"/>
                </a:schemeClr>
              </a:buClr>
            </a:pPr>
            <a:r>
              <a:rPr lang="en-US" sz="1200" dirty="0"/>
              <a:t>What work requires constant context switching?</a:t>
            </a:r>
          </a:p>
          <a:p>
            <a:pPr>
              <a:buClr>
                <a:schemeClr val="bg1">
                  <a:lumMod val="50000"/>
                </a:schemeClr>
              </a:buClr>
            </a:pPr>
            <a:r>
              <a:rPr lang="en-US" sz="1200" dirty="0"/>
              <a:t>What knowledge lives only in people’s heads?</a:t>
            </a:r>
          </a:p>
        </p:txBody>
      </p:sp>
      <p:sp>
        <p:nvSpPr>
          <p:cNvPr id="4" name="Content Placeholder 2">
            <a:extLst>
              <a:ext uri="{FF2B5EF4-FFF2-40B4-BE49-F238E27FC236}">
                <a16:creationId xmlns:a16="http://schemas.microsoft.com/office/drawing/2014/main" id="{7121347F-6A31-A4AE-333F-EAE5DDEDE03F}"/>
              </a:ext>
            </a:extLst>
          </p:cNvPr>
          <p:cNvSpPr txBox="1">
            <a:spLocks/>
          </p:cNvSpPr>
          <p:nvPr/>
        </p:nvSpPr>
        <p:spPr>
          <a:xfrm>
            <a:off x="4819650" y="1216024"/>
            <a:ext cx="3857625" cy="451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b="1" dirty="0">
                <a:solidFill>
                  <a:srgbClr val="021836"/>
                </a:solidFill>
              </a:rPr>
              <a:t>Observations</a:t>
            </a:r>
          </a:p>
          <a:p>
            <a:pPr marL="0" indent="0">
              <a:buFont typeface="Arial" panose="020B0604020202020204" pitchFamily="34" charset="0"/>
              <a:buNone/>
            </a:pPr>
            <a:r>
              <a:rPr lang="en-US" sz="1200" b="1" dirty="0">
                <a:solidFill>
                  <a:srgbClr val="021836"/>
                </a:solidFill>
              </a:rPr>
              <a:t>Signal</a:t>
            </a:r>
          </a:p>
          <a:p>
            <a:pPr>
              <a:buClr>
                <a:schemeClr val="bg1">
                  <a:lumMod val="50000"/>
                </a:schemeClr>
              </a:buClr>
            </a:pPr>
            <a:r>
              <a:rPr lang="en-US" sz="1200" dirty="0">
                <a:solidFill>
                  <a:srgbClr val="021836"/>
                </a:solidFill>
              </a:rPr>
              <a:t> </a:t>
            </a:r>
          </a:p>
          <a:p>
            <a:pPr>
              <a:buClr>
                <a:schemeClr val="bg1">
                  <a:lumMod val="50000"/>
                </a:schemeClr>
              </a:buClr>
            </a:pPr>
            <a:r>
              <a:rPr lang="en-US" sz="1200" dirty="0">
                <a:solidFill>
                  <a:srgbClr val="021836"/>
                </a:solidFill>
              </a:rPr>
              <a:t> </a:t>
            </a:r>
          </a:p>
          <a:p>
            <a:pPr marL="0" indent="0">
              <a:buNone/>
            </a:pPr>
            <a:r>
              <a:rPr lang="en-US" sz="1200" b="1" dirty="0">
                <a:solidFill>
                  <a:srgbClr val="021836"/>
                </a:solidFill>
              </a:rPr>
              <a:t>Pattern</a:t>
            </a:r>
            <a:endParaRPr lang="en-US" sz="1400" b="1" dirty="0">
              <a:solidFill>
                <a:srgbClr val="021836"/>
              </a:solidFill>
            </a:endParaRPr>
          </a:p>
          <a:p>
            <a:pPr>
              <a:buClr>
                <a:schemeClr val="bg1">
                  <a:lumMod val="50000"/>
                </a:schemeClr>
              </a:buClr>
            </a:pPr>
            <a:r>
              <a:rPr lang="en-US" sz="1200" dirty="0">
                <a:solidFill>
                  <a:srgbClr val="021836"/>
                </a:solidFill>
              </a:rPr>
              <a:t> </a:t>
            </a:r>
          </a:p>
          <a:p>
            <a:pPr>
              <a:buClr>
                <a:schemeClr val="bg1">
                  <a:lumMod val="50000"/>
                </a:schemeClr>
              </a:buClr>
            </a:pPr>
            <a:r>
              <a:rPr lang="en-US" sz="1200" dirty="0">
                <a:solidFill>
                  <a:srgbClr val="021836"/>
                </a:solidFill>
              </a:rPr>
              <a:t> </a:t>
            </a:r>
          </a:p>
          <a:p>
            <a:pPr>
              <a:buClr>
                <a:schemeClr val="bg1">
                  <a:lumMod val="50000"/>
                </a:schemeClr>
              </a:buClr>
            </a:pPr>
            <a:r>
              <a:rPr lang="en-US" sz="1200" b="1" dirty="0">
                <a:solidFill>
                  <a:srgbClr val="021836"/>
                </a:solidFill>
              </a:rPr>
              <a:t> </a:t>
            </a:r>
          </a:p>
          <a:p>
            <a:pPr marL="0" indent="0">
              <a:buNone/>
            </a:pPr>
            <a:r>
              <a:rPr lang="en-US" sz="1200" b="1" dirty="0">
                <a:solidFill>
                  <a:srgbClr val="021836"/>
                </a:solidFill>
              </a:rPr>
              <a:t>Opportunity</a:t>
            </a:r>
            <a:endParaRPr lang="en-US" sz="1400" b="1" dirty="0">
              <a:solidFill>
                <a:srgbClr val="021836"/>
              </a:solidFill>
            </a:endParaRPr>
          </a:p>
          <a:p>
            <a:pPr>
              <a:buClr>
                <a:schemeClr val="bg1">
                  <a:lumMod val="50000"/>
                </a:schemeClr>
              </a:buClr>
            </a:pPr>
            <a:r>
              <a:rPr lang="en-US" sz="1200" dirty="0">
                <a:solidFill>
                  <a:srgbClr val="021836"/>
                </a:solidFill>
              </a:rPr>
              <a:t> </a:t>
            </a:r>
          </a:p>
          <a:p>
            <a:pPr>
              <a:buClr>
                <a:schemeClr val="bg1">
                  <a:lumMod val="50000"/>
                </a:schemeClr>
              </a:buClr>
            </a:pPr>
            <a:r>
              <a:rPr lang="en-US" sz="1200" dirty="0">
                <a:solidFill>
                  <a:srgbClr val="021836"/>
                </a:solidFill>
              </a:rPr>
              <a:t> </a:t>
            </a:r>
          </a:p>
          <a:p>
            <a:pPr>
              <a:buClr>
                <a:schemeClr val="bg1">
                  <a:lumMod val="50000"/>
                </a:schemeClr>
              </a:buClr>
            </a:pPr>
            <a:r>
              <a:rPr lang="en-US" sz="1200" dirty="0">
                <a:solidFill>
                  <a:srgbClr val="021836"/>
                </a:solidFill>
              </a:rPr>
              <a:t> </a:t>
            </a:r>
          </a:p>
          <a:p>
            <a:pPr marL="0" indent="0">
              <a:buNone/>
            </a:pPr>
            <a:endParaRPr lang="en-US" sz="1200" b="1" dirty="0">
              <a:solidFill>
                <a:srgbClr val="021836"/>
              </a:solidFill>
            </a:endParaRPr>
          </a:p>
        </p:txBody>
      </p:sp>
      <p:cxnSp>
        <p:nvCxnSpPr>
          <p:cNvPr id="5" name="Straight Connector 4">
            <a:extLst>
              <a:ext uri="{FF2B5EF4-FFF2-40B4-BE49-F238E27FC236}">
                <a16:creationId xmlns:a16="http://schemas.microsoft.com/office/drawing/2014/main" id="{D2225A3E-CB1E-5FDD-58D9-DABE23851C5E}"/>
              </a:ext>
            </a:extLst>
          </p:cNvPr>
          <p:cNvCxnSpPr>
            <a:cxnSpLocks/>
          </p:cNvCxnSpPr>
          <p:nvPr/>
        </p:nvCxnSpPr>
        <p:spPr>
          <a:xfrm>
            <a:off x="171450" y="5330824"/>
            <a:ext cx="8801100" cy="0"/>
          </a:xfrm>
          <a:prstGeom prst="line">
            <a:avLst/>
          </a:prstGeom>
          <a:ln w="9525">
            <a:solidFill>
              <a:srgbClr val="0396A6"/>
            </a:solidFill>
          </a:ln>
        </p:spPr>
        <p:style>
          <a:lnRef idx="2">
            <a:schemeClr val="accent1"/>
          </a:lnRef>
          <a:fillRef idx="0">
            <a:schemeClr val="accent1"/>
          </a:fillRef>
          <a:effectRef idx="1">
            <a:schemeClr val="accent1"/>
          </a:effectRef>
          <a:fontRef idx="minor">
            <a:schemeClr val="tx1"/>
          </a:fontRef>
        </p:style>
      </p:cxnSp>
      <p:grpSp>
        <p:nvGrpSpPr>
          <p:cNvPr id="6" name="Group 5">
            <a:extLst>
              <a:ext uri="{FF2B5EF4-FFF2-40B4-BE49-F238E27FC236}">
                <a16:creationId xmlns:a16="http://schemas.microsoft.com/office/drawing/2014/main" id="{012F025E-6950-8ECC-5F8B-24E78459DEA5}"/>
              </a:ext>
            </a:extLst>
          </p:cNvPr>
          <p:cNvGrpSpPr/>
          <p:nvPr/>
        </p:nvGrpSpPr>
        <p:grpSpPr>
          <a:xfrm>
            <a:off x="542925" y="5422901"/>
            <a:ext cx="7886700" cy="908049"/>
            <a:chOff x="628650" y="4778376"/>
            <a:chExt cx="7886700" cy="908049"/>
          </a:xfrm>
        </p:grpSpPr>
        <p:sp>
          <p:nvSpPr>
            <p:cNvPr id="7" name="Content Placeholder 2">
              <a:extLst>
                <a:ext uri="{FF2B5EF4-FFF2-40B4-BE49-F238E27FC236}">
                  <a16:creationId xmlns:a16="http://schemas.microsoft.com/office/drawing/2014/main" id="{3BB86A12-8F81-9A3C-AC12-AE0133CAA661}"/>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b="1" dirty="0">
                  <a:solidFill>
                    <a:srgbClr val="021836"/>
                  </a:solidFill>
                </a:rPr>
                <a:t>Opportunity Signals</a:t>
              </a:r>
            </a:p>
          </p:txBody>
        </p:sp>
        <p:sp>
          <p:nvSpPr>
            <p:cNvPr id="8" name="Content Placeholder 2">
              <a:extLst>
                <a:ext uri="{FF2B5EF4-FFF2-40B4-BE49-F238E27FC236}">
                  <a16:creationId xmlns:a16="http://schemas.microsoft.com/office/drawing/2014/main" id="{E11AED5A-8DAC-22E5-EF00-7B32508C0E46}"/>
                </a:ext>
              </a:extLst>
            </p:cNvPr>
            <p:cNvSpPr txBox="1">
              <a:spLocks/>
            </p:cNvSpPr>
            <p:nvPr/>
          </p:nvSpPr>
          <p:spPr>
            <a:xfrm>
              <a:off x="628650" y="5119688"/>
              <a:ext cx="7886700" cy="566737"/>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rgbClr val="021836"/>
                </a:buClr>
                <a:buNone/>
              </a:pPr>
              <a:r>
                <a:rPr lang="en-US" sz="1200" i="1" dirty="0">
                  <a:solidFill>
                    <a:schemeClr val="bg1">
                      <a:lumMod val="50000"/>
                    </a:schemeClr>
                  </a:solidFill>
                </a:rPr>
                <a:t>Repetition • Manual effort • Context switching • Rework • Delays • Knowledge gaps</a:t>
              </a:r>
            </a:p>
          </p:txBody>
        </p:sp>
      </p:grpSp>
      <p:sp>
        <p:nvSpPr>
          <p:cNvPr id="9" name="Content Placeholder 2">
            <a:extLst>
              <a:ext uri="{FF2B5EF4-FFF2-40B4-BE49-F238E27FC236}">
                <a16:creationId xmlns:a16="http://schemas.microsoft.com/office/drawing/2014/main" id="{48E51978-00F1-B6E7-729C-1B8DF030C461}"/>
              </a:ext>
            </a:extLst>
          </p:cNvPr>
          <p:cNvSpPr txBox="1">
            <a:spLocks/>
          </p:cNvSpPr>
          <p:nvPr/>
        </p:nvSpPr>
        <p:spPr>
          <a:xfrm>
            <a:off x="273534" y="931355"/>
            <a:ext cx="7886700" cy="299244"/>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rgbClr val="021836"/>
              </a:buClr>
              <a:buNone/>
            </a:pPr>
            <a:r>
              <a:rPr lang="en-US" sz="1200" i="1" dirty="0">
                <a:solidFill>
                  <a:schemeClr val="bg1">
                    <a:lumMod val="50000"/>
                  </a:schemeClr>
                </a:solidFill>
              </a:rPr>
              <a:t>Understanding how work gets done</a:t>
            </a:r>
          </a:p>
        </p:txBody>
      </p:sp>
      <p:sp>
        <p:nvSpPr>
          <p:cNvPr id="11" name="TextBox 10">
            <a:extLst>
              <a:ext uri="{FF2B5EF4-FFF2-40B4-BE49-F238E27FC236}">
                <a16:creationId xmlns:a16="http://schemas.microsoft.com/office/drawing/2014/main" id="{F7DCED72-6676-0CEE-50D1-8881FE157B85}"/>
              </a:ext>
            </a:extLst>
          </p:cNvPr>
          <p:cNvSpPr txBox="1"/>
          <p:nvPr/>
        </p:nvSpPr>
        <p:spPr>
          <a:xfrm>
            <a:off x="5680038" y="64309"/>
            <a:ext cx="3357424" cy="276999"/>
          </a:xfrm>
          <a:prstGeom prst="rect">
            <a:avLst/>
          </a:prstGeom>
          <a:noFill/>
        </p:spPr>
        <p:txBody>
          <a:bodyPr wrap="square" rtlCol="0">
            <a:spAutoFit/>
          </a:bodyPr>
          <a:lstStyle/>
          <a:p>
            <a:r>
              <a:rPr lang="en-US" sz="1200" dirty="0">
                <a:solidFill>
                  <a:schemeClr val="bg1">
                    <a:lumMod val="50000"/>
                  </a:schemeClr>
                </a:solidFill>
              </a:rPr>
              <a:t>AI Operational Readiness • Discovery Workbook</a:t>
            </a:r>
          </a:p>
        </p:txBody>
      </p:sp>
    </p:spTree>
    <p:extLst>
      <p:ext uri="{BB962C8B-B14F-4D97-AF65-F5344CB8AC3E}">
        <p14:creationId xmlns:p14="http://schemas.microsoft.com/office/powerpoint/2010/main" val="20059703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F98925-03C5-536C-BA62-E43C43A30B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3E467C-047F-FE4E-7FEB-23911CA0C683}"/>
              </a:ext>
            </a:extLst>
          </p:cNvPr>
          <p:cNvSpPr>
            <a:spLocks noGrp="1"/>
          </p:cNvSpPr>
          <p:nvPr>
            <p:ph type="title"/>
          </p:nvPr>
        </p:nvSpPr>
        <p:spPr>
          <a:xfrm>
            <a:off x="273534" y="-86630"/>
            <a:ext cx="7886700" cy="1325563"/>
          </a:xfrm>
        </p:spPr>
        <p:txBody>
          <a:bodyPr/>
          <a:lstStyle/>
          <a:p>
            <a:r>
              <a:rPr lang="en-US" dirty="0"/>
              <a:t>Process</a:t>
            </a:r>
          </a:p>
        </p:txBody>
      </p:sp>
      <p:sp>
        <p:nvSpPr>
          <p:cNvPr id="3" name="Content Placeholder 2">
            <a:extLst>
              <a:ext uri="{FF2B5EF4-FFF2-40B4-BE49-F238E27FC236}">
                <a16:creationId xmlns:a16="http://schemas.microsoft.com/office/drawing/2014/main" id="{E25E6B09-31BC-A9B0-BC0E-DB5436208202}"/>
              </a:ext>
            </a:extLst>
          </p:cNvPr>
          <p:cNvSpPr>
            <a:spLocks noGrp="1"/>
          </p:cNvSpPr>
          <p:nvPr>
            <p:ph idx="1"/>
          </p:nvPr>
        </p:nvSpPr>
        <p:spPr>
          <a:xfrm>
            <a:off x="628650" y="1216025"/>
            <a:ext cx="3857625" cy="4518025"/>
          </a:xfrm>
        </p:spPr>
        <p:txBody>
          <a:bodyPr>
            <a:normAutofit/>
          </a:bodyPr>
          <a:lstStyle/>
          <a:p>
            <a:pPr marL="0" indent="0">
              <a:buNone/>
            </a:pPr>
            <a:r>
              <a:rPr lang="en-US" sz="1400" b="1" dirty="0">
                <a:solidFill>
                  <a:srgbClr val="021836"/>
                </a:solidFill>
              </a:rPr>
              <a:t>Key Questions</a:t>
            </a:r>
          </a:p>
          <a:p>
            <a:pPr>
              <a:buClr>
                <a:schemeClr val="bg1">
                  <a:lumMod val="50000"/>
                </a:schemeClr>
              </a:buClr>
            </a:pPr>
            <a:r>
              <a:rPr lang="en-US" sz="1200" dirty="0"/>
              <a:t>What workflows exist?</a:t>
            </a:r>
          </a:p>
          <a:p>
            <a:pPr>
              <a:buClr>
                <a:schemeClr val="bg1">
                  <a:lumMod val="50000"/>
                </a:schemeClr>
              </a:buClr>
            </a:pPr>
            <a:r>
              <a:rPr lang="en-US" sz="1200" dirty="0"/>
              <a:t>Where are bottlenecks occurring?</a:t>
            </a:r>
          </a:p>
          <a:p>
            <a:pPr>
              <a:buClr>
                <a:schemeClr val="bg1">
                  <a:lumMod val="50000"/>
                </a:schemeClr>
              </a:buClr>
            </a:pPr>
            <a:r>
              <a:rPr lang="en-US" sz="1200" dirty="0"/>
              <a:t>Which approvals create delays?</a:t>
            </a:r>
          </a:p>
          <a:p>
            <a:pPr>
              <a:buClr>
                <a:schemeClr val="bg1">
                  <a:lumMod val="50000"/>
                </a:schemeClr>
              </a:buClr>
            </a:pPr>
            <a:r>
              <a:rPr lang="en-US" sz="1200" dirty="0"/>
              <a:t>What work is duplicated?</a:t>
            </a:r>
          </a:p>
          <a:p>
            <a:pPr>
              <a:buClr>
                <a:schemeClr val="bg1">
                  <a:lumMod val="50000"/>
                </a:schemeClr>
              </a:buClr>
            </a:pPr>
            <a:r>
              <a:rPr lang="en-US" sz="1200" dirty="0"/>
              <a:t>Which tasks require manual coordination?</a:t>
            </a:r>
          </a:p>
          <a:p>
            <a:pPr>
              <a:buClr>
                <a:schemeClr val="bg1">
                  <a:lumMod val="50000"/>
                </a:schemeClr>
              </a:buClr>
            </a:pPr>
            <a:r>
              <a:rPr lang="en-US" sz="1200" dirty="0"/>
              <a:t>What information must be copied between systems?</a:t>
            </a:r>
          </a:p>
          <a:p>
            <a:pPr>
              <a:buClr>
                <a:schemeClr val="bg1">
                  <a:lumMod val="50000"/>
                </a:schemeClr>
              </a:buClr>
            </a:pPr>
            <a:r>
              <a:rPr lang="en-US" sz="1200" dirty="0"/>
              <a:t>Where do errors or rework commonly occur?</a:t>
            </a:r>
          </a:p>
          <a:p>
            <a:pPr>
              <a:buClr>
                <a:schemeClr val="bg1">
                  <a:lumMod val="50000"/>
                </a:schemeClr>
              </a:buClr>
            </a:pPr>
            <a:r>
              <a:rPr lang="en-US" sz="1200" dirty="0"/>
              <a:t>Where does the way work happens differ from the documented or expected process?</a:t>
            </a:r>
          </a:p>
          <a:p>
            <a:pPr>
              <a:buClr>
                <a:schemeClr val="bg1">
                  <a:lumMod val="50000"/>
                </a:schemeClr>
              </a:buClr>
            </a:pPr>
            <a:r>
              <a:rPr lang="en-US" sz="1200" dirty="0"/>
              <a:t>What workarounds have become part of normal operations?</a:t>
            </a:r>
          </a:p>
        </p:txBody>
      </p:sp>
      <p:sp>
        <p:nvSpPr>
          <p:cNvPr id="4" name="Content Placeholder 2">
            <a:extLst>
              <a:ext uri="{FF2B5EF4-FFF2-40B4-BE49-F238E27FC236}">
                <a16:creationId xmlns:a16="http://schemas.microsoft.com/office/drawing/2014/main" id="{2CBF1194-A570-0D70-8617-76A7C44B01D3}"/>
              </a:ext>
            </a:extLst>
          </p:cNvPr>
          <p:cNvSpPr txBox="1">
            <a:spLocks/>
          </p:cNvSpPr>
          <p:nvPr/>
        </p:nvSpPr>
        <p:spPr>
          <a:xfrm>
            <a:off x="4819650" y="1216024"/>
            <a:ext cx="3857625" cy="451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Observations</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200" b="1" i="0" u="none" strike="noStrike" kern="1200" cap="none" spc="0" normalizeH="0" baseline="0" noProof="0" dirty="0">
                <a:ln>
                  <a:noFill/>
                </a:ln>
                <a:solidFill>
                  <a:srgbClr val="021836"/>
                </a:solidFill>
                <a:effectLst/>
                <a:uLnTx/>
                <a:uFillTx/>
                <a:latin typeface="Aptos" panose="02110004020202020204"/>
                <a:ea typeface="+mn-ea"/>
                <a:cs typeface="+mn-cs"/>
              </a:rPr>
              <a:t>Bottleneck</a:t>
            </a:r>
          </a:p>
          <a:p>
            <a:pPr marL="228600" marR="0" lvl="0" indent="-228600" algn="l" defTabSz="914400" rtl="0" eaLnBrk="1" fontAlgn="auto" latinLnBrk="0" hangingPunct="1">
              <a:lnSpc>
                <a:spcPct val="90000"/>
              </a:lnSpc>
              <a:spcBef>
                <a:spcPts val="1000"/>
              </a:spcBef>
              <a:spcAft>
                <a:spcPts val="0"/>
              </a:spcAft>
              <a:buClr>
                <a:prstClr val="white">
                  <a:lumMod val="50000"/>
                </a:prstClr>
              </a:buClr>
              <a:buSzTx/>
              <a:buFont typeface="Arial" panose="020B0604020202020204" pitchFamily="34" charset="0"/>
              <a:buChar char="•"/>
              <a:tabLst/>
              <a:defRPr/>
            </a:pPr>
            <a:r>
              <a:rPr kumimoji="0" lang="en-US" sz="1200" b="0" i="0" u="none" strike="noStrike" kern="1200" cap="none" spc="0" normalizeH="0" baseline="0" noProof="0" dirty="0">
                <a:ln>
                  <a:noFill/>
                </a:ln>
                <a:solidFill>
                  <a:srgbClr val="021836"/>
                </a:solidFill>
                <a:effectLst/>
                <a:uLnTx/>
                <a:uFillTx/>
                <a:latin typeface="Aptos" panose="02110004020202020204"/>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200" b="1" i="0" u="none" strike="noStrike" kern="1200" cap="none" spc="0" normalizeH="0" baseline="0" noProof="0" dirty="0">
                <a:ln>
                  <a:noFill/>
                </a:ln>
                <a:solidFill>
                  <a:srgbClr val="021836"/>
                </a:solidFill>
                <a:effectLst/>
                <a:uLnTx/>
                <a:uFillTx/>
                <a:latin typeface="Aptos" panose="02110004020202020204"/>
                <a:ea typeface="+mn-ea"/>
                <a:cs typeface="+mn-cs"/>
              </a:rPr>
              <a:t>Pattern</a:t>
            </a:r>
            <a:endPar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endParaRPr>
          </a:p>
          <a:p>
            <a:pPr marL="228600" marR="0" lvl="0" indent="-228600" algn="l" defTabSz="914400" rtl="0" eaLnBrk="1" fontAlgn="auto" latinLnBrk="0" hangingPunct="1">
              <a:lnSpc>
                <a:spcPct val="90000"/>
              </a:lnSpc>
              <a:spcBef>
                <a:spcPts val="1000"/>
              </a:spcBef>
              <a:spcAft>
                <a:spcPts val="0"/>
              </a:spcAft>
              <a:buClr>
                <a:prstClr val="white">
                  <a:lumMod val="50000"/>
                </a:prstClr>
              </a:buClr>
              <a:buSzTx/>
              <a:buFont typeface="Arial" panose="020B0604020202020204" pitchFamily="34" charset="0"/>
              <a:buChar char="•"/>
              <a:tabLst/>
              <a:defRPr/>
            </a:pPr>
            <a:r>
              <a:rPr kumimoji="0" lang="en-US" sz="1200" b="0" i="0" u="none" strike="noStrike" kern="1200" cap="none" spc="0" normalizeH="0" baseline="0" noProof="0" dirty="0">
                <a:ln>
                  <a:noFill/>
                </a:ln>
                <a:solidFill>
                  <a:srgbClr val="021836"/>
                </a:solidFill>
                <a:effectLst/>
                <a:uLnTx/>
                <a:uFillTx/>
                <a:latin typeface="Aptos" panose="02110004020202020204"/>
                <a:ea typeface="+mn-ea"/>
                <a:cs typeface="+mn-cs"/>
              </a:rPr>
              <a:t> </a:t>
            </a:r>
          </a:p>
          <a:p>
            <a:pPr marL="228600" marR="0" lvl="0" indent="-228600" algn="l" defTabSz="914400" rtl="0" eaLnBrk="1" fontAlgn="auto" latinLnBrk="0" hangingPunct="1">
              <a:lnSpc>
                <a:spcPct val="90000"/>
              </a:lnSpc>
              <a:spcBef>
                <a:spcPts val="1000"/>
              </a:spcBef>
              <a:spcAft>
                <a:spcPts val="0"/>
              </a:spcAft>
              <a:buClr>
                <a:prstClr val="white">
                  <a:lumMod val="50000"/>
                </a:prstClr>
              </a:buClr>
              <a:buSzTx/>
              <a:buFont typeface="Arial" panose="020B0604020202020204" pitchFamily="34" charset="0"/>
              <a:buChar char="•"/>
              <a:tabLst/>
              <a:defRPr/>
            </a:pPr>
            <a:r>
              <a:rPr kumimoji="0" lang="en-US" sz="1200" b="0" i="0" u="none" strike="noStrike" kern="1200" cap="none" spc="0" normalizeH="0" baseline="0" noProof="0" dirty="0">
                <a:ln>
                  <a:noFill/>
                </a:ln>
                <a:solidFill>
                  <a:srgbClr val="021836"/>
                </a:solidFill>
                <a:effectLst/>
                <a:uLnTx/>
                <a:uFillTx/>
                <a:latin typeface="Aptos" panose="02110004020202020204"/>
                <a:ea typeface="+mn-ea"/>
                <a:cs typeface="+mn-cs"/>
              </a:rPr>
              <a:t> </a:t>
            </a:r>
          </a:p>
          <a:p>
            <a:pPr marL="228600" marR="0" lvl="0" indent="-228600" algn="l" defTabSz="914400" rtl="0" eaLnBrk="1" fontAlgn="auto" latinLnBrk="0" hangingPunct="1">
              <a:lnSpc>
                <a:spcPct val="90000"/>
              </a:lnSpc>
              <a:spcBef>
                <a:spcPts val="1000"/>
              </a:spcBef>
              <a:spcAft>
                <a:spcPts val="0"/>
              </a:spcAft>
              <a:buClr>
                <a:prstClr val="white">
                  <a:lumMod val="50000"/>
                </a:prstClr>
              </a:buClr>
              <a:buSzTx/>
              <a:buFont typeface="Arial" panose="020B0604020202020204" pitchFamily="34" charset="0"/>
              <a:buChar char="•"/>
              <a:tabLst/>
              <a:defRPr/>
            </a:pPr>
            <a:r>
              <a:rPr kumimoji="0" lang="en-US" sz="1200" b="1" i="0" u="none" strike="noStrike" kern="1200" cap="none" spc="0" normalizeH="0" baseline="0" noProof="0" dirty="0">
                <a:ln>
                  <a:noFill/>
                </a:ln>
                <a:solidFill>
                  <a:srgbClr val="021836"/>
                </a:solidFill>
                <a:effectLst/>
                <a:uLnTx/>
                <a:uFillTx/>
                <a:latin typeface="Aptos" panose="02110004020202020204"/>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200" b="1" i="0" u="none" strike="noStrike" kern="1200" cap="none" spc="0" normalizeH="0" baseline="0" noProof="0" dirty="0">
                <a:ln>
                  <a:noFill/>
                </a:ln>
                <a:solidFill>
                  <a:srgbClr val="021836"/>
                </a:solidFill>
                <a:effectLst/>
                <a:uLnTx/>
                <a:uFillTx/>
                <a:latin typeface="Aptos" panose="02110004020202020204"/>
                <a:ea typeface="+mn-ea"/>
                <a:cs typeface="+mn-cs"/>
              </a:rPr>
              <a:t>Opportunity</a:t>
            </a:r>
            <a:endPar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endParaRPr>
          </a:p>
          <a:p>
            <a:pPr marL="228600" marR="0" lvl="0" indent="-228600" algn="l" defTabSz="914400" rtl="0" eaLnBrk="1" fontAlgn="auto" latinLnBrk="0" hangingPunct="1">
              <a:lnSpc>
                <a:spcPct val="90000"/>
              </a:lnSpc>
              <a:spcBef>
                <a:spcPts val="1000"/>
              </a:spcBef>
              <a:spcAft>
                <a:spcPts val="0"/>
              </a:spcAft>
              <a:buClr>
                <a:prstClr val="white">
                  <a:lumMod val="50000"/>
                </a:prstClr>
              </a:buClr>
              <a:buSzTx/>
              <a:buFont typeface="Arial" panose="020B0604020202020204" pitchFamily="34" charset="0"/>
              <a:buChar char="•"/>
              <a:tabLst/>
              <a:defRPr/>
            </a:pPr>
            <a:r>
              <a:rPr kumimoji="0" lang="en-US" sz="1200" b="0" i="0" u="none" strike="noStrike" kern="1200" cap="none" spc="0" normalizeH="0" baseline="0" noProof="0" dirty="0">
                <a:ln>
                  <a:noFill/>
                </a:ln>
                <a:solidFill>
                  <a:srgbClr val="021836"/>
                </a:solidFill>
                <a:effectLst/>
                <a:uLnTx/>
                <a:uFillTx/>
                <a:latin typeface="Aptos" panose="02110004020202020204"/>
                <a:ea typeface="+mn-ea"/>
                <a:cs typeface="+mn-cs"/>
              </a:rPr>
              <a:t> </a:t>
            </a:r>
          </a:p>
          <a:p>
            <a:pPr marL="228600" marR="0" lvl="0" indent="-228600" algn="l" defTabSz="914400" rtl="0" eaLnBrk="1" fontAlgn="auto" latinLnBrk="0" hangingPunct="1">
              <a:lnSpc>
                <a:spcPct val="90000"/>
              </a:lnSpc>
              <a:spcBef>
                <a:spcPts val="1000"/>
              </a:spcBef>
              <a:spcAft>
                <a:spcPts val="0"/>
              </a:spcAft>
              <a:buClr>
                <a:prstClr val="white">
                  <a:lumMod val="50000"/>
                </a:prstClr>
              </a:buClr>
              <a:buSzTx/>
              <a:buFont typeface="Arial" panose="020B0604020202020204" pitchFamily="34" charset="0"/>
              <a:buChar char="•"/>
              <a:tabLst/>
              <a:defRPr/>
            </a:pPr>
            <a:r>
              <a:rPr kumimoji="0" lang="en-US" sz="1200" b="0" i="0" u="none" strike="noStrike" kern="1200" cap="none" spc="0" normalizeH="0" baseline="0" noProof="0" dirty="0">
                <a:ln>
                  <a:noFill/>
                </a:ln>
                <a:solidFill>
                  <a:srgbClr val="021836"/>
                </a:solidFill>
                <a:effectLst/>
                <a:uLnTx/>
                <a:uFillTx/>
                <a:latin typeface="Aptos" panose="02110004020202020204"/>
                <a:ea typeface="+mn-ea"/>
                <a:cs typeface="+mn-cs"/>
              </a:rPr>
              <a:t> </a:t>
            </a:r>
          </a:p>
          <a:p>
            <a:pPr marL="228600" marR="0" lvl="0" indent="-228600" algn="l" defTabSz="914400" rtl="0" eaLnBrk="1" fontAlgn="auto" latinLnBrk="0" hangingPunct="1">
              <a:lnSpc>
                <a:spcPct val="90000"/>
              </a:lnSpc>
              <a:spcBef>
                <a:spcPts val="1000"/>
              </a:spcBef>
              <a:spcAft>
                <a:spcPts val="0"/>
              </a:spcAft>
              <a:buClr>
                <a:prstClr val="white">
                  <a:lumMod val="50000"/>
                </a:prstClr>
              </a:buClr>
              <a:buSzTx/>
              <a:buFont typeface="Arial" panose="020B0604020202020204" pitchFamily="34" charset="0"/>
              <a:buChar char="•"/>
              <a:tabLst/>
              <a:defRPr/>
            </a:pPr>
            <a:r>
              <a:rPr kumimoji="0" lang="en-US" sz="1200" b="0" i="0" u="none" strike="noStrike" kern="1200" cap="none" spc="0" normalizeH="0" baseline="0" noProof="0" dirty="0">
                <a:ln>
                  <a:noFill/>
                </a:ln>
                <a:solidFill>
                  <a:srgbClr val="021836"/>
                </a:solidFill>
                <a:effectLst/>
                <a:uLnTx/>
                <a:uFillTx/>
                <a:latin typeface="Aptos" panose="02110004020202020204"/>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200" b="1" i="0" u="none" strike="noStrike" kern="1200" cap="none" spc="0" normalizeH="0" baseline="0" noProof="0" dirty="0">
              <a:ln>
                <a:noFill/>
              </a:ln>
              <a:solidFill>
                <a:srgbClr val="021836"/>
              </a:solidFill>
              <a:effectLst/>
              <a:uLnTx/>
              <a:uFillTx/>
              <a:latin typeface="Aptos" panose="02110004020202020204"/>
              <a:ea typeface="+mn-ea"/>
              <a:cs typeface="+mn-cs"/>
            </a:endParaRPr>
          </a:p>
        </p:txBody>
      </p:sp>
      <p:cxnSp>
        <p:nvCxnSpPr>
          <p:cNvPr id="5" name="Straight Connector 4">
            <a:extLst>
              <a:ext uri="{FF2B5EF4-FFF2-40B4-BE49-F238E27FC236}">
                <a16:creationId xmlns:a16="http://schemas.microsoft.com/office/drawing/2014/main" id="{6FC66F9B-1B38-8080-1FCE-77C4A561692F}"/>
              </a:ext>
            </a:extLst>
          </p:cNvPr>
          <p:cNvCxnSpPr>
            <a:cxnSpLocks/>
          </p:cNvCxnSpPr>
          <p:nvPr/>
        </p:nvCxnSpPr>
        <p:spPr>
          <a:xfrm>
            <a:off x="171450" y="5330824"/>
            <a:ext cx="8801100" cy="0"/>
          </a:xfrm>
          <a:prstGeom prst="line">
            <a:avLst/>
          </a:prstGeom>
          <a:ln w="9525">
            <a:solidFill>
              <a:srgbClr val="0396A6"/>
            </a:solidFill>
          </a:ln>
        </p:spPr>
        <p:style>
          <a:lnRef idx="2">
            <a:schemeClr val="accent1"/>
          </a:lnRef>
          <a:fillRef idx="0">
            <a:schemeClr val="accent1"/>
          </a:fillRef>
          <a:effectRef idx="1">
            <a:schemeClr val="accent1"/>
          </a:effectRef>
          <a:fontRef idx="minor">
            <a:schemeClr val="tx1"/>
          </a:fontRef>
        </p:style>
      </p:cxnSp>
      <p:grpSp>
        <p:nvGrpSpPr>
          <p:cNvPr id="6" name="Group 5">
            <a:extLst>
              <a:ext uri="{FF2B5EF4-FFF2-40B4-BE49-F238E27FC236}">
                <a16:creationId xmlns:a16="http://schemas.microsoft.com/office/drawing/2014/main" id="{774DF575-6FE7-39CD-1372-E86A60CBAE70}"/>
              </a:ext>
            </a:extLst>
          </p:cNvPr>
          <p:cNvGrpSpPr/>
          <p:nvPr/>
        </p:nvGrpSpPr>
        <p:grpSpPr>
          <a:xfrm>
            <a:off x="542925" y="5422901"/>
            <a:ext cx="7886700" cy="908049"/>
            <a:chOff x="628650" y="4778376"/>
            <a:chExt cx="7886700" cy="908049"/>
          </a:xfrm>
        </p:grpSpPr>
        <p:sp>
          <p:nvSpPr>
            <p:cNvPr id="7" name="Content Placeholder 2">
              <a:extLst>
                <a:ext uri="{FF2B5EF4-FFF2-40B4-BE49-F238E27FC236}">
                  <a16:creationId xmlns:a16="http://schemas.microsoft.com/office/drawing/2014/main" id="{890AE28D-88CB-BAB2-98D1-90D3B9615D27}"/>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Opportunity Signals</a:t>
              </a:r>
            </a:p>
          </p:txBody>
        </p:sp>
        <p:sp>
          <p:nvSpPr>
            <p:cNvPr id="8" name="Content Placeholder 2">
              <a:extLst>
                <a:ext uri="{FF2B5EF4-FFF2-40B4-BE49-F238E27FC236}">
                  <a16:creationId xmlns:a16="http://schemas.microsoft.com/office/drawing/2014/main" id="{37116CD4-566A-C65E-33D3-3EDFA003D358}"/>
                </a:ext>
              </a:extLst>
            </p:cNvPr>
            <p:cNvSpPr txBox="1">
              <a:spLocks/>
            </p:cNvSpPr>
            <p:nvPr/>
          </p:nvSpPr>
          <p:spPr>
            <a:xfrm>
              <a:off x="628650" y="5119688"/>
              <a:ext cx="7886700" cy="566737"/>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Clr>
                  <a:srgbClr val="021836"/>
                </a:buClr>
                <a:buNone/>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Manual effort </a:t>
              </a:r>
              <a:r>
                <a:rPr lang="en-US" sz="1200" i="1" dirty="0">
                  <a:solidFill>
                    <a:prstClr val="white">
                      <a:lumMod val="50000"/>
                    </a:prstClr>
                  </a:solidFill>
                </a:rPr>
                <a:t>• Rework • Delays • Duplicate steps • Approval friction • Handoffs • Waiting</a:t>
              </a:r>
              <a:endPar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endParaRPr>
            </a:p>
          </p:txBody>
        </p:sp>
      </p:grpSp>
      <p:sp>
        <p:nvSpPr>
          <p:cNvPr id="9" name="Content Placeholder 2">
            <a:extLst>
              <a:ext uri="{FF2B5EF4-FFF2-40B4-BE49-F238E27FC236}">
                <a16:creationId xmlns:a16="http://schemas.microsoft.com/office/drawing/2014/main" id="{44FC1EAF-E868-4A78-6F1F-2CB1E9D05E6C}"/>
              </a:ext>
            </a:extLst>
          </p:cNvPr>
          <p:cNvSpPr txBox="1">
            <a:spLocks/>
          </p:cNvSpPr>
          <p:nvPr/>
        </p:nvSpPr>
        <p:spPr>
          <a:xfrm>
            <a:off x="273534" y="845630"/>
            <a:ext cx="7886700" cy="299244"/>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Understanding how work moves</a:t>
            </a:r>
          </a:p>
        </p:txBody>
      </p:sp>
      <p:sp>
        <p:nvSpPr>
          <p:cNvPr id="11" name="TextBox 10">
            <a:extLst>
              <a:ext uri="{FF2B5EF4-FFF2-40B4-BE49-F238E27FC236}">
                <a16:creationId xmlns:a16="http://schemas.microsoft.com/office/drawing/2014/main" id="{05DF4430-DF8A-DF42-5377-CC75567ACA5E}"/>
              </a:ext>
            </a:extLst>
          </p:cNvPr>
          <p:cNvSpPr txBox="1"/>
          <p:nvPr/>
        </p:nvSpPr>
        <p:spPr>
          <a:xfrm>
            <a:off x="5680038" y="64309"/>
            <a:ext cx="3357424" cy="276999"/>
          </a:xfrm>
          <a:prstGeom prst="rect">
            <a:avLst/>
          </a:prstGeom>
          <a:noFill/>
        </p:spPr>
        <p:txBody>
          <a:bodyPr wrap="square" rtlCol="0">
            <a:spAutoFit/>
          </a:bodyPr>
          <a:lstStyle/>
          <a:p>
            <a:r>
              <a:rPr lang="en-US" sz="1200" dirty="0">
                <a:solidFill>
                  <a:schemeClr val="bg1">
                    <a:lumMod val="50000"/>
                  </a:schemeClr>
                </a:solidFill>
              </a:rPr>
              <a:t>AI Operational Readiness • Discovery Workbook</a:t>
            </a:r>
          </a:p>
        </p:txBody>
      </p:sp>
    </p:spTree>
    <p:extLst>
      <p:ext uri="{BB962C8B-B14F-4D97-AF65-F5344CB8AC3E}">
        <p14:creationId xmlns:p14="http://schemas.microsoft.com/office/powerpoint/2010/main" val="8078833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A15CFD-DE45-28C0-1562-E77F93480B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5A2467-47A1-04AE-AA2F-635B29842980}"/>
              </a:ext>
            </a:extLst>
          </p:cNvPr>
          <p:cNvSpPr>
            <a:spLocks noGrp="1"/>
          </p:cNvSpPr>
          <p:nvPr>
            <p:ph type="title"/>
          </p:nvPr>
        </p:nvSpPr>
        <p:spPr>
          <a:xfrm>
            <a:off x="273534" y="-86630"/>
            <a:ext cx="7886700" cy="1325563"/>
          </a:xfrm>
        </p:spPr>
        <p:txBody>
          <a:bodyPr/>
          <a:lstStyle/>
          <a:p>
            <a:r>
              <a:rPr lang="en-US" dirty="0"/>
              <a:t>Technology</a:t>
            </a:r>
          </a:p>
        </p:txBody>
      </p:sp>
      <p:sp>
        <p:nvSpPr>
          <p:cNvPr id="3" name="Content Placeholder 2">
            <a:extLst>
              <a:ext uri="{FF2B5EF4-FFF2-40B4-BE49-F238E27FC236}">
                <a16:creationId xmlns:a16="http://schemas.microsoft.com/office/drawing/2014/main" id="{C1FA03B1-61E2-5B24-5A1A-BDC9AF050B9C}"/>
              </a:ext>
            </a:extLst>
          </p:cNvPr>
          <p:cNvSpPr>
            <a:spLocks noGrp="1"/>
          </p:cNvSpPr>
          <p:nvPr>
            <p:ph idx="1"/>
          </p:nvPr>
        </p:nvSpPr>
        <p:spPr>
          <a:xfrm>
            <a:off x="381000" y="1270455"/>
            <a:ext cx="4190999" cy="4518025"/>
          </a:xfrm>
        </p:spPr>
        <p:txBody>
          <a:bodyPr>
            <a:normAutofit lnSpcReduction="10000"/>
          </a:bodyPr>
          <a:lstStyle/>
          <a:p>
            <a:pPr marL="0" indent="0">
              <a:buNone/>
            </a:pPr>
            <a:r>
              <a:rPr lang="en-US" sz="1400" b="1" dirty="0">
                <a:solidFill>
                  <a:srgbClr val="021836"/>
                </a:solidFill>
              </a:rPr>
              <a:t>Key Questions</a:t>
            </a:r>
          </a:p>
          <a:p>
            <a:pPr>
              <a:buClr>
                <a:schemeClr val="bg1">
                  <a:lumMod val="50000"/>
                </a:schemeClr>
              </a:buClr>
            </a:pPr>
            <a:r>
              <a:rPr lang="en-US" sz="1200" dirty="0"/>
              <a:t>What tools are currently used to complete this work?</a:t>
            </a:r>
          </a:p>
          <a:p>
            <a:pPr>
              <a:buClr>
                <a:schemeClr val="bg1">
                  <a:lumMod val="50000"/>
                </a:schemeClr>
              </a:buClr>
            </a:pPr>
            <a:r>
              <a:rPr lang="en-US" sz="1200" dirty="0"/>
              <a:t>Where are employees already using AI or automation?</a:t>
            </a:r>
          </a:p>
          <a:p>
            <a:pPr>
              <a:buClr>
                <a:schemeClr val="bg1">
                  <a:lumMod val="50000"/>
                </a:schemeClr>
              </a:buClr>
            </a:pPr>
            <a:r>
              <a:rPr lang="en-US" sz="1200" dirty="0"/>
              <a:t>Is Microsoft Copilot, ChatGPT, Claude, Gemini, or another tool available?</a:t>
            </a:r>
          </a:p>
          <a:p>
            <a:pPr>
              <a:buClr>
                <a:schemeClr val="bg1">
                  <a:lumMod val="50000"/>
                </a:schemeClr>
              </a:buClr>
            </a:pPr>
            <a:r>
              <a:rPr lang="en-US" sz="1200" dirty="0"/>
              <a:t>What data, documents, or knowledge sources does the work depend on?</a:t>
            </a:r>
          </a:p>
          <a:p>
            <a:pPr>
              <a:buClr>
                <a:schemeClr val="bg1">
                  <a:lumMod val="50000"/>
                </a:schemeClr>
              </a:buClr>
            </a:pPr>
            <a:r>
              <a:rPr lang="en-US" sz="1200" dirty="0"/>
              <a:t>How easy is it for teams to access the information they need?</a:t>
            </a:r>
          </a:p>
          <a:p>
            <a:pPr>
              <a:buClr>
                <a:schemeClr val="bg1">
                  <a:lumMod val="50000"/>
                </a:schemeClr>
              </a:buClr>
            </a:pPr>
            <a:r>
              <a:rPr lang="en-US" sz="1200" dirty="0"/>
              <a:t>Which systems do not connect well today?</a:t>
            </a:r>
          </a:p>
          <a:p>
            <a:pPr>
              <a:buClr>
                <a:schemeClr val="bg1">
                  <a:lumMod val="50000"/>
                </a:schemeClr>
              </a:buClr>
            </a:pPr>
            <a:r>
              <a:rPr lang="en-US" sz="1200" dirty="0"/>
              <a:t>Where do employees copy, paste, export, or manually move information?</a:t>
            </a:r>
          </a:p>
          <a:p>
            <a:pPr>
              <a:buClr>
                <a:schemeClr val="bg1">
                  <a:lumMod val="50000"/>
                </a:schemeClr>
              </a:buClr>
            </a:pPr>
            <a:r>
              <a:rPr lang="en-US" sz="1200" dirty="0"/>
              <a:t>What tool limitations create friction?</a:t>
            </a:r>
          </a:p>
          <a:p>
            <a:pPr>
              <a:buClr>
                <a:schemeClr val="bg1">
                  <a:lumMod val="50000"/>
                </a:schemeClr>
              </a:buClr>
            </a:pPr>
            <a:r>
              <a:rPr lang="en-US" sz="1200" dirty="0"/>
              <a:t>What information are people repeatedly extracting or copying?</a:t>
            </a:r>
          </a:p>
          <a:p>
            <a:pPr>
              <a:buClr>
                <a:schemeClr val="bg1">
                  <a:lumMod val="50000"/>
                </a:schemeClr>
              </a:buClr>
            </a:pPr>
            <a:r>
              <a:rPr lang="en-US" sz="1200" dirty="0"/>
              <a:t>What does this AI-enabled work depend on in order to function?</a:t>
            </a:r>
          </a:p>
          <a:p>
            <a:pPr>
              <a:buClr>
                <a:schemeClr val="bg1">
                  <a:lumMod val="50000"/>
                </a:schemeClr>
              </a:buClr>
            </a:pPr>
            <a:r>
              <a:rPr lang="en-US" sz="1200" dirty="0"/>
              <a:t>Which of these dependencies can change independently of the workflow?</a:t>
            </a:r>
          </a:p>
        </p:txBody>
      </p:sp>
      <p:sp>
        <p:nvSpPr>
          <p:cNvPr id="4" name="Content Placeholder 2">
            <a:extLst>
              <a:ext uri="{FF2B5EF4-FFF2-40B4-BE49-F238E27FC236}">
                <a16:creationId xmlns:a16="http://schemas.microsoft.com/office/drawing/2014/main" id="{3DDAF0F2-13D0-1FB8-C255-B0A0F4093A28}"/>
              </a:ext>
            </a:extLst>
          </p:cNvPr>
          <p:cNvSpPr txBox="1">
            <a:spLocks/>
          </p:cNvSpPr>
          <p:nvPr/>
        </p:nvSpPr>
        <p:spPr>
          <a:xfrm>
            <a:off x="4819650" y="1270454"/>
            <a:ext cx="3857625" cy="451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Observations</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Constraint</a:t>
            </a:r>
          </a:p>
          <a:p>
            <a:pPr marL="228600" marR="0" lvl="0" indent="-228600" algn="l" defTabSz="914400" rtl="0" eaLnBrk="1" fontAlgn="auto" latinLnBrk="0" hangingPunct="1">
              <a:lnSpc>
                <a:spcPct val="90000"/>
              </a:lnSpc>
              <a:spcBef>
                <a:spcPts val="1000"/>
              </a:spcBef>
              <a:spcAft>
                <a:spcPts val="0"/>
              </a:spcAft>
              <a:buClr>
                <a:prstClr val="white">
                  <a:lumMod val="50000"/>
                </a:prstClr>
              </a:buClr>
              <a:buSzTx/>
              <a:buFont typeface="Arial" panose="020B0604020202020204" pitchFamily="34" charset="0"/>
              <a:buChar char="•"/>
              <a:tabLst/>
              <a:defRPr/>
            </a:pPr>
            <a:r>
              <a:rPr kumimoji="0" lang="en-US" sz="1200" b="0" i="0" u="none" strike="noStrike" kern="1200" cap="none" spc="0" normalizeH="0" baseline="0" noProof="0" dirty="0">
                <a:ln>
                  <a:noFill/>
                </a:ln>
                <a:solidFill>
                  <a:srgbClr val="021836"/>
                </a:solidFill>
                <a:effectLst/>
                <a:uLnTx/>
                <a:uFillTx/>
                <a:latin typeface="Aptos" panose="02110004020202020204"/>
                <a:ea typeface="+mn-ea"/>
                <a:cs typeface="+mn-cs"/>
              </a:rPr>
              <a:t> </a:t>
            </a:r>
          </a:p>
          <a:p>
            <a:pPr marL="228600" marR="0" lvl="0" indent="-228600" algn="l" defTabSz="914400" rtl="0" eaLnBrk="1" fontAlgn="auto" latinLnBrk="0" hangingPunct="1">
              <a:lnSpc>
                <a:spcPct val="90000"/>
              </a:lnSpc>
              <a:spcBef>
                <a:spcPts val="1000"/>
              </a:spcBef>
              <a:spcAft>
                <a:spcPts val="0"/>
              </a:spcAft>
              <a:buClr>
                <a:prstClr val="white">
                  <a:lumMod val="50000"/>
                </a:prstClr>
              </a:buClr>
              <a:buSzTx/>
              <a:buFont typeface="Arial" panose="020B0604020202020204" pitchFamily="34" charset="0"/>
              <a:buChar char="•"/>
              <a:tabLst/>
              <a:defRPr/>
            </a:pPr>
            <a:r>
              <a:rPr lang="en-US" sz="1200" dirty="0">
                <a:solidFill>
                  <a:srgbClr val="021836"/>
                </a:solidFill>
                <a:latin typeface="Aptos" panose="02110004020202020204"/>
              </a:rPr>
              <a:t> </a:t>
            </a:r>
            <a:endParaRPr kumimoji="0" lang="en-US" sz="1200" b="0" i="0" u="none" strike="noStrike" kern="1200" cap="none" spc="0" normalizeH="0" baseline="0" noProof="0" dirty="0">
              <a:ln>
                <a:noFill/>
              </a:ln>
              <a:solidFill>
                <a:srgbClr val="021836"/>
              </a:solidFill>
              <a:effectLst/>
              <a:uLnTx/>
              <a:uFillTx/>
              <a:latin typeface="Aptos" panose="0211000402020202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200" b="1" i="0" u="none" strike="noStrike" kern="1200" cap="none" spc="0" normalizeH="0" baseline="0" noProof="0" dirty="0">
                <a:ln>
                  <a:noFill/>
                </a:ln>
                <a:solidFill>
                  <a:srgbClr val="021836"/>
                </a:solidFill>
                <a:effectLst/>
                <a:uLnTx/>
                <a:uFillTx/>
                <a:latin typeface="Aptos" panose="02110004020202020204"/>
                <a:ea typeface="+mn-ea"/>
                <a:cs typeface="+mn-cs"/>
              </a:rPr>
              <a:t>Pattern</a:t>
            </a:r>
            <a:endPar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endParaRPr>
          </a:p>
          <a:p>
            <a:pPr marL="228600" marR="0" lvl="0" indent="-228600" algn="l" defTabSz="914400" rtl="0" eaLnBrk="1" fontAlgn="auto" latinLnBrk="0" hangingPunct="1">
              <a:lnSpc>
                <a:spcPct val="90000"/>
              </a:lnSpc>
              <a:spcBef>
                <a:spcPts val="1000"/>
              </a:spcBef>
              <a:spcAft>
                <a:spcPts val="0"/>
              </a:spcAft>
              <a:buClr>
                <a:prstClr val="white">
                  <a:lumMod val="50000"/>
                </a:prstClr>
              </a:buClr>
              <a:buSzTx/>
              <a:buFont typeface="Arial" panose="020B0604020202020204" pitchFamily="34" charset="0"/>
              <a:buChar char="•"/>
              <a:tabLst/>
              <a:defRPr/>
            </a:pPr>
            <a:r>
              <a:rPr kumimoji="0" lang="en-US" sz="1200" b="0" i="0" u="none" strike="noStrike" kern="1200" cap="none" spc="0" normalizeH="0" baseline="0" noProof="0" dirty="0">
                <a:ln>
                  <a:noFill/>
                </a:ln>
                <a:solidFill>
                  <a:srgbClr val="021836"/>
                </a:solidFill>
                <a:effectLst/>
                <a:uLnTx/>
                <a:uFillTx/>
                <a:latin typeface="Aptos" panose="02110004020202020204"/>
                <a:ea typeface="+mn-ea"/>
                <a:cs typeface="+mn-cs"/>
              </a:rPr>
              <a:t> </a:t>
            </a:r>
          </a:p>
          <a:p>
            <a:pPr marL="228600" marR="0" lvl="0" indent="-228600" algn="l" defTabSz="914400" rtl="0" eaLnBrk="1" fontAlgn="auto" latinLnBrk="0" hangingPunct="1">
              <a:lnSpc>
                <a:spcPct val="90000"/>
              </a:lnSpc>
              <a:spcBef>
                <a:spcPts val="1000"/>
              </a:spcBef>
              <a:spcAft>
                <a:spcPts val="0"/>
              </a:spcAft>
              <a:buClr>
                <a:prstClr val="white">
                  <a:lumMod val="50000"/>
                </a:prstClr>
              </a:buClr>
              <a:buSzTx/>
              <a:buFont typeface="Arial" panose="020B0604020202020204" pitchFamily="34" charset="0"/>
              <a:buChar char="•"/>
              <a:tabLst/>
              <a:defRPr/>
            </a:pPr>
            <a:r>
              <a:rPr kumimoji="0" lang="en-US" sz="1200" b="0" i="0" u="none" strike="noStrike" kern="1200" cap="none" spc="0" normalizeH="0" baseline="0" noProof="0" dirty="0">
                <a:ln>
                  <a:noFill/>
                </a:ln>
                <a:solidFill>
                  <a:srgbClr val="021836"/>
                </a:solidFill>
                <a:effectLst/>
                <a:uLnTx/>
                <a:uFillTx/>
                <a:latin typeface="Aptos" panose="02110004020202020204"/>
                <a:ea typeface="+mn-ea"/>
                <a:cs typeface="+mn-cs"/>
              </a:rPr>
              <a:t> </a:t>
            </a:r>
          </a:p>
          <a:p>
            <a:pPr marL="228600" marR="0" lvl="0" indent="-228600" algn="l" defTabSz="914400" rtl="0" eaLnBrk="1" fontAlgn="auto" latinLnBrk="0" hangingPunct="1">
              <a:lnSpc>
                <a:spcPct val="90000"/>
              </a:lnSpc>
              <a:spcBef>
                <a:spcPts val="1000"/>
              </a:spcBef>
              <a:spcAft>
                <a:spcPts val="0"/>
              </a:spcAft>
              <a:buClr>
                <a:prstClr val="white">
                  <a:lumMod val="50000"/>
                </a:prstClr>
              </a:buClr>
              <a:buSzTx/>
              <a:buFont typeface="Arial" panose="020B0604020202020204" pitchFamily="34" charset="0"/>
              <a:buChar char="•"/>
              <a:tabLst/>
              <a:defRPr/>
            </a:pPr>
            <a:r>
              <a:rPr kumimoji="0" lang="en-US" sz="1200" b="1" i="0" u="none" strike="noStrike" kern="1200" cap="none" spc="0" normalizeH="0" baseline="0" noProof="0" dirty="0">
                <a:ln>
                  <a:noFill/>
                </a:ln>
                <a:solidFill>
                  <a:srgbClr val="021836"/>
                </a:solidFill>
                <a:effectLst/>
                <a:uLnTx/>
                <a:uFillTx/>
                <a:latin typeface="Aptos" panose="02110004020202020204"/>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200" b="1" i="0" u="none" strike="noStrike" kern="1200" cap="none" spc="0" normalizeH="0" baseline="0" noProof="0" dirty="0">
                <a:ln>
                  <a:noFill/>
                </a:ln>
                <a:solidFill>
                  <a:srgbClr val="021836"/>
                </a:solidFill>
                <a:effectLst/>
                <a:uLnTx/>
                <a:uFillTx/>
                <a:latin typeface="Aptos" panose="02110004020202020204"/>
                <a:ea typeface="+mn-ea"/>
                <a:cs typeface="+mn-cs"/>
              </a:rPr>
              <a:t>Opportunity</a:t>
            </a:r>
            <a:endPar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endParaRPr>
          </a:p>
          <a:p>
            <a:pPr marL="228600" marR="0" lvl="0" indent="-228600" algn="l" defTabSz="914400" rtl="0" eaLnBrk="1" fontAlgn="auto" latinLnBrk="0" hangingPunct="1">
              <a:lnSpc>
                <a:spcPct val="90000"/>
              </a:lnSpc>
              <a:spcBef>
                <a:spcPts val="1000"/>
              </a:spcBef>
              <a:spcAft>
                <a:spcPts val="0"/>
              </a:spcAft>
              <a:buClr>
                <a:prstClr val="white">
                  <a:lumMod val="50000"/>
                </a:prstClr>
              </a:buClr>
              <a:buSzTx/>
              <a:buFont typeface="Arial" panose="020B0604020202020204" pitchFamily="34" charset="0"/>
              <a:buChar char="•"/>
              <a:tabLst/>
              <a:defRPr/>
            </a:pPr>
            <a:r>
              <a:rPr kumimoji="0" lang="en-US" sz="1200" b="0" i="0" u="none" strike="noStrike" kern="1200" cap="none" spc="0" normalizeH="0" baseline="0" noProof="0" dirty="0">
                <a:ln>
                  <a:noFill/>
                </a:ln>
                <a:solidFill>
                  <a:srgbClr val="021836"/>
                </a:solidFill>
                <a:effectLst/>
                <a:uLnTx/>
                <a:uFillTx/>
                <a:latin typeface="Aptos" panose="02110004020202020204"/>
                <a:ea typeface="+mn-ea"/>
                <a:cs typeface="+mn-cs"/>
              </a:rPr>
              <a:t> </a:t>
            </a:r>
          </a:p>
          <a:p>
            <a:pPr marL="228600" marR="0" lvl="0" indent="-228600" algn="l" defTabSz="914400" rtl="0" eaLnBrk="1" fontAlgn="auto" latinLnBrk="0" hangingPunct="1">
              <a:lnSpc>
                <a:spcPct val="90000"/>
              </a:lnSpc>
              <a:spcBef>
                <a:spcPts val="1000"/>
              </a:spcBef>
              <a:spcAft>
                <a:spcPts val="0"/>
              </a:spcAft>
              <a:buClr>
                <a:prstClr val="white">
                  <a:lumMod val="50000"/>
                </a:prstClr>
              </a:buClr>
              <a:buSzTx/>
              <a:buFont typeface="Arial" panose="020B0604020202020204" pitchFamily="34" charset="0"/>
              <a:buChar char="•"/>
              <a:tabLst/>
              <a:defRPr/>
            </a:pPr>
            <a:r>
              <a:rPr kumimoji="0" lang="en-US" sz="1200" b="0" i="0" u="none" strike="noStrike" kern="1200" cap="none" spc="0" normalizeH="0" baseline="0" noProof="0" dirty="0">
                <a:ln>
                  <a:noFill/>
                </a:ln>
                <a:solidFill>
                  <a:srgbClr val="021836"/>
                </a:solidFill>
                <a:effectLst/>
                <a:uLnTx/>
                <a:uFillTx/>
                <a:latin typeface="Aptos" panose="02110004020202020204"/>
                <a:ea typeface="+mn-ea"/>
                <a:cs typeface="+mn-cs"/>
              </a:rPr>
              <a:t> </a:t>
            </a:r>
          </a:p>
          <a:p>
            <a:pPr marL="228600" marR="0" lvl="0" indent="-228600" algn="l" defTabSz="914400" rtl="0" eaLnBrk="1" fontAlgn="auto" latinLnBrk="0" hangingPunct="1">
              <a:lnSpc>
                <a:spcPct val="90000"/>
              </a:lnSpc>
              <a:spcBef>
                <a:spcPts val="1000"/>
              </a:spcBef>
              <a:spcAft>
                <a:spcPts val="0"/>
              </a:spcAft>
              <a:buClr>
                <a:prstClr val="white">
                  <a:lumMod val="50000"/>
                </a:prstClr>
              </a:buClr>
              <a:buSzTx/>
              <a:buFont typeface="Arial" panose="020B0604020202020204" pitchFamily="34" charset="0"/>
              <a:buChar char="•"/>
              <a:tabLst/>
              <a:defRPr/>
            </a:pPr>
            <a:r>
              <a:rPr kumimoji="0" lang="en-US" sz="1200" b="0" i="0" u="none" strike="noStrike" kern="1200" cap="none" spc="0" normalizeH="0" baseline="0" noProof="0" dirty="0">
                <a:ln>
                  <a:noFill/>
                </a:ln>
                <a:solidFill>
                  <a:srgbClr val="021836"/>
                </a:solidFill>
                <a:effectLst/>
                <a:uLnTx/>
                <a:uFillTx/>
                <a:latin typeface="Aptos" panose="02110004020202020204"/>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200" b="1" i="0" u="none" strike="noStrike" kern="1200" cap="none" spc="0" normalizeH="0" baseline="0" noProof="0" dirty="0">
              <a:ln>
                <a:noFill/>
              </a:ln>
              <a:solidFill>
                <a:srgbClr val="021836"/>
              </a:solidFill>
              <a:effectLst/>
              <a:uLnTx/>
              <a:uFillTx/>
              <a:latin typeface="Aptos" panose="02110004020202020204"/>
              <a:ea typeface="+mn-ea"/>
              <a:cs typeface="+mn-cs"/>
            </a:endParaRPr>
          </a:p>
        </p:txBody>
      </p:sp>
      <p:cxnSp>
        <p:nvCxnSpPr>
          <p:cNvPr id="5" name="Straight Connector 4">
            <a:extLst>
              <a:ext uri="{FF2B5EF4-FFF2-40B4-BE49-F238E27FC236}">
                <a16:creationId xmlns:a16="http://schemas.microsoft.com/office/drawing/2014/main" id="{DDA322F7-849E-BD66-B89A-F5BFABD42DD5}"/>
              </a:ext>
            </a:extLst>
          </p:cNvPr>
          <p:cNvCxnSpPr>
            <a:cxnSpLocks/>
          </p:cNvCxnSpPr>
          <p:nvPr/>
        </p:nvCxnSpPr>
        <p:spPr>
          <a:xfrm>
            <a:off x="171450" y="5657404"/>
            <a:ext cx="8801100" cy="0"/>
          </a:xfrm>
          <a:prstGeom prst="line">
            <a:avLst/>
          </a:prstGeom>
          <a:ln w="9525">
            <a:solidFill>
              <a:srgbClr val="0396A6"/>
            </a:solidFill>
          </a:ln>
        </p:spPr>
        <p:style>
          <a:lnRef idx="2">
            <a:schemeClr val="accent1"/>
          </a:lnRef>
          <a:fillRef idx="0">
            <a:schemeClr val="accent1"/>
          </a:fillRef>
          <a:effectRef idx="1">
            <a:schemeClr val="accent1"/>
          </a:effectRef>
          <a:fontRef idx="minor">
            <a:schemeClr val="tx1"/>
          </a:fontRef>
        </p:style>
      </p:cxnSp>
      <p:grpSp>
        <p:nvGrpSpPr>
          <p:cNvPr id="6" name="Group 5">
            <a:extLst>
              <a:ext uri="{FF2B5EF4-FFF2-40B4-BE49-F238E27FC236}">
                <a16:creationId xmlns:a16="http://schemas.microsoft.com/office/drawing/2014/main" id="{BEF2F506-4582-8197-9E24-2080F6D48E59}"/>
              </a:ext>
            </a:extLst>
          </p:cNvPr>
          <p:cNvGrpSpPr/>
          <p:nvPr/>
        </p:nvGrpSpPr>
        <p:grpSpPr>
          <a:xfrm>
            <a:off x="542925" y="5743223"/>
            <a:ext cx="7886700" cy="827219"/>
            <a:chOff x="628650" y="4859206"/>
            <a:chExt cx="7886700" cy="827219"/>
          </a:xfrm>
        </p:grpSpPr>
        <p:sp>
          <p:nvSpPr>
            <p:cNvPr id="7" name="Content Placeholder 2">
              <a:extLst>
                <a:ext uri="{FF2B5EF4-FFF2-40B4-BE49-F238E27FC236}">
                  <a16:creationId xmlns:a16="http://schemas.microsoft.com/office/drawing/2014/main" id="{B630FE70-7F77-F711-429B-AD9FFFC6753E}"/>
                </a:ext>
              </a:extLst>
            </p:cNvPr>
            <p:cNvSpPr txBox="1">
              <a:spLocks/>
            </p:cNvSpPr>
            <p:nvPr/>
          </p:nvSpPr>
          <p:spPr>
            <a:xfrm>
              <a:off x="628650" y="4859206"/>
              <a:ext cx="7886700" cy="310284"/>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Opportunity Signals</a:t>
              </a:r>
            </a:p>
          </p:txBody>
        </p:sp>
        <p:sp>
          <p:nvSpPr>
            <p:cNvPr id="8" name="Content Placeholder 2">
              <a:extLst>
                <a:ext uri="{FF2B5EF4-FFF2-40B4-BE49-F238E27FC236}">
                  <a16:creationId xmlns:a16="http://schemas.microsoft.com/office/drawing/2014/main" id="{EE61313B-2B24-94E6-9F75-7F5F0F0A6EFA}"/>
                </a:ext>
              </a:extLst>
            </p:cNvPr>
            <p:cNvSpPr txBox="1">
              <a:spLocks/>
            </p:cNvSpPr>
            <p:nvPr/>
          </p:nvSpPr>
          <p:spPr>
            <a:xfrm>
              <a:off x="628650" y="5119688"/>
              <a:ext cx="7724775" cy="566737"/>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600"/>
                </a:spcAft>
                <a:buClr>
                  <a:srgbClr val="021836"/>
                </a:buClr>
                <a:buSzTx/>
                <a:buFont typeface="Arial" panose="020B0604020202020204" pitchFamily="34" charset="0"/>
                <a:buNone/>
                <a:tabLst/>
                <a:defRPr/>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Disconnected systems • Manual data movement • Poor search • Repeated copy/paste • Low tool adoption • Shadow AI use • </a:t>
              </a:r>
              <a:r>
                <a:rPr lang="en-US" sz="1200" i="1" dirty="0">
                  <a:solidFill>
                    <a:prstClr val="white">
                      <a:lumMod val="50000"/>
                    </a:prstClr>
                  </a:solidFill>
                  <a:latin typeface="Aptos" panose="02110004020202020204"/>
                </a:rPr>
                <a:t>Data access barriers</a:t>
              </a:r>
              <a:endPar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endParaRPr>
            </a:p>
          </p:txBody>
        </p:sp>
      </p:grpSp>
      <p:sp>
        <p:nvSpPr>
          <p:cNvPr id="9" name="Content Placeholder 2">
            <a:extLst>
              <a:ext uri="{FF2B5EF4-FFF2-40B4-BE49-F238E27FC236}">
                <a16:creationId xmlns:a16="http://schemas.microsoft.com/office/drawing/2014/main" id="{508A269F-08CC-E1B9-8D62-9AB4D0EE1BF1}"/>
              </a:ext>
            </a:extLst>
          </p:cNvPr>
          <p:cNvSpPr txBox="1">
            <a:spLocks/>
          </p:cNvSpPr>
          <p:nvPr/>
        </p:nvSpPr>
        <p:spPr>
          <a:xfrm>
            <a:off x="273534" y="845630"/>
            <a:ext cx="7886700" cy="299244"/>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Understanding what tools enable work</a:t>
            </a:r>
          </a:p>
        </p:txBody>
      </p:sp>
      <p:sp>
        <p:nvSpPr>
          <p:cNvPr id="11" name="TextBox 10">
            <a:extLst>
              <a:ext uri="{FF2B5EF4-FFF2-40B4-BE49-F238E27FC236}">
                <a16:creationId xmlns:a16="http://schemas.microsoft.com/office/drawing/2014/main" id="{CF8C20B3-F0ED-5914-5BF3-E85CF1C788C9}"/>
              </a:ext>
            </a:extLst>
          </p:cNvPr>
          <p:cNvSpPr txBox="1"/>
          <p:nvPr/>
        </p:nvSpPr>
        <p:spPr>
          <a:xfrm>
            <a:off x="5680038" y="64309"/>
            <a:ext cx="3357424" cy="276999"/>
          </a:xfrm>
          <a:prstGeom prst="rect">
            <a:avLst/>
          </a:prstGeom>
          <a:noFill/>
        </p:spPr>
        <p:txBody>
          <a:bodyPr wrap="square" rtlCol="0">
            <a:spAutoFit/>
          </a:bodyPr>
          <a:lstStyle/>
          <a:p>
            <a:r>
              <a:rPr lang="en-US" sz="1200" dirty="0">
                <a:solidFill>
                  <a:schemeClr val="bg1">
                    <a:lumMod val="50000"/>
                  </a:schemeClr>
                </a:solidFill>
              </a:rPr>
              <a:t>AI Operational Readiness • Discovery Workbook</a:t>
            </a:r>
          </a:p>
        </p:txBody>
      </p:sp>
    </p:spTree>
    <p:extLst>
      <p:ext uri="{BB962C8B-B14F-4D97-AF65-F5344CB8AC3E}">
        <p14:creationId xmlns:p14="http://schemas.microsoft.com/office/powerpoint/2010/main" val="33236020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FD8349-8CE3-B29A-336D-C16EC2935A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AEBEAA-39CB-5234-05C5-844B38030BD2}"/>
              </a:ext>
            </a:extLst>
          </p:cNvPr>
          <p:cNvSpPr>
            <a:spLocks noGrp="1"/>
          </p:cNvSpPr>
          <p:nvPr>
            <p:ph type="title"/>
          </p:nvPr>
        </p:nvSpPr>
        <p:spPr>
          <a:xfrm>
            <a:off x="273534" y="-75744"/>
            <a:ext cx="7886700" cy="1325563"/>
          </a:xfrm>
        </p:spPr>
        <p:txBody>
          <a:bodyPr/>
          <a:lstStyle/>
          <a:p>
            <a:r>
              <a:rPr lang="en-US" dirty="0"/>
              <a:t>Governance</a:t>
            </a:r>
          </a:p>
        </p:txBody>
      </p:sp>
      <p:sp>
        <p:nvSpPr>
          <p:cNvPr id="3" name="Content Placeholder 2">
            <a:extLst>
              <a:ext uri="{FF2B5EF4-FFF2-40B4-BE49-F238E27FC236}">
                <a16:creationId xmlns:a16="http://schemas.microsoft.com/office/drawing/2014/main" id="{CF4E34C9-849E-8B82-7241-8FC6305C731B}"/>
              </a:ext>
            </a:extLst>
          </p:cNvPr>
          <p:cNvSpPr>
            <a:spLocks noGrp="1"/>
          </p:cNvSpPr>
          <p:nvPr>
            <p:ph idx="1"/>
          </p:nvPr>
        </p:nvSpPr>
        <p:spPr>
          <a:xfrm>
            <a:off x="466726" y="1226911"/>
            <a:ext cx="4019550" cy="4518025"/>
          </a:xfrm>
        </p:spPr>
        <p:txBody>
          <a:bodyPr>
            <a:normAutofit lnSpcReduction="10000"/>
          </a:bodyPr>
          <a:lstStyle/>
          <a:p>
            <a:pPr marL="0" indent="0">
              <a:buNone/>
            </a:pPr>
            <a:r>
              <a:rPr lang="en-US" sz="1400" b="1" dirty="0">
                <a:solidFill>
                  <a:srgbClr val="021836"/>
                </a:solidFill>
              </a:rPr>
              <a:t>Key Questions</a:t>
            </a:r>
          </a:p>
          <a:p>
            <a:pPr>
              <a:buClr>
                <a:schemeClr val="bg1">
                  <a:lumMod val="50000"/>
                </a:schemeClr>
              </a:buClr>
            </a:pPr>
            <a:r>
              <a:rPr lang="en-US" sz="1200" dirty="0"/>
              <a:t>Where is human review required?</a:t>
            </a:r>
          </a:p>
          <a:p>
            <a:pPr>
              <a:buClr>
                <a:schemeClr val="bg1">
                  <a:lumMod val="50000"/>
                </a:schemeClr>
              </a:buClr>
            </a:pPr>
            <a:r>
              <a:rPr lang="en-US" sz="1200" dirty="0"/>
              <a:t>Which decisions require a human to remain accountable?</a:t>
            </a:r>
          </a:p>
          <a:p>
            <a:pPr>
              <a:buClr>
                <a:schemeClr val="bg1">
                  <a:lumMod val="50000"/>
                </a:schemeClr>
              </a:buClr>
            </a:pPr>
            <a:r>
              <a:rPr lang="en-US" sz="1200" dirty="0"/>
              <a:t>What information is sensitive?</a:t>
            </a:r>
          </a:p>
          <a:p>
            <a:pPr>
              <a:buClr>
                <a:schemeClr val="bg1">
                  <a:lumMod val="50000"/>
                </a:schemeClr>
              </a:buClr>
            </a:pPr>
            <a:r>
              <a:rPr lang="en-US" sz="1200" dirty="0"/>
              <a:t>What happens if this work is wrong?</a:t>
            </a:r>
          </a:p>
          <a:p>
            <a:pPr>
              <a:buClr>
                <a:schemeClr val="bg1">
                  <a:lumMod val="50000"/>
                </a:schemeClr>
              </a:buClr>
            </a:pPr>
            <a:r>
              <a:rPr lang="en-US" sz="1200" dirty="0"/>
              <a:t>Who approves outputs?</a:t>
            </a:r>
          </a:p>
          <a:p>
            <a:pPr>
              <a:buClr>
                <a:schemeClr val="bg1">
                  <a:lumMod val="50000"/>
                </a:schemeClr>
              </a:buClr>
            </a:pPr>
            <a:r>
              <a:rPr lang="en-US" sz="1200" dirty="0"/>
              <a:t>Who owns the process?</a:t>
            </a:r>
          </a:p>
          <a:p>
            <a:pPr>
              <a:buClr>
                <a:schemeClr val="bg1">
                  <a:lumMod val="50000"/>
                </a:schemeClr>
              </a:buClr>
            </a:pPr>
            <a:r>
              <a:rPr lang="en-US" sz="1200" dirty="0"/>
              <a:t>Who has the authority to intervene or stop the process?</a:t>
            </a:r>
          </a:p>
          <a:p>
            <a:pPr>
              <a:buClr>
                <a:schemeClr val="bg1">
                  <a:lumMod val="50000"/>
                </a:schemeClr>
              </a:buClr>
            </a:pPr>
            <a:r>
              <a:rPr lang="en-US" sz="1200" dirty="0"/>
              <a:t>What decisions affect customers?</a:t>
            </a:r>
          </a:p>
          <a:p>
            <a:pPr>
              <a:buClr>
                <a:schemeClr val="bg1">
                  <a:lumMod val="50000"/>
                </a:schemeClr>
              </a:buClr>
            </a:pPr>
            <a:r>
              <a:rPr lang="en-US" sz="1200" dirty="0"/>
              <a:t>Where are regulations involved?</a:t>
            </a:r>
          </a:p>
          <a:p>
            <a:pPr>
              <a:buClr>
                <a:schemeClr val="bg1">
                  <a:lumMod val="50000"/>
                </a:schemeClr>
              </a:buClr>
            </a:pPr>
            <a:r>
              <a:rPr lang="en-US" sz="1200" dirty="0"/>
              <a:t>What risks concern leadership?</a:t>
            </a:r>
          </a:p>
          <a:p>
            <a:pPr>
              <a:buClr>
                <a:schemeClr val="bg1">
                  <a:lumMod val="50000"/>
                </a:schemeClr>
              </a:buClr>
            </a:pPr>
            <a:r>
              <a:rPr lang="en-US" sz="1200" dirty="0"/>
              <a:t>Which decisions would have significant consequences if they were to go wrong?</a:t>
            </a:r>
          </a:p>
          <a:p>
            <a:pPr>
              <a:buClr>
                <a:schemeClr val="bg1">
                  <a:lumMod val="50000"/>
                </a:schemeClr>
              </a:buClr>
            </a:pPr>
            <a:r>
              <a:rPr lang="en-US" sz="1200" dirty="0"/>
              <a:t>What assumptions or conditions does the current process rely on to operate safely or appropriately?</a:t>
            </a:r>
          </a:p>
          <a:p>
            <a:pPr>
              <a:buClr>
                <a:schemeClr val="bg1">
                  <a:lumMod val="50000"/>
                </a:schemeClr>
              </a:buClr>
            </a:pPr>
            <a:r>
              <a:rPr lang="en-US" sz="1200" dirty="0"/>
              <a:t>Have any of those conditions changed?	</a:t>
            </a:r>
          </a:p>
        </p:txBody>
      </p:sp>
      <p:sp>
        <p:nvSpPr>
          <p:cNvPr id="4" name="Content Placeholder 2">
            <a:extLst>
              <a:ext uri="{FF2B5EF4-FFF2-40B4-BE49-F238E27FC236}">
                <a16:creationId xmlns:a16="http://schemas.microsoft.com/office/drawing/2014/main" id="{AE552C72-E0A0-CC4B-8083-BACB7B5F6A5D}"/>
              </a:ext>
            </a:extLst>
          </p:cNvPr>
          <p:cNvSpPr txBox="1">
            <a:spLocks/>
          </p:cNvSpPr>
          <p:nvPr/>
        </p:nvSpPr>
        <p:spPr>
          <a:xfrm>
            <a:off x="4819650" y="1226910"/>
            <a:ext cx="3857625" cy="451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Observations</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Risk</a:t>
            </a:r>
          </a:p>
          <a:p>
            <a:pPr marL="228600" marR="0" lvl="0" indent="-228600" algn="l" defTabSz="914400" rtl="0" eaLnBrk="1" fontAlgn="auto" latinLnBrk="0" hangingPunct="1">
              <a:lnSpc>
                <a:spcPct val="90000"/>
              </a:lnSpc>
              <a:spcBef>
                <a:spcPts val="1000"/>
              </a:spcBef>
              <a:spcAft>
                <a:spcPts val="0"/>
              </a:spcAft>
              <a:buClr>
                <a:prstClr val="white">
                  <a:lumMod val="50000"/>
                </a:prstClr>
              </a:buClr>
              <a:buSzTx/>
              <a:buFont typeface="Arial" panose="020B0604020202020204" pitchFamily="34" charset="0"/>
              <a:buChar char="•"/>
              <a:tabLst/>
              <a:defRPr/>
            </a:pPr>
            <a:r>
              <a:rPr kumimoji="0" lang="en-US" sz="1200" b="0" i="0" u="none" strike="noStrike" kern="1200" cap="none" spc="0" normalizeH="0" baseline="0" noProof="0" dirty="0">
                <a:ln>
                  <a:noFill/>
                </a:ln>
                <a:solidFill>
                  <a:srgbClr val="021836"/>
                </a:solidFill>
                <a:effectLst/>
                <a:uLnTx/>
                <a:uFillTx/>
                <a:latin typeface="Aptos" panose="02110004020202020204"/>
                <a:ea typeface="+mn-ea"/>
                <a:cs typeface="+mn-cs"/>
              </a:rPr>
              <a:t> </a:t>
            </a:r>
          </a:p>
          <a:p>
            <a:pPr marL="228600" marR="0" lvl="0" indent="-228600" algn="l" defTabSz="914400" rtl="0" eaLnBrk="1" fontAlgn="auto" latinLnBrk="0" hangingPunct="1">
              <a:lnSpc>
                <a:spcPct val="90000"/>
              </a:lnSpc>
              <a:spcBef>
                <a:spcPts val="1000"/>
              </a:spcBef>
              <a:spcAft>
                <a:spcPts val="0"/>
              </a:spcAft>
              <a:buClr>
                <a:prstClr val="white">
                  <a:lumMod val="50000"/>
                </a:prstClr>
              </a:buClr>
              <a:buSzTx/>
              <a:buFont typeface="Arial" panose="020B0604020202020204" pitchFamily="34" charset="0"/>
              <a:buChar char="•"/>
              <a:tabLst/>
              <a:defRPr/>
            </a:pPr>
            <a:r>
              <a:rPr kumimoji="0" lang="en-US" sz="1200" b="0" i="0" u="none" strike="noStrike" kern="1200" cap="none" spc="0" normalizeH="0" baseline="0" noProof="0" dirty="0">
                <a:ln>
                  <a:noFill/>
                </a:ln>
                <a:solidFill>
                  <a:srgbClr val="021836"/>
                </a:solidFill>
                <a:effectLst/>
                <a:uLnTx/>
                <a:uFillTx/>
                <a:latin typeface="Aptos" panose="02110004020202020204"/>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200" b="1" i="0" u="none" strike="noStrike" kern="1200" cap="none" spc="0" normalizeH="0" baseline="0" noProof="0" dirty="0">
                <a:ln>
                  <a:noFill/>
                </a:ln>
                <a:solidFill>
                  <a:srgbClr val="021836"/>
                </a:solidFill>
                <a:effectLst/>
                <a:uLnTx/>
                <a:uFillTx/>
                <a:latin typeface="Aptos" panose="02110004020202020204"/>
                <a:ea typeface="+mn-ea"/>
                <a:cs typeface="+mn-cs"/>
              </a:rPr>
              <a:t>Pattern</a:t>
            </a:r>
            <a:endPar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endParaRPr>
          </a:p>
          <a:p>
            <a:pPr marL="228600" marR="0" lvl="0" indent="-228600" algn="l" defTabSz="914400" rtl="0" eaLnBrk="1" fontAlgn="auto" latinLnBrk="0" hangingPunct="1">
              <a:lnSpc>
                <a:spcPct val="90000"/>
              </a:lnSpc>
              <a:spcBef>
                <a:spcPts val="1000"/>
              </a:spcBef>
              <a:spcAft>
                <a:spcPts val="0"/>
              </a:spcAft>
              <a:buClr>
                <a:prstClr val="white">
                  <a:lumMod val="50000"/>
                </a:prstClr>
              </a:buClr>
              <a:buSzTx/>
              <a:buFont typeface="Arial" panose="020B0604020202020204" pitchFamily="34" charset="0"/>
              <a:buChar char="•"/>
              <a:tabLst/>
              <a:defRPr/>
            </a:pPr>
            <a:r>
              <a:rPr kumimoji="0" lang="en-US" sz="1200" b="0" i="0" u="none" strike="noStrike" kern="1200" cap="none" spc="0" normalizeH="0" baseline="0" noProof="0" dirty="0">
                <a:ln>
                  <a:noFill/>
                </a:ln>
                <a:solidFill>
                  <a:srgbClr val="021836"/>
                </a:solidFill>
                <a:effectLst/>
                <a:uLnTx/>
                <a:uFillTx/>
                <a:latin typeface="Aptos" panose="02110004020202020204"/>
                <a:ea typeface="+mn-ea"/>
                <a:cs typeface="+mn-cs"/>
              </a:rPr>
              <a:t> </a:t>
            </a:r>
          </a:p>
          <a:p>
            <a:pPr marL="228600" marR="0" lvl="0" indent="-228600" algn="l" defTabSz="914400" rtl="0" eaLnBrk="1" fontAlgn="auto" latinLnBrk="0" hangingPunct="1">
              <a:lnSpc>
                <a:spcPct val="90000"/>
              </a:lnSpc>
              <a:spcBef>
                <a:spcPts val="1000"/>
              </a:spcBef>
              <a:spcAft>
                <a:spcPts val="0"/>
              </a:spcAft>
              <a:buClr>
                <a:prstClr val="white">
                  <a:lumMod val="50000"/>
                </a:prstClr>
              </a:buClr>
              <a:buSzTx/>
              <a:buFont typeface="Arial" panose="020B0604020202020204" pitchFamily="34" charset="0"/>
              <a:buChar char="•"/>
              <a:tabLst/>
              <a:defRPr/>
            </a:pPr>
            <a:r>
              <a:rPr kumimoji="0" lang="en-US" sz="1200" b="0" i="0" u="none" strike="noStrike" kern="1200" cap="none" spc="0" normalizeH="0" baseline="0" noProof="0" dirty="0">
                <a:ln>
                  <a:noFill/>
                </a:ln>
                <a:solidFill>
                  <a:srgbClr val="021836"/>
                </a:solidFill>
                <a:effectLst/>
                <a:uLnTx/>
                <a:uFillTx/>
                <a:latin typeface="Aptos" panose="02110004020202020204"/>
                <a:ea typeface="+mn-ea"/>
                <a:cs typeface="+mn-cs"/>
              </a:rPr>
              <a:t> </a:t>
            </a:r>
          </a:p>
          <a:p>
            <a:pPr marL="228600" marR="0" lvl="0" indent="-228600" algn="l" defTabSz="914400" rtl="0" eaLnBrk="1" fontAlgn="auto" latinLnBrk="0" hangingPunct="1">
              <a:lnSpc>
                <a:spcPct val="90000"/>
              </a:lnSpc>
              <a:spcBef>
                <a:spcPts val="1000"/>
              </a:spcBef>
              <a:spcAft>
                <a:spcPts val="0"/>
              </a:spcAft>
              <a:buClr>
                <a:prstClr val="white">
                  <a:lumMod val="50000"/>
                </a:prstClr>
              </a:buClr>
              <a:buSzTx/>
              <a:buFont typeface="Arial" panose="020B0604020202020204" pitchFamily="34" charset="0"/>
              <a:buChar char="•"/>
              <a:tabLst/>
              <a:defRPr/>
            </a:pPr>
            <a:r>
              <a:rPr kumimoji="0" lang="en-US" sz="1200" b="1" i="0" u="none" strike="noStrike" kern="1200" cap="none" spc="0" normalizeH="0" baseline="0" noProof="0" dirty="0">
                <a:ln>
                  <a:noFill/>
                </a:ln>
                <a:solidFill>
                  <a:srgbClr val="021836"/>
                </a:solidFill>
                <a:effectLst/>
                <a:uLnTx/>
                <a:uFillTx/>
                <a:latin typeface="Aptos" panose="02110004020202020204"/>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200" b="1" i="0" u="none" strike="noStrike" kern="1200" cap="none" spc="0" normalizeH="0" baseline="0" noProof="0" dirty="0">
                <a:ln>
                  <a:noFill/>
                </a:ln>
                <a:solidFill>
                  <a:srgbClr val="021836"/>
                </a:solidFill>
                <a:effectLst/>
                <a:uLnTx/>
                <a:uFillTx/>
                <a:latin typeface="Aptos" panose="02110004020202020204"/>
                <a:ea typeface="+mn-ea"/>
                <a:cs typeface="+mn-cs"/>
              </a:rPr>
              <a:t>Opportunity</a:t>
            </a:r>
            <a:endPar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endParaRPr>
          </a:p>
          <a:p>
            <a:pPr marL="228600" marR="0" lvl="0" indent="-228600" algn="l" defTabSz="914400" rtl="0" eaLnBrk="1" fontAlgn="auto" latinLnBrk="0" hangingPunct="1">
              <a:lnSpc>
                <a:spcPct val="90000"/>
              </a:lnSpc>
              <a:spcBef>
                <a:spcPts val="1000"/>
              </a:spcBef>
              <a:spcAft>
                <a:spcPts val="0"/>
              </a:spcAft>
              <a:buClr>
                <a:prstClr val="white">
                  <a:lumMod val="50000"/>
                </a:prstClr>
              </a:buClr>
              <a:buSzTx/>
              <a:buFont typeface="Arial" panose="020B0604020202020204" pitchFamily="34" charset="0"/>
              <a:buChar char="•"/>
              <a:tabLst/>
              <a:defRPr/>
            </a:pPr>
            <a:r>
              <a:rPr kumimoji="0" lang="en-US" sz="1200" b="0" i="0" u="none" strike="noStrike" kern="1200" cap="none" spc="0" normalizeH="0" baseline="0" noProof="0" dirty="0">
                <a:ln>
                  <a:noFill/>
                </a:ln>
                <a:solidFill>
                  <a:srgbClr val="021836"/>
                </a:solidFill>
                <a:effectLst/>
                <a:uLnTx/>
                <a:uFillTx/>
                <a:latin typeface="Aptos" panose="02110004020202020204"/>
                <a:ea typeface="+mn-ea"/>
                <a:cs typeface="+mn-cs"/>
              </a:rPr>
              <a:t> </a:t>
            </a:r>
          </a:p>
          <a:p>
            <a:pPr marL="228600" marR="0" lvl="0" indent="-228600" algn="l" defTabSz="914400" rtl="0" eaLnBrk="1" fontAlgn="auto" latinLnBrk="0" hangingPunct="1">
              <a:lnSpc>
                <a:spcPct val="90000"/>
              </a:lnSpc>
              <a:spcBef>
                <a:spcPts val="1000"/>
              </a:spcBef>
              <a:spcAft>
                <a:spcPts val="0"/>
              </a:spcAft>
              <a:buClr>
                <a:prstClr val="white">
                  <a:lumMod val="50000"/>
                </a:prstClr>
              </a:buClr>
              <a:buSzTx/>
              <a:buFont typeface="Arial" panose="020B0604020202020204" pitchFamily="34" charset="0"/>
              <a:buChar char="•"/>
              <a:tabLst/>
              <a:defRPr/>
            </a:pPr>
            <a:r>
              <a:rPr kumimoji="0" lang="en-US" sz="1200" b="0" i="0" u="none" strike="noStrike" kern="1200" cap="none" spc="0" normalizeH="0" baseline="0" noProof="0" dirty="0">
                <a:ln>
                  <a:noFill/>
                </a:ln>
                <a:solidFill>
                  <a:srgbClr val="021836"/>
                </a:solidFill>
                <a:effectLst/>
                <a:uLnTx/>
                <a:uFillTx/>
                <a:latin typeface="Aptos" panose="02110004020202020204"/>
                <a:ea typeface="+mn-ea"/>
                <a:cs typeface="+mn-cs"/>
              </a:rPr>
              <a:t> </a:t>
            </a:r>
          </a:p>
          <a:p>
            <a:pPr marL="228600" marR="0" lvl="0" indent="-228600" algn="l" defTabSz="914400" rtl="0" eaLnBrk="1" fontAlgn="auto" latinLnBrk="0" hangingPunct="1">
              <a:lnSpc>
                <a:spcPct val="90000"/>
              </a:lnSpc>
              <a:spcBef>
                <a:spcPts val="1000"/>
              </a:spcBef>
              <a:spcAft>
                <a:spcPts val="0"/>
              </a:spcAft>
              <a:buClr>
                <a:prstClr val="white">
                  <a:lumMod val="50000"/>
                </a:prstClr>
              </a:buClr>
              <a:buSzTx/>
              <a:buFont typeface="Arial" panose="020B0604020202020204" pitchFamily="34" charset="0"/>
              <a:buChar char="•"/>
              <a:tabLst/>
              <a:defRPr/>
            </a:pPr>
            <a:r>
              <a:rPr kumimoji="0" lang="en-US" sz="1200" b="0" i="0" u="none" strike="noStrike" kern="1200" cap="none" spc="0" normalizeH="0" baseline="0" noProof="0" dirty="0">
                <a:ln>
                  <a:noFill/>
                </a:ln>
                <a:solidFill>
                  <a:srgbClr val="021836"/>
                </a:solidFill>
                <a:effectLst/>
                <a:uLnTx/>
                <a:uFillTx/>
                <a:latin typeface="Aptos" panose="02110004020202020204"/>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200" b="1" i="0" u="none" strike="noStrike" kern="1200" cap="none" spc="0" normalizeH="0" baseline="0" noProof="0" dirty="0">
              <a:ln>
                <a:noFill/>
              </a:ln>
              <a:solidFill>
                <a:srgbClr val="021836"/>
              </a:solidFill>
              <a:effectLst/>
              <a:uLnTx/>
              <a:uFillTx/>
              <a:latin typeface="Aptos" panose="02110004020202020204"/>
              <a:ea typeface="+mn-ea"/>
              <a:cs typeface="+mn-cs"/>
            </a:endParaRPr>
          </a:p>
        </p:txBody>
      </p:sp>
      <p:cxnSp>
        <p:nvCxnSpPr>
          <p:cNvPr id="5" name="Straight Connector 4">
            <a:extLst>
              <a:ext uri="{FF2B5EF4-FFF2-40B4-BE49-F238E27FC236}">
                <a16:creationId xmlns:a16="http://schemas.microsoft.com/office/drawing/2014/main" id="{4D28F613-4EC8-F5D3-4405-28AF410115D0}"/>
              </a:ext>
            </a:extLst>
          </p:cNvPr>
          <p:cNvCxnSpPr>
            <a:cxnSpLocks/>
          </p:cNvCxnSpPr>
          <p:nvPr/>
        </p:nvCxnSpPr>
        <p:spPr>
          <a:xfrm>
            <a:off x="171450" y="5679171"/>
            <a:ext cx="8801100" cy="0"/>
          </a:xfrm>
          <a:prstGeom prst="line">
            <a:avLst/>
          </a:prstGeom>
          <a:ln w="9525">
            <a:solidFill>
              <a:srgbClr val="0396A6"/>
            </a:solidFill>
          </a:ln>
        </p:spPr>
        <p:style>
          <a:lnRef idx="2">
            <a:schemeClr val="accent1"/>
          </a:lnRef>
          <a:fillRef idx="0">
            <a:schemeClr val="accent1"/>
          </a:fillRef>
          <a:effectRef idx="1">
            <a:schemeClr val="accent1"/>
          </a:effectRef>
          <a:fontRef idx="minor">
            <a:schemeClr val="tx1"/>
          </a:fontRef>
        </p:style>
      </p:cxnSp>
      <p:grpSp>
        <p:nvGrpSpPr>
          <p:cNvPr id="6" name="Group 5">
            <a:extLst>
              <a:ext uri="{FF2B5EF4-FFF2-40B4-BE49-F238E27FC236}">
                <a16:creationId xmlns:a16="http://schemas.microsoft.com/office/drawing/2014/main" id="{83A30998-E2FB-EF8C-DD6E-47FBF86085FA}"/>
              </a:ext>
            </a:extLst>
          </p:cNvPr>
          <p:cNvGrpSpPr/>
          <p:nvPr/>
        </p:nvGrpSpPr>
        <p:grpSpPr>
          <a:xfrm>
            <a:off x="542925" y="5760362"/>
            <a:ext cx="7886700" cy="810075"/>
            <a:chOff x="628650" y="4876350"/>
            <a:chExt cx="7886700" cy="810075"/>
          </a:xfrm>
        </p:grpSpPr>
        <p:sp>
          <p:nvSpPr>
            <p:cNvPr id="7" name="Content Placeholder 2">
              <a:extLst>
                <a:ext uri="{FF2B5EF4-FFF2-40B4-BE49-F238E27FC236}">
                  <a16:creationId xmlns:a16="http://schemas.microsoft.com/office/drawing/2014/main" id="{30C7C68F-E053-9AB5-8534-EA6C52A5D389}"/>
                </a:ext>
              </a:extLst>
            </p:cNvPr>
            <p:cNvSpPr txBox="1">
              <a:spLocks/>
            </p:cNvSpPr>
            <p:nvPr/>
          </p:nvSpPr>
          <p:spPr>
            <a:xfrm>
              <a:off x="628650" y="4876350"/>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Opportunity Signals</a:t>
              </a:r>
            </a:p>
          </p:txBody>
        </p:sp>
        <p:sp>
          <p:nvSpPr>
            <p:cNvPr id="8" name="Content Placeholder 2">
              <a:extLst>
                <a:ext uri="{FF2B5EF4-FFF2-40B4-BE49-F238E27FC236}">
                  <a16:creationId xmlns:a16="http://schemas.microsoft.com/office/drawing/2014/main" id="{BFC9338C-B3D8-7D60-F325-1A1683F68072}"/>
                </a:ext>
              </a:extLst>
            </p:cNvPr>
            <p:cNvSpPr txBox="1">
              <a:spLocks/>
            </p:cNvSpPr>
            <p:nvPr/>
          </p:nvSpPr>
          <p:spPr>
            <a:xfrm>
              <a:off x="628650" y="5119688"/>
              <a:ext cx="7724775" cy="566737"/>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Aft>
                  <a:spcPts val="600"/>
                </a:spcAft>
                <a:buClr>
                  <a:srgbClr val="021836"/>
                </a:buClr>
                <a:buNone/>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Sensitive information • Human review • Compliance obligations • </a:t>
              </a:r>
              <a:r>
                <a:rPr lang="en-US" sz="1200" i="1" dirty="0">
                  <a:solidFill>
                    <a:prstClr val="white">
                      <a:lumMod val="50000"/>
                    </a:prstClr>
                  </a:solidFill>
                </a:rPr>
                <a:t>Regulatory exposure • </a:t>
              </a: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Customer impact • Approval requirements • High-consequence decisions • </a:t>
              </a:r>
              <a:r>
                <a:rPr lang="en-US" sz="1200" i="1" dirty="0">
                  <a:solidFill>
                    <a:prstClr val="white">
                      <a:lumMod val="50000"/>
                    </a:prstClr>
                  </a:solidFill>
                </a:rPr>
                <a:t>Missing ownership</a:t>
              </a:r>
              <a:endPar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endParaRPr>
            </a:p>
          </p:txBody>
        </p:sp>
      </p:grpSp>
      <p:sp>
        <p:nvSpPr>
          <p:cNvPr id="9" name="Content Placeholder 2">
            <a:extLst>
              <a:ext uri="{FF2B5EF4-FFF2-40B4-BE49-F238E27FC236}">
                <a16:creationId xmlns:a16="http://schemas.microsoft.com/office/drawing/2014/main" id="{CD0F1033-FF42-C632-0C58-E96FD68CEA88}"/>
              </a:ext>
            </a:extLst>
          </p:cNvPr>
          <p:cNvSpPr txBox="1">
            <a:spLocks/>
          </p:cNvSpPr>
          <p:nvPr/>
        </p:nvSpPr>
        <p:spPr>
          <a:xfrm>
            <a:off x="273534" y="856516"/>
            <a:ext cx="7886700" cy="299244"/>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Understanding where accountability lives</a:t>
            </a:r>
          </a:p>
        </p:txBody>
      </p:sp>
      <p:sp>
        <p:nvSpPr>
          <p:cNvPr id="11" name="TextBox 10">
            <a:extLst>
              <a:ext uri="{FF2B5EF4-FFF2-40B4-BE49-F238E27FC236}">
                <a16:creationId xmlns:a16="http://schemas.microsoft.com/office/drawing/2014/main" id="{78657860-9867-DEF2-2C67-9CC9167578A5}"/>
              </a:ext>
            </a:extLst>
          </p:cNvPr>
          <p:cNvSpPr txBox="1"/>
          <p:nvPr/>
        </p:nvSpPr>
        <p:spPr>
          <a:xfrm>
            <a:off x="5680038" y="64309"/>
            <a:ext cx="3357424" cy="276999"/>
          </a:xfrm>
          <a:prstGeom prst="rect">
            <a:avLst/>
          </a:prstGeom>
          <a:noFill/>
        </p:spPr>
        <p:txBody>
          <a:bodyPr wrap="square" rtlCol="0">
            <a:spAutoFit/>
          </a:bodyPr>
          <a:lstStyle/>
          <a:p>
            <a:r>
              <a:rPr lang="en-US" sz="1200" dirty="0">
                <a:solidFill>
                  <a:schemeClr val="bg1">
                    <a:lumMod val="50000"/>
                  </a:schemeClr>
                </a:solidFill>
              </a:rPr>
              <a:t>AI Operational Readiness • Discovery Workbook</a:t>
            </a:r>
          </a:p>
        </p:txBody>
      </p:sp>
    </p:spTree>
    <p:extLst>
      <p:ext uri="{BB962C8B-B14F-4D97-AF65-F5344CB8AC3E}">
        <p14:creationId xmlns:p14="http://schemas.microsoft.com/office/powerpoint/2010/main" val="30424719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1B51D2-F157-9B8E-A36C-950DF9DA6B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494365-F535-361B-B222-C6649090793C}"/>
              </a:ext>
            </a:extLst>
          </p:cNvPr>
          <p:cNvSpPr>
            <a:spLocks noGrp="1"/>
          </p:cNvSpPr>
          <p:nvPr>
            <p:ph type="title"/>
          </p:nvPr>
        </p:nvSpPr>
        <p:spPr>
          <a:xfrm>
            <a:off x="273534" y="-86630"/>
            <a:ext cx="7886700" cy="1325563"/>
          </a:xfrm>
        </p:spPr>
        <p:txBody>
          <a:bodyPr/>
          <a:lstStyle/>
          <a:p>
            <a:r>
              <a:rPr lang="en-US" dirty="0"/>
              <a:t>Measurement</a:t>
            </a:r>
          </a:p>
        </p:txBody>
      </p:sp>
      <p:sp>
        <p:nvSpPr>
          <p:cNvPr id="3" name="Content Placeholder 2">
            <a:extLst>
              <a:ext uri="{FF2B5EF4-FFF2-40B4-BE49-F238E27FC236}">
                <a16:creationId xmlns:a16="http://schemas.microsoft.com/office/drawing/2014/main" id="{C9DEE4AA-E620-977B-0BA6-69EC5AC7D1E9}"/>
              </a:ext>
            </a:extLst>
          </p:cNvPr>
          <p:cNvSpPr>
            <a:spLocks noGrp="1"/>
          </p:cNvSpPr>
          <p:nvPr>
            <p:ph idx="1"/>
          </p:nvPr>
        </p:nvSpPr>
        <p:spPr>
          <a:xfrm>
            <a:off x="628650" y="1216025"/>
            <a:ext cx="3857625" cy="4518025"/>
          </a:xfrm>
        </p:spPr>
        <p:txBody>
          <a:bodyPr>
            <a:normAutofit/>
          </a:bodyPr>
          <a:lstStyle/>
          <a:p>
            <a:pPr marL="0" indent="0">
              <a:buNone/>
            </a:pPr>
            <a:r>
              <a:rPr lang="en-US" sz="1400" b="1" dirty="0">
                <a:solidFill>
                  <a:srgbClr val="021836"/>
                </a:solidFill>
              </a:rPr>
              <a:t>Key Questions</a:t>
            </a:r>
          </a:p>
          <a:p>
            <a:pPr>
              <a:buClr>
                <a:schemeClr val="bg1">
                  <a:lumMod val="50000"/>
                </a:schemeClr>
              </a:buClr>
            </a:pPr>
            <a:r>
              <a:rPr lang="en-US" sz="1200" dirty="0"/>
              <a:t>How is this work measured today?</a:t>
            </a:r>
          </a:p>
          <a:p>
            <a:pPr>
              <a:buClr>
                <a:schemeClr val="bg1">
                  <a:lumMod val="50000"/>
                </a:schemeClr>
              </a:buClr>
            </a:pPr>
            <a:r>
              <a:rPr lang="en-US" sz="1200" dirty="0"/>
              <a:t>What outcomes matter most?</a:t>
            </a:r>
          </a:p>
          <a:p>
            <a:pPr>
              <a:buClr>
                <a:schemeClr val="bg1">
                  <a:lumMod val="50000"/>
                </a:schemeClr>
              </a:buClr>
            </a:pPr>
            <a:r>
              <a:rPr lang="en-US" sz="1200" dirty="0"/>
              <a:t>What does “better” look like?</a:t>
            </a:r>
          </a:p>
          <a:p>
            <a:pPr>
              <a:buClr>
                <a:schemeClr val="bg1">
                  <a:lumMod val="50000"/>
                </a:schemeClr>
              </a:buClr>
            </a:pPr>
            <a:r>
              <a:rPr lang="en-US" sz="1200" dirty="0"/>
              <a:t>What metrics already exist?</a:t>
            </a:r>
          </a:p>
          <a:p>
            <a:pPr>
              <a:buClr>
                <a:schemeClr val="bg1">
                  <a:lumMod val="50000"/>
                </a:schemeClr>
              </a:buClr>
            </a:pPr>
            <a:r>
              <a:rPr lang="en-US" sz="1200" dirty="0"/>
              <a:t>Where is performance hard to measure?</a:t>
            </a:r>
          </a:p>
          <a:p>
            <a:pPr>
              <a:buClr>
                <a:schemeClr val="bg1">
                  <a:lumMod val="50000"/>
                </a:schemeClr>
              </a:buClr>
            </a:pPr>
            <a:r>
              <a:rPr lang="en-US" sz="1200" dirty="0"/>
              <a:t>What would indicate AI is creating value?</a:t>
            </a:r>
          </a:p>
          <a:p>
            <a:pPr>
              <a:buClr>
                <a:schemeClr val="bg1">
                  <a:lumMod val="50000"/>
                </a:schemeClr>
              </a:buClr>
            </a:pPr>
            <a:r>
              <a:rPr lang="en-US" sz="1200" dirty="0"/>
              <a:t>What would indicate AI is creating unintended consequences, risk or rework?</a:t>
            </a:r>
          </a:p>
          <a:p>
            <a:pPr>
              <a:buClr>
                <a:schemeClr val="bg1">
                  <a:lumMod val="50000"/>
                </a:schemeClr>
              </a:buClr>
            </a:pPr>
            <a:r>
              <a:rPr lang="en-US" sz="1200" dirty="0"/>
              <a:t>What evidence would leadership need before scaling?</a:t>
            </a:r>
          </a:p>
          <a:p>
            <a:pPr>
              <a:buClr>
                <a:schemeClr val="bg1">
                  <a:lumMod val="50000"/>
                </a:schemeClr>
              </a:buClr>
            </a:pPr>
            <a:r>
              <a:rPr lang="en-US" sz="1200" dirty="0"/>
              <a:t>What important questions about this work are difficult to answer today because the necessary evidence isn’t captured?</a:t>
            </a:r>
          </a:p>
        </p:txBody>
      </p:sp>
      <p:sp>
        <p:nvSpPr>
          <p:cNvPr id="4" name="Content Placeholder 2">
            <a:extLst>
              <a:ext uri="{FF2B5EF4-FFF2-40B4-BE49-F238E27FC236}">
                <a16:creationId xmlns:a16="http://schemas.microsoft.com/office/drawing/2014/main" id="{9759C425-6AF5-0C93-9F0E-658B7E86B6D4}"/>
              </a:ext>
            </a:extLst>
          </p:cNvPr>
          <p:cNvSpPr txBox="1">
            <a:spLocks/>
          </p:cNvSpPr>
          <p:nvPr/>
        </p:nvSpPr>
        <p:spPr>
          <a:xfrm>
            <a:off x="4819650" y="1216024"/>
            <a:ext cx="3857625" cy="451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Observations</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400" b="1" dirty="0">
                <a:solidFill>
                  <a:srgbClr val="021836"/>
                </a:solidFill>
                <a:latin typeface="Aptos" panose="02110004020202020204"/>
              </a:rPr>
              <a:t>Gap</a:t>
            </a:r>
            <a:endPar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endParaRPr>
          </a:p>
          <a:p>
            <a:pPr marL="228600" marR="0" lvl="0" indent="-228600" algn="l" defTabSz="914400" rtl="0" eaLnBrk="1" fontAlgn="auto" latinLnBrk="0" hangingPunct="1">
              <a:lnSpc>
                <a:spcPct val="90000"/>
              </a:lnSpc>
              <a:spcBef>
                <a:spcPts val="1000"/>
              </a:spcBef>
              <a:spcAft>
                <a:spcPts val="0"/>
              </a:spcAft>
              <a:buClr>
                <a:prstClr val="white">
                  <a:lumMod val="50000"/>
                </a:prstClr>
              </a:buClr>
              <a:buSzTx/>
              <a:buFont typeface="Arial" panose="020B0604020202020204" pitchFamily="34" charset="0"/>
              <a:buChar char="•"/>
              <a:tabLst/>
              <a:defRPr/>
            </a:pPr>
            <a:r>
              <a:rPr kumimoji="0" lang="en-US" sz="1200" b="0" i="0" u="none" strike="noStrike" kern="1200" cap="none" spc="0" normalizeH="0" baseline="0" noProof="0" dirty="0">
                <a:ln>
                  <a:noFill/>
                </a:ln>
                <a:solidFill>
                  <a:srgbClr val="021836"/>
                </a:solidFill>
                <a:effectLst/>
                <a:uLnTx/>
                <a:uFillTx/>
                <a:latin typeface="Aptos" panose="02110004020202020204"/>
                <a:ea typeface="+mn-ea"/>
                <a:cs typeface="+mn-cs"/>
              </a:rPr>
              <a:t> </a:t>
            </a:r>
          </a:p>
          <a:p>
            <a:pPr marL="228600" marR="0" lvl="0" indent="-228600" algn="l" defTabSz="914400" rtl="0" eaLnBrk="1" fontAlgn="auto" latinLnBrk="0" hangingPunct="1">
              <a:lnSpc>
                <a:spcPct val="90000"/>
              </a:lnSpc>
              <a:spcBef>
                <a:spcPts val="1000"/>
              </a:spcBef>
              <a:spcAft>
                <a:spcPts val="0"/>
              </a:spcAft>
              <a:buClr>
                <a:prstClr val="white">
                  <a:lumMod val="50000"/>
                </a:prstClr>
              </a:buClr>
              <a:buSzTx/>
              <a:buFont typeface="Arial" panose="020B0604020202020204" pitchFamily="34" charset="0"/>
              <a:buChar char="•"/>
              <a:tabLst/>
              <a:defRPr/>
            </a:pPr>
            <a:r>
              <a:rPr kumimoji="0" lang="en-US" sz="1200" b="0" i="0" u="none" strike="noStrike" kern="1200" cap="none" spc="0" normalizeH="0" baseline="0" noProof="0" dirty="0">
                <a:ln>
                  <a:noFill/>
                </a:ln>
                <a:solidFill>
                  <a:srgbClr val="021836"/>
                </a:solidFill>
                <a:effectLst/>
                <a:uLnTx/>
                <a:uFillTx/>
                <a:latin typeface="Aptos" panose="02110004020202020204"/>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200" b="1" i="0" u="none" strike="noStrike" kern="1200" cap="none" spc="0" normalizeH="0" baseline="0" noProof="0" dirty="0">
                <a:ln>
                  <a:noFill/>
                </a:ln>
                <a:solidFill>
                  <a:srgbClr val="021836"/>
                </a:solidFill>
                <a:effectLst/>
                <a:uLnTx/>
                <a:uFillTx/>
                <a:latin typeface="Aptos" panose="02110004020202020204"/>
                <a:ea typeface="+mn-ea"/>
                <a:cs typeface="+mn-cs"/>
              </a:rPr>
              <a:t>Pattern</a:t>
            </a:r>
            <a:endPar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endParaRPr>
          </a:p>
          <a:p>
            <a:pPr marL="228600" marR="0" lvl="0" indent="-228600" algn="l" defTabSz="914400" rtl="0" eaLnBrk="1" fontAlgn="auto" latinLnBrk="0" hangingPunct="1">
              <a:lnSpc>
                <a:spcPct val="90000"/>
              </a:lnSpc>
              <a:spcBef>
                <a:spcPts val="1000"/>
              </a:spcBef>
              <a:spcAft>
                <a:spcPts val="0"/>
              </a:spcAft>
              <a:buClr>
                <a:prstClr val="white">
                  <a:lumMod val="50000"/>
                </a:prstClr>
              </a:buClr>
              <a:buSzTx/>
              <a:buFont typeface="Arial" panose="020B0604020202020204" pitchFamily="34" charset="0"/>
              <a:buChar char="•"/>
              <a:tabLst/>
              <a:defRPr/>
            </a:pPr>
            <a:r>
              <a:rPr kumimoji="0" lang="en-US" sz="1200" b="0" i="0" u="none" strike="noStrike" kern="1200" cap="none" spc="0" normalizeH="0" baseline="0" noProof="0" dirty="0">
                <a:ln>
                  <a:noFill/>
                </a:ln>
                <a:solidFill>
                  <a:srgbClr val="021836"/>
                </a:solidFill>
                <a:effectLst/>
                <a:uLnTx/>
                <a:uFillTx/>
                <a:latin typeface="Aptos" panose="02110004020202020204"/>
                <a:ea typeface="+mn-ea"/>
                <a:cs typeface="+mn-cs"/>
              </a:rPr>
              <a:t> </a:t>
            </a:r>
          </a:p>
          <a:p>
            <a:pPr marL="228600" marR="0" lvl="0" indent="-228600" algn="l" defTabSz="914400" rtl="0" eaLnBrk="1" fontAlgn="auto" latinLnBrk="0" hangingPunct="1">
              <a:lnSpc>
                <a:spcPct val="90000"/>
              </a:lnSpc>
              <a:spcBef>
                <a:spcPts val="1000"/>
              </a:spcBef>
              <a:spcAft>
                <a:spcPts val="0"/>
              </a:spcAft>
              <a:buClr>
                <a:prstClr val="white">
                  <a:lumMod val="50000"/>
                </a:prstClr>
              </a:buClr>
              <a:buSzTx/>
              <a:buFont typeface="Arial" panose="020B0604020202020204" pitchFamily="34" charset="0"/>
              <a:buChar char="•"/>
              <a:tabLst/>
              <a:defRPr/>
            </a:pPr>
            <a:r>
              <a:rPr kumimoji="0" lang="en-US" sz="1200" b="0" i="0" u="none" strike="noStrike" kern="1200" cap="none" spc="0" normalizeH="0" baseline="0" noProof="0" dirty="0">
                <a:ln>
                  <a:noFill/>
                </a:ln>
                <a:solidFill>
                  <a:srgbClr val="021836"/>
                </a:solidFill>
                <a:effectLst/>
                <a:uLnTx/>
                <a:uFillTx/>
                <a:latin typeface="Aptos" panose="02110004020202020204"/>
                <a:ea typeface="+mn-ea"/>
                <a:cs typeface="+mn-cs"/>
              </a:rPr>
              <a:t> </a:t>
            </a:r>
          </a:p>
          <a:p>
            <a:pPr marL="228600" marR="0" lvl="0" indent="-228600" algn="l" defTabSz="914400" rtl="0" eaLnBrk="1" fontAlgn="auto" latinLnBrk="0" hangingPunct="1">
              <a:lnSpc>
                <a:spcPct val="90000"/>
              </a:lnSpc>
              <a:spcBef>
                <a:spcPts val="1000"/>
              </a:spcBef>
              <a:spcAft>
                <a:spcPts val="0"/>
              </a:spcAft>
              <a:buClr>
                <a:prstClr val="white">
                  <a:lumMod val="50000"/>
                </a:prstClr>
              </a:buClr>
              <a:buSzTx/>
              <a:buFont typeface="Arial" panose="020B0604020202020204" pitchFamily="34" charset="0"/>
              <a:buChar char="•"/>
              <a:tabLst/>
              <a:defRPr/>
            </a:pPr>
            <a:r>
              <a:rPr kumimoji="0" lang="en-US" sz="1200" b="1" i="0" u="none" strike="noStrike" kern="1200" cap="none" spc="0" normalizeH="0" baseline="0" noProof="0" dirty="0">
                <a:ln>
                  <a:noFill/>
                </a:ln>
                <a:solidFill>
                  <a:srgbClr val="021836"/>
                </a:solidFill>
                <a:effectLst/>
                <a:uLnTx/>
                <a:uFillTx/>
                <a:latin typeface="Aptos" panose="02110004020202020204"/>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200" b="1" i="0" u="none" strike="noStrike" kern="1200" cap="none" spc="0" normalizeH="0" baseline="0" noProof="0" dirty="0">
                <a:ln>
                  <a:noFill/>
                </a:ln>
                <a:solidFill>
                  <a:srgbClr val="021836"/>
                </a:solidFill>
                <a:effectLst/>
                <a:uLnTx/>
                <a:uFillTx/>
                <a:latin typeface="Aptos" panose="02110004020202020204"/>
                <a:ea typeface="+mn-ea"/>
                <a:cs typeface="+mn-cs"/>
              </a:rPr>
              <a:t>Opportunity</a:t>
            </a:r>
            <a:endPar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endParaRPr>
          </a:p>
          <a:p>
            <a:pPr marL="228600" marR="0" lvl="0" indent="-228600" algn="l" defTabSz="914400" rtl="0" eaLnBrk="1" fontAlgn="auto" latinLnBrk="0" hangingPunct="1">
              <a:lnSpc>
                <a:spcPct val="90000"/>
              </a:lnSpc>
              <a:spcBef>
                <a:spcPts val="1000"/>
              </a:spcBef>
              <a:spcAft>
                <a:spcPts val="0"/>
              </a:spcAft>
              <a:buClr>
                <a:prstClr val="white">
                  <a:lumMod val="50000"/>
                </a:prstClr>
              </a:buClr>
              <a:buSzTx/>
              <a:buFont typeface="Arial" panose="020B0604020202020204" pitchFamily="34" charset="0"/>
              <a:buChar char="•"/>
              <a:tabLst/>
              <a:defRPr/>
            </a:pPr>
            <a:r>
              <a:rPr kumimoji="0" lang="en-US" sz="1200" b="0" i="0" u="none" strike="noStrike" kern="1200" cap="none" spc="0" normalizeH="0" baseline="0" noProof="0" dirty="0">
                <a:ln>
                  <a:noFill/>
                </a:ln>
                <a:solidFill>
                  <a:srgbClr val="021836"/>
                </a:solidFill>
                <a:effectLst/>
                <a:uLnTx/>
                <a:uFillTx/>
                <a:latin typeface="Aptos" panose="02110004020202020204"/>
                <a:ea typeface="+mn-ea"/>
                <a:cs typeface="+mn-cs"/>
              </a:rPr>
              <a:t> </a:t>
            </a:r>
          </a:p>
          <a:p>
            <a:pPr marL="228600" marR="0" lvl="0" indent="-228600" algn="l" defTabSz="914400" rtl="0" eaLnBrk="1" fontAlgn="auto" latinLnBrk="0" hangingPunct="1">
              <a:lnSpc>
                <a:spcPct val="90000"/>
              </a:lnSpc>
              <a:spcBef>
                <a:spcPts val="1000"/>
              </a:spcBef>
              <a:spcAft>
                <a:spcPts val="0"/>
              </a:spcAft>
              <a:buClr>
                <a:prstClr val="white">
                  <a:lumMod val="50000"/>
                </a:prstClr>
              </a:buClr>
              <a:buSzTx/>
              <a:buFont typeface="Arial" panose="020B0604020202020204" pitchFamily="34" charset="0"/>
              <a:buChar char="•"/>
              <a:tabLst/>
              <a:defRPr/>
            </a:pPr>
            <a:r>
              <a:rPr kumimoji="0" lang="en-US" sz="1200" b="0" i="0" u="none" strike="noStrike" kern="1200" cap="none" spc="0" normalizeH="0" baseline="0" noProof="0" dirty="0">
                <a:ln>
                  <a:noFill/>
                </a:ln>
                <a:solidFill>
                  <a:srgbClr val="021836"/>
                </a:solidFill>
                <a:effectLst/>
                <a:uLnTx/>
                <a:uFillTx/>
                <a:latin typeface="Aptos" panose="02110004020202020204"/>
                <a:ea typeface="+mn-ea"/>
                <a:cs typeface="+mn-cs"/>
              </a:rPr>
              <a:t> </a:t>
            </a:r>
          </a:p>
          <a:p>
            <a:pPr marL="228600" marR="0" lvl="0" indent="-228600" algn="l" defTabSz="914400" rtl="0" eaLnBrk="1" fontAlgn="auto" latinLnBrk="0" hangingPunct="1">
              <a:lnSpc>
                <a:spcPct val="90000"/>
              </a:lnSpc>
              <a:spcBef>
                <a:spcPts val="1000"/>
              </a:spcBef>
              <a:spcAft>
                <a:spcPts val="0"/>
              </a:spcAft>
              <a:buClr>
                <a:prstClr val="white">
                  <a:lumMod val="50000"/>
                </a:prstClr>
              </a:buClr>
              <a:buSzTx/>
              <a:buFont typeface="Arial" panose="020B0604020202020204" pitchFamily="34" charset="0"/>
              <a:buChar char="•"/>
              <a:tabLst/>
              <a:defRPr/>
            </a:pPr>
            <a:r>
              <a:rPr kumimoji="0" lang="en-US" sz="1200" b="0" i="0" u="none" strike="noStrike" kern="1200" cap="none" spc="0" normalizeH="0" baseline="0" noProof="0" dirty="0">
                <a:ln>
                  <a:noFill/>
                </a:ln>
                <a:solidFill>
                  <a:srgbClr val="021836"/>
                </a:solidFill>
                <a:effectLst/>
                <a:uLnTx/>
                <a:uFillTx/>
                <a:latin typeface="Aptos" panose="02110004020202020204"/>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200" b="1" i="0" u="none" strike="noStrike" kern="1200" cap="none" spc="0" normalizeH="0" baseline="0" noProof="0" dirty="0">
              <a:ln>
                <a:noFill/>
              </a:ln>
              <a:solidFill>
                <a:srgbClr val="021836"/>
              </a:solidFill>
              <a:effectLst/>
              <a:uLnTx/>
              <a:uFillTx/>
              <a:latin typeface="Aptos" panose="02110004020202020204"/>
              <a:ea typeface="+mn-ea"/>
              <a:cs typeface="+mn-cs"/>
            </a:endParaRPr>
          </a:p>
        </p:txBody>
      </p:sp>
      <p:cxnSp>
        <p:nvCxnSpPr>
          <p:cNvPr id="5" name="Straight Connector 4">
            <a:extLst>
              <a:ext uri="{FF2B5EF4-FFF2-40B4-BE49-F238E27FC236}">
                <a16:creationId xmlns:a16="http://schemas.microsoft.com/office/drawing/2014/main" id="{C0F1186C-A8C0-3F69-453F-20D398FAD3C2}"/>
              </a:ext>
            </a:extLst>
          </p:cNvPr>
          <p:cNvCxnSpPr>
            <a:cxnSpLocks/>
          </p:cNvCxnSpPr>
          <p:nvPr/>
        </p:nvCxnSpPr>
        <p:spPr>
          <a:xfrm>
            <a:off x="171450" y="5330824"/>
            <a:ext cx="8801100" cy="0"/>
          </a:xfrm>
          <a:prstGeom prst="line">
            <a:avLst/>
          </a:prstGeom>
          <a:ln w="9525">
            <a:solidFill>
              <a:srgbClr val="0396A6"/>
            </a:solidFill>
          </a:ln>
        </p:spPr>
        <p:style>
          <a:lnRef idx="2">
            <a:schemeClr val="accent1"/>
          </a:lnRef>
          <a:fillRef idx="0">
            <a:schemeClr val="accent1"/>
          </a:fillRef>
          <a:effectRef idx="1">
            <a:schemeClr val="accent1"/>
          </a:effectRef>
          <a:fontRef idx="minor">
            <a:schemeClr val="tx1"/>
          </a:fontRef>
        </p:style>
      </p:cxnSp>
      <p:grpSp>
        <p:nvGrpSpPr>
          <p:cNvPr id="6" name="Group 5">
            <a:extLst>
              <a:ext uri="{FF2B5EF4-FFF2-40B4-BE49-F238E27FC236}">
                <a16:creationId xmlns:a16="http://schemas.microsoft.com/office/drawing/2014/main" id="{3EA2BA2A-4D08-12EE-F790-20DA369C0979}"/>
              </a:ext>
            </a:extLst>
          </p:cNvPr>
          <p:cNvGrpSpPr/>
          <p:nvPr/>
        </p:nvGrpSpPr>
        <p:grpSpPr>
          <a:xfrm>
            <a:off x="542925" y="5422901"/>
            <a:ext cx="7886700" cy="908049"/>
            <a:chOff x="628650" y="4778376"/>
            <a:chExt cx="7886700" cy="908049"/>
          </a:xfrm>
        </p:grpSpPr>
        <p:sp>
          <p:nvSpPr>
            <p:cNvPr id="7" name="Content Placeholder 2">
              <a:extLst>
                <a:ext uri="{FF2B5EF4-FFF2-40B4-BE49-F238E27FC236}">
                  <a16:creationId xmlns:a16="http://schemas.microsoft.com/office/drawing/2014/main" id="{B8928E50-89E4-51A7-1289-D52D23FB997B}"/>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Opportunity Signals</a:t>
              </a:r>
            </a:p>
          </p:txBody>
        </p:sp>
        <p:sp>
          <p:nvSpPr>
            <p:cNvPr id="8" name="Content Placeholder 2">
              <a:extLst>
                <a:ext uri="{FF2B5EF4-FFF2-40B4-BE49-F238E27FC236}">
                  <a16:creationId xmlns:a16="http://schemas.microsoft.com/office/drawing/2014/main" id="{B1C42772-7D24-BBA6-165B-ECE9A1F226E5}"/>
                </a:ext>
              </a:extLst>
            </p:cNvPr>
            <p:cNvSpPr txBox="1">
              <a:spLocks/>
            </p:cNvSpPr>
            <p:nvPr/>
          </p:nvSpPr>
          <p:spPr>
            <a:xfrm>
              <a:off x="628650" y="5119688"/>
              <a:ext cx="7724775" cy="566737"/>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Aft>
                  <a:spcPts val="600"/>
                </a:spcAft>
                <a:buClr>
                  <a:srgbClr val="021836"/>
                </a:buClr>
                <a:buNone/>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Unclear success metrics • Manual reporting • Anecdotal value • Hidden rework • Quality issues •  </a:t>
              </a:r>
              <a:r>
                <a:rPr lang="en-US" sz="1200" i="1" dirty="0">
                  <a:solidFill>
                    <a:prstClr val="white">
                      <a:lumMod val="50000"/>
                    </a:prstClr>
                  </a:solidFill>
                </a:rPr>
                <a:t>Review burden • Adoption </a:t>
              </a: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uncertainty • Missing baseline • No scale criteria</a:t>
              </a:r>
            </a:p>
          </p:txBody>
        </p:sp>
      </p:grpSp>
      <p:sp>
        <p:nvSpPr>
          <p:cNvPr id="9" name="Content Placeholder 2">
            <a:extLst>
              <a:ext uri="{FF2B5EF4-FFF2-40B4-BE49-F238E27FC236}">
                <a16:creationId xmlns:a16="http://schemas.microsoft.com/office/drawing/2014/main" id="{A6500BD5-6659-E442-654D-3C77A5765555}"/>
              </a:ext>
            </a:extLst>
          </p:cNvPr>
          <p:cNvSpPr txBox="1">
            <a:spLocks/>
          </p:cNvSpPr>
          <p:nvPr/>
        </p:nvSpPr>
        <p:spPr>
          <a:xfrm>
            <a:off x="273534" y="845630"/>
            <a:ext cx="7886700" cy="299244"/>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Understanding how success is evaluated</a:t>
            </a:r>
          </a:p>
        </p:txBody>
      </p:sp>
      <p:sp>
        <p:nvSpPr>
          <p:cNvPr id="11" name="TextBox 10">
            <a:extLst>
              <a:ext uri="{FF2B5EF4-FFF2-40B4-BE49-F238E27FC236}">
                <a16:creationId xmlns:a16="http://schemas.microsoft.com/office/drawing/2014/main" id="{9F361A96-C051-E6D9-1AB6-165D7C8B234B}"/>
              </a:ext>
            </a:extLst>
          </p:cNvPr>
          <p:cNvSpPr txBox="1"/>
          <p:nvPr/>
        </p:nvSpPr>
        <p:spPr>
          <a:xfrm>
            <a:off x="5680038" y="64309"/>
            <a:ext cx="3357424" cy="276999"/>
          </a:xfrm>
          <a:prstGeom prst="rect">
            <a:avLst/>
          </a:prstGeom>
          <a:noFill/>
        </p:spPr>
        <p:txBody>
          <a:bodyPr wrap="square" rtlCol="0">
            <a:spAutoFit/>
          </a:bodyPr>
          <a:lstStyle/>
          <a:p>
            <a:r>
              <a:rPr lang="en-US" sz="1200" dirty="0">
                <a:solidFill>
                  <a:schemeClr val="bg1">
                    <a:lumMod val="50000"/>
                  </a:schemeClr>
                </a:solidFill>
              </a:rPr>
              <a:t>AI Operational Readiness • Discovery Workbook</a:t>
            </a:r>
          </a:p>
        </p:txBody>
      </p:sp>
    </p:spTree>
    <p:extLst>
      <p:ext uri="{BB962C8B-B14F-4D97-AF65-F5344CB8AC3E}">
        <p14:creationId xmlns:p14="http://schemas.microsoft.com/office/powerpoint/2010/main" val="37544137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BAF9AE-E9A3-5A9C-0E1B-806F93D4B0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4701A5-DFAA-B949-14E0-C80942D24871}"/>
              </a:ext>
            </a:extLst>
          </p:cNvPr>
          <p:cNvSpPr>
            <a:spLocks noGrp="1"/>
          </p:cNvSpPr>
          <p:nvPr>
            <p:ph type="title"/>
          </p:nvPr>
        </p:nvSpPr>
        <p:spPr>
          <a:xfrm>
            <a:off x="273534" y="-86630"/>
            <a:ext cx="7886700" cy="1325563"/>
          </a:xfrm>
        </p:spPr>
        <p:txBody>
          <a:bodyPr/>
          <a:lstStyle/>
          <a:p>
            <a:r>
              <a:rPr lang="en-US" dirty="0"/>
              <a:t>Adoption</a:t>
            </a:r>
          </a:p>
        </p:txBody>
      </p:sp>
      <p:sp>
        <p:nvSpPr>
          <p:cNvPr id="3" name="Content Placeholder 2">
            <a:extLst>
              <a:ext uri="{FF2B5EF4-FFF2-40B4-BE49-F238E27FC236}">
                <a16:creationId xmlns:a16="http://schemas.microsoft.com/office/drawing/2014/main" id="{8B99DC6E-00B0-F854-5663-85EF68BAB772}"/>
              </a:ext>
            </a:extLst>
          </p:cNvPr>
          <p:cNvSpPr>
            <a:spLocks noGrp="1"/>
          </p:cNvSpPr>
          <p:nvPr>
            <p:ph idx="1"/>
          </p:nvPr>
        </p:nvSpPr>
        <p:spPr>
          <a:xfrm>
            <a:off x="628650" y="1216025"/>
            <a:ext cx="3857625" cy="4518025"/>
          </a:xfrm>
        </p:spPr>
        <p:txBody>
          <a:bodyPr>
            <a:normAutofit/>
          </a:bodyPr>
          <a:lstStyle/>
          <a:p>
            <a:pPr marL="0" indent="0">
              <a:buNone/>
            </a:pPr>
            <a:r>
              <a:rPr lang="en-US" sz="1400" b="1" dirty="0">
                <a:solidFill>
                  <a:srgbClr val="021836"/>
                </a:solidFill>
              </a:rPr>
              <a:t>Key Questions</a:t>
            </a:r>
          </a:p>
          <a:p>
            <a:pPr>
              <a:buClr>
                <a:schemeClr val="bg1">
                  <a:lumMod val="50000"/>
                </a:schemeClr>
              </a:buClr>
            </a:pPr>
            <a:r>
              <a:rPr lang="en-US" sz="1200" dirty="0"/>
              <a:t>Where are employees already experimenting with AI?</a:t>
            </a:r>
          </a:p>
          <a:p>
            <a:pPr>
              <a:buClr>
                <a:schemeClr val="bg1">
                  <a:lumMod val="50000"/>
                </a:schemeClr>
              </a:buClr>
            </a:pPr>
            <a:r>
              <a:rPr lang="en-US" sz="1200" dirty="0"/>
              <a:t>What teams are most receptive to change?</a:t>
            </a:r>
          </a:p>
          <a:p>
            <a:pPr>
              <a:buClr>
                <a:schemeClr val="bg1">
                  <a:lumMod val="50000"/>
                </a:schemeClr>
              </a:buClr>
            </a:pPr>
            <a:r>
              <a:rPr lang="en-US" sz="1200" dirty="0"/>
              <a:t>What concerns or resistance exist?</a:t>
            </a:r>
          </a:p>
          <a:p>
            <a:pPr>
              <a:buClr>
                <a:schemeClr val="bg1">
                  <a:lumMod val="50000"/>
                </a:schemeClr>
              </a:buClr>
            </a:pPr>
            <a:r>
              <a:rPr lang="en-US" sz="1200" dirty="0"/>
              <a:t>Where do people lack confidence using AI?</a:t>
            </a:r>
          </a:p>
          <a:p>
            <a:pPr>
              <a:buClr>
                <a:schemeClr val="bg1">
                  <a:lumMod val="50000"/>
                </a:schemeClr>
              </a:buClr>
            </a:pPr>
            <a:r>
              <a:rPr lang="en-US" sz="1200" dirty="0"/>
              <a:t>How has AI changed the work rather than simply automated it?</a:t>
            </a:r>
          </a:p>
          <a:p>
            <a:pPr>
              <a:buClr>
                <a:schemeClr val="bg1">
                  <a:lumMod val="50000"/>
                </a:schemeClr>
              </a:buClr>
            </a:pPr>
            <a:r>
              <a:rPr lang="en-US" sz="1200" dirty="0"/>
              <a:t>Has AI reduced effort or shifted effort to reviewers?</a:t>
            </a:r>
          </a:p>
          <a:p>
            <a:pPr>
              <a:buClr>
                <a:schemeClr val="bg1">
                  <a:lumMod val="50000"/>
                </a:schemeClr>
              </a:buClr>
            </a:pPr>
            <a:r>
              <a:rPr lang="en-US" sz="1200" dirty="0"/>
              <a:t>What new skills or behaviors are required?</a:t>
            </a:r>
          </a:p>
          <a:p>
            <a:pPr>
              <a:buClr>
                <a:schemeClr val="bg1">
                  <a:lumMod val="50000"/>
                </a:schemeClr>
              </a:buClr>
            </a:pPr>
            <a:r>
              <a:rPr lang="en-US" sz="1200" dirty="0"/>
              <a:t>How are managers supporting adoption?</a:t>
            </a:r>
          </a:p>
          <a:p>
            <a:pPr>
              <a:buClr>
                <a:schemeClr val="bg1">
                  <a:lumMod val="50000"/>
                </a:schemeClr>
              </a:buClr>
            </a:pPr>
            <a:r>
              <a:rPr lang="en-US" sz="1200" dirty="0"/>
              <a:t>How are successes and lessons being shared?</a:t>
            </a:r>
          </a:p>
          <a:p>
            <a:pPr>
              <a:buClr>
                <a:schemeClr val="bg1">
                  <a:lumMod val="50000"/>
                </a:schemeClr>
              </a:buClr>
            </a:pPr>
            <a:r>
              <a:rPr lang="en-US" sz="1200" dirty="0"/>
              <a:t>What do users do when they don’t trust the AI output?</a:t>
            </a:r>
          </a:p>
        </p:txBody>
      </p:sp>
      <p:sp>
        <p:nvSpPr>
          <p:cNvPr id="4" name="Content Placeholder 2">
            <a:extLst>
              <a:ext uri="{FF2B5EF4-FFF2-40B4-BE49-F238E27FC236}">
                <a16:creationId xmlns:a16="http://schemas.microsoft.com/office/drawing/2014/main" id="{8B0CC7F3-A4F2-C519-52A6-E3AFEB7F45D2}"/>
              </a:ext>
            </a:extLst>
          </p:cNvPr>
          <p:cNvSpPr txBox="1">
            <a:spLocks/>
          </p:cNvSpPr>
          <p:nvPr/>
        </p:nvSpPr>
        <p:spPr>
          <a:xfrm>
            <a:off x="4819650" y="1216024"/>
            <a:ext cx="3857625" cy="451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Observations</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Barrier</a:t>
            </a:r>
          </a:p>
          <a:p>
            <a:pPr marL="228600" marR="0" lvl="0" indent="-228600" algn="l" defTabSz="914400" rtl="0" eaLnBrk="1" fontAlgn="auto" latinLnBrk="0" hangingPunct="1">
              <a:lnSpc>
                <a:spcPct val="90000"/>
              </a:lnSpc>
              <a:spcBef>
                <a:spcPts val="1000"/>
              </a:spcBef>
              <a:spcAft>
                <a:spcPts val="0"/>
              </a:spcAft>
              <a:buClr>
                <a:prstClr val="white">
                  <a:lumMod val="50000"/>
                </a:prstClr>
              </a:buClr>
              <a:buSzTx/>
              <a:buFont typeface="Arial" panose="020B0604020202020204" pitchFamily="34" charset="0"/>
              <a:buChar char="•"/>
              <a:tabLst/>
              <a:defRPr/>
            </a:pPr>
            <a:r>
              <a:rPr kumimoji="0" lang="en-US" sz="1200" b="0" i="0" u="none" strike="noStrike" kern="1200" cap="none" spc="0" normalizeH="0" baseline="0" noProof="0" dirty="0">
                <a:ln>
                  <a:noFill/>
                </a:ln>
                <a:solidFill>
                  <a:srgbClr val="021836"/>
                </a:solidFill>
                <a:effectLst/>
                <a:uLnTx/>
                <a:uFillTx/>
                <a:latin typeface="Aptos" panose="02110004020202020204"/>
                <a:ea typeface="+mn-ea"/>
                <a:cs typeface="+mn-cs"/>
              </a:rPr>
              <a:t> </a:t>
            </a:r>
          </a:p>
          <a:p>
            <a:pPr marL="228600" marR="0" lvl="0" indent="-228600" algn="l" defTabSz="914400" rtl="0" eaLnBrk="1" fontAlgn="auto" latinLnBrk="0" hangingPunct="1">
              <a:lnSpc>
                <a:spcPct val="90000"/>
              </a:lnSpc>
              <a:spcBef>
                <a:spcPts val="1000"/>
              </a:spcBef>
              <a:spcAft>
                <a:spcPts val="0"/>
              </a:spcAft>
              <a:buClr>
                <a:prstClr val="white">
                  <a:lumMod val="50000"/>
                </a:prstClr>
              </a:buClr>
              <a:buSzTx/>
              <a:buFont typeface="Arial" panose="020B0604020202020204" pitchFamily="34" charset="0"/>
              <a:buChar char="•"/>
              <a:tabLst/>
              <a:defRPr/>
            </a:pPr>
            <a:r>
              <a:rPr kumimoji="0" lang="en-US" sz="1200" b="0" i="0" u="none" strike="noStrike" kern="1200" cap="none" spc="0" normalizeH="0" baseline="0" noProof="0" dirty="0">
                <a:ln>
                  <a:noFill/>
                </a:ln>
                <a:solidFill>
                  <a:srgbClr val="021836"/>
                </a:solidFill>
                <a:effectLst/>
                <a:uLnTx/>
                <a:uFillTx/>
                <a:latin typeface="Aptos" panose="02110004020202020204"/>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200" b="1" i="0" u="none" strike="noStrike" kern="1200" cap="none" spc="0" normalizeH="0" baseline="0" noProof="0" dirty="0">
                <a:ln>
                  <a:noFill/>
                </a:ln>
                <a:solidFill>
                  <a:srgbClr val="021836"/>
                </a:solidFill>
                <a:effectLst/>
                <a:uLnTx/>
                <a:uFillTx/>
                <a:latin typeface="Aptos" panose="02110004020202020204"/>
                <a:ea typeface="+mn-ea"/>
                <a:cs typeface="+mn-cs"/>
              </a:rPr>
              <a:t>Pattern</a:t>
            </a:r>
            <a:endPar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endParaRPr>
          </a:p>
          <a:p>
            <a:pPr marL="228600" marR="0" lvl="0" indent="-228600" algn="l" defTabSz="914400" rtl="0" eaLnBrk="1" fontAlgn="auto" latinLnBrk="0" hangingPunct="1">
              <a:lnSpc>
                <a:spcPct val="90000"/>
              </a:lnSpc>
              <a:spcBef>
                <a:spcPts val="1000"/>
              </a:spcBef>
              <a:spcAft>
                <a:spcPts val="0"/>
              </a:spcAft>
              <a:buClr>
                <a:prstClr val="white">
                  <a:lumMod val="50000"/>
                </a:prstClr>
              </a:buClr>
              <a:buSzTx/>
              <a:buFont typeface="Arial" panose="020B0604020202020204" pitchFamily="34" charset="0"/>
              <a:buChar char="•"/>
              <a:tabLst/>
              <a:defRPr/>
            </a:pPr>
            <a:r>
              <a:rPr kumimoji="0" lang="en-US" sz="1200" b="0" i="0" u="none" strike="noStrike" kern="1200" cap="none" spc="0" normalizeH="0" baseline="0" noProof="0" dirty="0">
                <a:ln>
                  <a:noFill/>
                </a:ln>
                <a:solidFill>
                  <a:srgbClr val="021836"/>
                </a:solidFill>
                <a:effectLst/>
                <a:uLnTx/>
                <a:uFillTx/>
                <a:latin typeface="Aptos" panose="02110004020202020204"/>
                <a:ea typeface="+mn-ea"/>
                <a:cs typeface="+mn-cs"/>
              </a:rPr>
              <a:t> </a:t>
            </a:r>
          </a:p>
          <a:p>
            <a:pPr marL="228600" marR="0" lvl="0" indent="-228600" algn="l" defTabSz="914400" rtl="0" eaLnBrk="1" fontAlgn="auto" latinLnBrk="0" hangingPunct="1">
              <a:lnSpc>
                <a:spcPct val="90000"/>
              </a:lnSpc>
              <a:spcBef>
                <a:spcPts val="1000"/>
              </a:spcBef>
              <a:spcAft>
                <a:spcPts val="0"/>
              </a:spcAft>
              <a:buClr>
                <a:prstClr val="white">
                  <a:lumMod val="50000"/>
                </a:prstClr>
              </a:buClr>
              <a:buSzTx/>
              <a:buFont typeface="Arial" panose="020B0604020202020204" pitchFamily="34" charset="0"/>
              <a:buChar char="•"/>
              <a:tabLst/>
              <a:defRPr/>
            </a:pPr>
            <a:r>
              <a:rPr kumimoji="0" lang="en-US" sz="1200" b="0" i="0" u="none" strike="noStrike" kern="1200" cap="none" spc="0" normalizeH="0" baseline="0" noProof="0" dirty="0">
                <a:ln>
                  <a:noFill/>
                </a:ln>
                <a:solidFill>
                  <a:srgbClr val="021836"/>
                </a:solidFill>
                <a:effectLst/>
                <a:uLnTx/>
                <a:uFillTx/>
                <a:latin typeface="Aptos" panose="02110004020202020204"/>
                <a:ea typeface="+mn-ea"/>
                <a:cs typeface="+mn-cs"/>
              </a:rPr>
              <a:t> </a:t>
            </a:r>
          </a:p>
          <a:p>
            <a:pPr marL="228600" marR="0" lvl="0" indent="-228600" algn="l" defTabSz="914400" rtl="0" eaLnBrk="1" fontAlgn="auto" latinLnBrk="0" hangingPunct="1">
              <a:lnSpc>
                <a:spcPct val="90000"/>
              </a:lnSpc>
              <a:spcBef>
                <a:spcPts val="1000"/>
              </a:spcBef>
              <a:spcAft>
                <a:spcPts val="0"/>
              </a:spcAft>
              <a:buClr>
                <a:prstClr val="white">
                  <a:lumMod val="50000"/>
                </a:prstClr>
              </a:buClr>
              <a:buSzTx/>
              <a:buFont typeface="Arial" panose="020B0604020202020204" pitchFamily="34" charset="0"/>
              <a:buChar char="•"/>
              <a:tabLst/>
              <a:defRPr/>
            </a:pPr>
            <a:r>
              <a:rPr kumimoji="0" lang="en-US" sz="1200" b="1" i="0" u="none" strike="noStrike" kern="1200" cap="none" spc="0" normalizeH="0" baseline="0" noProof="0" dirty="0">
                <a:ln>
                  <a:noFill/>
                </a:ln>
                <a:solidFill>
                  <a:srgbClr val="021836"/>
                </a:solidFill>
                <a:effectLst/>
                <a:uLnTx/>
                <a:uFillTx/>
                <a:latin typeface="Aptos" panose="02110004020202020204"/>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200" b="1" i="0" u="none" strike="noStrike" kern="1200" cap="none" spc="0" normalizeH="0" baseline="0" noProof="0" dirty="0">
                <a:ln>
                  <a:noFill/>
                </a:ln>
                <a:solidFill>
                  <a:srgbClr val="021836"/>
                </a:solidFill>
                <a:effectLst/>
                <a:uLnTx/>
                <a:uFillTx/>
                <a:latin typeface="Aptos" panose="02110004020202020204"/>
                <a:ea typeface="+mn-ea"/>
                <a:cs typeface="+mn-cs"/>
              </a:rPr>
              <a:t>Opportunity</a:t>
            </a:r>
            <a:endPar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endParaRPr>
          </a:p>
          <a:p>
            <a:pPr marL="228600" marR="0" lvl="0" indent="-228600" algn="l" defTabSz="914400" rtl="0" eaLnBrk="1" fontAlgn="auto" latinLnBrk="0" hangingPunct="1">
              <a:lnSpc>
                <a:spcPct val="90000"/>
              </a:lnSpc>
              <a:spcBef>
                <a:spcPts val="1000"/>
              </a:spcBef>
              <a:spcAft>
                <a:spcPts val="0"/>
              </a:spcAft>
              <a:buClr>
                <a:prstClr val="white">
                  <a:lumMod val="50000"/>
                </a:prstClr>
              </a:buClr>
              <a:buSzTx/>
              <a:buFont typeface="Arial" panose="020B0604020202020204" pitchFamily="34" charset="0"/>
              <a:buChar char="•"/>
              <a:tabLst/>
              <a:defRPr/>
            </a:pPr>
            <a:r>
              <a:rPr kumimoji="0" lang="en-US" sz="1200" b="0" i="0" u="none" strike="noStrike" kern="1200" cap="none" spc="0" normalizeH="0" baseline="0" noProof="0" dirty="0">
                <a:ln>
                  <a:noFill/>
                </a:ln>
                <a:solidFill>
                  <a:srgbClr val="021836"/>
                </a:solidFill>
                <a:effectLst/>
                <a:uLnTx/>
                <a:uFillTx/>
                <a:latin typeface="Aptos" panose="02110004020202020204"/>
                <a:ea typeface="+mn-ea"/>
                <a:cs typeface="+mn-cs"/>
              </a:rPr>
              <a:t> </a:t>
            </a:r>
          </a:p>
          <a:p>
            <a:pPr marL="228600" marR="0" lvl="0" indent="-228600" algn="l" defTabSz="914400" rtl="0" eaLnBrk="1" fontAlgn="auto" latinLnBrk="0" hangingPunct="1">
              <a:lnSpc>
                <a:spcPct val="90000"/>
              </a:lnSpc>
              <a:spcBef>
                <a:spcPts val="1000"/>
              </a:spcBef>
              <a:spcAft>
                <a:spcPts val="0"/>
              </a:spcAft>
              <a:buClr>
                <a:prstClr val="white">
                  <a:lumMod val="50000"/>
                </a:prstClr>
              </a:buClr>
              <a:buSzTx/>
              <a:buFont typeface="Arial" panose="020B0604020202020204" pitchFamily="34" charset="0"/>
              <a:buChar char="•"/>
              <a:tabLst/>
              <a:defRPr/>
            </a:pPr>
            <a:r>
              <a:rPr kumimoji="0" lang="en-US" sz="1200" b="0" i="0" u="none" strike="noStrike" kern="1200" cap="none" spc="0" normalizeH="0" baseline="0" noProof="0" dirty="0">
                <a:ln>
                  <a:noFill/>
                </a:ln>
                <a:solidFill>
                  <a:srgbClr val="021836"/>
                </a:solidFill>
                <a:effectLst/>
                <a:uLnTx/>
                <a:uFillTx/>
                <a:latin typeface="Aptos" panose="02110004020202020204"/>
                <a:ea typeface="+mn-ea"/>
                <a:cs typeface="+mn-cs"/>
              </a:rPr>
              <a:t> </a:t>
            </a:r>
          </a:p>
          <a:p>
            <a:pPr marL="228600" marR="0" lvl="0" indent="-228600" algn="l" defTabSz="914400" rtl="0" eaLnBrk="1" fontAlgn="auto" latinLnBrk="0" hangingPunct="1">
              <a:lnSpc>
                <a:spcPct val="90000"/>
              </a:lnSpc>
              <a:spcBef>
                <a:spcPts val="1000"/>
              </a:spcBef>
              <a:spcAft>
                <a:spcPts val="0"/>
              </a:spcAft>
              <a:buClr>
                <a:prstClr val="white">
                  <a:lumMod val="50000"/>
                </a:prstClr>
              </a:buClr>
              <a:buSzTx/>
              <a:buFont typeface="Arial" panose="020B0604020202020204" pitchFamily="34" charset="0"/>
              <a:buChar char="•"/>
              <a:tabLst/>
              <a:defRPr/>
            </a:pPr>
            <a:r>
              <a:rPr kumimoji="0" lang="en-US" sz="1200" b="0" i="0" u="none" strike="noStrike" kern="1200" cap="none" spc="0" normalizeH="0" baseline="0" noProof="0" dirty="0">
                <a:ln>
                  <a:noFill/>
                </a:ln>
                <a:solidFill>
                  <a:srgbClr val="021836"/>
                </a:solidFill>
                <a:effectLst/>
                <a:uLnTx/>
                <a:uFillTx/>
                <a:latin typeface="Aptos" panose="02110004020202020204"/>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200" b="1" i="0" u="none" strike="noStrike" kern="1200" cap="none" spc="0" normalizeH="0" baseline="0" noProof="0" dirty="0">
              <a:ln>
                <a:noFill/>
              </a:ln>
              <a:solidFill>
                <a:srgbClr val="021836"/>
              </a:solidFill>
              <a:effectLst/>
              <a:uLnTx/>
              <a:uFillTx/>
              <a:latin typeface="Aptos" panose="02110004020202020204"/>
              <a:ea typeface="+mn-ea"/>
              <a:cs typeface="+mn-cs"/>
            </a:endParaRPr>
          </a:p>
        </p:txBody>
      </p:sp>
      <p:cxnSp>
        <p:nvCxnSpPr>
          <p:cNvPr id="5" name="Straight Connector 4">
            <a:extLst>
              <a:ext uri="{FF2B5EF4-FFF2-40B4-BE49-F238E27FC236}">
                <a16:creationId xmlns:a16="http://schemas.microsoft.com/office/drawing/2014/main" id="{F88FAA22-24C8-C45E-8A4A-94974FE8C8AA}"/>
              </a:ext>
            </a:extLst>
          </p:cNvPr>
          <p:cNvCxnSpPr>
            <a:cxnSpLocks/>
          </p:cNvCxnSpPr>
          <p:nvPr/>
        </p:nvCxnSpPr>
        <p:spPr>
          <a:xfrm>
            <a:off x="171450" y="5330824"/>
            <a:ext cx="8801100" cy="0"/>
          </a:xfrm>
          <a:prstGeom prst="line">
            <a:avLst/>
          </a:prstGeom>
          <a:ln w="9525">
            <a:solidFill>
              <a:srgbClr val="0396A6"/>
            </a:solidFill>
          </a:ln>
        </p:spPr>
        <p:style>
          <a:lnRef idx="2">
            <a:schemeClr val="accent1"/>
          </a:lnRef>
          <a:fillRef idx="0">
            <a:schemeClr val="accent1"/>
          </a:fillRef>
          <a:effectRef idx="1">
            <a:schemeClr val="accent1"/>
          </a:effectRef>
          <a:fontRef idx="minor">
            <a:schemeClr val="tx1"/>
          </a:fontRef>
        </p:style>
      </p:cxnSp>
      <p:grpSp>
        <p:nvGrpSpPr>
          <p:cNvPr id="6" name="Group 5">
            <a:extLst>
              <a:ext uri="{FF2B5EF4-FFF2-40B4-BE49-F238E27FC236}">
                <a16:creationId xmlns:a16="http://schemas.microsoft.com/office/drawing/2014/main" id="{2F616700-19DE-AC02-4056-01862EEE8270}"/>
              </a:ext>
            </a:extLst>
          </p:cNvPr>
          <p:cNvGrpSpPr/>
          <p:nvPr/>
        </p:nvGrpSpPr>
        <p:grpSpPr>
          <a:xfrm>
            <a:off x="542925" y="5422901"/>
            <a:ext cx="7886700" cy="908049"/>
            <a:chOff x="628650" y="4778376"/>
            <a:chExt cx="7886700" cy="908049"/>
          </a:xfrm>
        </p:grpSpPr>
        <p:sp>
          <p:nvSpPr>
            <p:cNvPr id="7" name="Content Placeholder 2">
              <a:extLst>
                <a:ext uri="{FF2B5EF4-FFF2-40B4-BE49-F238E27FC236}">
                  <a16:creationId xmlns:a16="http://schemas.microsoft.com/office/drawing/2014/main" id="{F17F53DA-759E-41C0-2F0F-9ABC9006EB52}"/>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Opportunity Signals</a:t>
              </a:r>
            </a:p>
          </p:txBody>
        </p:sp>
        <p:sp>
          <p:nvSpPr>
            <p:cNvPr id="8" name="Content Placeholder 2">
              <a:extLst>
                <a:ext uri="{FF2B5EF4-FFF2-40B4-BE49-F238E27FC236}">
                  <a16:creationId xmlns:a16="http://schemas.microsoft.com/office/drawing/2014/main" id="{7DDF0F82-221F-BA74-1102-E34A3A87E351}"/>
                </a:ext>
              </a:extLst>
            </p:cNvPr>
            <p:cNvSpPr txBox="1">
              <a:spLocks/>
            </p:cNvSpPr>
            <p:nvPr/>
          </p:nvSpPr>
          <p:spPr>
            <a:xfrm>
              <a:off x="628650" y="5119688"/>
              <a:ext cx="7724775" cy="566737"/>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Aft>
                  <a:spcPts val="600"/>
                </a:spcAft>
                <a:buClr>
                  <a:srgbClr val="021836"/>
                </a:buClr>
                <a:buNone/>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Shadow AI uses • Resistance • Low trust • Review burden • Training gaps • </a:t>
              </a:r>
              <a:r>
                <a:rPr lang="en-US" sz="1200" i="1" dirty="0">
                  <a:solidFill>
                    <a:prstClr val="white">
                      <a:lumMod val="50000"/>
                    </a:prstClr>
                  </a:solidFill>
                </a:rPr>
                <a:t>Uneven adoption • Key-person dependency</a:t>
              </a: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 • Informal workarounds • </a:t>
              </a:r>
              <a:r>
                <a:rPr lang="en-US" sz="1200" i="1" dirty="0">
                  <a:solidFill>
                    <a:prstClr val="white">
                      <a:lumMod val="50000"/>
                    </a:prstClr>
                  </a:solidFill>
                </a:rPr>
                <a:t>Knowledge silos • Localized Successes</a:t>
              </a:r>
              <a:endPar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endParaRPr>
            </a:p>
          </p:txBody>
        </p:sp>
      </p:grpSp>
      <p:sp>
        <p:nvSpPr>
          <p:cNvPr id="9" name="Content Placeholder 2">
            <a:extLst>
              <a:ext uri="{FF2B5EF4-FFF2-40B4-BE49-F238E27FC236}">
                <a16:creationId xmlns:a16="http://schemas.microsoft.com/office/drawing/2014/main" id="{8AECE42D-7028-00BC-1557-1EEEEE17DACF}"/>
              </a:ext>
            </a:extLst>
          </p:cNvPr>
          <p:cNvSpPr txBox="1">
            <a:spLocks/>
          </p:cNvSpPr>
          <p:nvPr/>
        </p:nvSpPr>
        <p:spPr>
          <a:xfrm>
            <a:off x="273534" y="845630"/>
            <a:ext cx="7886700" cy="299244"/>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Understanding how change becomes durable</a:t>
            </a:r>
          </a:p>
        </p:txBody>
      </p:sp>
      <p:sp>
        <p:nvSpPr>
          <p:cNvPr id="11" name="TextBox 10">
            <a:extLst>
              <a:ext uri="{FF2B5EF4-FFF2-40B4-BE49-F238E27FC236}">
                <a16:creationId xmlns:a16="http://schemas.microsoft.com/office/drawing/2014/main" id="{1BF23CC4-054A-0C4C-CE3D-6D3716377C8B}"/>
              </a:ext>
            </a:extLst>
          </p:cNvPr>
          <p:cNvSpPr txBox="1"/>
          <p:nvPr/>
        </p:nvSpPr>
        <p:spPr>
          <a:xfrm>
            <a:off x="5680038" y="64309"/>
            <a:ext cx="3357424" cy="276999"/>
          </a:xfrm>
          <a:prstGeom prst="rect">
            <a:avLst/>
          </a:prstGeom>
          <a:noFill/>
        </p:spPr>
        <p:txBody>
          <a:bodyPr wrap="square" rtlCol="0">
            <a:spAutoFit/>
          </a:bodyPr>
          <a:lstStyle/>
          <a:p>
            <a:r>
              <a:rPr lang="en-US" sz="1200" dirty="0">
                <a:solidFill>
                  <a:schemeClr val="bg1">
                    <a:lumMod val="50000"/>
                  </a:schemeClr>
                </a:solidFill>
              </a:rPr>
              <a:t>AI Operational Readiness • Discovery Workbook</a:t>
            </a:r>
          </a:p>
        </p:txBody>
      </p:sp>
    </p:spTree>
    <p:extLst>
      <p:ext uri="{BB962C8B-B14F-4D97-AF65-F5344CB8AC3E}">
        <p14:creationId xmlns:p14="http://schemas.microsoft.com/office/powerpoint/2010/main" val="42490101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BAB9A8-AFA8-62D4-5624-FCD8F8D657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4865AD-48C2-B039-A310-7B27241C42B3}"/>
              </a:ext>
            </a:extLst>
          </p:cNvPr>
          <p:cNvSpPr>
            <a:spLocks noGrp="1"/>
          </p:cNvSpPr>
          <p:nvPr>
            <p:ph type="title"/>
          </p:nvPr>
        </p:nvSpPr>
        <p:spPr>
          <a:xfrm>
            <a:off x="273534" y="-86630"/>
            <a:ext cx="7886700" cy="1325563"/>
          </a:xfrm>
        </p:spPr>
        <p:txBody>
          <a:bodyPr/>
          <a:lstStyle/>
          <a:p>
            <a:r>
              <a:rPr lang="en-US" dirty="0"/>
              <a:t>AI Continuity &amp; Resilience</a:t>
            </a:r>
          </a:p>
        </p:txBody>
      </p:sp>
      <p:sp>
        <p:nvSpPr>
          <p:cNvPr id="3" name="Content Placeholder 2">
            <a:extLst>
              <a:ext uri="{FF2B5EF4-FFF2-40B4-BE49-F238E27FC236}">
                <a16:creationId xmlns:a16="http://schemas.microsoft.com/office/drawing/2014/main" id="{D318E4FB-F795-AC2F-CBB3-624D03064AA6}"/>
              </a:ext>
            </a:extLst>
          </p:cNvPr>
          <p:cNvSpPr>
            <a:spLocks noGrp="1"/>
          </p:cNvSpPr>
          <p:nvPr>
            <p:ph idx="1"/>
          </p:nvPr>
        </p:nvSpPr>
        <p:spPr>
          <a:xfrm>
            <a:off x="542925" y="1357543"/>
            <a:ext cx="4029075" cy="4518025"/>
          </a:xfrm>
        </p:spPr>
        <p:txBody>
          <a:bodyPr>
            <a:normAutofit/>
          </a:bodyPr>
          <a:lstStyle/>
          <a:p>
            <a:pPr marL="0" indent="0">
              <a:buNone/>
            </a:pPr>
            <a:r>
              <a:rPr lang="en-US" sz="1400" b="1" dirty="0">
                <a:solidFill>
                  <a:srgbClr val="021836"/>
                </a:solidFill>
              </a:rPr>
              <a:t>Key Questions</a:t>
            </a:r>
          </a:p>
          <a:p>
            <a:pPr>
              <a:buClr>
                <a:schemeClr val="bg1">
                  <a:lumMod val="50000"/>
                </a:schemeClr>
              </a:buClr>
            </a:pPr>
            <a:r>
              <a:rPr lang="en-US" sz="1200" dirty="0"/>
              <a:t>What AI-enabled workflows depend on a specific model, vendor, API, or platform?</a:t>
            </a:r>
          </a:p>
          <a:p>
            <a:pPr>
              <a:buClr>
                <a:schemeClr val="bg1">
                  <a:lumMod val="50000"/>
                </a:schemeClr>
              </a:buClr>
            </a:pPr>
            <a:r>
              <a:rPr lang="en-US" sz="1200" dirty="0"/>
              <a:t>What happens if the primary model becomes unavailable for 24 hours?</a:t>
            </a:r>
          </a:p>
          <a:p>
            <a:pPr>
              <a:buClr>
                <a:schemeClr val="bg1">
                  <a:lumMod val="50000"/>
                </a:schemeClr>
              </a:buClr>
            </a:pPr>
            <a:r>
              <a:rPr lang="en-US" sz="1200" dirty="0"/>
              <a:t>What happens if it is unavailable for 7 days?</a:t>
            </a:r>
          </a:p>
          <a:p>
            <a:pPr>
              <a:buClr>
                <a:schemeClr val="bg1">
                  <a:lumMod val="50000"/>
                </a:schemeClr>
              </a:buClr>
            </a:pPr>
            <a:r>
              <a:rPr lang="en-US" sz="1200" dirty="0"/>
              <a:t>What happens if access is permanently restricted?</a:t>
            </a:r>
          </a:p>
          <a:p>
            <a:pPr>
              <a:buClr>
                <a:schemeClr val="bg1">
                  <a:lumMod val="50000"/>
                </a:schemeClr>
              </a:buClr>
            </a:pPr>
            <a:r>
              <a:rPr lang="en-US" sz="1200" dirty="0"/>
              <a:t>What business processes stop functioning?</a:t>
            </a:r>
          </a:p>
          <a:p>
            <a:pPr>
              <a:buClr>
                <a:schemeClr val="bg1">
                  <a:lumMod val="50000"/>
                </a:schemeClr>
              </a:buClr>
            </a:pPr>
            <a:r>
              <a:rPr lang="en-US" sz="1200" dirty="0"/>
              <a:t>What processes degrade gracefully?</a:t>
            </a:r>
          </a:p>
          <a:p>
            <a:pPr>
              <a:buClr>
                <a:schemeClr val="bg1">
                  <a:lumMod val="50000"/>
                </a:schemeClr>
              </a:buClr>
            </a:pPr>
            <a:r>
              <a:rPr lang="en-US" sz="1200" dirty="0"/>
              <a:t>What processes can continue manually?</a:t>
            </a:r>
          </a:p>
          <a:p>
            <a:pPr>
              <a:buClr>
                <a:schemeClr val="bg1">
                  <a:lumMod val="50000"/>
                </a:schemeClr>
              </a:buClr>
            </a:pPr>
            <a:r>
              <a:rPr lang="en-US" sz="1200" dirty="0"/>
              <a:t>What workflows still require retained human expertise?</a:t>
            </a:r>
          </a:p>
          <a:p>
            <a:pPr>
              <a:buClr>
                <a:schemeClr val="bg1">
                  <a:lumMod val="50000"/>
                </a:schemeClr>
              </a:buClr>
            </a:pPr>
            <a:r>
              <a:rPr lang="en-US" sz="1200" dirty="0"/>
              <a:t>Has the organization preserved enough knowledge and staffing capacity to recover?</a:t>
            </a:r>
          </a:p>
          <a:p>
            <a:pPr>
              <a:buClr>
                <a:schemeClr val="bg1">
                  <a:lumMod val="50000"/>
                </a:schemeClr>
              </a:buClr>
            </a:pPr>
            <a:r>
              <a:rPr lang="en-US" sz="1200" dirty="0"/>
              <a:t>Has the fallback or manual process been tested recently?</a:t>
            </a:r>
          </a:p>
          <a:p>
            <a:pPr>
              <a:buClr>
                <a:schemeClr val="bg1">
                  <a:lumMod val="50000"/>
                </a:schemeClr>
              </a:buClr>
            </a:pPr>
            <a:endParaRPr lang="en-US" sz="1200" dirty="0"/>
          </a:p>
        </p:txBody>
      </p:sp>
      <p:sp>
        <p:nvSpPr>
          <p:cNvPr id="4" name="Content Placeholder 2">
            <a:extLst>
              <a:ext uri="{FF2B5EF4-FFF2-40B4-BE49-F238E27FC236}">
                <a16:creationId xmlns:a16="http://schemas.microsoft.com/office/drawing/2014/main" id="{3B6AD003-12F1-9023-FD1C-F25E966A5F64}"/>
              </a:ext>
            </a:extLst>
          </p:cNvPr>
          <p:cNvSpPr txBox="1">
            <a:spLocks/>
          </p:cNvSpPr>
          <p:nvPr/>
        </p:nvSpPr>
        <p:spPr>
          <a:xfrm>
            <a:off x="4819650" y="1357542"/>
            <a:ext cx="3857625" cy="451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Observations</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Constraint</a:t>
            </a:r>
          </a:p>
          <a:p>
            <a:pPr marL="228600" marR="0" lvl="0" indent="-228600" algn="l" defTabSz="914400" rtl="0" eaLnBrk="1" fontAlgn="auto" latinLnBrk="0" hangingPunct="1">
              <a:lnSpc>
                <a:spcPct val="90000"/>
              </a:lnSpc>
              <a:spcBef>
                <a:spcPts val="1000"/>
              </a:spcBef>
              <a:spcAft>
                <a:spcPts val="0"/>
              </a:spcAft>
              <a:buClr>
                <a:prstClr val="white">
                  <a:lumMod val="50000"/>
                </a:prstClr>
              </a:buClr>
              <a:buSzTx/>
              <a:buFont typeface="Arial" panose="020B0604020202020204" pitchFamily="34" charset="0"/>
              <a:buChar char="•"/>
              <a:tabLst/>
              <a:defRPr/>
            </a:pPr>
            <a:r>
              <a:rPr kumimoji="0" lang="en-US" sz="1200" b="0" i="0" u="none" strike="noStrike" kern="1200" cap="none" spc="0" normalizeH="0" baseline="0" noProof="0" dirty="0">
                <a:ln>
                  <a:noFill/>
                </a:ln>
                <a:solidFill>
                  <a:srgbClr val="021836"/>
                </a:solidFill>
                <a:effectLst/>
                <a:uLnTx/>
                <a:uFillTx/>
                <a:latin typeface="Aptos" panose="02110004020202020204"/>
                <a:ea typeface="+mn-ea"/>
                <a:cs typeface="+mn-cs"/>
              </a:rPr>
              <a:t> </a:t>
            </a:r>
          </a:p>
          <a:p>
            <a:pPr marL="228600" marR="0" lvl="0" indent="-228600" algn="l" defTabSz="914400" rtl="0" eaLnBrk="1" fontAlgn="auto" latinLnBrk="0" hangingPunct="1">
              <a:lnSpc>
                <a:spcPct val="90000"/>
              </a:lnSpc>
              <a:spcBef>
                <a:spcPts val="1000"/>
              </a:spcBef>
              <a:spcAft>
                <a:spcPts val="0"/>
              </a:spcAft>
              <a:buClr>
                <a:prstClr val="white">
                  <a:lumMod val="50000"/>
                </a:prstClr>
              </a:buClr>
              <a:buSzTx/>
              <a:buFont typeface="Arial" panose="020B0604020202020204" pitchFamily="34" charset="0"/>
              <a:buChar char="•"/>
              <a:tabLst/>
              <a:defRPr/>
            </a:pPr>
            <a:r>
              <a:rPr lang="en-US" sz="1200" dirty="0">
                <a:solidFill>
                  <a:srgbClr val="021836"/>
                </a:solidFill>
                <a:latin typeface="Aptos" panose="02110004020202020204"/>
              </a:rPr>
              <a:t> </a:t>
            </a:r>
            <a:endParaRPr kumimoji="0" lang="en-US" sz="1200" b="0" i="0" u="none" strike="noStrike" kern="1200" cap="none" spc="0" normalizeH="0" baseline="0" noProof="0" dirty="0">
              <a:ln>
                <a:noFill/>
              </a:ln>
              <a:solidFill>
                <a:srgbClr val="021836"/>
              </a:solidFill>
              <a:effectLst/>
              <a:uLnTx/>
              <a:uFillTx/>
              <a:latin typeface="Aptos" panose="0211000402020202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200" b="1" i="0" u="none" strike="noStrike" kern="1200" cap="none" spc="0" normalizeH="0" baseline="0" noProof="0" dirty="0">
                <a:ln>
                  <a:noFill/>
                </a:ln>
                <a:solidFill>
                  <a:srgbClr val="021836"/>
                </a:solidFill>
                <a:effectLst/>
                <a:uLnTx/>
                <a:uFillTx/>
                <a:latin typeface="Aptos" panose="02110004020202020204"/>
                <a:ea typeface="+mn-ea"/>
                <a:cs typeface="+mn-cs"/>
              </a:rPr>
              <a:t>Pattern</a:t>
            </a:r>
            <a:endPar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endParaRPr>
          </a:p>
          <a:p>
            <a:pPr marL="228600" marR="0" lvl="0" indent="-228600" algn="l" defTabSz="914400" rtl="0" eaLnBrk="1" fontAlgn="auto" latinLnBrk="0" hangingPunct="1">
              <a:lnSpc>
                <a:spcPct val="90000"/>
              </a:lnSpc>
              <a:spcBef>
                <a:spcPts val="1000"/>
              </a:spcBef>
              <a:spcAft>
                <a:spcPts val="0"/>
              </a:spcAft>
              <a:buClr>
                <a:prstClr val="white">
                  <a:lumMod val="50000"/>
                </a:prstClr>
              </a:buClr>
              <a:buSzTx/>
              <a:buFont typeface="Arial" panose="020B0604020202020204" pitchFamily="34" charset="0"/>
              <a:buChar char="•"/>
              <a:tabLst/>
              <a:defRPr/>
            </a:pPr>
            <a:r>
              <a:rPr kumimoji="0" lang="en-US" sz="1200" b="0" i="0" u="none" strike="noStrike" kern="1200" cap="none" spc="0" normalizeH="0" baseline="0" noProof="0" dirty="0">
                <a:ln>
                  <a:noFill/>
                </a:ln>
                <a:solidFill>
                  <a:srgbClr val="021836"/>
                </a:solidFill>
                <a:effectLst/>
                <a:uLnTx/>
                <a:uFillTx/>
                <a:latin typeface="Aptos" panose="02110004020202020204"/>
                <a:ea typeface="+mn-ea"/>
                <a:cs typeface="+mn-cs"/>
              </a:rPr>
              <a:t> </a:t>
            </a:r>
          </a:p>
          <a:p>
            <a:pPr marL="228600" marR="0" lvl="0" indent="-228600" algn="l" defTabSz="914400" rtl="0" eaLnBrk="1" fontAlgn="auto" latinLnBrk="0" hangingPunct="1">
              <a:lnSpc>
                <a:spcPct val="90000"/>
              </a:lnSpc>
              <a:spcBef>
                <a:spcPts val="1000"/>
              </a:spcBef>
              <a:spcAft>
                <a:spcPts val="0"/>
              </a:spcAft>
              <a:buClr>
                <a:prstClr val="white">
                  <a:lumMod val="50000"/>
                </a:prstClr>
              </a:buClr>
              <a:buSzTx/>
              <a:buFont typeface="Arial" panose="020B0604020202020204" pitchFamily="34" charset="0"/>
              <a:buChar char="•"/>
              <a:tabLst/>
              <a:defRPr/>
            </a:pPr>
            <a:r>
              <a:rPr kumimoji="0" lang="en-US" sz="1200" b="0" i="0" u="none" strike="noStrike" kern="1200" cap="none" spc="0" normalizeH="0" baseline="0" noProof="0" dirty="0">
                <a:ln>
                  <a:noFill/>
                </a:ln>
                <a:solidFill>
                  <a:srgbClr val="021836"/>
                </a:solidFill>
                <a:effectLst/>
                <a:uLnTx/>
                <a:uFillTx/>
                <a:latin typeface="Aptos" panose="02110004020202020204"/>
                <a:ea typeface="+mn-ea"/>
                <a:cs typeface="+mn-cs"/>
              </a:rPr>
              <a:t> </a:t>
            </a:r>
          </a:p>
          <a:p>
            <a:pPr marL="228600" marR="0" lvl="0" indent="-228600" algn="l" defTabSz="914400" rtl="0" eaLnBrk="1" fontAlgn="auto" latinLnBrk="0" hangingPunct="1">
              <a:lnSpc>
                <a:spcPct val="90000"/>
              </a:lnSpc>
              <a:spcBef>
                <a:spcPts val="1000"/>
              </a:spcBef>
              <a:spcAft>
                <a:spcPts val="0"/>
              </a:spcAft>
              <a:buClr>
                <a:prstClr val="white">
                  <a:lumMod val="50000"/>
                </a:prstClr>
              </a:buClr>
              <a:buSzTx/>
              <a:buFont typeface="Arial" panose="020B0604020202020204" pitchFamily="34" charset="0"/>
              <a:buChar char="•"/>
              <a:tabLst/>
              <a:defRPr/>
            </a:pPr>
            <a:r>
              <a:rPr kumimoji="0" lang="en-US" sz="1200" b="1" i="0" u="none" strike="noStrike" kern="1200" cap="none" spc="0" normalizeH="0" baseline="0" noProof="0" dirty="0">
                <a:ln>
                  <a:noFill/>
                </a:ln>
                <a:solidFill>
                  <a:srgbClr val="021836"/>
                </a:solidFill>
                <a:effectLst/>
                <a:uLnTx/>
                <a:uFillTx/>
                <a:latin typeface="Aptos" panose="02110004020202020204"/>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200" b="1" i="0" u="none" strike="noStrike" kern="1200" cap="none" spc="0" normalizeH="0" baseline="0" noProof="0" dirty="0">
                <a:ln>
                  <a:noFill/>
                </a:ln>
                <a:solidFill>
                  <a:srgbClr val="021836"/>
                </a:solidFill>
                <a:effectLst/>
                <a:uLnTx/>
                <a:uFillTx/>
                <a:latin typeface="Aptos" panose="02110004020202020204"/>
                <a:ea typeface="+mn-ea"/>
                <a:cs typeface="+mn-cs"/>
              </a:rPr>
              <a:t>Opportunity</a:t>
            </a:r>
            <a:endPar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endParaRPr>
          </a:p>
          <a:p>
            <a:pPr marL="228600" marR="0" lvl="0" indent="-228600" algn="l" defTabSz="914400" rtl="0" eaLnBrk="1" fontAlgn="auto" latinLnBrk="0" hangingPunct="1">
              <a:lnSpc>
                <a:spcPct val="90000"/>
              </a:lnSpc>
              <a:spcBef>
                <a:spcPts val="1000"/>
              </a:spcBef>
              <a:spcAft>
                <a:spcPts val="0"/>
              </a:spcAft>
              <a:buClr>
                <a:prstClr val="white">
                  <a:lumMod val="50000"/>
                </a:prstClr>
              </a:buClr>
              <a:buSzTx/>
              <a:buFont typeface="Arial" panose="020B0604020202020204" pitchFamily="34" charset="0"/>
              <a:buChar char="•"/>
              <a:tabLst/>
              <a:defRPr/>
            </a:pPr>
            <a:r>
              <a:rPr kumimoji="0" lang="en-US" sz="1200" b="0" i="0" u="none" strike="noStrike" kern="1200" cap="none" spc="0" normalizeH="0" baseline="0" noProof="0" dirty="0">
                <a:ln>
                  <a:noFill/>
                </a:ln>
                <a:solidFill>
                  <a:srgbClr val="021836"/>
                </a:solidFill>
                <a:effectLst/>
                <a:uLnTx/>
                <a:uFillTx/>
                <a:latin typeface="Aptos" panose="02110004020202020204"/>
                <a:ea typeface="+mn-ea"/>
                <a:cs typeface="+mn-cs"/>
              </a:rPr>
              <a:t> </a:t>
            </a:r>
          </a:p>
          <a:p>
            <a:pPr marL="228600" marR="0" lvl="0" indent="-228600" algn="l" defTabSz="914400" rtl="0" eaLnBrk="1" fontAlgn="auto" latinLnBrk="0" hangingPunct="1">
              <a:lnSpc>
                <a:spcPct val="90000"/>
              </a:lnSpc>
              <a:spcBef>
                <a:spcPts val="1000"/>
              </a:spcBef>
              <a:spcAft>
                <a:spcPts val="0"/>
              </a:spcAft>
              <a:buClr>
                <a:prstClr val="white">
                  <a:lumMod val="50000"/>
                </a:prstClr>
              </a:buClr>
              <a:buSzTx/>
              <a:buFont typeface="Arial" panose="020B0604020202020204" pitchFamily="34" charset="0"/>
              <a:buChar char="•"/>
              <a:tabLst/>
              <a:defRPr/>
            </a:pPr>
            <a:r>
              <a:rPr kumimoji="0" lang="en-US" sz="1200" b="0" i="0" u="none" strike="noStrike" kern="1200" cap="none" spc="0" normalizeH="0" baseline="0" noProof="0" dirty="0">
                <a:ln>
                  <a:noFill/>
                </a:ln>
                <a:solidFill>
                  <a:srgbClr val="021836"/>
                </a:solidFill>
                <a:effectLst/>
                <a:uLnTx/>
                <a:uFillTx/>
                <a:latin typeface="Aptos" panose="02110004020202020204"/>
                <a:ea typeface="+mn-ea"/>
                <a:cs typeface="+mn-cs"/>
              </a:rPr>
              <a:t> </a:t>
            </a:r>
          </a:p>
          <a:p>
            <a:pPr marL="228600" marR="0" lvl="0" indent="-228600" algn="l" defTabSz="914400" rtl="0" eaLnBrk="1" fontAlgn="auto" latinLnBrk="0" hangingPunct="1">
              <a:lnSpc>
                <a:spcPct val="90000"/>
              </a:lnSpc>
              <a:spcBef>
                <a:spcPts val="1000"/>
              </a:spcBef>
              <a:spcAft>
                <a:spcPts val="0"/>
              </a:spcAft>
              <a:buClr>
                <a:prstClr val="white">
                  <a:lumMod val="50000"/>
                </a:prstClr>
              </a:buClr>
              <a:buSzTx/>
              <a:buFont typeface="Arial" panose="020B0604020202020204" pitchFamily="34" charset="0"/>
              <a:buChar char="•"/>
              <a:tabLst/>
              <a:defRPr/>
            </a:pPr>
            <a:r>
              <a:rPr kumimoji="0" lang="en-US" sz="1200" b="0" i="0" u="none" strike="noStrike" kern="1200" cap="none" spc="0" normalizeH="0" baseline="0" noProof="0" dirty="0">
                <a:ln>
                  <a:noFill/>
                </a:ln>
                <a:solidFill>
                  <a:srgbClr val="021836"/>
                </a:solidFill>
                <a:effectLst/>
                <a:uLnTx/>
                <a:uFillTx/>
                <a:latin typeface="Aptos" panose="02110004020202020204"/>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200" b="1" i="0" u="none" strike="noStrike" kern="1200" cap="none" spc="0" normalizeH="0" baseline="0" noProof="0" dirty="0">
              <a:ln>
                <a:noFill/>
              </a:ln>
              <a:solidFill>
                <a:srgbClr val="021836"/>
              </a:solidFill>
              <a:effectLst/>
              <a:uLnTx/>
              <a:uFillTx/>
              <a:latin typeface="Aptos" panose="02110004020202020204"/>
              <a:ea typeface="+mn-ea"/>
              <a:cs typeface="+mn-cs"/>
            </a:endParaRPr>
          </a:p>
        </p:txBody>
      </p:sp>
      <p:cxnSp>
        <p:nvCxnSpPr>
          <p:cNvPr id="5" name="Straight Connector 4">
            <a:extLst>
              <a:ext uri="{FF2B5EF4-FFF2-40B4-BE49-F238E27FC236}">
                <a16:creationId xmlns:a16="http://schemas.microsoft.com/office/drawing/2014/main" id="{7F9E1229-BBFD-9ADB-A9B5-8F86948A4FE8}"/>
              </a:ext>
            </a:extLst>
          </p:cNvPr>
          <p:cNvCxnSpPr>
            <a:cxnSpLocks/>
          </p:cNvCxnSpPr>
          <p:nvPr/>
        </p:nvCxnSpPr>
        <p:spPr>
          <a:xfrm>
            <a:off x="171450" y="5330824"/>
            <a:ext cx="8801100" cy="0"/>
          </a:xfrm>
          <a:prstGeom prst="line">
            <a:avLst/>
          </a:prstGeom>
          <a:ln w="9525">
            <a:solidFill>
              <a:srgbClr val="0396A6"/>
            </a:solidFill>
          </a:ln>
        </p:spPr>
        <p:style>
          <a:lnRef idx="2">
            <a:schemeClr val="accent1"/>
          </a:lnRef>
          <a:fillRef idx="0">
            <a:schemeClr val="accent1"/>
          </a:fillRef>
          <a:effectRef idx="1">
            <a:schemeClr val="accent1"/>
          </a:effectRef>
          <a:fontRef idx="minor">
            <a:schemeClr val="tx1"/>
          </a:fontRef>
        </p:style>
      </p:cxnSp>
      <p:grpSp>
        <p:nvGrpSpPr>
          <p:cNvPr id="6" name="Group 5">
            <a:extLst>
              <a:ext uri="{FF2B5EF4-FFF2-40B4-BE49-F238E27FC236}">
                <a16:creationId xmlns:a16="http://schemas.microsoft.com/office/drawing/2014/main" id="{E5AF0977-21E3-3661-CC5A-3DBCC17CD2F2}"/>
              </a:ext>
            </a:extLst>
          </p:cNvPr>
          <p:cNvGrpSpPr/>
          <p:nvPr/>
        </p:nvGrpSpPr>
        <p:grpSpPr>
          <a:xfrm>
            <a:off x="542925" y="5422901"/>
            <a:ext cx="7886700" cy="908049"/>
            <a:chOff x="628650" y="4778376"/>
            <a:chExt cx="7886700" cy="908049"/>
          </a:xfrm>
        </p:grpSpPr>
        <p:sp>
          <p:nvSpPr>
            <p:cNvPr id="7" name="Content Placeholder 2">
              <a:extLst>
                <a:ext uri="{FF2B5EF4-FFF2-40B4-BE49-F238E27FC236}">
                  <a16:creationId xmlns:a16="http://schemas.microsoft.com/office/drawing/2014/main" id="{F5123641-9137-D881-BE10-2880606C501F}"/>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Opportunity Signals</a:t>
              </a:r>
            </a:p>
          </p:txBody>
        </p:sp>
        <p:sp>
          <p:nvSpPr>
            <p:cNvPr id="8" name="Content Placeholder 2">
              <a:extLst>
                <a:ext uri="{FF2B5EF4-FFF2-40B4-BE49-F238E27FC236}">
                  <a16:creationId xmlns:a16="http://schemas.microsoft.com/office/drawing/2014/main" id="{C7780F93-3EA1-3F19-E31F-DB952EB9C9BD}"/>
                </a:ext>
              </a:extLst>
            </p:cNvPr>
            <p:cNvSpPr txBox="1">
              <a:spLocks/>
            </p:cNvSpPr>
            <p:nvPr/>
          </p:nvSpPr>
          <p:spPr>
            <a:xfrm>
              <a:off x="628650" y="5119688"/>
              <a:ext cx="7724775" cy="566737"/>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Aft>
                  <a:spcPts val="600"/>
                </a:spcAft>
                <a:buClr>
                  <a:srgbClr val="021836"/>
                </a:buClr>
                <a:buNone/>
                <a:defRPr/>
              </a:pPr>
              <a:r>
                <a:rPr lang="en-US" sz="1200" i="1" dirty="0">
                  <a:solidFill>
                    <a:prstClr val="white">
                      <a:lumMod val="50000"/>
                    </a:prstClr>
                  </a:solidFill>
                  <a:latin typeface="Aptos" panose="02110004020202020204"/>
                </a:rPr>
                <a:t>Single-model dependency • No fallback path</a:t>
              </a:r>
              <a:r>
                <a:rPr lang="en-US" sz="1200" i="1" dirty="0">
                  <a:solidFill>
                    <a:prstClr val="white">
                      <a:lumMod val="50000"/>
                    </a:prstClr>
                  </a:solidFill>
                </a:rPr>
                <a:t> • Manual process no longer documented • Human expertise reduced • Critical workflow depends on AI • Vendor/API access risk • Recovery owner unclear </a:t>
              </a:r>
              <a:endPar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endParaRPr>
            </a:p>
          </p:txBody>
        </p:sp>
      </p:grpSp>
      <p:sp>
        <p:nvSpPr>
          <p:cNvPr id="9" name="Content Placeholder 2">
            <a:extLst>
              <a:ext uri="{FF2B5EF4-FFF2-40B4-BE49-F238E27FC236}">
                <a16:creationId xmlns:a16="http://schemas.microsoft.com/office/drawing/2014/main" id="{97B88A3D-C7D3-9B2B-40BA-9CFECF8B79CF}"/>
              </a:ext>
            </a:extLst>
          </p:cNvPr>
          <p:cNvSpPr txBox="1">
            <a:spLocks/>
          </p:cNvSpPr>
          <p:nvPr/>
        </p:nvSpPr>
        <p:spPr>
          <a:xfrm>
            <a:off x="273534" y="845630"/>
            <a:ext cx="7886700" cy="299244"/>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lang="en-US" sz="1200" i="1" dirty="0">
                <a:solidFill>
                  <a:prstClr val="white">
                    <a:lumMod val="50000"/>
                  </a:prstClr>
                </a:solidFill>
                <a:latin typeface="Aptos" panose="02110004020202020204"/>
              </a:rPr>
              <a:t>Identify where AI dependency could create operational fragility</a:t>
            </a:r>
            <a:endPar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endParaRPr>
          </a:p>
        </p:txBody>
      </p:sp>
      <p:sp>
        <p:nvSpPr>
          <p:cNvPr id="11" name="TextBox 10">
            <a:extLst>
              <a:ext uri="{FF2B5EF4-FFF2-40B4-BE49-F238E27FC236}">
                <a16:creationId xmlns:a16="http://schemas.microsoft.com/office/drawing/2014/main" id="{509084EE-AE2A-A83D-6A6A-A4829D463FE1}"/>
              </a:ext>
            </a:extLst>
          </p:cNvPr>
          <p:cNvSpPr txBox="1"/>
          <p:nvPr/>
        </p:nvSpPr>
        <p:spPr>
          <a:xfrm>
            <a:off x="5680038" y="64309"/>
            <a:ext cx="3357424" cy="276999"/>
          </a:xfrm>
          <a:prstGeom prst="rect">
            <a:avLst/>
          </a:prstGeom>
          <a:noFill/>
        </p:spPr>
        <p:txBody>
          <a:bodyPr wrap="square" rtlCol="0">
            <a:spAutoFit/>
          </a:bodyPr>
          <a:lstStyle/>
          <a:p>
            <a:r>
              <a:rPr lang="en-US" sz="1200" dirty="0">
                <a:solidFill>
                  <a:schemeClr val="bg1">
                    <a:lumMod val="50000"/>
                  </a:schemeClr>
                </a:solidFill>
              </a:rPr>
              <a:t>AI Operational Readiness • Discovery Workbook</a:t>
            </a:r>
          </a:p>
        </p:txBody>
      </p:sp>
    </p:spTree>
    <p:extLst>
      <p:ext uri="{BB962C8B-B14F-4D97-AF65-F5344CB8AC3E}">
        <p14:creationId xmlns:p14="http://schemas.microsoft.com/office/powerpoint/2010/main" val="17925752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626224-E809-5997-2949-1412FBF6AB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031BB1-70C4-E67D-2131-274727DE44EB}"/>
              </a:ext>
            </a:extLst>
          </p:cNvPr>
          <p:cNvSpPr>
            <a:spLocks noGrp="1"/>
          </p:cNvSpPr>
          <p:nvPr>
            <p:ph type="title"/>
          </p:nvPr>
        </p:nvSpPr>
        <p:spPr>
          <a:xfrm>
            <a:off x="273534" y="-86630"/>
            <a:ext cx="7886700" cy="1325563"/>
          </a:xfrm>
        </p:spPr>
        <p:txBody>
          <a:bodyPr/>
          <a:lstStyle/>
          <a:p>
            <a:r>
              <a:rPr lang="en-US" dirty="0"/>
              <a:t>Escalation </a:t>
            </a:r>
            <a:r>
              <a:rPr lang="en-US"/>
              <a:t>&amp; Response</a:t>
            </a:r>
            <a:endParaRPr lang="en-US" dirty="0"/>
          </a:p>
        </p:txBody>
      </p:sp>
      <p:sp>
        <p:nvSpPr>
          <p:cNvPr id="3" name="Content Placeholder 2">
            <a:extLst>
              <a:ext uri="{FF2B5EF4-FFF2-40B4-BE49-F238E27FC236}">
                <a16:creationId xmlns:a16="http://schemas.microsoft.com/office/drawing/2014/main" id="{3606F9AE-0D51-5C7A-2A13-85591DFA8468}"/>
              </a:ext>
            </a:extLst>
          </p:cNvPr>
          <p:cNvSpPr>
            <a:spLocks noGrp="1"/>
          </p:cNvSpPr>
          <p:nvPr>
            <p:ph idx="1"/>
          </p:nvPr>
        </p:nvSpPr>
        <p:spPr>
          <a:xfrm>
            <a:off x="628650" y="1281341"/>
            <a:ext cx="3857625" cy="4518025"/>
          </a:xfrm>
        </p:spPr>
        <p:txBody>
          <a:bodyPr>
            <a:normAutofit/>
          </a:bodyPr>
          <a:lstStyle/>
          <a:p>
            <a:pPr marL="0" indent="0">
              <a:buNone/>
            </a:pPr>
            <a:r>
              <a:rPr lang="en-US" sz="1400" b="1" dirty="0">
                <a:solidFill>
                  <a:srgbClr val="021836"/>
                </a:solidFill>
              </a:rPr>
              <a:t>Key Questions</a:t>
            </a:r>
          </a:p>
          <a:p>
            <a:pPr>
              <a:buClr>
                <a:schemeClr val="bg1">
                  <a:lumMod val="50000"/>
                </a:schemeClr>
              </a:buClr>
            </a:pPr>
            <a:r>
              <a:rPr lang="en-US" sz="1200" dirty="0"/>
              <a:t>How are issues identified?</a:t>
            </a:r>
          </a:p>
          <a:p>
            <a:pPr>
              <a:buClr>
                <a:schemeClr val="bg1">
                  <a:lumMod val="50000"/>
                </a:schemeClr>
              </a:buClr>
            </a:pPr>
            <a:r>
              <a:rPr lang="en-US" sz="1200" dirty="0"/>
              <a:t>Who is notified?</a:t>
            </a:r>
          </a:p>
          <a:p>
            <a:pPr>
              <a:buClr>
                <a:schemeClr val="bg1">
                  <a:lumMod val="50000"/>
                </a:schemeClr>
              </a:buClr>
            </a:pPr>
            <a:r>
              <a:rPr lang="en-US" sz="1200" dirty="0"/>
              <a:t>What information must be preserved?</a:t>
            </a:r>
          </a:p>
          <a:p>
            <a:pPr>
              <a:buClr>
                <a:schemeClr val="bg1">
                  <a:lumMod val="50000"/>
                </a:schemeClr>
              </a:buClr>
            </a:pPr>
            <a:r>
              <a:rPr lang="en-US" sz="1200" dirty="0"/>
              <a:t>What would trigger a pause or shutdown?</a:t>
            </a:r>
          </a:p>
          <a:p>
            <a:pPr>
              <a:buClr>
                <a:schemeClr val="bg1">
                  <a:lumMod val="50000"/>
                </a:schemeClr>
              </a:buClr>
            </a:pPr>
            <a:r>
              <a:rPr lang="en-US" sz="1200" dirty="0"/>
              <a:t>How are incidents communicated?</a:t>
            </a:r>
          </a:p>
          <a:p>
            <a:pPr>
              <a:buClr>
                <a:schemeClr val="bg1">
                  <a:lumMod val="50000"/>
                </a:schemeClr>
              </a:buClr>
            </a:pPr>
            <a:r>
              <a:rPr lang="en-US" sz="1200" dirty="0"/>
              <a:t>Who has authority to intervene?</a:t>
            </a:r>
          </a:p>
          <a:p>
            <a:pPr>
              <a:buClr>
                <a:schemeClr val="bg1">
                  <a:lumMod val="50000"/>
                </a:schemeClr>
              </a:buClr>
            </a:pPr>
            <a:r>
              <a:rPr lang="en-US" sz="1200" dirty="0"/>
              <a:t>What lessons are captured afterward?</a:t>
            </a:r>
          </a:p>
          <a:p>
            <a:pPr>
              <a:buClr>
                <a:schemeClr val="bg1">
                  <a:lumMod val="50000"/>
                </a:schemeClr>
              </a:buClr>
            </a:pPr>
            <a:r>
              <a:rPr lang="en-US" sz="1200" dirty="0"/>
              <a:t>How are near misses identified and reported?</a:t>
            </a:r>
          </a:p>
          <a:p>
            <a:pPr>
              <a:buClr>
                <a:schemeClr val="bg1">
                  <a:lumMod val="50000"/>
                </a:schemeClr>
              </a:buClr>
            </a:pPr>
            <a:r>
              <a:rPr lang="en-US" sz="1200" dirty="0"/>
              <a:t>What decisions and/ or thresholds would trigger escalation?</a:t>
            </a:r>
          </a:p>
          <a:p>
            <a:pPr>
              <a:buClr>
                <a:schemeClr val="bg1">
                  <a:lumMod val="50000"/>
                </a:schemeClr>
              </a:buClr>
            </a:pPr>
            <a:r>
              <a:rPr lang="en-US" sz="1200" dirty="0"/>
              <a:t>Who can pause or override the process?</a:t>
            </a:r>
          </a:p>
          <a:p>
            <a:pPr>
              <a:buClr>
                <a:schemeClr val="bg1">
                  <a:lumMod val="50000"/>
                </a:schemeClr>
              </a:buClr>
            </a:pPr>
            <a:r>
              <a:rPr lang="en-US" sz="1200" dirty="0"/>
              <a:t>What happens while an issue or escalation is unresolved?</a:t>
            </a:r>
          </a:p>
        </p:txBody>
      </p:sp>
      <p:sp>
        <p:nvSpPr>
          <p:cNvPr id="4" name="Content Placeholder 2">
            <a:extLst>
              <a:ext uri="{FF2B5EF4-FFF2-40B4-BE49-F238E27FC236}">
                <a16:creationId xmlns:a16="http://schemas.microsoft.com/office/drawing/2014/main" id="{A8AB81DA-AC9F-52CA-B20C-92C8BB2FC14D}"/>
              </a:ext>
            </a:extLst>
          </p:cNvPr>
          <p:cNvSpPr txBox="1">
            <a:spLocks/>
          </p:cNvSpPr>
          <p:nvPr/>
        </p:nvSpPr>
        <p:spPr>
          <a:xfrm>
            <a:off x="4819650" y="1281340"/>
            <a:ext cx="3857625" cy="451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Observations</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Failure Point</a:t>
            </a:r>
          </a:p>
          <a:p>
            <a:pPr marL="228600" marR="0" lvl="0" indent="-228600" algn="l" defTabSz="914400" rtl="0" eaLnBrk="1" fontAlgn="auto" latinLnBrk="0" hangingPunct="1">
              <a:lnSpc>
                <a:spcPct val="90000"/>
              </a:lnSpc>
              <a:spcBef>
                <a:spcPts val="1000"/>
              </a:spcBef>
              <a:spcAft>
                <a:spcPts val="0"/>
              </a:spcAft>
              <a:buClr>
                <a:prstClr val="white">
                  <a:lumMod val="50000"/>
                </a:prstClr>
              </a:buClr>
              <a:buSzTx/>
              <a:buFont typeface="Arial" panose="020B0604020202020204" pitchFamily="34" charset="0"/>
              <a:buChar char="•"/>
              <a:tabLst/>
              <a:defRPr/>
            </a:pPr>
            <a:r>
              <a:rPr kumimoji="0" lang="en-US" sz="1200" b="0" i="0" u="none" strike="noStrike" kern="1200" cap="none" spc="0" normalizeH="0" baseline="0" noProof="0" dirty="0">
                <a:ln>
                  <a:noFill/>
                </a:ln>
                <a:solidFill>
                  <a:srgbClr val="021836"/>
                </a:solidFill>
                <a:effectLst/>
                <a:uLnTx/>
                <a:uFillTx/>
                <a:latin typeface="Aptos" panose="02110004020202020204"/>
                <a:ea typeface="+mn-ea"/>
                <a:cs typeface="+mn-cs"/>
              </a:rPr>
              <a:t> </a:t>
            </a:r>
          </a:p>
          <a:p>
            <a:pPr marL="228600" marR="0" lvl="0" indent="-228600" algn="l" defTabSz="914400" rtl="0" eaLnBrk="1" fontAlgn="auto" latinLnBrk="0" hangingPunct="1">
              <a:lnSpc>
                <a:spcPct val="90000"/>
              </a:lnSpc>
              <a:spcBef>
                <a:spcPts val="1000"/>
              </a:spcBef>
              <a:spcAft>
                <a:spcPts val="0"/>
              </a:spcAft>
              <a:buClr>
                <a:prstClr val="white">
                  <a:lumMod val="50000"/>
                </a:prstClr>
              </a:buClr>
              <a:buSzTx/>
              <a:buFont typeface="Arial" panose="020B0604020202020204" pitchFamily="34" charset="0"/>
              <a:buChar char="•"/>
              <a:tabLst/>
              <a:defRPr/>
            </a:pPr>
            <a:r>
              <a:rPr kumimoji="0" lang="en-US" sz="1200" b="0" i="0" u="none" strike="noStrike" kern="1200" cap="none" spc="0" normalizeH="0" baseline="0" noProof="0" dirty="0">
                <a:ln>
                  <a:noFill/>
                </a:ln>
                <a:solidFill>
                  <a:srgbClr val="021836"/>
                </a:solidFill>
                <a:effectLst/>
                <a:uLnTx/>
                <a:uFillTx/>
                <a:latin typeface="Aptos" panose="02110004020202020204"/>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200" b="1" i="0" u="none" strike="noStrike" kern="1200" cap="none" spc="0" normalizeH="0" baseline="0" noProof="0" dirty="0">
                <a:ln>
                  <a:noFill/>
                </a:ln>
                <a:solidFill>
                  <a:srgbClr val="021836"/>
                </a:solidFill>
                <a:effectLst/>
                <a:uLnTx/>
                <a:uFillTx/>
                <a:latin typeface="Aptos" panose="02110004020202020204"/>
                <a:ea typeface="+mn-ea"/>
                <a:cs typeface="+mn-cs"/>
              </a:rPr>
              <a:t>Pattern</a:t>
            </a:r>
            <a:endPar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endParaRPr>
          </a:p>
          <a:p>
            <a:pPr marL="228600" marR="0" lvl="0" indent="-228600" algn="l" defTabSz="914400" rtl="0" eaLnBrk="1" fontAlgn="auto" latinLnBrk="0" hangingPunct="1">
              <a:lnSpc>
                <a:spcPct val="90000"/>
              </a:lnSpc>
              <a:spcBef>
                <a:spcPts val="1000"/>
              </a:spcBef>
              <a:spcAft>
                <a:spcPts val="0"/>
              </a:spcAft>
              <a:buClr>
                <a:prstClr val="white">
                  <a:lumMod val="50000"/>
                </a:prstClr>
              </a:buClr>
              <a:buSzTx/>
              <a:buFont typeface="Arial" panose="020B0604020202020204" pitchFamily="34" charset="0"/>
              <a:buChar char="•"/>
              <a:tabLst/>
              <a:defRPr/>
            </a:pPr>
            <a:r>
              <a:rPr kumimoji="0" lang="en-US" sz="1200" b="0" i="0" u="none" strike="noStrike" kern="1200" cap="none" spc="0" normalizeH="0" baseline="0" noProof="0" dirty="0">
                <a:ln>
                  <a:noFill/>
                </a:ln>
                <a:solidFill>
                  <a:srgbClr val="021836"/>
                </a:solidFill>
                <a:effectLst/>
                <a:uLnTx/>
                <a:uFillTx/>
                <a:latin typeface="Aptos" panose="02110004020202020204"/>
                <a:ea typeface="+mn-ea"/>
                <a:cs typeface="+mn-cs"/>
              </a:rPr>
              <a:t> </a:t>
            </a:r>
          </a:p>
          <a:p>
            <a:pPr marL="228600" marR="0" lvl="0" indent="-228600" algn="l" defTabSz="914400" rtl="0" eaLnBrk="1" fontAlgn="auto" latinLnBrk="0" hangingPunct="1">
              <a:lnSpc>
                <a:spcPct val="90000"/>
              </a:lnSpc>
              <a:spcBef>
                <a:spcPts val="1000"/>
              </a:spcBef>
              <a:spcAft>
                <a:spcPts val="0"/>
              </a:spcAft>
              <a:buClr>
                <a:prstClr val="white">
                  <a:lumMod val="50000"/>
                </a:prstClr>
              </a:buClr>
              <a:buSzTx/>
              <a:buFont typeface="Arial" panose="020B0604020202020204" pitchFamily="34" charset="0"/>
              <a:buChar char="•"/>
              <a:tabLst/>
              <a:defRPr/>
            </a:pPr>
            <a:r>
              <a:rPr kumimoji="0" lang="en-US" sz="1200" b="0" i="0" u="none" strike="noStrike" kern="1200" cap="none" spc="0" normalizeH="0" baseline="0" noProof="0" dirty="0">
                <a:ln>
                  <a:noFill/>
                </a:ln>
                <a:solidFill>
                  <a:srgbClr val="021836"/>
                </a:solidFill>
                <a:effectLst/>
                <a:uLnTx/>
                <a:uFillTx/>
                <a:latin typeface="Aptos" panose="02110004020202020204"/>
                <a:ea typeface="+mn-ea"/>
                <a:cs typeface="+mn-cs"/>
              </a:rPr>
              <a:t> </a:t>
            </a:r>
          </a:p>
          <a:p>
            <a:pPr marL="228600" marR="0" lvl="0" indent="-228600" algn="l" defTabSz="914400" rtl="0" eaLnBrk="1" fontAlgn="auto" latinLnBrk="0" hangingPunct="1">
              <a:lnSpc>
                <a:spcPct val="90000"/>
              </a:lnSpc>
              <a:spcBef>
                <a:spcPts val="1000"/>
              </a:spcBef>
              <a:spcAft>
                <a:spcPts val="0"/>
              </a:spcAft>
              <a:buClr>
                <a:prstClr val="white">
                  <a:lumMod val="50000"/>
                </a:prstClr>
              </a:buClr>
              <a:buSzTx/>
              <a:buFont typeface="Arial" panose="020B0604020202020204" pitchFamily="34" charset="0"/>
              <a:buChar char="•"/>
              <a:tabLst/>
              <a:defRPr/>
            </a:pPr>
            <a:r>
              <a:rPr kumimoji="0" lang="en-US" sz="1200" b="1" i="0" u="none" strike="noStrike" kern="1200" cap="none" spc="0" normalizeH="0" baseline="0" noProof="0" dirty="0">
                <a:ln>
                  <a:noFill/>
                </a:ln>
                <a:solidFill>
                  <a:srgbClr val="021836"/>
                </a:solidFill>
                <a:effectLst/>
                <a:uLnTx/>
                <a:uFillTx/>
                <a:latin typeface="Aptos" panose="02110004020202020204"/>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200" b="1" i="0" u="none" strike="noStrike" kern="1200" cap="none" spc="0" normalizeH="0" baseline="0" noProof="0" dirty="0">
                <a:ln>
                  <a:noFill/>
                </a:ln>
                <a:solidFill>
                  <a:srgbClr val="021836"/>
                </a:solidFill>
                <a:effectLst/>
                <a:uLnTx/>
                <a:uFillTx/>
                <a:latin typeface="Aptos" panose="02110004020202020204"/>
                <a:ea typeface="+mn-ea"/>
                <a:cs typeface="+mn-cs"/>
              </a:rPr>
              <a:t>Opportunity</a:t>
            </a:r>
            <a:endPar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endParaRPr>
          </a:p>
          <a:p>
            <a:pPr marL="228600" marR="0" lvl="0" indent="-228600" algn="l" defTabSz="914400" rtl="0" eaLnBrk="1" fontAlgn="auto" latinLnBrk="0" hangingPunct="1">
              <a:lnSpc>
                <a:spcPct val="90000"/>
              </a:lnSpc>
              <a:spcBef>
                <a:spcPts val="1000"/>
              </a:spcBef>
              <a:spcAft>
                <a:spcPts val="0"/>
              </a:spcAft>
              <a:buClr>
                <a:prstClr val="white">
                  <a:lumMod val="50000"/>
                </a:prstClr>
              </a:buClr>
              <a:buSzTx/>
              <a:buFont typeface="Arial" panose="020B0604020202020204" pitchFamily="34" charset="0"/>
              <a:buChar char="•"/>
              <a:tabLst/>
              <a:defRPr/>
            </a:pPr>
            <a:r>
              <a:rPr kumimoji="0" lang="en-US" sz="1200" b="0" i="0" u="none" strike="noStrike" kern="1200" cap="none" spc="0" normalizeH="0" baseline="0" noProof="0" dirty="0">
                <a:ln>
                  <a:noFill/>
                </a:ln>
                <a:solidFill>
                  <a:srgbClr val="021836"/>
                </a:solidFill>
                <a:effectLst/>
                <a:uLnTx/>
                <a:uFillTx/>
                <a:latin typeface="Aptos" panose="02110004020202020204"/>
                <a:ea typeface="+mn-ea"/>
                <a:cs typeface="+mn-cs"/>
              </a:rPr>
              <a:t> </a:t>
            </a:r>
          </a:p>
          <a:p>
            <a:pPr marL="228600" marR="0" lvl="0" indent="-228600" algn="l" defTabSz="914400" rtl="0" eaLnBrk="1" fontAlgn="auto" latinLnBrk="0" hangingPunct="1">
              <a:lnSpc>
                <a:spcPct val="90000"/>
              </a:lnSpc>
              <a:spcBef>
                <a:spcPts val="1000"/>
              </a:spcBef>
              <a:spcAft>
                <a:spcPts val="0"/>
              </a:spcAft>
              <a:buClr>
                <a:prstClr val="white">
                  <a:lumMod val="50000"/>
                </a:prstClr>
              </a:buClr>
              <a:buSzTx/>
              <a:buFont typeface="Arial" panose="020B0604020202020204" pitchFamily="34" charset="0"/>
              <a:buChar char="•"/>
              <a:tabLst/>
              <a:defRPr/>
            </a:pPr>
            <a:r>
              <a:rPr kumimoji="0" lang="en-US" sz="1200" b="0" i="0" u="none" strike="noStrike" kern="1200" cap="none" spc="0" normalizeH="0" baseline="0" noProof="0" dirty="0">
                <a:ln>
                  <a:noFill/>
                </a:ln>
                <a:solidFill>
                  <a:srgbClr val="021836"/>
                </a:solidFill>
                <a:effectLst/>
                <a:uLnTx/>
                <a:uFillTx/>
                <a:latin typeface="Aptos" panose="02110004020202020204"/>
                <a:ea typeface="+mn-ea"/>
                <a:cs typeface="+mn-cs"/>
              </a:rPr>
              <a:t> </a:t>
            </a:r>
          </a:p>
          <a:p>
            <a:pPr marL="228600" marR="0" lvl="0" indent="-228600" algn="l" defTabSz="914400" rtl="0" eaLnBrk="1" fontAlgn="auto" latinLnBrk="0" hangingPunct="1">
              <a:lnSpc>
                <a:spcPct val="90000"/>
              </a:lnSpc>
              <a:spcBef>
                <a:spcPts val="1000"/>
              </a:spcBef>
              <a:spcAft>
                <a:spcPts val="0"/>
              </a:spcAft>
              <a:buClr>
                <a:prstClr val="white">
                  <a:lumMod val="50000"/>
                </a:prstClr>
              </a:buClr>
              <a:buSzTx/>
              <a:buFont typeface="Arial" panose="020B0604020202020204" pitchFamily="34" charset="0"/>
              <a:buChar char="•"/>
              <a:tabLst/>
              <a:defRPr/>
            </a:pPr>
            <a:r>
              <a:rPr kumimoji="0" lang="en-US" sz="1200" b="0" i="0" u="none" strike="noStrike" kern="1200" cap="none" spc="0" normalizeH="0" baseline="0" noProof="0" dirty="0">
                <a:ln>
                  <a:noFill/>
                </a:ln>
                <a:solidFill>
                  <a:srgbClr val="021836"/>
                </a:solidFill>
                <a:effectLst/>
                <a:uLnTx/>
                <a:uFillTx/>
                <a:latin typeface="Aptos" panose="02110004020202020204"/>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200" b="1" i="0" u="none" strike="noStrike" kern="1200" cap="none" spc="0" normalizeH="0" baseline="0" noProof="0" dirty="0">
              <a:ln>
                <a:noFill/>
              </a:ln>
              <a:solidFill>
                <a:srgbClr val="021836"/>
              </a:solidFill>
              <a:effectLst/>
              <a:uLnTx/>
              <a:uFillTx/>
              <a:latin typeface="Aptos" panose="02110004020202020204"/>
              <a:ea typeface="+mn-ea"/>
              <a:cs typeface="+mn-cs"/>
            </a:endParaRPr>
          </a:p>
        </p:txBody>
      </p:sp>
      <p:cxnSp>
        <p:nvCxnSpPr>
          <p:cNvPr id="5" name="Straight Connector 4">
            <a:extLst>
              <a:ext uri="{FF2B5EF4-FFF2-40B4-BE49-F238E27FC236}">
                <a16:creationId xmlns:a16="http://schemas.microsoft.com/office/drawing/2014/main" id="{19E309EF-7E06-4B5F-B7E4-54079514463B}"/>
              </a:ext>
            </a:extLst>
          </p:cNvPr>
          <p:cNvCxnSpPr>
            <a:cxnSpLocks/>
          </p:cNvCxnSpPr>
          <p:nvPr/>
        </p:nvCxnSpPr>
        <p:spPr>
          <a:xfrm>
            <a:off x="171450" y="5330824"/>
            <a:ext cx="8801100" cy="0"/>
          </a:xfrm>
          <a:prstGeom prst="line">
            <a:avLst/>
          </a:prstGeom>
          <a:ln w="9525">
            <a:solidFill>
              <a:srgbClr val="0396A6"/>
            </a:solidFill>
          </a:ln>
        </p:spPr>
        <p:style>
          <a:lnRef idx="2">
            <a:schemeClr val="accent1"/>
          </a:lnRef>
          <a:fillRef idx="0">
            <a:schemeClr val="accent1"/>
          </a:fillRef>
          <a:effectRef idx="1">
            <a:schemeClr val="accent1"/>
          </a:effectRef>
          <a:fontRef idx="minor">
            <a:schemeClr val="tx1"/>
          </a:fontRef>
        </p:style>
      </p:cxnSp>
      <p:grpSp>
        <p:nvGrpSpPr>
          <p:cNvPr id="6" name="Group 5">
            <a:extLst>
              <a:ext uri="{FF2B5EF4-FFF2-40B4-BE49-F238E27FC236}">
                <a16:creationId xmlns:a16="http://schemas.microsoft.com/office/drawing/2014/main" id="{D9ED2FFC-D649-EFA7-42F5-C676F71415F8}"/>
              </a:ext>
            </a:extLst>
          </p:cNvPr>
          <p:cNvGrpSpPr/>
          <p:nvPr/>
        </p:nvGrpSpPr>
        <p:grpSpPr>
          <a:xfrm>
            <a:off x="542925" y="5422901"/>
            <a:ext cx="7886700" cy="908049"/>
            <a:chOff x="628650" y="4778376"/>
            <a:chExt cx="7886700" cy="908049"/>
          </a:xfrm>
        </p:grpSpPr>
        <p:sp>
          <p:nvSpPr>
            <p:cNvPr id="7" name="Content Placeholder 2">
              <a:extLst>
                <a:ext uri="{FF2B5EF4-FFF2-40B4-BE49-F238E27FC236}">
                  <a16:creationId xmlns:a16="http://schemas.microsoft.com/office/drawing/2014/main" id="{A2C321B9-932C-659F-C0F1-54FF92609993}"/>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Opportunity Signals</a:t>
              </a:r>
            </a:p>
          </p:txBody>
        </p:sp>
        <p:sp>
          <p:nvSpPr>
            <p:cNvPr id="8" name="Content Placeholder 2">
              <a:extLst>
                <a:ext uri="{FF2B5EF4-FFF2-40B4-BE49-F238E27FC236}">
                  <a16:creationId xmlns:a16="http://schemas.microsoft.com/office/drawing/2014/main" id="{39210A4B-6DF1-E85C-B51F-D41BFD560AA3}"/>
                </a:ext>
              </a:extLst>
            </p:cNvPr>
            <p:cNvSpPr txBox="1">
              <a:spLocks/>
            </p:cNvSpPr>
            <p:nvPr/>
          </p:nvSpPr>
          <p:spPr>
            <a:xfrm>
              <a:off x="628651" y="5119688"/>
              <a:ext cx="6979103" cy="566737"/>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Aft>
                  <a:spcPts val="600"/>
                </a:spcAft>
                <a:buClr>
                  <a:srgbClr val="021836"/>
                </a:buClr>
                <a:buNone/>
              </a:pPr>
              <a:r>
                <a:rPr lang="en-US" sz="1200" i="1" dirty="0">
                  <a:solidFill>
                    <a:prstClr val="white">
                      <a:lumMod val="50000"/>
                    </a:prstClr>
                  </a:solidFill>
                  <a:latin typeface="Aptos" panose="02110004020202020204"/>
                </a:rPr>
                <a:t>Missed handoffs </a:t>
              </a: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 Delayed decisions • Escalation confusion • Incident uncertainty • </a:t>
              </a:r>
              <a:r>
                <a:rPr lang="en-US" sz="1200" i="1" dirty="0">
                  <a:solidFill>
                    <a:prstClr val="white">
                      <a:lumMod val="50000"/>
                    </a:prstClr>
                  </a:solidFill>
                </a:rPr>
                <a:t>Silent failures • </a:t>
              </a:r>
              <a:r>
                <a:rPr lang="en-US" sz="1200" i="1" dirty="0">
                  <a:solidFill>
                    <a:prstClr val="white">
                      <a:lumMod val="50000"/>
                    </a:prstClr>
                  </a:solidFill>
                  <a:latin typeface="Aptos" panose="02110004020202020204"/>
                </a:rPr>
                <a:t>Missing Evidence </a:t>
              </a: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 Ownership gaps • No </a:t>
              </a:r>
              <a:r>
                <a:rPr lang="en-US" sz="1200" i="1" dirty="0">
                  <a:solidFill>
                    <a:prstClr val="white">
                      <a:lumMod val="50000"/>
                    </a:prstClr>
                  </a:solidFill>
                </a:rPr>
                <a:t>pause criteria</a:t>
              </a:r>
              <a:endPar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endParaRPr>
            </a:p>
          </p:txBody>
        </p:sp>
      </p:grpSp>
      <p:sp>
        <p:nvSpPr>
          <p:cNvPr id="9" name="Content Placeholder 2">
            <a:extLst>
              <a:ext uri="{FF2B5EF4-FFF2-40B4-BE49-F238E27FC236}">
                <a16:creationId xmlns:a16="http://schemas.microsoft.com/office/drawing/2014/main" id="{DD3ABB8B-4902-398A-85D5-EF831C5D5C47}"/>
              </a:ext>
            </a:extLst>
          </p:cNvPr>
          <p:cNvSpPr txBox="1">
            <a:spLocks/>
          </p:cNvSpPr>
          <p:nvPr/>
        </p:nvSpPr>
        <p:spPr>
          <a:xfrm>
            <a:off x="273534" y="845630"/>
            <a:ext cx="7886700" cy="299244"/>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Understanding how issues are managed</a:t>
            </a:r>
          </a:p>
        </p:txBody>
      </p:sp>
      <p:sp>
        <p:nvSpPr>
          <p:cNvPr id="11" name="TextBox 10">
            <a:extLst>
              <a:ext uri="{FF2B5EF4-FFF2-40B4-BE49-F238E27FC236}">
                <a16:creationId xmlns:a16="http://schemas.microsoft.com/office/drawing/2014/main" id="{64B8130C-2FCB-E0FC-D687-4F4B57F71DAD}"/>
              </a:ext>
            </a:extLst>
          </p:cNvPr>
          <p:cNvSpPr txBox="1"/>
          <p:nvPr/>
        </p:nvSpPr>
        <p:spPr>
          <a:xfrm>
            <a:off x="5680038" y="64309"/>
            <a:ext cx="3357424" cy="276999"/>
          </a:xfrm>
          <a:prstGeom prst="rect">
            <a:avLst/>
          </a:prstGeom>
          <a:noFill/>
        </p:spPr>
        <p:txBody>
          <a:bodyPr wrap="square" rtlCol="0">
            <a:spAutoFit/>
          </a:bodyPr>
          <a:lstStyle/>
          <a:p>
            <a:r>
              <a:rPr lang="en-US" sz="1200" dirty="0">
                <a:solidFill>
                  <a:schemeClr val="bg1">
                    <a:lumMod val="50000"/>
                  </a:schemeClr>
                </a:solidFill>
              </a:rPr>
              <a:t>AI Operational Readiness • Discovery Workbook</a:t>
            </a:r>
          </a:p>
        </p:txBody>
      </p:sp>
    </p:spTree>
    <p:extLst>
      <p:ext uri="{BB962C8B-B14F-4D97-AF65-F5344CB8AC3E}">
        <p14:creationId xmlns:p14="http://schemas.microsoft.com/office/powerpoint/2010/main" val="1375556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45A88D-13AE-242E-8C97-31C5BFC362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1EFCBC-F402-463A-5418-B077A5766036}"/>
              </a:ext>
            </a:extLst>
          </p:cNvPr>
          <p:cNvSpPr>
            <a:spLocks noGrp="1"/>
          </p:cNvSpPr>
          <p:nvPr>
            <p:ph type="title"/>
          </p:nvPr>
        </p:nvSpPr>
        <p:spPr>
          <a:xfrm>
            <a:off x="273534" y="-86630"/>
            <a:ext cx="7886700" cy="1325563"/>
          </a:xfrm>
        </p:spPr>
        <p:txBody>
          <a:bodyPr/>
          <a:lstStyle/>
          <a:p>
            <a:r>
              <a:rPr lang="en-US" dirty="0"/>
              <a:t>Ownership</a:t>
            </a:r>
          </a:p>
        </p:txBody>
      </p:sp>
      <p:sp>
        <p:nvSpPr>
          <p:cNvPr id="3" name="Content Placeholder 2">
            <a:extLst>
              <a:ext uri="{FF2B5EF4-FFF2-40B4-BE49-F238E27FC236}">
                <a16:creationId xmlns:a16="http://schemas.microsoft.com/office/drawing/2014/main" id="{E129AE0E-1477-A107-7C92-BCA083222E3B}"/>
              </a:ext>
            </a:extLst>
          </p:cNvPr>
          <p:cNvSpPr>
            <a:spLocks noGrp="1"/>
          </p:cNvSpPr>
          <p:nvPr>
            <p:ph idx="1"/>
          </p:nvPr>
        </p:nvSpPr>
        <p:spPr>
          <a:xfrm>
            <a:off x="628650" y="1216025"/>
            <a:ext cx="3857625" cy="4518025"/>
          </a:xfrm>
        </p:spPr>
        <p:txBody>
          <a:bodyPr>
            <a:normAutofit/>
          </a:bodyPr>
          <a:lstStyle/>
          <a:p>
            <a:pPr marL="0" indent="0">
              <a:buNone/>
            </a:pPr>
            <a:r>
              <a:rPr lang="en-US" sz="1400" b="1" dirty="0">
                <a:solidFill>
                  <a:srgbClr val="021836"/>
                </a:solidFill>
              </a:rPr>
              <a:t>Key Questions</a:t>
            </a:r>
          </a:p>
          <a:p>
            <a:pPr>
              <a:buClr>
                <a:schemeClr val="bg1">
                  <a:lumMod val="50000"/>
                </a:schemeClr>
              </a:buClr>
            </a:pPr>
            <a:r>
              <a:rPr lang="en-US" sz="1200" dirty="0"/>
              <a:t>Who owns this work today?</a:t>
            </a:r>
          </a:p>
          <a:p>
            <a:pPr>
              <a:buClr>
                <a:schemeClr val="bg1">
                  <a:lumMod val="50000"/>
                </a:schemeClr>
              </a:buClr>
            </a:pPr>
            <a:r>
              <a:rPr lang="en-US" sz="1200" dirty="0"/>
              <a:t>Who would own AI-enabled workflows?</a:t>
            </a:r>
          </a:p>
          <a:p>
            <a:pPr>
              <a:buClr>
                <a:schemeClr val="bg1">
                  <a:lumMod val="50000"/>
                </a:schemeClr>
              </a:buClr>
            </a:pPr>
            <a:r>
              <a:rPr lang="en-US" sz="1200" dirty="0"/>
              <a:t>Who can propose, approve, implement, and communicate changes to the process or AI-enabled workflow?</a:t>
            </a:r>
          </a:p>
          <a:p>
            <a:pPr>
              <a:buClr>
                <a:schemeClr val="bg1">
                  <a:lumMod val="50000"/>
                </a:schemeClr>
              </a:buClr>
            </a:pPr>
            <a:r>
              <a:rPr lang="en-US" sz="1200" dirty="0"/>
              <a:t>Who is accountable for outcomes?</a:t>
            </a:r>
          </a:p>
          <a:p>
            <a:pPr>
              <a:buClr>
                <a:schemeClr val="bg1">
                  <a:lumMod val="50000"/>
                </a:schemeClr>
              </a:buClr>
            </a:pPr>
            <a:r>
              <a:rPr lang="en-US" sz="1200" dirty="0"/>
              <a:t>Who is responsible for monitoring performance?</a:t>
            </a:r>
          </a:p>
          <a:p>
            <a:pPr>
              <a:buClr>
                <a:schemeClr val="bg1">
                  <a:lumMod val="50000"/>
                </a:schemeClr>
              </a:buClr>
            </a:pPr>
            <a:r>
              <a:rPr lang="en-US" sz="1200" dirty="0"/>
              <a:t>Who responds when issues occur?</a:t>
            </a:r>
          </a:p>
          <a:p>
            <a:pPr>
              <a:buClr>
                <a:schemeClr val="bg1">
                  <a:lumMod val="50000"/>
                </a:schemeClr>
              </a:buClr>
            </a:pPr>
            <a:r>
              <a:rPr lang="en-US" sz="1200" dirty="0"/>
              <a:t>Which decisions require escalation?</a:t>
            </a:r>
          </a:p>
          <a:p>
            <a:pPr>
              <a:buClr>
                <a:schemeClr val="bg1">
                  <a:lumMod val="50000"/>
                </a:schemeClr>
              </a:buClr>
            </a:pPr>
            <a:r>
              <a:rPr lang="en-US" sz="1200" dirty="0"/>
              <a:t>Where are responsibilities unclear?</a:t>
            </a:r>
          </a:p>
          <a:p>
            <a:pPr>
              <a:buClr>
                <a:schemeClr val="bg1">
                  <a:lumMod val="50000"/>
                </a:schemeClr>
              </a:buClr>
            </a:pPr>
            <a:r>
              <a:rPr lang="en-US" sz="1200" dirty="0"/>
              <a:t>What dependencies exist across teams?</a:t>
            </a:r>
          </a:p>
          <a:p>
            <a:pPr>
              <a:buClr>
                <a:schemeClr val="bg1">
                  <a:lumMod val="50000"/>
                </a:schemeClr>
              </a:buClr>
            </a:pPr>
            <a:r>
              <a:rPr lang="en-US" sz="1200" dirty="0"/>
              <a:t>Where does accountability fall between organizational boundaries?</a:t>
            </a:r>
          </a:p>
        </p:txBody>
      </p:sp>
      <p:sp>
        <p:nvSpPr>
          <p:cNvPr id="4" name="Content Placeholder 2">
            <a:extLst>
              <a:ext uri="{FF2B5EF4-FFF2-40B4-BE49-F238E27FC236}">
                <a16:creationId xmlns:a16="http://schemas.microsoft.com/office/drawing/2014/main" id="{0FD8E30C-88AA-83B1-9436-C630B6E77312}"/>
              </a:ext>
            </a:extLst>
          </p:cNvPr>
          <p:cNvSpPr txBox="1">
            <a:spLocks/>
          </p:cNvSpPr>
          <p:nvPr/>
        </p:nvSpPr>
        <p:spPr>
          <a:xfrm>
            <a:off x="4819650" y="1216024"/>
            <a:ext cx="3857625" cy="451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Observations</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200" b="1" dirty="0">
                <a:solidFill>
                  <a:srgbClr val="021836"/>
                </a:solidFill>
                <a:latin typeface="Aptos" panose="02110004020202020204"/>
              </a:rPr>
              <a:t>Ambiguity</a:t>
            </a:r>
            <a:endParaRPr kumimoji="0" lang="en-US" sz="1200" b="1" i="0" u="none" strike="noStrike" kern="1200" cap="none" spc="0" normalizeH="0" baseline="0" noProof="0" dirty="0">
              <a:ln>
                <a:noFill/>
              </a:ln>
              <a:solidFill>
                <a:srgbClr val="021836"/>
              </a:solidFill>
              <a:effectLst/>
              <a:uLnTx/>
              <a:uFillTx/>
              <a:latin typeface="Aptos" panose="02110004020202020204"/>
              <a:ea typeface="+mn-ea"/>
              <a:cs typeface="+mn-cs"/>
            </a:endParaRPr>
          </a:p>
          <a:p>
            <a:pPr marL="228600" marR="0" lvl="0" indent="-228600" algn="l" defTabSz="914400" rtl="0" eaLnBrk="1" fontAlgn="auto" latinLnBrk="0" hangingPunct="1">
              <a:lnSpc>
                <a:spcPct val="90000"/>
              </a:lnSpc>
              <a:spcBef>
                <a:spcPts val="1000"/>
              </a:spcBef>
              <a:spcAft>
                <a:spcPts val="0"/>
              </a:spcAft>
              <a:buClr>
                <a:prstClr val="white">
                  <a:lumMod val="50000"/>
                </a:prstClr>
              </a:buClr>
              <a:buSzTx/>
              <a:buFont typeface="Arial" panose="020B0604020202020204" pitchFamily="34" charset="0"/>
              <a:buChar char="•"/>
              <a:tabLst/>
              <a:defRPr/>
            </a:pPr>
            <a:r>
              <a:rPr kumimoji="0" lang="en-US" sz="1200" b="0" i="0" u="none" strike="noStrike" kern="1200" cap="none" spc="0" normalizeH="0" baseline="0" noProof="0" dirty="0">
                <a:ln>
                  <a:noFill/>
                </a:ln>
                <a:solidFill>
                  <a:srgbClr val="021836"/>
                </a:solidFill>
                <a:effectLst/>
                <a:uLnTx/>
                <a:uFillTx/>
                <a:latin typeface="Aptos" panose="02110004020202020204"/>
                <a:ea typeface="+mn-ea"/>
                <a:cs typeface="+mn-cs"/>
              </a:rPr>
              <a:t> </a:t>
            </a:r>
          </a:p>
          <a:p>
            <a:pPr marL="228600" marR="0" lvl="0" indent="-228600" algn="l" defTabSz="914400" rtl="0" eaLnBrk="1" fontAlgn="auto" latinLnBrk="0" hangingPunct="1">
              <a:lnSpc>
                <a:spcPct val="90000"/>
              </a:lnSpc>
              <a:spcBef>
                <a:spcPts val="1000"/>
              </a:spcBef>
              <a:spcAft>
                <a:spcPts val="0"/>
              </a:spcAft>
              <a:buClr>
                <a:prstClr val="white">
                  <a:lumMod val="50000"/>
                </a:prstClr>
              </a:buClr>
              <a:buSzTx/>
              <a:buFont typeface="Arial" panose="020B0604020202020204" pitchFamily="34" charset="0"/>
              <a:buChar char="•"/>
              <a:tabLst/>
              <a:defRPr/>
            </a:pPr>
            <a:r>
              <a:rPr kumimoji="0" lang="en-US" sz="1200" b="0" i="0" u="none" strike="noStrike" kern="1200" cap="none" spc="0" normalizeH="0" baseline="0" noProof="0" dirty="0">
                <a:ln>
                  <a:noFill/>
                </a:ln>
                <a:solidFill>
                  <a:srgbClr val="021836"/>
                </a:solidFill>
                <a:effectLst/>
                <a:uLnTx/>
                <a:uFillTx/>
                <a:latin typeface="Aptos" panose="02110004020202020204"/>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200" b="1" i="0" u="none" strike="noStrike" kern="1200" cap="none" spc="0" normalizeH="0" baseline="0" noProof="0" dirty="0">
                <a:ln>
                  <a:noFill/>
                </a:ln>
                <a:solidFill>
                  <a:srgbClr val="021836"/>
                </a:solidFill>
                <a:effectLst/>
                <a:uLnTx/>
                <a:uFillTx/>
                <a:latin typeface="Aptos" panose="02110004020202020204"/>
                <a:ea typeface="+mn-ea"/>
                <a:cs typeface="+mn-cs"/>
              </a:rPr>
              <a:t>Pattern</a:t>
            </a:r>
          </a:p>
          <a:p>
            <a:pPr marL="228600" marR="0" lvl="0" indent="-228600" algn="l" defTabSz="914400" rtl="0" eaLnBrk="1" fontAlgn="auto" latinLnBrk="0" hangingPunct="1">
              <a:lnSpc>
                <a:spcPct val="90000"/>
              </a:lnSpc>
              <a:spcBef>
                <a:spcPts val="1000"/>
              </a:spcBef>
              <a:spcAft>
                <a:spcPts val="0"/>
              </a:spcAft>
              <a:buClr>
                <a:prstClr val="white">
                  <a:lumMod val="50000"/>
                </a:prstClr>
              </a:buClr>
              <a:buSzTx/>
              <a:buFont typeface="Arial" panose="020B0604020202020204" pitchFamily="34" charset="0"/>
              <a:buChar char="•"/>
              <a:tabLst/>
              <a:defRPr/>
            </a:pPr>
            <a:r>
              <a:rPr kumimoji="0" lang="en-US" sz="1200" b="0" i="0" u="none" strike="noStrike" kern="1200" cap="none" spc="0" normalizeH="0" baseline="0" noProof="0" dirty="0">
                <a:ln>
                  <a:noFill/>
                </a:ln>
                <a:solidFill>
                  <a:srgbClr val="021836"/>
                </a:solidFill>
                <a:effectLst/>
                <a:uLnTx/>
                <a:uFillTx/>
                <a:latin typeface="Aptos" panose="02110004020202020204"/>
                <a:ea typeface="+mn-ea"/>
                <a:cs typeface="+mn-cs"/>
              </a:rPr>
              <a:t> </a:t>
            </a:r>
          </a:p>
          <a:p>
            <a:pPr marL="228600" marR="0" lvl="0" indent="-228600" algn="l" defTabSz="914400" rtl="0" eaLnBrk="1" fontAlgn="auto" latinLnBrk="0" hangingPunct="1">
              <a:lnSpc>
                <a:spcPct val="90000"/>
              </a:lnSpc>
              <a:spcBef>
                <a:spcPts val="1000"/>
              </a:spcBef>
              <a:spcAft>
                <a:spcPts val="0"/>
              </a:spcAft>
              <a:buClr>
                <a:prstClr val="white">
                  <a:lumMod val="50000"/>
                </a:prstClr>
              </a:buClr>
              <a:buSzTx/>
              <a:buFont typeface="Arial" panose="020B0604020202020204" pitchFamily="34" charset="0"/>
              <a:buChar char="•"/>
              <a:tabLst/>
              <a:defRPr/>
            </a:pPr>
            <a:r>
              <a:rPr kumimoji="0" lang="en-US" sz="1200" b="0" i="0" u="none" strike="noStrike" kern="1200" cap="none" spc="0" normalizeH="0" baseline="0" noProof="0" dirty="0">
                <a:ln>
                  <a:noFill/>
                </a:ln>
                <a:solidFill>
                  <a:srgbClr val="021836"/>
                </a:solidFill>
                <a:effectLst/>
                <a:uLnTx/>
                <a:uFillTx/>
                <a:latin typeface="Aptos" panose="02110004020202020204"/>
                <a:ea typeface="+mn-ea"/>
                <a:cs typeface="+mn-cs"/>
              </a:rPr>
              <a:t> </a:t>
            </a:r>
          </a:p>
          <a:p>
            <a:pPr marL="228600" marR="0" lvl="0" indent="-228600" algn="l" defTabSz="914400" rtl="0" eaLnBrk="1" fontAlgn="auto" latinLnBrk="0" hangingPunct="1">
              <a:lnSpc>
                <a:spcPct val="90000"/>
              </a:lnSpc>
              <a:spcBef>
                <a:spcPts val="1000"/>
              </a:spcBef>
              <a:spcAft>
                <a:spcPts val="0"/>
              </a:spcAft>
              <a:buClr>
                <a:prstClr val="white">
                  <a:lumMod val="50000"/>
                </a:prstClr>
              </a:buClr>
              <a:buSzTx/>
              <a:buFont typeface="Arial" panose="020B0604020202020204" pitchFamily="34" charset="0"/>
              <a:buChar char="•"/>
              <a:tabLst/>
              <a:defRPr/>
            </a:pPr>
            <a:r>
              <a:rPr kumimoji="0" lang="en-US" sz="1200" b="1" i="0" u="none" strike="noStrike" kern="1200" cap="none" spc="0" normalizeH="0" baseline="0" noProof="0" dirty="0">
                <a:ln>
                  <a:noFill/>
                </a:ln>
                <a:solidFill>
                  <a:srgbClr val="021836"/>
                </a:solidFill>
                <a:effectLst/>
                <a:uLnTx/>
                <a:uFillTx/>
                <a:latin typeface="Aptos" panose="02110004020202020204"/>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200" b="1" i="0" u="none" strike="noStrike" kern="1200" cap="none" spc="0" normalizeH="0" baseline="0" noProof="0" dirty="0">
                <a:ln>
                  <a:noFill/>
                </a:ln>
                <a:solidFill>
                  <a:srgbClr val="021836"/>
                </a:solidFill>
                <a:effectLst/>
                <a:uLnTx/>
                <a:uFillTx/>
                <a:latin typeface="Aptos" panose="02110004020202020204"/>
                <a:ea typeface="+mn-ea"/>
                <a:cs typeface="+mn-cs"/>
              </a:rPr>
              <a:t>Opportunity</a:t>
            </a:r>
          </a:p>
          <a:p>
            <a:pPr marL="228600" marR="0" lvl="0" indent="-228600" algn="l" defTabSz="914400" rtl="0" eaLnBrk="1" fontAlgn="auto" latinLnBrk="0" hangingPunct="1">
              <a:lnSpc>
                <a:spcPct val="90000"/>
              </a:lnSpc>
              <a:spcBef>
                <a:spcPts val="1000"/>
              </a:spcBef>
              <a:spcAft>
                <a:spcPts val="0"/>
              </a:spcAft>
              <a:buClr>
                <a:prstClr val="white">
                  <a:lumMod val="50000"/>
                </a:prstClr>
              </a:buClr>
              <a:buSzTx/>
              <a:buFont typeface="Arial" panose="020B0604020202020204" pitchFamily="34" charset="0"/>
              <a:buChar char="•"/>
              <a:tabLst/>
              <a:defRPr/>
            </a:pPr>
            <a:r>
              <a:rPr kumimoji="0" lang="en-US" sz="1200" b="0" i="0" u="none" strike="noStrike" kern="1200" cap="none" spc="0" normalizeH="0" baseline="0" noProof="0" dirty="0">
                <a:ln>
                  <a:noFill/>
                </a:ln>
                <a:solidFill>
                  <a:srgbClr val="021836"/>
                </a:solidFill>
                <a:effectLst/>
                <a:uLnTx/>
                <a:uFillTx/>
                <a:latin typeface="Aptos" panose="02110004020202020204"/>
                <a:ea typeface="+mn-ea"/>
                <a:cs typeface="+mn-cs"/>
              </a:rPr>
              <a:t> </a:t>
            </a:r>
          </a:p>
          <a:p>
            <a:pPr marL="228600" marR="0" lvl="0" indent="-228600" algn="l" defTabSz="914400" rtl="0" eaLnBrk="1" fontAlgn="auto" latinLnBrk="0" hangingPunct="1">
              <a:lnSpc>
                <a:spcPct val="90000"/>
              </a:lnSpc>
              <a:spcBef>
                <a:spcPts val="1000"/>
              </a:spcBef>
              <a:spcAft>
                <a:spcPts val="0"/>
              </a:spcAft>
              <a:buClr>
                <a:prstClr val="white">
                  <a:lumMod val="50000"/>
                </a:prstClr>
              </a:buClr>
              <a:buSzTx/>
              <a:buFont typeface="Arial" panose="020B0604020202020204" pitchFamily="34" charset="0"/>
              <a:buChar char="•"/>
              <a:tabLst/>
              <a:defRPr/>
            </a:pPr>
            <a:r>
              <a:rPr kumimoji="0" lang="en-US" sz="1200" b="0" i="0" u="none" strike="noStrike" kern="1200" cap="none" spc="0" normalizeH="0" baseline="0" noProof="0" dirty="0">
                <a:ln>
                  <a:noFill/>
                </a:ln>
                <a:solidFill>
                  <a:srgbClr val="021836"/>
                </a:solidFill>
                <a:effectLst/>
                <a:uLnTx/>
                <a:uFillTx/>
                <a:latin typeface="Aptos" panose="02110004020202020204"/>
                <a:ea typeface="+mn-ea"/>
                <a:cs typeface="+mn-cs"/>
              </a:rPr>
              <a:t> </a:t>
            </a:r>
          </a:p>
          <a:p>
            <a:pPr marL="228600" marR="0" lvl="0" indent="-228600" algn="l" defTabSz="914400" rtl="0" eaLnBrk="1" fontAlgn="auto" latinLnBrk="0" hangingPunct="1">
              <a:lnSpc>
                <a:spcPct val="90000"/>
              </a:lnSpc>
              <a:spcBef>
                <a:spcPts val="1000"/>
              </a:spcBef>
              <a:spcAft>
                <a:spcPts val="0"/>
              </a:spcAft>
              <a:buClr>
                <a:prstClr val="white">
                  <a:lumMod val="50000"/>
                </a:prstClr>
              </a:buClr>
              <a:buSzTx/>
              <a:buFont typeface="Arial" panose="020B0604020202020204" pitchFamily="34" charset="0"/>
              <a:buChar char="•"/>
              <a:tabLst/>
              <a:defRPr/>
            </a:pPr>
            <a:r>
              <a:rPr kumimoji="0" lang="en-US" sz="1200" b="0" i="0" u="none" strike="noStrike" kern="1200" cap="none" spc="0" normalizeH="0" baseline="0" noProof="0" dirty="0">
                <a:ln>
                  <a:noFill/>
                </a:ln>
                <a:solidFill>
                  <a:srgbClr val="021836"/>
                </a:solidFill>
                <a:effectLst/>
                <a:uLnTx/>
                <a:uFillTx/>
                <a:latin typeface="Aptos" panose="02110004020202020204"/>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200" b="1" i="0" u="none" strike="noStrike" kern="1200" cap="none" spc="0" normalizeH="0" baseline="0" noProof="0" dirty="0">
              <a:ln>
                <a:noFill/>
              </a:ln>
              <a:solidFill>
                <a:srgbClr val="021836"/>
              </a:solidFill>
              <a:effectLst/>
              <a:uLnTx/>
              <a:uFillTx/>
              <a:latin typeface="Aptos" panose="02110004020202020204"/>
              <a:ea typeface="+mn-ea"/>
              <a:cs typeface="+mn-cs"/>
            </a:endParaRPr>
          </a:p>
        </p:txBody>
      </p:sp>
      <p:cxnSp>
        <p:nvCxnSpPr>
          <p:cNvPr id="5" name="Straight Connector 4">
            <a:extLst>
              <a:ext uri="{FF2B5EF4-FFF2-40B4-BE49-F238E27FC236}">
                <a16:creationId xmlns:a16="http://schemas.microsoft.com/office/drawing/2014/main" id="{8AC97144-BCF2-CFC3-933E-C3F05BE0939F}"/>
              </a:ext>
            </a:extLst>
          </p:cNvPr>
          <p:cNvCxnSpPr>
            <a:cxnSpLocks/>
          </p:cNvCxnSpPr>
          <p:nvPr/>
        </p:nvCxnSpPr>
        <p:spPr>
          <a:xfrm>
            <a:off x="171450" y="5330824"/>
            <a:ext cx="8801100" cy="0"/>
          </a:xfrm>
          <a:prstGeom prst="line">
            <a:avLst/>
          </a:prstGeom>
          <a:ln w="9525">
            <a:solidFill>
              <a:srgbClr val="0396A6"/>
            </a:solidFill>
          </a:ln>
        </p:spPr>
        <p:style>
          <a:lnRef idx="2">
            <a:schemeClr val="accent1"/>
          </a:lnRef>
          <a:fillRef idx="0">
            <a:schemeClr val="accent1"/>
          </a:fillRef>
          <a:effectRef idx="1">
            <a:schemeClr val="accent1"/>
          </a:effectRef>
          <a:fontRef idx="minor">
            <a:schemeClr val="tx1"/>
          </a:fontRef>
        </p:style>
      </p:cxnSp>
      <p:grpSp>
        <p:nvGrpSpPr>
          <p:cNvPr id="6" name="Group 5">
            <a:extLst>
              <a:ext uri="{FF2B5EF4-FFF2-40B4-BE49-F238E27FC236}">
                <a16:creationId xmlns:a16="http://schemas.microsoft.com/office/drawing/2014/main" id="{24B91EF2-9686-6A2A-41B6-22E4C39027AE}"/>
              </a:ext>
            </a:extLst>
          </p:cNvPr>
          <p:cNvGrpSpPr/>
          <p:nvPr/>
        </p:nvGrpSpPr>
        <p:grpSpPr>
          <a:xfrm>
            <a:off x="542925" y="5422901"/>
            <a:ext cx="7886700" cy="908049"/>
            <a:chOff x="628650" y="4778376"/>
            <a:chExt cx="7886700" cy="908049"/>
          </a:xfrm>
        </p:grpSpPr>
        <p:sp>
          <p:nvSpPr>
            <p:cNvPr id="7" name="Content Placeholder 2">
              <a:extLst>
                <a:ext uri="{FF2B5EF4-FFF2-40B4-BE49-F238E27FC236}">
                  <a16:creationId xmlns:a16="http://schemas.microsoft.com/office/drawing/2014/main" id="{7ED07DFD-B4A6-CA0B-8015-396E1552ACA0}"/>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Opportunity Signals</a:t>
              </a:r>
            </a:p>
          </p:txBody>
        </p:sp>
        <p:sp>
          <p:nvSpPr>
            <p:cNvPr id="8" name="Content Placeholder 2">
              <a:extLst>
                <a:ext uri="{FF2B5EF4-FFF2-40B4-BE49-F238E27FC236}">
                  <a16:creationId xmlns:a16="http://schemas.microsoft.com/office/drawing/2014/main" id="{5DC9014D-44DA-3DF9-05DA-EC2580C7DC87}"/>
                </a:ext>
              </a:extLst>
            </p:cNvPr>
            <p:cNvSpPr txBox="1">
              <a:spLocks/>
            </p:cNvSpPr>
            <p:nvPr/>
          </p:nvSpPr>
          <p:spPr>
            <a:xfrm>
              <a:off x="628651" y="5119688"/>
              <a:ext cx="6979103" cy="566737"/>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600"/>
                </a:spcAft>
                <a:buClr>
                  <a:srgbClr val="021836"/>
                </a:buClr>
                <a:buSzTx/>
                <a:buFont typeface="Arial" panose="020B0604020202020204" pitchFamily="34" charset="0"/>
                <a:buNone/>
                <a:tabLst/>
                <a:defRPr/>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Shared responsibility • Missing ownership • Role confusion • Cross-functional dependencies • Approval bottlenecks • Escalation uncertainty • Competing priorities • Organizational silos</a:t>
              </a:r>
            </a:p>
          </p:txBody>
        </p:sp>
      </p:grpSp>
      <p:sp>
        <p:nvSpPr>
          <p:cNvPr id="9" name="Content Placeholder 2">
            <a:extLst>
              <a:ext uri="{FF2B5EF4-FFF2-40B4-BE49-F238E27FC236}">
                <a16:creationId xmlns:a16="http://schemas.microsoft.com/office/drawing/2014/main" id="{697AE92C-82B4-F7F6-AC93-5E8E8F43D94E}"/>
              </a:ext>
            </a:extLst>
          </p:cNvPr>
          <p:cNvSpPr txBox="1">
            <a:spLocks/>
          </p:cNvSpPr>
          <p:nvPr/>
        </p:nvSpPr>
        <p:spPr>
          <a:xfrm>
            <a:off x="273534" y="845630"/>
            <a:ext cx="7886700" cy="299244"/>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Understanding who is accountable</a:t>
            </a:r>
          </a:p>
        </p:txBody>
      </p:sp>
      <p:sp>
        <p:nvSpPr>
          <p:cNvPr id="11" name="TextBox 10">
            <a:extLst>
              <a:ext uri="{FF2B5EF4-FFF2-40B4-BE49-F238E27FC236}">
                <a16:creationId xmlns:a16="http://schemas.microsoft.com/office/drawing/2014/main" id="{F483CD13-2DDC-29A2-686B-E37AEA69835F}"/>
              </a:ext>
            </a:extLst>
          </p:cNvPr>
          <p:cNvSpPr txBox="1"/>
          <p:nvPr/>
        </p:nvSpPr>
        <p:spPr>
          <a:xfrm>
            <a:off x="5680038" y="64309"/>
            <a:ext cx="3357424" cy="276999"/>
          </a:xfrm>
          <a:prstGeom prst="rect">
            <a:avLst/>
          </a:prstGeom>
          <a:noFill/>
        </p:spPr>
        <p:txBody>
          <a:bodyPr wrap="square" rtlCol="0">
            <a:spAutoFit/>
          </a:bodyPr>
          <a:lstStyle/>
          <a:p>
            <a:r>
              <a:rPr lang="en-US" sz="1200" dirty="0">
                <a:solidFill>
                  <a:schemeClr val="bg1">
                    <a:lumMod val="50000"/>
                  </a:schemeClr>
                </a:solidFill>
              </a:rPr>
              <a:t>AI Operational Readiness • Discovery Workbook</a:t>
            </a:r>
          </a:p>
        </p:txBody>
      </p:sp>
    </p:spTree>
    <p:extLst>
      <p:ext uri="{BB962C8B-B14F-4D97-AF65-F5344CB8AC3E}">
        <p14:creationId xmlns:p14="http://schemas.microsoft.com/office/powerpoint/2010/main" val="35614720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A99B13-7C87-1D57-4A57-87D3C1A53B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070899-8FA1-C3B8-4C95-B461934A9695}"/>
              </a:ext>
            </a:extLst>
          </p:cNvPr>
          <p:cNvSpPr>
            <a:spLocks noGrp="1"/>
          </p:cNvSpPr>
          <p:nvPr>
            <p:ph type="title"/>
          </p:nvPr>
        </p:nvSpPr>
        <p:spPr>
          <a:xfrm>
            <a:off x="273534" y="458"/>
            <a:ext cx="7886700" cy="1325563"/>
          </a:xfrm>
        </p:spPr>
        <p:txBody>
          <a:bodyPr/>
          <a:lstStyle/>
          <a:p>
            <a:r>
              <a:rPr lang="en-US" dirty="0"/>
              <a:t>AI Operational Readiness Themes</a:t>
            </a:r>
          </a:p>
        </p:txBody>
      </p:sp>
      <p:cxnSp>
        <p:nvCxnSpPr>
          <p:cNvPr id="5" name="Straight Connector 4">
            <a:extLst>
              <a:ext uri="{FF2B5EF4-FFF2-40B4-BE49-F238E27FC236}">
                <a16:creationId xmlns:a16="http://schemas.microsoft.com/office/drawing/2014/main" id="{CE1A135C-B3F0-15A8-AED6-1CCFD30A28B2}"/>
              </a:ext>
            </a:extLst>
          </p:cNvPr>
          <p:cNvCxnSpPr>
            <a:cxnSpLocks/>
          </p:cNvCxnSpPr>
          <p:nvPr/>
        </p:nvCxnSpPr>
        <p:spPr>
          <a:xfrm>
            <a:off x="171450" y="4742989"/>
            <a:ext cx="8801100" cy="0"/>
          </a:xfrm>
          <a:prstGeom prst="line">
            <a:avLst/>
          </a:prstGeom>
          <a:ln w="9525">
            <a:solidFill>
              <a:srgbClr val="0396A6"/>
            </a:solidFill>
          </a:ln>
        </p:spPr>
        <p:style>
          <a:lnRef idx="2">
            <a:schemeClr val="accent1"/>
          </a:lnRef>
          <a:fillRef idx="0">
            <a:schemeClr val="accent1"/>
          </a:fillRef>
          <a:effectRef idx="1">
            <a:schemeClr val="accent1"/>
          </a:effectRef>
          <a:fontRef idx="minor">
            <a:schemeClr val="tx1"/>
          </a:fontRef>
        </p:style>
      </p:cxnSp>
      <p:grpSp>
        <p:nvGrpSpPr>
          <p:cNvPr id="6" name="Group 5">
            <a:extLst>
              <a:ext uri="{FF2B5EF4-FFF2-40B4-BE49-F238E27FC236}">
                <a16:creationId xmlns:a16="http://schemas.microsoft.com/office/drawing/2014/main" id="{8DD9D73F-F3C0-FF9A-96A6-540413EEA266}"/>
              </a:ext>
            </a:extLst>
          </p:cNvPr>
          <p:cNvGrpSpPr/>
          <p:nvPr/>
        </p:nvGrpSpPr>
        <p:grpSpPr>
          <a:xfrm>
            <a:off x="542925" y="4835066"/>
            <a:ext cx="7886700" cy="908049"/>
            <a:chOff x="628650" y="4778376"/>
            <a:chExt cx="7886700" cy="908049"/>
          </a:xfrm>
        </p:grpSpPr>
        <p:sp>
          <p:nvSpPr>
            <p:cNvPr id="7" name="Content Placeholder 2">
              <a:extLst>
                <a:ext uri="{FF2B5EF4-FFF2-40B4-BE49-F238E27FC236}">
                  <a16:creationId xmlns:a16="http://schemas.microsoft.com/office/drawing/2014/main" id="{AB295071-8877-9311-C5F1-2908F8E8CCAC}"/>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Next Step</a:t>
              </a:r>
            </a:p>
          </p:txBody>
        </p:sp>
        <p:sp>
          <p:nvSpPr>
            <p:cNvPr id="8" name="Content Placeholder 2">
              <a:extLst>
                <a:ext uri="{FF2B5EF4-FFF2-40B4-BE49-F238E27FC236}">
                  <a16:creationId xmlns:a16="http://schemas.microsoft.com/office/drawing/2014/main" id="{94A03828-E90E-7D49-7CCA-D70431C2A182}"/>
                </a:ext>
              </a:extLst>
            </p:cNvPr>
            <p:cNvSpPr txBox="1">
              <a:spLocks/>
            </p:cNvSpPr>
            <p:nvPr/>
          </p:nvSpPr>
          <p:spPr>
            <a:xfrm>
              <a:off x="628651" y="5119688"/>
              <a:ext cx="7773760" cy="566737"/>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kumimoji="0" lang="en-US" sz="1200" b="0" i="0" u="none" strike="noStrike" kern="1200" cap="none" spc="0" normalizeH="0" baseline="0" noProof="0" dirty="0">
                  <a:ln>
                    <a:noFill/>
                  </a:ln>
                  <a:solidFill>
                    <a:srgbClr val="021836"/>
                  </a:solidFill>
                  <a:effectLst/>
                  <a:uLnTx/>
                  <a:uFillTx/>
                  <a:latin typeface="Aptos" panose="02110004020202020204"/>
                  <a:ea typeface="+mn-ea"/>
                  <a:cs typeface="+mn-cs"/>
                </a:rPr>
                <a:t>Translate themes into A</a:t>
              </a:r>
              <a:r>
                <a:rPr lang="en-US" sz="1200" dirty="0">
                  <a:solidFill>
                    <a:srgbClr val="021836"/>
                  </a:solidFill>
                  <a:latin typeface="Aptos" panose="02110004020202020204"/>
                </a:rPr>
                <a:t>I </a:t>
              </a:r>
              <a:r>
                <a:rPr kumimoji="0" lang="en-US" sz="1200" b="0" i="0" u="none" strike="noStrike" kern="1200" cap="none" spc="0" normalizeH="0" baseline="0" noProof="0" dirty="0">
                  <a:ln>
                    <a:noFill/>
                  </a:ln>
                  <a:solidFill>
                    <a:srgbClr val="021836"/>
                  </a:solidFill>
                  <a:effectLst/>
                  <a:uLnTx/>
                  <a:uFillTx/>
                  <a:latin typeface="Aptos" panose="02110004020202020204"/>
                  <a:ea typeface="+mn-ea"/>
                  <a:cs typeface="+mn-cs"/>
                </a:rPr>
                <a:t>opportunities and operational findings. </a:t>
              </a:r>
            </a:p>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lang="en-US" sz="1200" b="1" dirty="0">
                  <a:solidFill>
                    <a:srgbClr val="021836"/>
                  </a:solidFill>
                  <a:latin typeface="Aptos" panose="02110004020202020204"/>
                </a:rPr>
                <a:t>AI opportunities: </a:t>
              </a:r>
              <a:r>
                <a:rPr lang="en-US" sz="1200" dirty="0">
                  <a:solidFill>
                    <a:srgbClr val="021836"/>
                  </a:solidFill>
                  <a:latin typeface="Aptos" panose="02110004020202020204"/>
                </a:rPr>
                <a:t>prioritize based on frequency, pain level, complexity, AI fit, risk, and business impact.</a:t>
              </a:r>
            </a:p>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kumimoji="0" lang="en-US" sz="1200" b="1" i="0" u="none" strike="noStrike" kern="1200" cap="none" spc="0" normalizeH="0" baseline="0" noProof="0" dirty="0">
                  <a:ln>
                    <a:noFill/>
                  </a:ln>
                  <a:solidFill>
                    <a:srgbClr val="021836"/>
                  </a:solidFill>
                  <a:effectLst/>
                  <a:uLnTx/>
                  <a:uFillTx/>
                  <a:latin typeface="Aptos" panose="02110004020202020204"/>
                  <a:ea typeface="+mn-ea"/>
                  <a:cs typeface="+mn-cs"/>
                </a:rPr>
                <a:t>Operational findings:</a:t>
              </a:r>
              <a:r>
                <a:rPr kumimoji="0" lang="en-US" sz="1200" i="0" u="none" strike="noStrike" kern="1200" cap="none" spc="0" normalizeH="0" baseline="0" noProof="0" dirty="0">
                  <a:ln>
                    <a:noFill/>
                  </a:ln>
                  <a:solidFill>
                    <a:srgbClr val="021836"/>
                  </a:solidFill>
                  <a:effectLst/>
                  <a:uLnTx/>
                  <a:uFillTx/>
                  <a:latin typeface="Aptos" panose="02110004020202020204"/>
                  <a:ea typeface="+mn-ea"/>
                  <a:cs typeface="+mn-cs"/>
                </a:rPr>
                <a:t> route to the appropriate design, governance, evidence, or operational-readiness workstream.</a:t>
              </a:r>
            </a:p>
          </p:txBody>
        </p:sp>
      </p:grpSp>
      <p:sp>
        <p:nvSpPr>
          <p:cNvPr id="9" name="Content Placeholder 2">
            <a:extLst>
              <a:ext uri="{FF2B5EF4-FFF2-40B4-BE49-F238E27FC236}">
                <a16:creationId xmlns:a16="http://schemas.microsoft.com/office/drawing/2014/main" id="{4C66B185-82F4-04BA-70B3-6C4A5DD3E0A5}"/>
              </a:ext>
            </a:extLst>
          </p:cNvPr>
          <p:cNvSpPr txBox="1">
            <a:spLocks/>
          </p:cNvSpPr>
          <p:nvPr/>
        </p:nvSpPr>
        <p:spPr>
          <a:xfrm>
            <a:off x="273534" y="932718"/>
            <a:ext cx="7886700" cy="299244"/>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Synthesizing what we heard</a:t>
            </a:r>
          </a:p>
        </p:txBody>
      </p:sp>
      <p:graphicFrame>
        <p:nvGraphicFramePr>
          <p:cNvPr id="13" name="Table 12">
            <a:extLst>
              <a:ext uri="{FF2B5EF4-FFF2-40B4-BE49-F238E27FC236}">
                <a16:creationId xmlns:a16="http://schemas.microsoft.com/office/drawing/2014/main" id="{B2400B13-72B6-5A10-2A31-F1A153E9637E}"/>
              </a:ext>
            </a:extLst>
          </p:cNvPr>
          <p:cNvGraphicFramePr>
            <a:graphicFrameLocks noGrp="1"/>
          </p:cNvGraphicFramePr>
          <p:nvPr>
            <p:extLst>
              <p:ext uri="{D42A27DB-BD31-4B8C-83A1-F6EECF244321}">
                <p14:modId xmlns:p14="http://schemas.microsoft.com/office/powerpoint/2010/main" val="102436244"/>
              </p:ext>
            </p:extLst>
          </p:nvPr>
        </p:nvGraphicFramePr>
        <p:xfrm>
          <a:off x="816428" y="1418097"/>
          <a:ext cx="7728856" cy="2926080"/>
        </p:xfrm>
        <a:graphic>
          <a:graphicData uri="http://schemas.openxmlformats.org/drawingml/2006/table">
            <a:tbl>
              <a:tblPr firstRow="1" bandRow="1">
                <a:tableStyleId>{2D5ABB26-0587-4C30-8999-92F81FD0307C}</a:tableStyleId>
              </a:tblPr>
              <a:tblGrid>
                <a:gridCol w="1578429">
                  <a:extLst>
                    <a:ext uri="{9D8B030D-6E8A-4147-A177-3AD203B41FA5}">
                      <a16:colId xmlns:a16="http://schemas.microsoft.com/office/drawing/2014/main" val="2728554600"/>
                    </a:ext>
                  </a:extLst>
                </a:gridCol>
                <a:gridCol w="1828800">
                  <a:extLst>
                    <a:ext uri="{9D8B030D-6E8A-4147-A177-3AD203B41FA5}">
                      <a16:colId xmlns:a16="http://schemas.microsoft.com/office/drawing/2014/main" val="682756451"/>
                    </a:ext>
                  </a:extLst>
                </a:gridCol>
                <a:gridCol w="1839686">
                  <a:extLst>
                    <a:ext uri="{9D8B030D-6E8A-4147-A177-3AD203B41FA5}">
                      <a16:colId xmlns:a16="http://schemas.microsoft.com/office/drawing/2014/main" val="3648370891"/>
                    </a:ext>
                  </a:extLst>
                </a:gridCol>
                <a:gridCol w="2481941">
                  <a:extLst>
                    <a:ext uri="{9D8B030D-6E8A-4147-A177-3AD203B41FA5}">
                      <a16:colId xmlns:a16="http://schemas.microsoft.com/office/drawing/2014/main" val="2426205724"/>
                    </a:ext>
                  </a:extLst>
                </a:gridCol>
              </a:tblGrid>
              <a:tr h="220027">
                <a:tc>
                  <a:txBody>
                    <a:bodyPr/>
                    <a:lstStyle/>
                    <a:p>
                      <a:r>
                        <a:rPr lang="en-US" sz="1200" b="1" dirty="0">
                          <a:solidFill>
                            <a:srgbClr val="021836"/>
                          </a:solidFill>
                        </a:rPr>
                        <a:t>Domain</a:t>
                      </a:r>
                    </a:p>
                  </a:txBody>
                  <a:tcPr>
                    <a:lnB w="12700" cap="flat" cmpd="sng" algn="ctr">
                      <a:solidFill>
                        <a:srgbClr val="0396A6"/>
                      </a:solidFill>
                      <a:prstDash val="solid"/>
                      <a:round/>
                      <a:headEnd type="none" w="med" len="med"/>
                      <a:tailEnd type="none" w="med" len="med"/>
                    </a:lnB>
                  </a:tcPr>
                </a:tc>
                <a:tc>
                  <a:txBody>
                    <a:bodyPr/>
                    <a:lstStyle/>
                    <a:p>
                      <a:r>
                        <a:rPr lang="en-US" sz="1200" b="1" dirty="0">
                          <a:solidFill>
                            <a:srgbClr val="021836"/>
                          </a:solidFill>
                        </a:rPr>
                        <a:t>Observation</a:t>
                      </a:r>
                    </a:p>
                  </a:txBody>
                  <a:tcPr>
                    <a:lnB w="12700" cap="flat" cmpd="sng" algn="ctr">
                      <a:solidFill>
                        <a:srgbClr val="0396A6"/>
                      </a:solidFill>
                      <a:prstDash val="solid"/>
                      <a:round/>
                      <a:headEnd type="none" w="med" len="med"/>
                      <a:tailEnd type="none" w="med" len="med"/>
                    </a:lnB>
                  </a:tcPr>
                </a:tc>
                <a:tc>
                  <a:txBody>
                    <a:bodyPr/>
                    <a:lstStyle/>
                    <a:p>
                      <a:r>
                        <a:rPr lang="en-US" sz="1200" b="1" dirty="0">
                          <a:solidFill>
                            <a:srgbClr val="021836"/>
                          </a:solidFill>
                        </a:rPr>
                        <a:t>Pattern</a:t>
                      </a:r>
                    </a:p>
                  </a:txBody>
                  <a:tcPr>
                    <a:lnB w="12700" cap="flat" cmpd="sng" algn="ctr">
                      <a:solidFill>
                        <a:srgbClr val="0396A6"/>
                      </a:solidFill>
                      <a:prstDash val="solid"/>
                      <a:round/>
                      <a:headEnd type="none" w="med" len="med"/>
                      <a:tailEnd type="none" w="med" len="med"/>
                    </a:lnB>
                  </a:tcPr>
                </a:tc>
                <a:tc>
                  <a:txBody>
                    <a:bodyPr/>
                    <a:lstStyle/>
                    <a:p>
                      <a:r>
                        <a:rPr lang="en-US" sz="1200" b="1" dirty="0">
                          <a:solidFill>
                            <a:srgbClr val="021836"/>
                          </a:solidFill>
                        </a:rPr>
                        <a:t>AI Opportunity/ Operational Finding</a:t>
                      </a:r>
                    </a:p>
                  </a:txBody>
                  <a:tcPr>
                    <a:lnB w="12700" cap="flat" cmpd="sng" algn="ctr">
                      <a:solidFill>
                        <a:srgbClr val="0396A6"/>
                      </a:solidFill>
                      <a:prstDash val="solid"/>
                      <a:round/>
                      <a:headEnd type="none" w="med" len="med"/>
                      <a:tailEnd type="none" w="med" len="med"/>
                    </a:lnB>
                  </a:tcPr>
                </a:tc>
                <a:extLst>
                  <a:ext uri="{0D108BD9-81ED-4DB2-BD59-A6C34878D82A}">
                    <a16:rowId xmlns:a16="http://schemas.microsoft.com/office/drawing/2014/main" val="3173400939"/>
                  </a:ext>
                </a:extLst>
              </a:tr>
              <a:tr h="220027">
                <a:tc>
                  <a:txBody>
                    <a:bodyPr/>
                    <a:lstStyle/>
                    <a:p>
                      <a:r>
                        <a:rPr lang="en-US" sz="1200" dirty="0"/>
                        <a:t>People</a:t>
                      </a:r>
                    </a:p>
                  </a:txBody>
                  <a:tcPr>
                    <a:lnT w="12700" cap="flat" cmpd="sng" algn="ctr">
                      <a:solidFill>
                        <a:srgbClr val="0396A6"/>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sz="1200" i="1" dirty="0">
                          <a:solidFill>
                            <a:schemeClr val="bg1">
                              <a:lumMod val="65000"/>
                            </a:schemeClr>
                          </a:solidFill>
                        </a:rPr>
                        <a:t>Pain Points</a:t>
                      </a:r>
                    </a:p>
                  </a:txBody>
                  <a:tcPr>
                    <a:lnT w="12700" cap="flat" cmpd="sng" algn="ctr">
                      <a:solidFill>
                        <a:srgbClr val="0396A6"/>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sz="1200" dirty="0"/>
                    </a:p>
                  </a:txBody>
                  <a:tcPr>
                    <a:lnT w="12700" cap="flat" cmpd="sng" algn="ctr">
                      <a:solidFill>
                        <a:srgbClr val="0396A6"/>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sz="1200" dirty="0"/>
                    </a:p>
                  </a:txBody>
                  <a:tcPr>
                    <a:lnT w="12700" cap="flat" cmpd="sng" algn="ctr">
                      <a:solidFill>
                        <a:srgbClr val="0396A6"/>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185261034"/>
                  </a:ext>
                </a:extLst>
              </a:tr>
              <a:tr h="220027">
                <a:tc>
                  <a:txBody>
                    <a:bodyPr/>
                    <a:lstStyle/>
                    <a:p>
                      <a:r>
                        <a:rPr lang="en-US" sz="1200" dirty="0"/>
                        <a:t>Process</a:t>
                      </a:r>
                    </a:p>
                  </a:txBody>
                  <a:tcP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sz="1200" i="1" dirty="0">
                          <a:solidFill>
                            <a:schemeClr val="bg1">
                              <a:lumMod val="65000"/>
                            </a:schemeClr>
                          </a:solidFill>
                        </a:rPr>
                        <a:t>Bottlenecks</a:t>
                      </a:r>
                    </a:p>
                  </a:txBody>
                  <a:tcP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sz="1200" dirty="0"/>
                    </a:p>
                  </a:txBody>
                  <a:tcP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sz="1200" dirty="0"/>
                    </a:p>
                  </a:txBody>
                  <a:tcP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4220512722"/>
                  </a:ext>
                </a:extLst>
              </a:tr>
              <a:tr h="220027">
                <a:tc>
                  <a:txBody>
                    <a:bodyPr/>
                    <a:lstStyle/>
                    <a:p>
                      <a:r>
                        <a:rPr lang="en-US" sz="1200" dirty="0"/>
                        <a:t>Technology </a:t>
                      </a:r>
                    </a:p>
                  </a:txBody>
                  <a:tcP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sz="1200" i="1" dirty="0">
                          <a:solidFill>
                            <a:schemeClr val="bg1">
                              <a:lumMod val="65000"/>
                            </a:schemeClr>
                          </a:solidFill>
                        </a:rPr>
                        <a:t>Constraints</a:t>
                      </a:r>
                    </a:p>
                  </a:txBody>
                  <a:tcP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sz="1200" dirty="0"/>
                    </a:p>
                  </a:txBody>
                  <a:tcP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sz="1200" dirty="0"/>
                    </a:p>
                  </a:txBody>
                  <a:tcP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022554168"/>
                  </a:ext>
                </a:extLst>
              </a:tr>
              <a:tr h="220027">
                <a:tc>
                  <a:txBody>
                    <a:bodyPr/>
                    <a:lstStyle/>
                    <a:p>
                      <a:r>
                        <a:rPr lang="en-US" sz="1200" dirty="0"/>
                        <a:t>Governance</a:t>
                      </a:r>
                    </a:p>
                  </a:txBody>
                  <a:tcP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sz="1200" i="1" dirty="0">
                          <a:solidFill>
                            <a:schemeClr val="bg1">
                              <a:lumMod val="65000"/>
                            </a:schemeClr>
                          </a:solidFill>
                        </a:rPr>
                        <a:t>Risks</a:t>
                      </a:r>
                    </a:p>
                  </a:txBody>
                  <a:tcP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sz="1200" dirty="0"/>
                    </a:p>
                  </a:txBody>
                  <a:tcP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sz="1200" dirty="0"/>
                    </a:p>
                  </a:txBody>
                  <a:tcP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828954539"/>
                  </a:ext>
                </a:extLst>
              </a:tr>
              <a:tr h="220027">
                <a:tc>
                  <a:txBody>
                    <a:bodyPr/>
                    <a:lstStyle/>
                    <a:p>
                      <a:r>
                        <a:rPr lang="en-US" sz="1200" dirty="0"/>
                        <a:t>Measurement</a:t>
                      </a:r>
                    </a:p>
                  </a:txBody>
                  <a:tcP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sz="1200" i="1" dirty="0">
                          <a:solidFill>
                            <a:schemeClr val="bg1">
                              <a:lumMod val="65000"/>
                            </a:schemeClr>
                          </a:solidFill>
                        </a:rPr>
                        <a:t>Gaps</a:t>
                      </a:r>
                    </a:p>
                  </a:txBody>
                  <a:tcP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sz="1200" dirty="0"/>
                    </a:p>
                  </a:txBody>
                  <a:tcP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sz="1200" dirty="0"/>
                    </a:p>
                  </a:txBody>
                  <a:tcP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930936919"/>
                  </a:ext>
                </a:extLst>
              </a:tr>
              <a:tr h="220027">
                <a:tc>
                  <a:txBody>
                    <a:bodyPr/>
                    <a:lstStyle/>
                    <a:p>
                      <a:r>
                        <a:rPr lang="en-US" sz="1200" dirty="0"/>
                        <a:t>Adoption</a:t>
                      </a:r>
                    </a:p>
                  </a:txBody>
                  <a:tcP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sz="1200" i="1" dirty="0">
                          <a:solidFill>
                            <a:schemeClr val="bg1">
                              <a:lumMod val="65000"/>
                            </a:schemeClr>
                          </a:solidFill>
                        </a:rPr>
                        <a:t>Barriers</a:t>
                      </a:r>
                    </a:p>
                  </a:txBody>
                  <a:tcP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sz="1200" dirty="0"/>
                    </a:p>
                  </a:txBody>
                  <a:tcP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sz="1200" dirty="0"/>
                    </a:p>
                  </a:txBody>
                  <a:tcP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946070027"/>
                  </a:ext>
                </a:extLst>
              </a:tr>
              <a:tr h="220027">
                <a:tc>
                  <a:txBody>
                    <a:bodyPr/>
                    <a:lstStyle/>
                    <a:p>
                      <a:r>
                        <a:rPr lang="en-US" sz="1200" dirty="0"/>
                        <a:t>Continuity</a:t>
                      </a:r>
                    </a:p>
                  </a:txBody>
                  <a:tcP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sz="1200" i="1" dirty="0">
                          <a:solidFill>
                            <a:schemeClr val="bg1">
                              <a:lumMod val="65000"/>
                            </a:schemeClr>
                          </a:solidFill>
                        </a:rPr>
                        <a:t>Constraints / Fragility</a:t>
                      </a:r>
                    </a:p>
                  </a:txBody>
                  <a:tcP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sz="1200" dirty="0"/>
                    </a:p>
                  </a:txBody>
                  <a:tcP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sz="1200" dirty="0"/>
                    </a:p>
                  </a:txBody>
                  <a:tcP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63354421"/>
                  </a:ext>
                </a:extLst>
              </a:tr>
              <a:tr h="220027">
                <a:tc>
                  <a:txBody>
                    <a:bodyPr/>
                    <a:lstStyle/>
                    <a:p>
                      <a:r>
                        <a:rPr lang="en-US" sz="1200" dirty="0"/>
                        <a:t>Escalation</a:t>
                      </a:r>
                    </a:p>
                  </a:txBody>
                  <a:tcP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sz="1200" i="1" dirty="0">
                          <a:solidFill>
                            <a:schemeClr val="bg1">
                              <a:lumMod val="65000"/>
                            </a:schemeClr>
                          </a:solidFill>
                        </a:rPr>
                        <a:t>Failure points</a:t>
                      </a:r>
                    </a:p>
                  </a:txBody>
                  <a:tcP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sz="1200" dirty="0"/>
                    </a:p>
                  </a:txBody>
                  <a:tcP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sz="1200" dirty="0"/>
                    </a:p>
                  </a:txBody>
                  <a:tcP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13258466"/>
                  </a:ext>
                </a:extLst>
              </a:tr>
              <a:tr h="220027">
                <a:tc>
                  <a:txBody>
                    <a:bodyPr/>
                    <a:lstStyle/>
                    <a:p>
                      <a:r>
                        <a:rPr lang="en-US" sz="1200" dirty="0"/>
                        <a:t>Ownership</a:t>
                      </a:r>
                    </a:p>
                  </a:txBody>
                  <a:tcPr>
                    <a:lnT w="12700" cap="flat" cmpd="sng" algn="ctr">
                      <a:solidFill>
                        <a:schemeClr val="bg1">
                          <a:lumMod val="85000"/>
                        </a:schemeClr>
                      </a:solidFill>
                      <a:prstDash val="solid"/>
                      <a:round/>
                      <a:headEnd type="none" w="med" len="med"/>
                      <a:tailEnd type="none" w="med" len="med"/>
                    </a:lnT>
                  </a:tcPr>
                </a:tc>
                <a:tc>
                  <a:txBody>
                    <a:bodyPr/>
                    <a:lstStyle/>
                    <a:p>
                      <a:r>
                        <a:rPr lang="en-US" sz="1200" i="1" dirty="0">
                          <a:solidFill>
                            <a:schemeClr val="bg1">
                              <a:lumMod val="65000"/>
                            </a:schemeClr>
                          </a:solidFill>
                        </a:rPr>
                        <a:t>Ambiguities</a:t>
                      </a:r>
                    </a:p>
                  </a:txBody>
                  <a:tcPr>
                    <a:lnT w="12700" cap="flat" cmpd="sng" algn="ctr">
                      <a:solidFill>
                        <a:schemeClr val="bg1">
                          <a:lumMod val="85000"/>
                        </a:schemeClr>
                      </a:solidFill>
                      <a:prstDash val="solid"/>
                      <a:round/>
                      <a:headEnd type="none" w="med" len="med"/>
                      <a:tailEnd type="none" w="med" len="med"/>
                    </a:lnT>
                  </a:tcPr>
                </a:tc>
                <a:tc>
                  <a:txBody>
                    <a:bodyPr/>
                    <a:lstStyle/>
                    <a:p>
                      <a:endParaRPr lang="en-US" sz="1200" dirty="0"/>
                    </a:p>
                  </a:txBody>
                  <a:tcPr>
                    <a:lnT w="12700" cap="flat" cmpd="sng" algn="ctr">
                      <a:solidFill>
                        <a:schemeClr val="bg1">
                          <a:lumMod val="85000"/>
                        </a:schemeClr>
                      </a:solidFill>
                      <a:prstDash val="solid"/>
                      <a:round/>
                      <a:headEnd type="none" w="med" len="med"/>
                      <a:tailEnd type="none" w="med" len="med"/>
                    </a:lnT>
                  </a:tcPr>
                </a:tc>
                <a:tc>
                  <a:txBody>
                    <a:bodyPr/>
                    <a:lstStyle/>
                    <a:p>
                      <a:endParaRPr lang="en-US" sz="1200" dirty="0"/>
                    </a:p>
                  </a:txBody>
                  <a:tcPr>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385573619"/>
                  </a:ext>
                </a:extLst>
              </a:tr>
            </a:tbl>
          </a:graphicData>
        </a:graphic>
      </p:graphicFrame>
      <p:sp>
        <p:nvSpPr>
          <p:cNvPr id="4" name="TextBox 3">
            <a:extLst>
              <a:ext uri="{FF2B5EF4-FFF2-40B4-BE49-F238E27FC236}">
                <a16:creationId xmlns:a16="http://schemas.microsoft.com/office/drawing/2014/main" id="{E335FA7C-4466-EB60-1541-290BC8218388}"/>
              </a:ext>
            </a:extLst>
          </p:cNvPr>
          <p:cNvSpPr txBox="1"/>
          <p:nvPr/>
        </p:nvSpPr>
        <p:spPr>
          <a:xfrm>
            <a:off x="5680038" y="64309"/>
            <a:ext cx="3357424" cy="276999"/>
          </a:xfrm>
          <a:prstGeom prst="rect">
            <a:avLst/>
          </a:prstGeom>
          <a:noFill/>
        </p:spPr>
        <p:txBody>
          <a:bodyPr wrap="square" rtlCol="0">
            <a:spAutoFit/>
          </a:bodyPr>
          <a:lstStyle/>
          <a:p>
            <a:r>
              <a:rPr lang="en-US" sz="1200" dirty="0">
                <a:solidFill>
                  <a:schemeClr val="bg1">
                    <a:lumMod val="50000"/>
                  </a:schemeClr>
                </a:solidFill>
              </a:rPr>
              <a:t>AI Operational Readiness • Discovery Workbook</a:t>
            </a:r>
          </a:p>
        </p:txBody>
      </p:sp>
    </p:spTree>
    <p:extLst>
      <p:ext uri="{BB962C8B-B14F-4D97-AF65-F5344CB8AC3E}">
        <p14:creationId xmlns:p14="http://schemas.microsoft.com/office/powerpoint/2010/main" val="1032183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8094C80-DC27-8CC5-793C-CBAACA3F8D4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7883"/>
            <a:ext cx="9144000" cy="6842234"/>
          </a:xfrm>
          <a:prstGeom prst="rect">
            <a:avLst/>
          </a:prstGeom>
        </p:spPr>
      </p:pic>
    </p:spTree>
    <p:extLst>
      <p:ext uri="{BB962C8B-B14F-4D97-AF65-F5344CB8AC3E}">
        <p14:creationId xmlns:p14="http://schemas.microsoft.com/office/powerpoint/2010/main" val="20602222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F44F6-AAF9-F6E6-B3DC-C2D8FC3F68FB}"/>
              </a:ext>
            </a:extLst>
          </p:cNvPr>
          <p:cNvSpPr>
            <a:spLocks noGrp="1"/>
          </p:cNvSpPr>
          <p:nvPr>
            <p:ph type="title"/>
          </p:nvPr>
        </p:nvSpPr>
        <p:spPr>
          <a:xfrm>
            <a:off x="285750" y="434017"/>
            <a:ext cx="7886700" cy="362276"/>
          </a:xfrm>
        </p:spPr>
        <p:txBody>
          <a:bodyPr>
            <a:normAutofit fontScale="90000"/>
          </a:bodyPr>
          <a:lstStyle/>
          <a:p>
            <a:r>
              <a:rPr lang="en-US" dirty="0"/>
              <a:t>Prioritization Matrix Overview</a:t>
            </a:r>
          </a:p>
        </p:txBody>
      </p:sp>
      <p:graphicFrame>
        <p:nvGraphicFramePr>
          <p:cNvPr id="7" name="Table 6">
            <a:extLst>
              <a:ext uri="{FF2B5EF4-FFF2-40B4-BE49-F238E27FC236}">
                <a16:creationId xmlns:a16="http://schemas.microsoft.com/office/drawing/2014/main" id="{3BF72070-BDCF-7844-9A3E-D7F349AF031B}"/>
              </a:ext>
            </a:extLst>
          </p:cNvPr>
          <p:cNvGraphicFramePr>
            <a:graphicFrameLocks noGrp="1"/>
          </p:cNvGraphicFramePr>
          <p:nvPr/>
        </p:nvGraphicFramePr>
        <p:xfrm>
          <a:off x="561976" y="1440544"/>
          <a:ext cx="7866460" cy="685800"/>
        </p:xfrm>
        <a:graphic>
          <a:graphicData uri="http://schemas.openxmlformats.org/drawingml/2006/table">
            <a:tbl>
              <a:tblPr firstRow="1" bandRow="1">
                <a:tableStyleId>{2D5ABB26-0587-4C30-8999-92F81FD0307C}</a:tableStyleId>
              </a:tblPr>
              <a:tblGrid>
                <a:gridCol w="885824">
                  <a:extLst>
                    <a:ext uri="{9D8B030D-6E8A-4147-A177-3AD203B41FA5}">
                      <a16:colId xmlns:a16="http://schemas.microsoft.com/office/drawing/2014/main" val="2728554600"/>
                    </a:ext>
                  </a:extLst>
                </a:gridCol>
                <a:gridCol w="687468">
                  <a:extLst>
                    <a:ext uri="{9D8B030D-6E8A-4147-A177-3AD203B41FA5}">
                      <a16:colId xmlns:a16="http://schemas.microsoft.com/office/drawing/2014/main" val="682756451"/>
                    </a:ext>
                  </a:extLst>
                </a:gridCol>
                <a:gridCol w="786646">
                  <a:extLst>
                    <a:ext uri="{9D8B030D-6E8A-4147-A177-3AD203B41FA5}">
                      <a16:colId xmlns:a16="http://schemas.microsoft.com/office/drawing/2014/main" val="2426205724"/>
                    </a:ext>
                  </a:extLst>
                </a:gridCol>
                <a:gridCol w="786646">
                  <a:extLst>
                    <a:ext uri="{9D8B030D-6E8A-4147-A177-3AD203B41FA5}">
                      <a16:colId xmlns:a16="http://schemas.microsoft.com/office/drawing/2014/main" val="3581379408"/>
                    </a:ext>
                  </a:extLst>
                </a:gridCol>
                <a:gridCol w="844390">
                  <a:extLst>
                    <a:ext uri="{9D8B030D-6E8A-4147-A177-3AD203B41FA5}">
                      <a16:colId xmlns:a16="http://schemas.microsoft.com/office/drawing/2014/main" val="694866188"/>
                    </a:ext>
                  </a:extLst>
                </a:gridCol>
                <a:gridCol w="728017">
                  <a:extLst>
                    <a:ext uri="{9D8B030D-6E8A-4147-A177-3AD203B41FA5}">
                      <a16:colId xmlns:a16="http://schemas.microsoft.com/office/drawing/2014/main" val="2304919896"/>
                    </a:ext>
                  </a:extLst>
                </a:gridCol>
                <a:gridCol w="787531">
                  <a:extLst>
                    <a:ext uri="{9D8B030D-6E8A-4147-A177-3AD203B41FA5}">
                      <a16:colId xmlns:a16="http://schemas.microsoft.com/office/drawing/2014/main" val="3197853320"/>
                    </a:ext>
                  </a:extLst>
                </a:gridCol>
                <a:gridCol w="786646">
                  <a:extLst>
                    <a:ext uri="{9D8B030D-6E8A-4147-A177-3AD203B41FA5}">
                      <a16:colId xmlns:a16="http://schemas.microsoft.com/office/drawing/2014/main" val="635464521"/>
                    </a:ext>
                  </a:extLst>
                </a:gridCol>
                <a:gridCol w="786646">
                  <a:extLst>
                    <a:ext uri="{9D8B030D-6E8A-4147-A177-3AD203B41FA5}">
                      <a16:colId xmlns:a16="http://schemas.microsoft.com/office/drawing/2014/main" val="830017296"/>
                    </a:ext>
                  </a:extLst>
                </a:gridCol>
                <a:gridCol w="786646">
                  <a:extLst>
                    <a:ext uri="{9D8B030D-6E8A-4147-A177-3AD203B41FA5}">
                      <a16:colId xmlns:a16="http://schemas.microsoft.com/office/drawing/2014/main" val="175040511"/>
                    </a:ext>
                  </a:extLst>
                </a:gridCol>
              </a:tblGrid>
              <a:tr h="220027">
                <a:tc>
                  <a:txBody>
                    <a:bodyPr/>
                    <a:lstStyle/>
                    <a:p>
                      <a:r>
                        <a:rPr lang="en-US" sz="1100" b="1" dirty="0">
                          <a:solidFill>
                            <a:srgbClr val="021836"/>
                          </a:solidFill>
                        </a:rPr>
                        <a:t>Opportunity</a:t>
                      </a:r>
                    </a:p>
                  </a:txBody>
                  <a:tcPr marL="45720" marR="45720">
                    <a:lnR w="12700" cap="flat" cmpd="sng" algn="ctr">
                      <a:solidFill>
                        <a:schemeClr val="bg1">
                          <a:lumMod val="75000"/>
                        </a:schemeClr>
                      </a:solidFill>
                      <a:prstDash val="solid"/>
                      <a:round/>
                      <a:headEnd type="none" w="med" len="med"/>
                      <a:tailEnd type="none" w="med" len="med"/>
                    </a:lnR>
                    <a:lnB w="12700" cap="flat" cmpd="sng" algn="ctr">
                      <a:solidFill>
                        <a:srgbClr val="0396A6"/>
                      </a:solidFill>
                      <a:prstDash val="solid"/>
                      <a:round/>
                      <a:headEnd type="none" w="med" len="med"/>
                      <a:tailEnd type="none" w="med" len="med"/>
                    </a:lnB>
                  </a:tcPr>
                </a:tc>
                <a:tc>
                  <a:txBody>
                    <a:bodyPr/>
                    <a:lstStyle/>
                    <a:p>
                      <a:r>
                        <a:rPr lang="en-US" sz="1100" b="1" dirty="0">
                          <a:solidFill>
                            <a:srgbClr val="021836"/>
                          </a:solidFill>
                        </a:rPr>
                        <a:t>Source Theme</a:t>
                      </a:r>
                    </a:p>
                  </a:txBody>
                  <a:tcPr marL="45720" marR="4572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B w="12700" cap="flat" cmpd="sng" algn="ctr">
                      <a:solidFill>
                        <a:srgbClr val="0396A6"/>
                      </a:solidFill>
                      <a:prstDash val="solid"/>
                      <a:round/>
                      <a:headEnd type="none" w="med" len="med"/>
                      <a:tailEnd type="none" w="med" len="med"/>
                    </a:lnB>
                  </a:tcPr>
                </a:tc>
                <a:tc>
                  <a:txBody>
                    <a:bodyPr/>
                    <a:lstStyle/>
                    <a:p>
                      <a:r>
                        <a:rPr lang="en-US" sz="1100" b="1" dirty="0">
                          <a:solidFill>
                            <a:srgbClr val="021836"/>
                          </a:solidFill>
                        </a:rPr>
                        <a:t>Frequency</a:t>
                      </a:r>
                    </a:p>
                  </a:txBody>
                  <a:tcPr marL="45720" marR="4572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B w="12700" cap="flat" cmpd="sng" algn="ctr">
                      <a:solidFill>
                        <a:srgbClr val="0396A6"/>
                      </a:solidFill>
                      <a:prstDash val="solid"/>
                      <a:round/>
                      <a:headEnd type="none" w="med" len="med"/>
                      <a:tailEnd type="none" w="med" len="med"/>
                    </a:lnB>
                  </a:tcPr>
                </a:tc>
                <a:tc>
                  <a:txBody>
                    <a:bodyPr/>
                    <a:lstStyle/>
                    <a:p>
                      <a:r>
                        <a:rPr lang="en-US" sz="1100" b="1" dirty="0">
                          <a:solidFill>
                            <a:srgbClr val="021836"/>
                          </a:solidFill>
                        </a:rPr>
                        <a:t>Pain Level</a:t>
                      </a:r>
                    </a:p>
                  </a:txBody>
                  <a:tcPr marL="45720" marR="4572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B w="12700" cap="flat" cmpd="sng" algn="ctr">
                      <a:solidFill>
                        <a:srgbClr val="0396A6"/>
                      </a:solidFill>
                      <a:prstDash val="solid"/>
                      <a:round/>
                      <a:headEnd type="none" w="med" len="med"/>
                      <a:tailEnd type="none" w="med" len="med"/>
                    </a:lnB>
                  </a:tcPr>
                </a:tc>
                <a:tc>
                  <a:txBody>
                    <a:bodyPr/>
                    <a:lstStyle/>
                    <a:p>
                      <a:r>
                        <a:rPr lang="en-US" sz="1100" b="1" dirty="0">
                          <a:solidFill>
                            <a:srgbClr val="021836"/>
                          </a:solidFill>
                        </a:rPr>
                        <a:t>Complexity</a:t>
                      </a:r>
                    </a:p>
                  </a:txBody>
                  <a:tcPr marL="45720" marR="4572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B w="12700" cap="flat" cmpd="sng" algn="ctr">
                      <a:solidFill>
                        <a:srgbClr val="0396A6"/>
                      </a:solidFill>
                      <a:prstDash val="solid"/>
                      <a:round/>
                      <a:headEnd type="none" w="med" len="med"/>
                      <a:tailEnd type="none" w="med" len="med"/>
                    </a:lnB>
                  </a:tcPr>
                </a:tc>
                <a:tc>
                  <a:txBody>
                    <a:bodyPr/>
                    <a:lstStyle/>
                    <a:p>
                      <a:r>
                        <a:rPr lang="en-US" sz="1100" b="1" dirty="0">
                          <a:solidFill>
                            <a:srgbClr val="021836"/>
                          </a:solidFill>
                        </a:rPr>
                        <a:t>AI Fit</a:t>
                      </a:r>
                    </a:p>
                  </a:txBody>
                  <a:tcPr marL="45720" marR="4572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B w="12700" cap="flat" cmpd="sng" algn="ctr">
                      <a:solidFill>
                        <a:srgbClr val="0396A6"/>
                      </a:solidFill>
                      <a:prstDash val="solid"/>
                      <a:round/>
                      <a:headEnd type="none" w="med" len="med"/>
                      <a:tailEnd type="none" w="med" len="med"/>
                    </a:lnB>
                  </a:tcPr>
                </a:tc>
                <a:tc>
                  <a:txBody>
                    <a:bodyPr/>
                    <a:lstStyle/>
                    <a:p>
                      <a:r>
                        <a:rPr lang="en-US" sz="1100" b="1" dirty="0">
                          <a:solidFill>
                            <a:srgbClr val="021836"/>
                          </a:solidFill>
                        </a:rPr>
                        <a:t>Risk</a:t>
                      </a:r>
                    </a:p>
                  </a:txBody>
                  <a:tcPr marL="45720" marR="4572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B w="12700" cap="flat" cmpd="sng" algn="ctr">
                      <a:solidFill>
                        <a:srgbClr val="0396A6"/>
                      </a:solidFill>
                      <a:prstDash val="solid"/>
                      <a:round/>
                      <a:headEnd type="none" w="med" len="med"/>
                      <a:tailEnd type="none" w="med" len="med"/>
                    </a:lnB>
                  </a:tcPr>
                </a:tc>
                <a:tc>
                  <a:txBody>
                    <a:bodyPr/>
                    <a:lstStyle/>
                    <a:p>
                      <a:r>
                        <a:rPr lang="en-US" sz="1100" b="1" dirty="0">
                          <a:solidFill>
                            <a:srgbClr val="021836"/>
                          </a:solidFill>
                        </a:rPr>
                        <a:t>Business Impact</a:t>
                      </a:r>
                    </a:p>
                  </a:txBody>
                  <a:tcPr marL="45720" marR="4572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B w="12700" cap="flat" cmpd="sng" algn="ctr">
                      <a:solidFill>
                        <a:srgbClr val="0396A6"/>
                      </a:solidFill>
                      <a:prstDash val="solid"/>
                      <a:round/>
                      <a:headEnd type="none" w="med" len="med"/>
                      <a:tailEnd type="none" w="med" len="med"/>
                    </a:lnB>
                  </a:tcPr>
                </a:tc>
                <a:tc>
                  <a:txBody>
                    <a:bodyPr/>
                    <a:lstStyle/>
                    <a:p>
                      <a:r>
                        <a:rPr lang="en-US" sz="1100" b="1" dirty="0">
                          <a:solidFill>
                            <a:srgbClr val="021836"/>
                          </a:solidFill>
                        </a:rPr>
                        <a:t>Continuity Risk</a:t>
                      </a:r>
                    </a:p>
                  </a:txBody>
                  <a:tcPr marL="45720" marR="4572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B w="12700" cap="flat" cmpd="sng" algn="ctr">
                      <a:solidFill>
                        <a:srgbClr val="0396A6"/>
                      </a:solidFill>
                      <a:prstDash val="solid"/>
                      <a:round/>
                      <a:headEnd type="none" w="med" len="med"/>
                      <a:tailEnd type="none" w="med" len="med"/>
                    </a:lnB>
                  </a:tcPr>
                </a:tc>
                <a:tc>
                  <a:txBody>
                    <a:bodyPr/>
                    <a:lstStyle/>
                    <a:p>
                      <a:r>
                        <a:rPr lang="en-US" sz="1100" b="1" dirty="0">
                          <a:solidFill>
                            <a:srgbClr val="021836"/>
                          </a:solidFill>
                        </a:rPr>
                        <a:t>Priority</a:t>
                      </a:r>
                    </a:p>
                  </a:txBody>
                  <a:tcPr marL="45720" marR="45720">
                    <a:lnL w="12700" cap="flat" cmpd="sng" algn="ctr">
                      <a:solidFill>
                        <a:schemeClr val="bg1">
                          <a:lumMod val="75000"/>
                        </a:schemeClr>
                      </a:solidFill>
                      <a:prstDash val="solid"/>
                      <a:round/>
                      <a:headEnd type="none" w="med" len="med"/>
                      <a:tailEnd type="none" w="med" len="med"/>
                    </a:lnL>
                    <a:lnB w="12700" cap="flat" cmpd="sng" algn="ctr">
                      <a:solidFill>
                        <a:srgbClr val="0396A6"/>
                      </a:solidFill>
                      <a:prstDash val="solid"/>
                      <a:round/>
                      <a:headEnd type="none" w="med" len="med"/>
                      <a:tailEnd type="none" w="med" len="med"/>
                    </a:lnB>
                  </a:tcPr>
                </a:tc>
                <a:extLst>
                  <a:ext uri="{0D108BD9-81ED-4DB2-BD59-A6C34878D82A}">
                    <a16:rowId xmlns:a16="http://schemas.microsoft.com/office/drawing/2014/main" val="3173400939"/>
                  </a:ext>
                </a:extLst>
              </a:tr>
              <a:tr h="220027">
                <a:tc>
                  <a:txBody>
                    <a:bodyPr/>
                    <a:lstStyle/>
                    <a:p>
                      <a:r>
                        <a:rPr lang="en-US" sz="1100" dirty="0"/>
                        <a:t>…</a:t>
                      </a:r>
                    </a:p>
                  </a:txBody>
                  <a:tcPr marL="45720" marR="45720">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sz="1100" dirty="0"/>
                        <a:t>…</a:t>
                      </a:r>
                    </a:p>
                  </a:txBody>
                  <a:tcPr marL="45720" marR="4572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sz="1100" dirty="0"/>
                        <a:t>…</a:t>
                      </a:r>
                    </a:p>
                  </a:txBody>
                  <a:tcPr marL="45720" marR="4572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sz="1100" dirty="0"/>
                        <a:t>…</a:t>
                      </a:r>
                    </a:p>
                  </a:txBody>
                  <a:tcPr marL="45720" marR="4572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sz="1100" dirty="0"/>
                        <a:t>…</a:t>
                      </a:r>
                    </a:p>
                  </a:txBody>
                  <a:tcPr marL="45720" marR="4572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sz="1100" dirty="0"/>
                        <a:t>…</a:t>
                      </a:r>
                    </a:p>
                  </a:txBody>
                  <a:tcPr marL="45720" marR="4572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sz="1100" dirty="0"/>
                        <a:t>…</a:t>
                      </a:r>
                    </a:p>
                  </a:txBody>
                  <a:tcPr marL="45720" marR="4572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sz="1100" dirty="0"/>
                        <a:t>…</a:t>
                      </a:r>
                    </a:p>
                  </a:txBody>
                  <a:tcPr marL="45720" marR="4572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sz="1100" dirty="0"/>
                        <a:t>…</a:t>
                      </a:r>
                    </a:p>
                  </a:txBody>
                  <a:tcPr marL="45720" marR="4572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sz="1100" dirty="0"/>
                        <a:t>…</a:t>
                      </a:r>
                    </a:p>
                  </a:txBody>
                  <a:tcPr marL="45720" marR="45720">
                    <a:lnL w="12700" cap="flat" cmpd="sng" algn="ctr">
                      <a:solidFill>
                        <a:schemeClr val="bg1">
                          <a:lumMod val="75000"/>
                        </a:schemeClr>
                      </a:solidFill>
                      <a:prstDash val="solid"/>
                      <a:round/>
                      <a:headEnd type="none" w="med" len="med"/>
                      <a:tailEnd type="none" w="med" len="med"/>
                    </a:lnL>
                    <a:lnT w="12700" cap="flat" cmpd="sng" algn="ctr">
                      <a:solidFill>
                        <a:srgbClr val="0396A6"/>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185261034"/>
                  </a:ext>
                </a:extLst>
              </a:tr>
            </a:tbl>
          </a:graphicData>
        </a:graphic>
      </p:graphicFrame>
      <p:cxnSp>
        <p:nvCxnSpPr>
          <p:cNvPr id="10" name="Straight Connector 9">
            <a:extLst>
              <a:ext uri="{FF2B5EF4-FFF2-40B4-BE49-F238E27FC236}">
                <a16:creationId xmlns:a16="http://schemas.microsoft.com/office/drawing/2014/main" id="{C0020D96-D985-F85D-9155-2AFC35B6AE59}"/>
              </a:ext>
            </a:extLst>
          </p:cNvPr>
          <p:cNvCxnSpPr>
            <a:cxnSpLocks/>
          </p:cNvCxnSpPr>
          <p:nvPr/>
        </p:nvCxnSpPr>
        <p:spPr>
          <a:xfrm>
            <a:off x="185737" y="3945786"/>
            <a:ext cx="8801100" cy="0"/>
          </a:xfrm>
          <a:prstGeom prst="line">
            <a:avLst/>
          </a:prstGeom>
          <a:ln w="9525">
            <a:solidFill>
              <a:srgbClr val="0396A6"/>
            </a:solidFill>
          </a:ln>
        </p:spPr>
        <p:style>
          <a:lnRef idx="2">
            <a:schemeClr val="accent1"/>
          </a:lnRef>
          <a:fillRef idx="0">
            <a:schemeClr val="accent1"/>
          </a:fillRef>
          <a:effectRef idx="1">
            <a:schemeClr val="accent1"/>
          </a:effectRef>
          <a:fontRef idx="minor">
            <a:schemeClr val="tx1"/>
          </a:fontRef>
        </p:style>
      </p:cxnSp>
      <p:grpSp>
        <p:nvGrpSpPr>
          <p:cNvPr id="37" name="Group 36">
            <a:extLst>
              <a:ext uri="{FF2B5EF4-FFF2-40B4-BE49-F238E27FC236}">
                <a16:creationId xmlns:a16="http://schemas.microsoft.com/office/drawing/2014/main" id="{07427C67-24F8-34E3-16AD-56FCB95CE120}"/>
              </a:ext>
            </a:extLst>
          </p:cNvPr>
          <p:cNvGrpSpPr/>
          <p:nvPr/>
        </p:nvGrpSpPr>
        <p:grpSpPr>
          <a:xfrm>
            <a:off x="389165" y="4226020"/>
            <a:ext cx="5835082" cy="464569"/>
            <a:chOff x="628650" y="4778376"/>
            <a:chExt cx="7886700" cy="464569"/>
          </a:xfrm>
        </p:grpSpPr>
        <p:sp>
          <p:nvSpPr>
            <p:cNvPr id="9" name="Content Placeholder 2">
              <a:extLst>
                <a:ext uri="{FF2B5EF4-FFF2-40B4-BE49-F238E27FC236}">
                  <a16:creationId xmlns:a16="http://schemas.microsoft.com/office/drawing/2014/main" id="{8C9AC330-2344-BEDA-9EC6-BFB62190E7E3}"/>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b="1" dirty="0">
                  <a:solidFill>
                    <a:srgbClr val="021836"/>
                  </a:solidFill>
                </a:rPr>
                <a:t>Priority Formula</a:t>
              </a:r>
            </a:p>
          </p:txBody>
        </p:sp>
        <p:sp>
          <p:nvSpPr>
            <p:cNvPr id="11" name="Content Placeholder 2">
              <a:extLst>
                <a:ext uri="{FF2B5EF4-FFF2-40B4-BE49-F238E27FC236}">
                  <a16:creationId xmlns:a16="http://schemas.microsoft.com/office/drawing/2014/main" id="{FD78CC86-2052-A718-2145-5489B68A5D91}"/>
                </a:ext>
              </a:extLst>
            </p:cNvPr>
            <p:cNvSpPr txBox="1">
              <a:spLocks/>
            </p:cNvSpPr>
            <p:nvPr/>
          </p:nvSpPr>
          <p:spPr>
            <a:xfrm>
              <a:off x="628650" y="5032601"/>
              <a:ext cx="7886700" cy="210344"/>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rgbClr val="021836"/>
                </a:buClr>
                <a:buNone/>
              </a:pPr>
              <a:r>
                <a:rPr lang="en-US" sz="1200" dirty="0"/>
                <a:t>Priority Score = Frequency + Pain Level + AI Fit + Business Impact – Complexity – Risk</a:t>
              </a:r>
            </a:p>
            <a:p>
              <a:pPr marL="0" indent="0">
                <a:spcBef>
                  <a:spcPts val="600"/>
                </a:spcBef>
                <a:buClr>
                  <a:srgbClr val="021836"/>
                </a:buClr>
                <a:buNone/>
              </a:pPr>
              <a:r>
                <a:rPr lang="en-US" sz="1050" i="1" dirty="0"/>
                <a:t>The Priority Score supports comparison across opportunities; it does not replace practitioner judgment.</a:t>
              </a:r>
              <a:endParaRPr lang="en-US" sz="1200" i="1" dirty="0"/>
            </a:p>
          </p:txBody>
        </p:sp>
      </p:grpSp>
      <p:cxnSp>
        <p:nvCxnSpPr>
          <p:cNvPr id="28" name="Straight Connector 27">
            <a:extLst>
              <a:ext uri="{FF2B5EF4-FFF2-40B4-BE49-F238E27FC236}">
                <a16:creationId xmlns:a16="http://schemas.microsoft.com/office/drawing/2014/main" id="{EDEFB91B-6827-3E23-679D-230387F01E7B}"/>
              </a:ext>
            </a:extLst>
          </p:cNvPr>
          <p:cNvCxnSpPr>
            <a:cxnSpLocks/>
          </p:cNvCxnSpPr>
          <p:nvPr/>
        </p:nvCxnSpPr>
        <p:spPr>
          <a:xfrm>
            <a:off x="57150" y="7001783"/>
            <a:ext cx="8801100" cy="0"/>
          </a:xfrm>
          <a:prstGeom prst="line">
            <a:avLst/>
          </a:prstGeom>
          <a:ln w="9525">
            <a:solidFill>
              <a:srgbClr val="0396A6"/>
            </a:solidFill>
          </a:ln>
        </p:spPr>
        <p:style>
          <a:lnRef idx="2">
            <a:schemeClr val="accent1"/>
          </a:lnRef>
          <a:fillRef idx="0">
            <a:schemeClr val="accent1"/>
          </a:fillRef>
          <a:effectRef idx="1">
            <a:schemeClr val="accent1"/>
          </a:effectRef>
          <a:fontRef idx="minor">
            <a:schemeClr val="tx1"/>
          </a:fontRef>
        </p:style>
      </p:cxnSp>
      <p:sp>
        <p:nvSpPr>
          <p:cNvPr id="32" name="Content Placeholder 2">
            <a:extLst>
              <a:ext uri="{FF2B5EF4-FFF2-40B4-BE49-F238E27FC236}">
                <a16:creationId xmlns:a16="http://schemas.microsoft.com/office/drawing/2014/main" id="{3100EC29-4DE1-0548-69CA-66C82A4659A2}"/>
              </a:ext>
            </a:extLst>
          </p:cNvPr>
          <p:cNvSpPr txBox="1">
            <a:spLocks/>
          </p:cNvSpPr>
          <p:nvPr/>
        </p:nvSpPr>
        <p:spPr>
          <a:xfrm>
            <a:off x="628650" y="848634"/>
            <a:ext cx="7886700" cy="49654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b="1" dirty="0">
                <a:solidFill>
                  <a:srgbClr val="021836"/>
                </a:solidFill>
              </a:rPr>
              <a:t>Purpose</a:t>
            </a:r>
          </a:p>
          <a:p>
            <a:pPr marL="0" indent="0">
              <a:lnSpc>
                <a:spcPct val="100000"/>
              </a:lnSpc>
              <a:spcBef>
                <a:spcPts val="0"/>
              </a:spcBef>
              <a:buFont typeface="Arial" panose="020B0604020202020204" pitchFamily="34" charset="0"/>
              <a:buNone/>
            </a:pPr>
            <a:r>
              <a:rPr lang="en-US" sz="1200" dirty="0"/>
              <a:t>The matrix answers: “</a:t>
            </a:r>
            <a:r>
              <a:rPr lang="en-US" sz="1200" b="1" dirty="0">
                <a:solidFill>
                  <a:srgbClr val="021836"/>
                </a:solidFill>
              </a:rPr>
              <a:t>Of all the AI opportunities we heard, which ones are worth pursuing first?</a:t>
            </a:r>
            <a:r>
              <a:rPr lang="en-US" sz="1200" dirty="0"/>
              <a:t>”</a:t>
            </a:r>
            <a:endParaRPr lang="en-US" sz="1600" dirty="0"/>
          </a:p>
        </p:txBody>
      </p:sp>
      <p:sp>
        <p:nvSpPr>
          <p:cNvPr id="3" name="Content Placeholder 2">
            <a:extLst>
              <a:ext uri="{FF2B5EF4-FFF2-40B4-BE49-F238E27FC236}">
                <a16:creationId xmlns:a16="http://schemas.microsoft.com/office/drawing/2014/main" id="{DF3E8A09-D0DF-B28F-9685-FB7BE740B463}"/>
              </a:ext>
            </a:extLst>
          </p:cNvPr>
          <p:cNvSpPr txBox="1">
            <a:spLocks/>
          </p:cNvSpPr>
          <p:nvPr/>
        </p:nvSpPr>
        <p:spPr>
          <a:xfrm>
            <a:off x="642937" y="2157751"/>
            <a:ext cx="3319463" cy="173950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b="1" dirty="0">
                <a:solidFill>
                  <a:srgbClr val="021836"/>
                </a:solidFill>
              </a:rPr>
              <a:t>Scoring: </a:t>
            </a:r>
            <a:r>
              <a:rPr lang="en-US" sz="1200" dirty="0"/>
              <a:t>Use a simple 1-5 scale</a:t>
            </a:r>
          </a:p>
          <a:p>
            <a:pPr marL="0" indent="0">
              <a:lnSpc>
                <a:spcPct val="100000"/>
              </a:lnSpc>
              <a:spcBef>
                <a:spcPts val="600"/>
              </a:spcBef>
              <a:buNone/>
            </a:pPr>
            <a:r>
              <a:rPr lang="en-US" sz="1400" b="1" dirty="0">
                <a:solidFill>
                  <a:srgbClr val="021836"/>
                </a:solidFill>
              </a:rPr>
              <a:t>Frequency</a:t>
            </a:r>
          </a:p>
          <a:p>
            <a:pPr marL="0" indent="0">
              <a:lnSpc>
                <a:spcPct val="100000"/>
              </a:lnSpc>
              <a:spcBef>
                <a:spcPts val="0"/>
              </a:spcBef>
              <a:buNone/>
            </a:pPr>
            <a:r>
              <a:rPr lang="en-US" sz="1200" dirty="0"/>
              <a:t>1 = Rare, 5 = Happens constantly</a:t>
            </a:r>
          </a:p>
          <a:p>
            <a:pPr marL="0" indent="0">
              <a:lnSpc>
                <a:spcPct val="100000"/>
              </a:lnSpc>
              <a:spcBef>
                <a:spcPts val="600"/>
              </a:spcBef>
              <a:buNone/>
            </a:pPr>
            <a:r>
              <a:rPr lang="en-US" sz="1400" b="1" dirty="0">
                <a:solidFill>
                  <a:srgbClr val="021836"/>
                </a:solidFill>
              </a:rPr>
              <a:t>Pain Level</a:t>
            </a:r>
          </a:p>
          <a:p>
            <a:pPr marL="0" indent="0">
              <a:lnSpc>
                <a:spcPct val="100000"/>
              </a:lnSpc>
              <a:spcBef>
                <a:spcPts val="0"/>
              </a:spcBef>
              <a:buNone/>
            </a:pPr>
            <a:r>
              <a:rPr lang="en-US" sz="1200" dirty="0"/>
              <a:t>1 = Minor annoyance, 5 = Major friction</a:t>
            </a:r>
          </a:p>
          <a:p>
            <a:pPr marL="0" indent="0">
              <a:lnSpc>
                <a:spcPct val="100000"/>
              </a:lnSpc>
              <a:spcBef>
                <a:spcPts val="600"/>
              </a:spcBef>
              <a:buNone/>
            </a:pPr>
            <a:r>
              <a:rPr lang="en-US" sz="1400" b="1" dirty="0">
                <a:solidFill>
                  <a:srgbClr val="021836"/>
                </a:solidFill>
              </a:rPr>
              <a:t>Complexity</a:t>
            </a:r>
          </a:p>
          <a:p>
            <a:pPr marL="0" indent="0">
              <a:lnSpc>
                <a:spcPct val="100000"/>
              </a:lnSpc>
              <a:spcBef>
                <a:spcPts val="0"/>
              </a:spcBef>
              <a:buNone/>
            </a:pPr>
            <a:r>
              <a:rPr lang="en-US" sz="1200" dirty="0"/>
              <a:t>1 = Easy to implement, 5 = Hard to implement</a:t>
            </a:r>
          </a:p>
        </p:txBody>
      </p:sp>
      <p:sp>
        <p:nvSpPr>
          <p:cNvPr id="4" name="Content Placeholder 2">
            <a:extLst>
              <a:ext uri="{FF2B5EF4-FFF2-40B4-BE49-F238E27FC236}">
                <a16:creationId xmlns:a16="http://schemas.microsoft.com/office/drawing/2014/main" id="{84F049B7-0AC9-84CF-9B34-F5515361E177}"/>
              </a:ext>
            </a:extLst>
          </p:cNvPr>
          <p:cNvSpPr txBox="1">
            <a:spLocks/>
          </p:cNvSpPr>
          <p:nvPr/>
        </p:nvSpPr>
        <p:spPr>
          <a:xfrm>
            <a:off x="4047783" y="2430532"/>
            <a:ext cx="2415949" cy="14667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sz="1400" b="1" dirty="0">
                <a:solidFill>
                  <a:srgbClr val="021836"/>
                </a:solidFill>
              </a:rPr>
              <a:t>AI Fit</a:t>
            </a:r>
          </a:p>
          <a:p>
            <a:pPr marL="0" indent="0">
              <a:lnSpc>
                <a:spcPct val="100000"/>
              </a:lnSpc>
              <a:spcBef>
                <a:spcPts val="0"/>
              </a:spcBef>
              <a:buNone/>
            </a:pPr>
            <a:r>
              <a:rPr lang="en-US" sz="1200" dirty="0"/>
              <a:t>1 = Weak Fit, 5 = Strong Fit</a:t>
            </a:r>
          </a:p>
          <a:p>
            <a:pPr marL="0" indent="0">
              <a:lnSpc>
                <a:spcPct val="100000"/>
              </a:lnSpc>
              <a:spcBef>
                <a:spcPts val="600"/>
              </a:spcBef>
              <a:buNone/>
            </a:pPr>
            <a:r>
              <a:rPr lang="en-US" sz="1400" b="1" dirty="0">
                <a:solidFill>
                  <a:srgbClr val="021836"/>
                </a:solidFill>
              </a:rPr>
              <a:t>Risk</a:t>
            </a:r>
          </a:p>
          <a:p>
            <a:pPr marL="0" indent="0">
              <a:lnSpc>
                <a:spcPct val="100000"/>
              </a:lnSpc>
              <a:spcBef>
                <a:spcPts val="0"/>
              </a:spcBef>
              <a:buNone/>
            </a:pPr>
            <a:r>
              <a:rPr lang="en-US" sz="1200" dirty="0"/>
              <a:t>1 = Low Risk, 5 = High Risk</a:t>
            </a:r>
          </a:p>
          <a:p>
            <a:pPr marL="0" indent="0">
              <a:lnSpc>
                <a:spcPct val="100000"/>
              </a:lnSpc>
              <a:spcBef>
                <a:spcPts val="600"/>
              </a:spcBef>
              <a:buNone/>
            </a:pPr>
            <a:r>
              <a:rPr lang="en-US" sz="1400" b="1" dirty="0">
                <a:solidFill>
                  <a:srgbClr val="021836"/>
                </a:solidFill>
              </a:rPr>
              <a:t>Business Impact</a:t>
            </a:r>
          </a:p>
          <a:p>
            <a:pPr marL="0" indent="0">
              <a:lnSpc>
                <a:spcPct val="100000"/>
              </a:lnSpc>
              <a:spcBef>
                <a:spcPts val="0"/>
              </a:spcBef>
              <a:buNone/>
            </a:pPr>
            <a:r>
              <a:rPr lang="en-US" sz="1200" dirty="0"/>
              <a:t>1 = Low Value, 5 = High Value</a:t>
            </a:r>
          </a:p>
          <a:p>
            <a:pPr marL="0" indent="0">
              <a:lnSpc>
                <a:spcPct val="100000"/>
              </a:lnSpc>
              <a:spcBef>
                <a:spcPts val="0"/>
              </a:spcBef>
              <a:buNone/>
            </a:pPr>
            <a:endParaRPr lang="en-US" sz="1400" dirty="0"/>
          </a:p>
          <a:p>
            <a:pPr marL="0" indent="0">
              <a:lnSpc>
                <a:spcPct val="100000"/>
              </a:lnSpc>
              <a:spcBef>
                <a:spcPts val="0"/>
              </a:spcBef>
              <a:buNone/>
            </a:pPr>
            <a:endParaRPr lang="en-US" sz="1400" dirty="0"/>
          </a:p>
          <a:p>
            <a:pPr marL="0" indent="0">
              <a:lnSpc>
                <a:spcPct val="100000"/>
              </a:lnSpc>
              <a:spcBef>
                <a:spcPts val="0"/>
              </a:spcBef>
              <a:buNone/>
            </a:pPr>
            <a:endParaRPr lang="en-US" sz="1200" dirty="0"/>
          </a:p>
          <a:p>
            <a:pPr marL="0" indent="0">
              <a:lnSpc>
                <a:spcPct val="100000"/>
              </a:lnSpc>
              <a:spcBef>
                <a:spcPts val="0"/>
              </a:spcBef>
              <a:buNone/>
            </a:pPr>
            <a:endParaRPr lang="en-US" sz="1200" dirty="0"/>
          </a:p>
          <a:p>
            <a:pPr marL="0" indent="0">
              <a:lnSpc>
                <a:spcPct val="100000"/>
              </a:lnSpc>
              <a:spcBef>
                <a:spcPts val="0"/>
              </a:spcBef>
              <a:buFont typeface="Arial" panose="020B0604020202020204" pitchFamily="34" charset="0"/>
              <a:buNone/>
            </a:pPr>
            <a:endParaRPr lang="en-US" sz="1200" dirty="0"/>
          </a:p>
          <a:p>
            <a:pPr marL="0" indent="0">
              <a:buFont typeface="Arial" panose="020B0604020202020204" pitchFamily="34" charset="0"/>
              <a:buNone/>
            </a:pPr>
            <a:endParaRPr lang="en-US" sz="1600" dirty="0"/>
          </a:p>
        </p:txBody>
      </p:sp>
      <p:cxnSp>
        <p:nvCxnSpPr>
          <p:cNvPr id="8" name="Straight Connector 7">
            <a:extLst>
              <a:ext uri="{FF2B5EF4-FFF2-40B4-BE49-F238E27FC236}">
                <a16:creationId xmlns:a16="http://schemas.microsoft.com/office/drawing/2014/main" id="{DAB0C57D-D781-4B2C-7CFD-70878D3EAE99}"/>
              </a:ext>
            </a:extLst>
          </p:cNvPr>
          <p:cNvCxnSpPr>
            <a:cxnSpLocks/>
          </p:cNvCxnSpPr>
          <p:nvPr/>
        </p:nvCxnSpPr>
        <p:spPr>
          <a:xfrm>
            <a:off x="163961" y="1354810"/>
            <a:ext cx="8801100" cy="0"/>
          </a:xfrm>
          <a:prstGeom prst="line">
            <a:avLst/>
          </a:prstGeom>
          <a:ln w="9525">
            <a:solidFill>
              <a:srgbClr val="0396A6"/>
            </a:solidFill>
          </a:ln>
        </p:spPr>
        <p:style>
          <a:lnRef idx="2">
            <a:schemeClr val="accent1"/>
          </a:lnRef>
          <a:fillRef idx="0">
            <a:schemeClr val="accent1"/>
          </a:fillRef>
          <a:effectRef idx="1">
            <a:schemeClr val="accent1"/>
          </a:effectRef>
          <a:fontRef idx="minor">
            <a:schemeClr val="tx1"/>
          </a:fontRef>
        </p:style>
      </p:cxnSp>
      <p:sp>
        <p:nvSpPr>
          <p:cNvPr id="12" name="Content Placeholder 2">
            <a:extLst>
              <a:ext uri="{FF2B5EF4-FFF2-40B4-BE49-F238E27FC236}">
                <a16:creationId xmlns:a16="http://schemas.microsoft.com/office/drawing/2014/main" id="{173CD88E-C220-9979-FFDF-527D0FA53A90}"/>
              </a:ext>
            </a:extLst>
          </p:cNvPr>
          <p:cNvSpPr txBox="1">
            <a:spLocks/>
          </p:cNvSpPr>
          <p:nvPr/>
        </p:nvSpPr>
        <p:spPr>
          <a:xfrm>
            <a:off x="7174111" y="3977703"/>
            <a:ext cx="1786601"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b="1" dirty="0">
                <a:solidFill>
                  <a:srgbClr val="021836"/>
                </a:solidFill>
              </a:rPr>
              <a:t>Priority Labels</a:t>
            </a:r>
          </a:p>
        </p:txBody>
      </p:sp>
      <p:graphicFrame>
        <p:nvGraphicFramePr>
          <p:cNvPr id="13" name="Table 12">
            <a:extLst>
              <a:ext uri="{FF2B5EF4-FFF2-40B4-BE49-F238E27FC236}">
                <a16:creationId xmlns:a16="http://schemas.microsoft.com/office/drawing/2014/main" id="{C11DB8D4-822F-6D6A-CAAE-C527563328F7}"/>
              </a:ext>
            </a:extLst>
          </p:cNvPr>
          <p:cNvGraphicFramePr>
            <a:graphicFrameLocks noGrp="1"/>
          </p:cNvGraphicFramePr>
          <p:nvPr/>
        </p:nvGraphicFramePr>
        <p:xfrm>
          <a:off x="6985739" y="4189183"/>
          <a:ext cx="1713970" cy="1036320"/>
        </p:xfrm>
        <a:graphic>
          <a:graphicData uri="http://schemas.openxmlformats.org/drawingml/2006/table">
            <a:tbl>
              <a:tblPr firstRow="1" bandRow="1">
                <a:effectLst/>
                <a:tableStyleId>{2D5ABB26-0587-4C30-8999-92F81FD0307C}</a:tableStyleId>
              </a:tblPr>
              <a:tblGrid>
                <a:gridCol w="856985">
                  <a:extLst>
                    <a:ext uri="{9D8B030D-6E8A-4147-A177-3AD203B41FA5}">
                      <a16:colId xmlns:a16="http://schemas.microsoft.com/office/drawing/2014/main" val="2728554600"/>
                    </a:ext>
                  </a:extLst>
                </a:gridCol>
                <a:gridCol w="856985">
                  <a:extLst>
                    <a:ext uri="{9D8B030D-6E8A-4147-A177-3AD203B41FA5}">
                      <a16:colId xmlns:a16="http://schemas.microsoft.com/office/drawing/2014/main" val="682756451"/>
                    </a:ext>
                  </a:extLst>
                </a:gridCol>
              </a:tblGrid>
              <a:tr h="220027">
                <a:tc>
                  <a:txBody>
                    <a:bodyPr/>
                    <a:lstStyle/>
                    <a:p>
                      <a:pPr algn="r"/>
                      <a:r>
                        <a:rPr lang="en-US" sz="1100" b="1" dirty="0">
                          <a:solidFill>
                            <a:srgbClr val="021836"/>
                          </a:solidFill>
                        </a:rPr>
                        <a:t>Score</a:t>
                      </a:r>
                    </a:p>
                  </a:txBody>
                  <a:tcPr marL="45720" marR="45720">
                    <a:lnR w="12700" cap="flat" cmpd="sng" algn="ctr">
                      <a:noFill/>
                      <a:prstDash val="solid"/>
                      <a:round/>
                      <a:headEnd type="none" w="med" len="med"/>
                      <a:tailEnd type="none" w="med" len="med"/>
                    </a:lnR>
                    <a:lnB w="12700" cap="flat" cmpd="sng" algn="ctr">
                      <a:solidFill>
                        <a:srgbClr val="0396A6"/>
                      </a:solidFill>
                      <a:prstDash val="solid"/>
                      <a:round/>
                      <a:headEnd type="none" w="med" len="med"/>
                      <a:tailEnd type="none" w="med" len="med"/>
                    </a:lnB>
                  </a:tcPr>
                </a:tc>
                <a:tc>
                  <a:txBody>
                    <a:bodyPr/>
                    <a:lstStyle/>
                    <a:p>
                      <a:r>
                        <a:rPr lang="en-US" sz="1100" b="1" dirty="0">
                          <a:solidFill>
                            <a:srgbClr val="021836"/>
                          </a:solidFill>
                        </a:rPr>
                        <a:t>Priority</a:t>
                      </a:r>
                    </a:p>
                  </a:txBody>
                  <a:tcPr marL="45720" marR="45720">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rgbClr val="0396A6"/>
                      </a:solidFill>
                      <a:prstDash val="solid"/>
                      <a:round/>
                      <a:headEnd type="none" w="med" len="med"/>
                      <a:tailEnd type="none" w="med" len="med"/>
                    </a:lnB>
                  </a:tcPr>
                </a:tc>
                <a:extLst>
                  <a:ext uri="{0D108BD9-81ED-4DB2-BD59-A6C34878D82A}">
                    <a16:rowId xmlns:a16="http://schemas.microsoft.com/office/drawing/2014/main" val="3173400939"/>
                  </a:ext>
                </a:extLst>
              </a:tr>
              <a:tr h="220027">
                <a:tc>
                  <a:txBody>
                    <a:bodyPr/>
                    <a:lstStyle/>
                    <a:p>
                      <a:pPr algn="r"/>
                      <a:r>
                        <a:rPr lang="en-US" sz="1100" dirty="0"/>
                        <a:t>12+</a:t>
                      </a:r>
                    </a:p>
                  </a:txBody>
                  <a:tcPr marL="45720" marR="45720">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100" dirty="0"/>
                        <a:t>High</a:t>
                      </a:r>
                    </a:p>
                  </a:txBody>
                  <a:tcPr marL="45720" marR="45720">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185261034"/>
                  </a:ext>
                </a:extLst>
              </a:tr>
              <a:tr h="220027">
                <a:tc>
                  <a:txBody>
                    <a:bodyPr/>
                    <a:lstStyle/>
                    <a:p>
                      <a:pPr algn="r"/>
                      <a:r>
                        <a:rPr lang="en-US" sz="1100" dirty="0"/>
                        <a:t>8-11</a:t>
                      </a:r>
                    </a:p>
                  </a:txBody>
                  <a:tcPr marL="45720" marR="4572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100" dirty="0"/>
                        <a:t>Medium</a:t>
                      </a:r>
                    </a:p>
                  </a:txBody>
                  <a:tcPr marL="45720" marR="45720">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228643947"/>
                  </a:ext>
                </a:extLst>
              </a:tr>
              <a:tr h="220027">
                <a:tc>
                  <a:txBody>
                    <a:bodyPr/>
                    <a:lstStyle/>
                    <a:p>
                      <a:pPr algn="r"/>
                      <a:r>
                        <a:rPr lang="en-US" sz="1100" dirty="0"/>
                        <a:t>7 or below</a:t>
                      </a:r>
                    </a:p>
                  </a:txBody>
                  <a:tcPr marL="45720" marR="4572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sz="1100" dirty="0"/>
                        <a:t>Low</a:t>
                      </a:r>
                    </a:p>
                  </a:txBody>
                  <a:tcPr marL="45720" marR="45720">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781764621"/>
                  </a:ext>
                </a:extLst>
              </a:tr>
            </a:tbl>
          </a:graphicData>
        </a:graphic>
      </p:graphicFrame>
      <p:graphicFrame>
        <p:nvGraphicFramePr>
          <p:cNvPr id="14" name="Table 13">
            <a:extLst>
              <a:ext uri="{FF2B5EF4-FFF2-40B4-BE49-F238E27FC236}">
                <a16:creationId xmlns:a16="http://schemas.microsoft.com/office/drawing/2014/main" id="{AC56D3A7-CED2-8048-82B6-01647736FC90}"/>
              </a:ext>
            </a:extLst>
          </p:cNvPr>
          <p:cNvGraphicFramePr>
            <a:graphicFrameLocks noGrp="1"/>
          </p:cNvGraphicFramePr>
          <p:nvPr/>
        </p:nvGraphicFramePr>
        <p:xfrm>
          <a:off x="446315" y="5412760"/>
          <a:ext cx="7982118" cy="853440"/>
        </p:xfrm>
        <a:graphic>
          <a:graphicData uri="http://schemas.openxmlformats.org/drawingml/2006/table">
            <a:tbl>
              <a:tblPr firstRow="1" bandRow="1">
                <a:tableStyleId>{2D5ABB26-0587-4C30-8999-92F81FD0307C}</a:tableStyleId>
              </a:tblPr>
              <a:tblGrid>
                <a:gridCol w="1447799">
                  <a:extLst>
                    <a:ext uri="{9D8B030D-6E8A-4147-A177-3AD203B41FA5}">
                      <a16:colId xmlns:a16="http://schemas.microsoft.com/office/drawing/2014/main" val="2728554600"/>
                    </a:ext>
                  </a:extLst>
                </a:gridCol>
                <a:gridCol w="1012372">
                  <a:extLst>
                    <a:ext uri="{9D8B030D-6E8A-4147-A177-3AD203B41FA5}">
                      <a16:colId xmlns:a16="http://schemas.microsoft.com/office/drawing/2014/main" val="682756451"/>
                    </a:ext>
                  </a:extLst>
                </a:gridCol>
                <a:gridCol w="838200">
                  <a:extLst>
                    <a:ext uri="{9D8B030D-6E8A-4147-A177-3AD203B41FA5}">
                      <a16:colId xmlns:a16="http://schemas.microsoft.com/office/drawing/2014/main" val="2426205724"/>
                    </a:ext>
                  </a:extLst>
                </a:gridCol>
                <a:gridCol w="849085">
                  <a:extLst>
                    <a:ext uri="{9D8B030D-6E8A-4147-A177-3AD203B41FA5}">
                      <a16:colId xmlns:a16="http://schemas.microsoft.com/office/drawing/2014/main" val="3581379408"/>
                    </a:ext>
                  </a:extLst>
                </a:gridCol>
                <a:gridCol w="979715">
                  <a:extLst>
                    <a:ext uri="{9D8B030D-6E8A-4147-A177-3AD203B41FA5}">
                      <a16:colId xmlns:a16="http://schemas.microsoft.com/office/drawing/2014/main" val="694866188"/>
                    </a:ext>
                  </a:extLst>
                </a:gridCol>
                <a:gridCol w="729343">
                  <a:extLst>
                    <a:ext uri="{9D8B030D-6E8A-4147-A177-3AD203B41FA5}">
                      <a16:colId xmlns:a16="http://schemas.microsoft.com/office/drawing/2014/main" val="2304919896"/>
                    </a:ext>
                  </a:extLst>
                </a:gridCol>
                <a:gridCol w="729342">
                  <a:extLst>
                    <a:ext uri="{9D8B030D-6E8A-4147-A177-3AD203B41FA5}">
                      <a16:colId xmlns:a16="http://schemas.microsoft.com/office/drawing/2014/main" val="3197853320"/>
                    </a:ext>
                  </a:extLst>
                </a:gridCol>
                <a:gridCol w="707572">
                  <a:extLst>
                    <a:ext uri="{9D8B030D-6E8A-4147-A177-3AD203B41FA5}">
                      <a16:colId xmlns:a16="http://schemas.microsoft.com/office/drawing/2014/main" val="635464521"/>
                    </a:ext>
                  </a:extLst>
                </a:gridCol>
                <a:gridCol w="688690">
                  <a:extLst>
                    <a:ext uri="{9D8B030D-6E8A-4147-A177-3AD203B41FA5}">
                      <a16:colId xmlns:a16="http://schemas.microsoft.com/office/drawing/2014/main" val="175040511"/>
                    </a:ext>
                  </a:extLst>
                </a:gridCol>
              </a:tblGrid>
              <a:tr h="220027">
                <a:tc>
                  <a:txBody>
                    <a:bodyPr/>
                    <a:lstStyle/>
                    <a:p>
                      <a:r>
                        <a:rPr lang="en-US" sz="1100" b="1" dirty="0">
                          <a:solidFill>
                            <a:srgbClr val="021836"/>
                          </a:solidFill>
                        </a:rPr>
                        <a:t>Opportunity</a:t>
                      </a:r>
                    </a:p>
                  </a:txBody>
                  <a:tcPr marL="45720" marR="45720">
                    <a:lnR w="12700" cap="flat" cmpd="sng" algn="ctr">
                      <a:solidFill>
                        <a:schemeClr val="bg1">
                          <a:lumMod val="75000"/>
                        </a:schemeClr>
                      </a:solidFill>
                      <a:prstDash val="solid"/>
                      <a:round/>
                      <a:headEnd type="none" w="med" len="med"/>
                      <a:tailEnd type="none" w="med" len="med"/>
                    </a:lnR>
                    <a:lnB w="12700" cap="flat" cmpd="sng" algn="ctr">
                      <a:solidFill>
                        <a:srgbClr val="0396A6"/>
                      </a:solidFill>
                      <a:prstDash val="solid"/>
                      <a:round/>
                      <a:headEnd type="none" w="med" len="med"/>
                      <a:tailEnd type="none" w="med" len="med"/>
                    </a:lnB>
                  </a:tcPr>
                </a:tc>
                <a:tc>
                  <a:txBody>
                    <a:bodyPr/>
                    <a:lstStyle/>
                    <a:p>
                      <a:r>
                        <a:rPr lang="en-US" sz="1100" b="1" dirty="0">
                          <a:solidFill>
                            <a:srgbClr val="021836"/>
                          </a:solidFill>
                        </a:rPr>
                        <a:t>Source Theme</a:t>
                      </a:r>
                    </a:p>
                  </a:txBody>
                  <a:tcPr marL="45720" marR="4572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B w="12700" cap="flat" cmpd="sng" algn="ctr">
                      <a:solidFill>
                        <a:srgbClr val="0396A6"/>
                      </a:solidFill>
                      <a:prstDash val="solid"/>
                      <a:round/>
                      <a:headEnd type="none" w="med" len="med"/>
                      <a:tailEnd type="none" w="med" len="med"/>
                    </a:lnB>
                  </a:tcPr>
                </a:tc>
                <a:tc>
                  <a:txBody>
                    <a:bodyPr/>
                    <a:lstStyle/>
                    <a:p>
                      <a:r>
                        <a:rPr lang="en-US" sz="1100" b="1" dirty="0">
                          <a:solidFill>
                            <a:srgbClr val="021836"/>
                          </a:solidFill>
                        </a:rPr>
                        <a:t>Frequency</a:t>
                      </a:r>
                    </a:p>
                  </a:txBody>
                  <a:tcPr marL="45720" marR="4572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B w="12700" cap="flat" cmpd="sng" algn="ctr">
                      <a:solidFill>
                        <a:srgbClr val="0396A6"/>
                      </a:solidFill>
                      <a:prstDash val="solid"/>
                      <a:round/>
                      <a:headEnd type="none" w="med" len="med"/>
                      <a:tailEnd type="none" w="med" len="med"/>
                    </a:lnB>
                  </a:tcPr>
                </a:tc>
                <a:tc>
                  <a:txBody>
                    <a:bodyPr/>
                    <a:lstStyle/>
                    <a:p>
                      <a:r>
                        <a:rPr lang="en-US" sz="1100" b="1" dirty="0">
                          <a:solidFill>
                            <a:srgbClr val="021836"/>
                          </a:solidFill>
                        </a:rPr>
                        <a:t>Pain Level</a:t>
                      </a:r>
                    </a:p>
                  </a:txBody>
                  <a:tcPr marL="45720" marR="4572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B w="12700" cap="flat" cmpd="sng" algn="ctr">
                      <a:solidFill>
                        <a:srgbClr val="0396A6"/>
                      </a:solidFill>
                      <a:prstDash val="solid"/>
                      <a:round/>
                      <a:headEnd type="none" w="med" len="med"/>
                      <a:tailEnd type="none" w="med" len="med"/>
                    </a:lnB>
                  </a:tcPr>
                </a:tc>
                <a:tc>
                  <a:txBody>
                    <a:bodyPr/>
                    <a:lstStyle/>
                    <a:p>
                      <a:r>
                        <a:rPr lang="en-US" sz="1100" b="1" dirty="0">
                          <a:solidFill>
                            <a:srgbClr val="021836"/>
                          </a:solidFill>
                        </a:rPr>
                        <a:t>Complexity</a:t>
                      </a:r>
                    </a:p>
                  </a:txBody>
                  <a:tcPr marL="45720" marR="4572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B w="12700" cap="flat" cmpd="sng" algn="ctr">
                      <a:solidFill>
                        <a:srgbClr val="0396A6"/>
                      </a:solidFill>
                      <a:prstDash val="solid"/>
                      <a:round/>
                      <a:headEnd type="none" w="med" len="med"/>
                      <a:tailEnd type="none" w="med" len="med"/>
                    </a:lnB>
                  </a:tcPr>
                </a:tc>
                <a:tc>
                  <a:txBody>
                    <a:bodyPr/>
                    <a:lstStyle/>
                    <a:p>
                      <a:r>
                        <a:rPr lang="en-US" sz="1100" b="1" dirty="0">
                          <a:solidFill>
                            <a:srgbClr val="021836"/>
                          </a:solidFill>
                        </a:rPr>
                        <a:t>AI Fit</a:t>
                      </a:r>
                    </a:p>
                  </a:txBody>
                  <a:tcPr marL="45720" marR="4572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B w="12700" cap="flat" cmpd="sng" algn="ctr">
                      <a:solidFill>
                        <a:srgbClr val="0396A6"/>
                      </a:solidFill>
                      <a:prstDash val="solid"/>
                      <a:round/>
                      <a:headEnd type="none" w="med" len="med"/>
                      <a:tailEnd type="none" w="med" len="med"/>
                    </a:lnB>
                  </a:tcPr>
                </a:tc>
                <a:tc>
                  <a:txBody>
                    <a:bodyPr/>
                    <a:lstStyle/>
                    <a:p>
                      <a:r>
                        <a:rPr lang="en-US" sz="1100" b="1" dirty="0">
                          <a:solidFill>
                            <a:srgbClr val="021836"/>
                          </a:solidFill>
                        </a:rPr>
                        <a:t>Risk</a:t>
                      </a:r>
                    </a:p>
                  </a:txBody>
                  <a:tcPr marL="45720" marR="4572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B w="12700" cap="flat" cmpd="sng" algn="ctr">
                      <a:solidFill>
                        <a:srgbClr val="0396A6"/>
                      </a:solidFill>
                      <a:prstDash val="solid"/>
                      <a:round/>
                      <a:headEnd type="none" w="med" len="med"/>
                      <a:tailEnd type="none" w="med" len="med"/>
                    </a:lnB>
                  </a:tcPr>
                </a:tc>
                <a:tc>
                  <a:txBody>
                    <a:bodyPr/>
                    <a:lstStyle/>
                    <a:p>
                      <a:r>
                        <a:rPr lang="en-US" sz="1100" b="1" dirty="0">
                          <a:solidFill>
                            <a:srgbClr val="021836"/>
                          </a:solidFill>
                        </a:rPr>
                        <a:t>Business Impact</a:t>
                      </a:r>
                    </a:p>
                  </a:txBody>
                  <a:tcPr marL="45720" marR="4572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B w="12700" cap="flat" cmpd="sng" algn="ctr">
                      <a:solidFill>
                        <a:srgbClr val="0396A6"/>
                      </a:solidFill>
                      <a:prstDash val="solid"/>
                      <a:round/>
                      <a:headEnd type="none" w="med" len="med"/>
                      <a:tailEnd type="none" w="med" len="med"/>
                    </a:lnB>
                  </a:tcPr>
                </a:tc>
                <a:tc>
                  <a:txBody>
                    <a:bodyPr/>
                    <a:lstStyle/>
                    <a:p>
                      <a:r>
                        <a:rPr lang="en-US" sz="1100" b="1" dirty="0">
                          <a:solidFill>
                            <a:srgbClr val="021836"/>
                          </a:solidFill>
                        </a:rPr>
                        <a:t>Priority</a:t>
                      </a:r>
                    </a:p>
                  </a:txBody>
                  <a:tcPr marL="45720" marR="45720">
                    <a:lnL w="12700" cap="flat" cmpd="sng" algn="ctr">
                      <a:solidFill>
                        <a:schemeClr val="bg1">
                          <a:lumMod val="75000"/>
                        </a:schemeClr>
                      </a:solidFill>
                      <a:prstDash val="solid"/>
                      <a:round/>
                      <a:headEnd type="none" w="med" len="med"/>
                      <a:tailEnd type="none" w="med" len="med"/>
                    </a:lnL>
                    <a:lnB w="12700" cap="flat" cmpd="sng" algn="ctr">
                      <a:solidFill>
                        <a:srgbClr val="0396A6"/>
                      </a:solidFill>
                      <a:prstDash val="solid"/>
                      <a:round/>
                      <a:headEnd type="none" w="med" len="med"/>
                      <a:tailEnd type="none" w="med" len="med"/>
                    </a:lnB>
                  </a:tcPr>
                </a:tc>
                <a:extLst>
                  <a:ext uri="{0D108BD9-81ED-4DB2-BD59-A6C34878D82A}">
                    <a16:rowId xmlns:a16="http://schemas.microsoft.com/office/drawing/2014/main" val="3173400939"/>
                  </a:ext>
                </a:extLst>
              </a:tr>
              <a:tr h="220027">
                <a:tc>
                  <a:txBody>
                    <a:bodyPr/>
                    <a:lstStyle/>
                    <a:p>
                      <a:r>
                        <a:rPr lang="en-US" sz="1100" dirty="0"/>
                        <a:t>Automate meeting summary drafts</a:t>
                      </a:r>
                    </a:p>
                  </a:txBody>
                  <a:tcPr marL="45720" marR="45720">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sz="1100" dirty="0"/>
                        <a:t>People/ Adoption</a:t>
                      </a:r>
                    </a:p>
                  </a:txBody>
                  <a:tcPr marL="45720" marR="4572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sz="1100" dirty="0"/>
                        <a:t>5</a:t>
                      </a:r>
                    </a:p>
                  </a:txBody>
                  <a:tcPr marL="45720" marR="4572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sz="1100" dirty="0"/>
                        <a:t>3</a:t>
                      </a:r>
                    </a:p>
                  </a:txBody>
                  <a:tcPr marL="45720" marR="4572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sz="1100" dirty="0"/>
                        <a:t>2</a:t>
                      </a:r>
                    </a:p>
                  </a:txBody>
                  <a:tcPr marL="45720" marR="4572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sz="1100" dirty="0"/>
                        <a:t>5</a:t>
                      </a:r>
                    </a:p>
                  </a:txBody>
                  <a:tcPr marL="45720" marR="4572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sz="1100" dirty="0"/>
                        <a:t>2</a:t>
                      </a:r>
                    </a:p>
                  </a:txBody>
                  <a:tcPr marL="45720" marR="4572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sz="1100" dirty="0"/>
                        <a:t>4</a:t>
                      </a:r>
                    </a:p>
                  </a:txBody>
                  <a:tcPr marL="45720" marR="4572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sz="1100" dirty="0"/>
                        <a:t>13 (High)</a:t>
                      </a:r>
                    </a:p>
                  </a:txBody>
                  <a:tcPr marL="45720" marR="45720">
                    <a:lnL w="12700" cap="flat" cmpd="sng" algn="ctr">
                      <a:solidFill>
                        <a:schemeClr val="bg1">
                          <a:lumMod val="75000"/>
                        </a:schemeClr>
                      </a:solidFill>
                      <a:prstDash val="solid"/>
                      <a:round/>
                      <a:headEnd type="none" w="med" len="med"/>
                      <a:tailEnd type="none" w="med" len="med"/>
                    </a:lnL>
                    <a:lnT w="12700" cap="flat" cmpd="sng" algn="ctr">
                      <a:solidFill>
                        <a:srgbClr val="0396A6"/>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185261034"/>
                  </a:ext>
                </a:extLst>
              </a:tr>
            </a:tbl>
          </a:graphicData>
        </a:graphic>
      </p:graphicFrame>
      <p:sp>
        <p:nvSpPr>
          <p:cNvPr id="17" name="Left Brace 16">
            <a:extLst>
              <a:ext uri="{FF2B5EF4-FFF2-40B4-BE49-F238E27FC236}">
                <a16:creationId xmlns:a16="http://schemas.microsoft.com/office/drawing/2014/main" id="{6CC94BAF-314D-8F69-CC09-270723C38ADC}"/>
              </a:ext>
            </a:extLst>
          </p:cNvPr>
          <p:cNvSpPr/>
          <p:nvPr/>
        </p:nvSpPr>
        <p:spPr>
          <a:xfrm>
            <a:off x="6406668" y="4292547"/>
            <a:ext cx="318068" cy="927743"/>
          </a:xfrm>
          <a:prstGeom prst="leftBrace">
            <a:avLst/>
          </a:prstGeom>
          <a:ln>
            <a:solidFill>
              <a:srgbClr val="0396A6"/>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9" name="Content Placeholder 2">
            <a:extLst>
              <a:ext uri="{FF2B5EF4-FFF2-40B4-BE49-F238E27FC236}">
                <a16:creationId xmlns:a16="http://schemas.microsoft.com/office/drawing/2014/main" id="{494824D9-1610-6854-9923-E0DE68EF1B7D}"/>
              </a:ext>
            </a:extLst>
          </p:cNvPr>
          <p:cNvSpPr txBox="1">
            <a:spLocks/>
          </p:cNvSpPr>
          <p:nvPr/>
        </p:nvSpPr>
        <p:spPr>
          <a:xfrm>
            <a:off x="393934" y="5197913"/>
            <a:ext cx="1786601"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b="1" dirty="0">
                <a:solidFill>
                  <a:srgbClr val="021836"/>
                </a:solidFill>
              </a:rPr>
              <a:t>Example Row:</a:t>
            </a:r>
          </a:p>
        </p:txBody>
      </p:sp>
      <p:sp>
        <p:nvSpPr>
          <p:cNvPr id="5" name="Content Placeholder 2">
            <a:extLst>
              <a:ext uri="{FF2B5EF4-FFF2-40B4-BE49-F238E27FC236}">
                <a16:creationId xmlns:a16="http://schemas.microsoft.com/office/drawing/2014/main" id="{F891D8D1-ED60-980D-7806-CEFCAD37FAA9}"/>
              </a:ext>
            </a:extLst>
          </p:cNvPr>
          <p:cNvSpPr txBox="1">
            <a:spLocks/>
          </p:cNvSpPr>
          <p:nvPr/>
        </p:nvSpPr>
        <p:spPr>
          <a:xfrm>
            <a:off x="6544763" y="2397728"/>
            <a:ext cx="2415949" cy="14667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sz="1400" b="1" dirty="0">
                <a:solidFill>
                  <a:srgbClr val="021836"/>
                </a:solidFill>
              </a:rPr>
              <a:t>Continuity Risk*</a:t>
            </a:r>
          </a:p>
          <a:p>
            <a:pPr marL="0" indent="0">
              <a:lnSpc>
                <a:spcPct val="100000"/>
              </a:lnSpc>
              <a:spcBef>
                <a:spcPts val="0"/>
              </a:spcBef>
              <a:buNone/>
            </a:pPr>
            <a:r>
              <a:rPr lang="en-US" sz="1200" dirty="0"/>
              <a:t>1 = Low Risk, 5 = High Risk</a:t>
            </a:r>
          </a:p>
          <a:p>
            <a:pPr marL="0" indent="0">
              <a:lnSpc>
                <a:spcPct val="100000"/>
              </a:lnSpc>
              <a:spcBef>
                <a:spcPts val="0"/>
              </a:spcBef>
              <a:buNone/>
            </a:pPr>
            <a:endParaRPr lang="en-US" sz="1200" dirty="0"/>
          </a:p>
          <a:p>
            <a:pPr marL="0" indent="0">
              <a:lnSpc>
                <a:spcPct val="100000"/>
              </a:lnSpc>
              <a:spcBef>
                <a:spcPts val="0"/>
              </a:spcBef>
              <a:buNone/>
            </a:pPr>
            <a:endParaRPr lang="en-US" sz="1400" dirty="0"/>
          </a:p>
          <a:p>
            <a:pPr marL="0" indent="0">
              <a:lnSpc>
                <a:spcPct val="100000"/>
              </a:lnSpc>
              <a:spcBef>
                <a:spcPts val="0"/>
              </a:spcBef>
              <a:buNone/>
            </a:pPr>
            <a:endParaRPr lang="en-US" sz="1400" dirty="0"/>
          </a:p>
          <a:p>
            <a:pPr marL="0" indent="0">
              <a:lnSpc>
                <a:spcPct val="100000"/>
              </a:lnSpc>
              <a:spcBef>
                <a:spcPts val="0"/>
              </a:spcBef>
              <a:buNone/>
            </a:pPr>
            <a:endParaRPr lang="en-US" sz="1200" dirty="0"/>
          </a:p>
          <a:p>
            <a:pPr marL="0" indent="0">
              <a:lnSpc>
                <a:spcPct val="100000"/>
              </a:lnSpc>
              <a:spcBef>
                <a:spcPts val="0"/>
              </a:spcBef>
              <a:buNone/>
            </a:pPr>
            <a:endParaRPr lang="en-US" sz="1200" dirty="0"/>
          </a:p>
          <a:p>
            <a:pPr marL="0" indent="0">
              <a:lnSpc>
                <a:spcPct val="100000"/>
              </a:lnSpc>
              <a:spcBef>
                <a:spcPts val="0"/>
              </a:spcBef>
              <a:buFont typeface="Arial" panose="020B0604020202020204" pitchFamily="34" charset="0"/>
              <a:buNone/>
            </a:pPr>
            <a:endParaRPr lang="en-US" sz="1200" dirty="0"/>
          </a:p>
          <a:p>
            <a:pPr marL="0" indent="0">
              <a:buFont typeface="Arial" panose="020B0604020202020204" pitchFamily="34" charset="0"/>
              <a:buNone/>
            </a:pPr>
            <a:endParaRPr lang="en-US" sz="1600" dirty="0"/>
          </a:p>
        </p:txBody>
      </p:sp>
      <p:sp>
        <p:nvSpPr>
          <p:cNvPr id="15" name="TextBox 14">
            <a:extLst>
              <a:ext uri="{FF2B5EF4-FFF2-40B4-BE49-F238E27FC236}">
                <a16:creationId xmlns:a16="http://schemas.microsoft.com/office/drawing/2014/main" id="{4B9BD5D5-EA81-DA59-7C53-6870E0AD7AC1}"/>
              </a:ext>
            </a:extLst>
          </p:cNvPr>
          <p:cNvSpPr txBox="1"/>
          <p:nvPr/>
        </p:nvSpPr>
        <p:spPr>
          <a:xfrm>
            <a:off x="446315" y="6275675"/>
            <a:ext cx="7889163" cy="430887"/>
          </a:xfrm>
          <a:prstGeom prst="rect">
            <a:avLst/>
          </a:prstGeom>
          <a:noFill/>
        </p:spPr>
        <p:txBody>
          <a:bodyPr wrap="square" rtlCol="0">
            <a:spAutoFit/>
          </a:bodyPr>
          <a:lstStyle/>
          <a:p>
            <a:r>
              <a:rPr lang="en-US" sz="1050" b="1" i="1" dirty="0"/>
              <a:t>*Continuity Risk </a:t>
            </a:r>
            <a:r>
              <a:rPr lang="en-US" sz="1050" i="1" dirty="0"/>
              <a:t>is tracked separately and does not affect the Priority Score. It identifies operational dependencies that should be addressed if the opportunity advances.</a:t>
            </a:r>
          </a:p>
        </p:txBody>
      </p:sp>
      <p:sp>
        <p:nvSpPr>
          <p:cNvPr id="16" name="TextBox 15">
            <a:extLst>
              <a:ext uri="{FF2B5EF4-FFF2-40B4-BE49-F238E27FC236}">
                <a16:creationId xmlns:a16="http://schemas.microsoft.com/office/drawing/2014/main" id="{99884991-D18C-9BC2-00AB-42797E3BF4E4}"/>
              </a:ext>
            </a:extLst>
          </p:cNvPr>
          <p:cNvSpPr txBox="1"/>
          <p:nvPr/>
        </p:nvSpPr>
        <p:spPr>
          <a:xfrm>
            <a:off x="4953000" y="64309"/>
            <a:ext cx="4084462" cy="276999"/>
          </a:xfrm>
          <a:prstGeom prst="rect">
            <a:avLst/>
          </a:prstGeom>
          <a:noFill/>
        </p:spPr>
        <p:txBody>
          <a:bodyPr wrap="square" rtlCol="0">
            <a:spAutoFit/>
          </a:bodyPr>
          <a:lstStyle/>
          <a:p>
            <a:r>
              <a:rPr lang="en-US" sz="1200" dirty="0">
                <a:solidFill>
                  <a:schemeClr val="bg1">
                    <a:lumMod val="50000"/>
                  </a:schemeClr>
                </a:solidFill>
              </a:rPr>
              <a:t>AI Operational Readiness • Opportunity Prioritization Matrix</a:t>
            </a:r>
          </a:p>
        </p:txBody>
      </p:sp>
    </p:spTree>
    <p:extLst>
      <p:ext uri="{BB962C8B-B14F-4D97-AF65-F5344CB8AC3E}">
        <p14:creationId xmlns:p14="http://schemas.microsoft.com/office/powerpoint/2010/main" val="9151868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671BA3-B71C-0F6C-5DCC-2BDE8C41B7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743337-A53D-43FB-1D3A-AFB5942472E9}"/>
              </a:ext>
            </a:extLst>
          </p:cNvPr>
          <p:cNvSpPr>
            <a:spLocks noGrp="1"/>
          </p:cNvSpPr>
          <p:nvPr>
            <p:ph type="title"/>
          </p:nvPr>
        </p:nvSpPr>
        <p:spPr>
          <a:xfrm>
            <a:off x="273534" y="-86630"/>
            <a:ext cx="7886700" cy="1325563"/>
          </a:xfrm>
        </p:spPr>
        <p:txBody>
          <a:bodyPr/>
          <a:lstStyle/>
          <a:p>
            <a:r>
              <a:rPr lang="en-US" dirty="0"/>
              <a:t>Scoring</a:t>
            </a:r>
          </a:p>
        </p:txBody>
      </p:sp>
      <p:graphicFrame>
        <p:nvGraphicFramePr>
          <p:cNvPr id="12" name="Table 11">
            <a:extLst>
              <a:ext uri="{FF2B5EF4-FFF2-40B4-BE49-F238E27FC236}">
                <a16:creationId xmlns:a16="http://schemas.microsoft.com/office/drawing/2014/main" id="{5C519044-4B54-A65B-E6AB-116A053585AF}"/>
              </a:ext>
            </a:extLst>
          </p:cNvPr>
          <p:cNvGraphicFramePr>
            <a:graphicFrameLocks noGrp="1"/>
          </p:cNvGraphicFramePr>
          <p:nvPr/>
        </p:nvGraphicFramePr>
        <p:xfrm>
          <a:off x="466639" y="1159615"/>
          <a:ext cx="8210723" cy="5242560"/>
        </p:xfrm>
        <a:graphic>
          <a:graphicData uri="http://schemas.openxmlformats.org/drawingml/2006/table">
            <a:tbl>
              <a:tblPr firstRow="1" bandRow="1">
                <a:effectLst/>
                <a:tableStyleId>{2D5ABB26-0587-4C30-8999-92F81FD0307C}</a:tableStyleId>
              </a:tblPr>
              <a:tblGrid>
                <a:gridCol w="3116867">
                  <a:extLst>
                    <a:ext uri="{9D8B030D-6E8A-4147-A177-3AD203B41FA5}">
                      <a16:colId xmlns:a16="http://schemas.microsoft.com/office/drawing/2014/main" val="2728554600"/>
                    </a:ext>
                  </a:extLst>
                </a:gridCol>
                <a:gridCol w="5093856">
                  <a:extLst>
                    <a:ext uri="{9D8B030D-6E8A-4147-A177-3AD203B41FA5}">
                      <a16:colId xmlns:a16="http://schemas.microsoft.com/office/drawing/2014/main" val="682756451"/>
                    </a:ext>
                  </a:extLst>
                </a:gridCol>
              </a:tblGrid>
              <a:tr h="220027">
                <a:tc>
                  <a:txBody>
                    <a:bodyPr/>
                    <a:lstStyle/>
                    <a:p>
                      <a:pPr algn="l"/>
                      <a:r>
                        <a:rPr lang="en-US" sz="1100" b="1" dirty="0">
                          <a:solidFill>
                            <a:srgbClr val="021836"/>
                          </a:solidFill>
                        </a:rPr>
                        <a:t>Factor</a:t>
                      </a:r>
                    </a:p>
                  </a:txBody>
                  <a:tcPr marL="45720" marR="45720">
                    <a:lnR w="12700" cap="flat" cmpd="sng" algn="ctr">
                      <a:noFill/>
                      <a:prstDash val="solid"/>
                      <a:round/>
                      <a:headEnd type="none" w="med" len="med"/>
                      <a:tailEnd type="none" w="med" len="med"/>
                    </a:lnR>
                    <a:lnB w="12700" cap="flat" cmpd="sng" algn="ctr">
                      <a:solidFill>
                        <a:srgbClr val="0396A6"/>
                      </a:solidFill>
                      <a:prstDash val="solid"/>
                      <a:round/>
                      <a:headEnd type="none" w="med" len="med"/>
                      <a:tailEnd type="none" w="med" len="med"/>
                    </a:lnB>
                  </a:tcPr>
                </a:tc>
                <a:tc>
                  <a:txBody>
                    <a:bodyPr/>
                    <a:lstStyle/>
                    <a:p>
                      <a:r>
                        <a:rPr lang="en-US" sz="1100" b="1" dirty="0">
                          <a:solidFill>
                            <a:srgbClr val="021836"/>
                          </a:solidFill>
                        </a:rPr>
                        <a:t>Score</a:t>
                      </a:r>
                    </a:p>
                  </a:txBody>
                  <a:tcPr marL="45720" marR="45720">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rgbClr val="0396A6"/>
                      </a:solidFill>
                      <a:prstDash val="solid"/>
                      <a:round/>
                      <a:headEnd type="none" w="med" len="med"/>
                      <a:tailEnd type="none" w="med" len="med"/>
                    </a:lnB>
                  </a:tcPr>
                </a:tc>
                <a:extLst>
                  <a:ext uri="{0D108BD9-81ED-4DB2-BD59-A6C34878D82A}">
                    <a16:rowId xmlns:a16="http://schemas.microsoft.com/office/drawing/2014/main" val="3173400939"/>
                  </a:ext>
                </a:extLst>
              </a:tr>
              <a:tr h="220027">
                <a:tc>
                  <a:txBody>
                    <a:bodyPr/>
                    <a:lstStyle/>
                    <a:p>
                      <a:pPr algn="l"/>
                      <a:r>
                        <a:rPr lang="en-US" sz="1100" dirty="0"/>
                        <a:t>Frequency</a:t>
                      </a:r>
                    </a:p>
                  </a:txBody>
                  <a:tcPr marL="45720" marR="45720">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100" dirty="0"/>
                        <a:t>1 – Rare/ occasional</a:t>
                      </a:r>
                    </a:p>
                    <a:p>
                      <a:r>
                        <a:rPr lang="en-US" sz="1100" dirty="0"/>
                        <a:t>2 - Monthly</a:t>
                      </a:r>
                    </a:p>
                    <a:p>
                      <a:r>
                        <a:rPr lang="en-US" sz="1100" dirty="0"/>
                        <a:t>3 - Weekly</a:t>
                      </a:r>
                    </a:p>
                    <a:p>
                      <a:r>
                        <a:rPr lang="en-US" sz="1100" dirty="0"/>
                        <a:t>4 - Daily</a:t>
                      </a:r>
                    </a:p>
                    <a:p>
                      <a:r>
                        <a:rPr lang="en-US" sz="1100" dirty="0"/>
                        <a:t>5 – Multiple times per day or constant</a:t>
                      </a:r>
                    </a:p>
                  </a:txBody>
                  <a:tcPr marL="45720" marR="45720">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185261034"/>
                  </a:ext>
                </a:extLst>
              </a:tr>
              <a:tr h="220027">
                <a:tc>
                  <a:txBody>
                    <a:bodyPr/>
                    <a:lstStyle/>
                    <a:p>
                      <a:pPr algn="l"/>
                      <a:r>
                        <a:rPr lang="en-US" sz="1100" dirty="0"/>
                        <a:t>Pain Level</a:t>
                      </a:r>
                    </a:p>
                  </a:txBody>
                  <a:tcPr marL="45720" marR="4572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100" dirty="0"/>
                        <a:t>1 – Minor inconvenience; work is generally manageable</a:t>
                      </a:r>
                    </a:p>
                    <a:p>
                      <a:r>
                        <a:rPr lang="en-US" sz="1100" dirty="0"/>
                        <a:t>2 – Noticeable friction or occasional frustration</a:t>
                      </a:r>
                    </a:p>
                    <a:p>
                      <a:r>
                        <a:rPr lang="en-US" sz="1100" dirty="0"/>
                        <a:t>3 – Meaningful inefficiency affecting productivity</a:t>
                      </a:r>
                    </a:p>
                    <a:p>
                      <a:r>
                        <a:rPr lang="en-US" sz="1100" dirty="0"/>
                        <a:t>4 – Significant bottleneck, or rework, or delay</a:t>
                      </a:r>
                    </a:p>
                    <a:p>
                      <a:r>
                        <a:rPr lang="en-US" sz="1100" dirty="0"/>
                        <a:t>5 – Major operational pain affecting outcomes, quality, or customer experience</a:t>
                      </a:r>
                    </a:p>
                  </a:txBody>
                  <a:tcPr marL="45720" marR="45720">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228643947"/>
                  </a:ext>
                </a:extLst>
              </a:tr>
              <a:tr h="220027">
                <a:tc>
                  <a:txBody>
                    <a:bodyPr/>
                    <a:lstStyle/>
                    <a:p>
                      <a:pPr algn="l"/>
                      <a:r>
                        <a:rPr lang="en-US" sz="1100" dirty="0"/>
                        <a:t>AI Fit</a:t>
                      </a:r>
                    </a:p>
                  </a:txBody>
                  <a:tcPr marL="45720" marR="4572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100" dirty="0"/>
                        <a:t>1 – Weak fit; AI adds little value</a:t>
                      </a:r>
                    </a:p>
                    <a:p>
                      <a:r>
                        <a:rPr lang="en-US" sz="1100" dirty="0"/>
                        <a:t>2 – Possible fit with human review</a:t>
                      </a:r>
                    </a:p>
                    <a:p>
                      <a:r>
                        <a:rPr lang="en-US" sz="1100" dirty="0"/>
                        <a:t>3 – Reasonable fit with human review</a:t>
                      </a:r>
                    </a:p>
                    <a:p>
                      <a:r>
                        <a:rPr lang="en-US" sz="1100" dirty="0"/>
                        <a:t>4 – Strong fit for assistive use</a:t>
                      </a:r>
                    </a:p>
                    <a:p>
                      <a:r>
                        <a:rPr lang="en-US" sz="1100" dirty="0"/>
                        <a:t>5 – Excellent fit; repeatable, language/knowledge-heavy, high-volume work</a:t>
                      </a:r>
                    </a:p>
                  </a:txBody>
                  <a:tcPr marL="45720" marR="45720">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781764621"/>
                  </a:ext>
                </a:extLst>
              </a:tr>
              <a:tr h="220027">
                <a:tc>
                  <a:txBody>
                    <a:bodyPr/>
                    <a:lstStyle/>
                    <a:p>
                      <a:pPr algn="l"/>
                      <a:r>
                        <a:rPr lang="en-US" sz="1100" dirty="0"/>
                        <a:t>Business Impact</a:t>
                      </a:r>
                    </a:p>
                  </a:txBody>
                  <a:tcPr marL="45720" marR="4572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100" dirty="0"/>
                        <a:t>1 – Low value / convenience only</a:t>
                      </a:r>
                    </a:p>
                    <a:p>
                      <a:r>
                        <a:rPr lang="en-US" sz="1100" dirty="0"/>
                        <a:t>2 – Small efficiency gain</a:t>
                      </a:r>
                    </a:p>
                    <a:p>
                      <a:r>
                        <a:rPr lang="en-US" sz="1100" dirty="0"/>
                        <a:t>3 – Meaningful team-level improvement</a:t>
                      </a:r>
                    </a:p>
                    <a:p>
                      <a:r>
                        <a:rPr lang="en-US" sz="1100" dirty="0"/>
                        <a:t>4 – Significant business value</a:t>
                      </a:r>
                    </a:p>
                    <a:p>
                      <a:r>
                        <a:rPr lang="en-US" sz="1100" dirty="0"/>
                        <a:t>5 – Strategic, financial, customer, or operational impact</a:t>
                      </a:r>
                    </a:p>
                  </a:txBody>
                  <a:tcPr marL="45720" marR="45720">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532030300"/>
                  </a:ext>
                </a:extLst>
              </a:tr>
              <a:tr h="220027">
                <a:tc>
                  <a:txBody>
                    <a:bodyPr/>
                    <a:lstStyle/>
                    <a:p>
                      <a:pPr algn="l"/>
                      <a:r>
                        <a:rPr lang="en-US" sz="1100" dirty="0"/>
                        <a:t>Continuity Risk</a:t>
                      </a:r>
                    </a:p>
                    <a:p>
                      <a:pPr algn="l"/>
                      <a:r>
                        <a:rPr lang="en-US" sz="1000" i="1" dirty="0"/>
                        <a:t>Tracked separately from the Priority Score to identify operational dependencies that should be addressed if the opportunity advances.</a:t>
                      </a:r>
                    </a:p>
                  </a:txBody>
                  <a:tcPr marL="45720" marR="4572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100" dirty="0"/>
                        <a:t>1 – AI outage causes inconvenience only. Work continues with little disruption.</a:t>
                      </a:r>
                    </a:p>
                    <a:p>
                      <a:r>
                        <a:rPr lang="en-US" sz="1100" dirty="0"/>
                        <a:t>2 – Work slows, but the team has a clear manual workaround or fallback tool. </a:t>
                      </a:r>
                    </a:p>
                    <a:p>
                      <a:r>
                        <a:rPr lang="en-US" sz="1100" dirty="0"/>
                        <a:t>3 - Workflow slows or causes manual workaround</a:t>
                      </a:r>
                    </a:p>
                    <a:p>
                      <a:r>
                        <a:rPr lang="en-US" sz="1100" dirty="0"/>
                        <a:t>4 – Major disruption. Customer, operational, compliance, or revenue impact is likely if outage lasts beyond 24-48 hours. </a:t>
                      </a:r>
                    </a:p>
                    <a:p>
                      <a:r>
                        <a:rPr lang="en-US" sz="1100" dirty="0"/>
                        <a:t>5 – Critical failure. Workflow stops, key expertise is unavailable, or the organization cannot recover without significant external help. </a:t>
                      </a:r>
                    </a:p>
                  </a:txBody>
                  <a:tcPr marL="45720" marR="45720">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60445542"/>
                  </a:ext>
                </a:extLst>
              </a:tr>
            </a:tbl>
          </a:graphicData>
        </a:graphic>
      </p:graphicFrame>
      <p:sp>
        <p:nvSpPr>
          <p:cNvPr id="4" name="TextBox 3">
            <a:extLst>
              <a:ext uri="{FF2B5EF4-FFF2-40B4-BE49-F238E27FC236}">
                <a16:creationId xmlns:a16="http://schemas.microsoft.com/office/drawing/2014/main" id="{BC64BF5E-E87C-CCDD-CBD7-DD7C2AB9D467}"/>
              </a:ext>
            </a:extLst>
          </p:cNvPr>
          <p:cNvSpPr txBox="1"/>
          <p:nvPr/>
        </p:nvSpPr>
        <p:spPr>
          <a:xfrm>
            <a:off x="4953000" y="64309"/>
            <a:ext cx="4084462" cy="276999"/>
          </a:xfrm>
          <a:prstGeom prst="rect">
            <a:avLst/>
          </a:prstGeom>
          <a:noFill/>
        </p:spPr>
        <p:txBody>
          <a:bodyPr wrap="square" rtlCol="0">
            <a:spAutoFit/>
          </a:bodyPr>
          <a:lstStyle/>
          <a:p>
            <a:r>
              <a:rPr lang="en-US" sz="1200" dirty="0">
                <a:solidFill>
                  <a:schemeClr val="bg1">
                    <a:lumMod val="50000"/>
                  </a:schemeClr>
                </a:solidFill>
              </a:rPr>
              <a:t>AI Operational Readiness • Opportunity Prioritization Matrix</a:t>
            </a:r>
          </a:p>
        </p:txBody>
      </p:sp>
    </p:spTree>
    <p:extLst>
      <p:ext uri="{BB962C8B-B14F-4D97-AF65-F5344CB8AC3E}">
        <p14:creationId xmlns:p14="http://schemas.microsoft.com/office/powerpoint/2010/main" val="34477760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4A20EB-F0F1-633E-A917-29CACC76D2DD}"/>
              </a:ext>
            </a:extLst>
          </p:cNvPr>
          <p:cNvSpPr>
            <a:spLocks noGrp="1"/>
          </p:cNvSpPr>
          <p:nvPr>
            <p:ph type="title"/>
          </p:nvPr>
        </p:nvSpPr>
        <p:spPr>
          <a:xfrm>
            <a:off x="273534" y="-86630"/>
            <a:ext cx="7886700" cy="1325563"/>
          </a:xfrm>
        </p:spPr>
        <p:txBody>
          <a:bodyPr/>
          <a:lstStyle/>
          <a:p>
            <a:r>
              <a:rPr lang="en-US" dirty="0"/>
              <a:t>Complexity Score</a:t>
            </a:r>
          </a:p>
        </p:txBody>
      </p:sp>
      <p:sp>
        <p:nvSpPr>
          <p:cNvPr id="9" name="Content Placeholder 2">
            <a:extLst>
              <a:ext uri="{FF2B5EF4-FFF2-40B4-BE49-F238E27FC236}">
                <a16:creationId xmlns:a16="http://schemas.microsoft.com/office/drawing/2014/main" id="{48E51978-00F1-B6E7-729C-1B8DF030C461}"/>
              </a:ext>
            </a:extLst>
          </p:cNvPr>
          <p:cNvSpPr txBox="1">
            <a:spLocks/>
          </p:cNvSpPr>
          <p:nvPr/>
        </p:nvSpPr>
        <p:spPr>
          <a:xfrm>
            <a:off x="273534" y="1029326"/>
            <a:ext cx="7886700" cy="299244"/>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rgbClr val="021836"/>
              </a:buClr>
              <a:buNone/>
            </a:pPr>
            <a:r>
              <a:rPr lang="en-US" sz="1200" i="1" dirty="0">
                <a:solidFill>
                  <a:schemeClr val="bg1">
                    <a:lumMod val="50000"/>
                  </a:schemeClr>
                </a:solidFill>
              </a:rPr>
              <a:t>Calculate complexity from 5 factors, each scored 1-5. Complexity Score = average of the five complexity factors.</a:t>
            </a:r>
          </a:p>
        </p:txBody>
      </p:sp>
      <p:graphicFrame>
        <p:nvGraphicFramePr>
          <p:cNvPr id="12" name="Table 11">
            <a:extLst>
              <a:ext uri="{FF2B5EF4-FFF2-40B4-BE49-F238E27FC236}">
                <a16:creationId xmlns:a16="http://schemas.microsoft.com/office/drawing/2014/main" id="{8D758E9A-BDDD-EBD7-6EC3-C7EA225C5652}"/>
              </a:ext>
            </a:extLst>
          </p:cNvPr>
          <p:cNvGraphicFramePr>
            <a:graphicFrameLocks noGrp="1"/>
          </p:cNvGraphicFramePr>
          <p:nvPr/>
        </p:nvGraphicFramePr>
        <p:xfrm>
          <a:off x="301906" y="1473518"/>
          <a:ext cx="6000920" cy="4907280"/>
        </p:xfrm>
        <a:graphic>
          <a:graphicData uri="http://schemas.openxmlformats.org/drawingml/2006/table">
            <a:tbl>
              <a:tblPr firstRow="1" bandRow="1">
                <a:effectLst/>
                <a:tableStyleId>{2D5ABB26-0587-4C30-8999-92F81FD0307C}</a:tableStyleId>
              </a:tblPr>
              <a:tblGrid>
                <a:gridCol w="2278005">
                  <a:extLst>
                    <a:ext uri="{9D8B030D-6E8A-4147-A177-3AD203B41FA5}">
                      <a16:colId xmlns:a16="http://schemas.microsoft.com/office/drawing/2014/main" val="2728554600"/>
                    </a:ext>
                  </a:extLst>
                </a:gridCol>
                <a:gridCol w="3722915">
                  <a:extLst>
                    <a:ext uri="{9D8B030D-6E8A-4147-A177-3AD203B41FA5}">
                      <a16:colId xmlns:a16="http://schemas.microsoft.com/office/drawing/2014/main" val="682756451"/>
                    </a:ext>
                  </a:extLst>
                </a:gridCol>
              </a:tblGrid>
              <a:tr h="220027">
                <a:tc>
                  <a:txBody>
                    <a:bodyPr/>
                    <a:lstStyle/>
                    <a:p>
                      <a:pPr algn="l"/>
                      <a:r>
                        <a:rPr lang="en-US" sz="1100" b="1" dirty="0">
                          <a:solidFill>
                            <a:srgbClr val="021836"/>
                          </a:solidFill>
                        </a:rPr>
                        <a:t>Complexity Factor</a:t>
                      </a:r>
                    </a:p>
                  </a:txBody>
                  <a:tcPr marL="45720" marR="45720">
                    <a:lnR w="12700" cap="flat" cmpd="sng" algn="ctr">
                      <a:noFill/>
                      <a:prstDash val="solid"/>
                      <a:round/>
                      <a:headEnd type="none" w="med" len="med"/>
                      <a:tailEnd type="none" w="med" len="med"/>
                    </a:lnR>
                    <a:lnB w="12700" cap="flat" cmpd="sng" algn="ctr">
                      <a:solidFill>
                        <a:srgbClr val="0396A6"/>
                      </a:solidFill>
                      <a:prstDash val="solid"/>
                      <a:round/>
                      <a:headEnd type="none" w="med" len="med"/>
                      <a:tailEnd type="none" w="med" len="med"/>
                    </a:lnB>
                  </a:tcPr>
                </a:tc>
                <a:tc>
                  <a:txBody>
                    <a:bodyPr/>
                    <a:lstStyle/>
                    <a:p>
                      <a:r>
                        <a:rPr lang="en-US" sz="1100" b="1" dirty="0">
                          <a:solidFill>
                            <a:srgbClr val="021836"/>
                          </a:solidFill>
                        </a:rPr>
                        <a:t>Score</a:t>
                      </a:r>
                    </a:p>
                  </a:txBody>
                  <a:tcPr marL="45720" marR="45720">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rgbClr val="0396A6"/>
                      </a:solidFill>
                      <a:prstDash val="solid"/>
                      <a:round/>
                      <a:headEnd type="none" w="med" len="med"/>
                      <a:tailEnd type="none" w="med" len="med"/>
                    </a:lnB>
                  </a:tcPr>
                </a:tc>
                <a:extLst>
                  <a:ext uri="{0D108BD9-81ED-4DB2-BD59-A6C34878D82A}">
                    <a16:rowId xmlns:a16="http://schemas.microsoft.com/office/drawing/2014/main" val="3173400939"/>
                  </a:ext>
                </a:extLst>
              </a:tr>
              <a:tr h="220027">
                <a:tc>
                  <a:txBody>
                    <a:bodyPr/>
                    <a:lstStyle/>
                    <a:p>
                      <a:pPr algn="l"/>
                      <a:r>
                        <a:rPr lang="en-US" sz="1100" dirty="0"/>
                        <a:t>Process Change</a:t>
                      </a:r>
                    </a:p>
                  </a:txBody>
                  <a:tcPr marL="45720" marR="45720">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100" dirty="0"/>
                        <a:t>1 - Minimal or no workflow change required</a:t>
                      </a:r>
                    </a:p>
                    <a:p>
                      <a:r>
                        <a:rPr lang="en-US" sz="1100" dirty="0"/>
                        <a:t>2 - Small adjustment to existing work</a:t>
                      </a:r>
                    </a:p>
                    <a:p>
                      <a:r>
                        <a:rPr lang="en-US" sz="1100" dirty="0"/>
                        <a:t>3 - Moderate redesign affecting one team</a:t>
                      </a:r>
                    </a:p>
                    <a:p>
                      <a:r>
                        <a:rPr lang="en-US" sz="1100" dirty="0"/>
                        <a:t>4 - Significant changes involving multiple teams</a:t>
                      </a:r>
                    </a:p>
                    <a:p>
                      <a:r>
                        <a:rPr lang="en-US" sz="1100" dirty="0"/>
                        <a:t>5 - Major transformation of workflows across organization</a:t>
                      </a:r>
                    </a:p>
                  </a:txBody>
                  <a:tcPr marL="45720" marR="45720">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185261034"/>
                  </a:ext>
                </a:extLst>
              </a:tr>
              <a:tr h="220027">
                <a:tc>
                  <a:txBody>
                    <a:bodyPr/>
                    <a:lstStyle/>
                    <a:p>
                      <a:pPr algn="l"/>
                      <a:r>
                        <a:rPr lang="en-US" sz="1100" dirty="0"/>
                        <a:t>Technical Integration</a:t>
                      </a:r>
                    </a:p>
                  </a:txBody>
                  <a:tcPr marL="45720" marR="4572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100" dirty="0"/>
                        <a:t>1 - No integration required</a:t>
                      </a:r>
                    </a:p>
                    <a:p>
                      <a:r>
                        <a:rPr lang="en-US" sz="1100" dirty="0"/>
                        <a:t>2 - One system connection</a:t>
                      </a:r>
                    </a:p>
                    <a:p>
                      <a:r>
                        <a:rPr lang="en-US" sz="1100" dirty="0"/>
                        <a:t>3 - Several systems connected</a:t>
                      </a:r>
                    </a:p>
                    <a:p>
                      <a:r>
                        <a:rPr lang="en-US" sz="1100" dirty="0"/>
                        <a:t>4 - Multiple complex integrations</a:t>
                      </a:r>
                    </a:p>
                    <a:p>
                      <a:r>
                        <a:rPr lang="en-US" sz="1100" dirty="0"/>
                        <a:t>5 - Enterprise-wide integration effort</a:t>
                      </a:r>
                    </a:p>
                  </a:txBody>
                  <a:tcPr marL="45720" marR="45720">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228643947"/>
                  </a:ext>
                </a:extLst>
              </a:tr>
              <a:tr h="220027">
                <a:tc>
                  <a:txBody>
                    <a:bodyPr/>
                    <a:lstStyle/>
                    <a:p>
                      <a:pPr algn="l"/>
                      <a:r>
                        <a:rPr lang="en-US" sz="1100" dirty="0"/>
                        <a:t>Data Readiness</a:t>
                      </a:r>
                    </a:p>
                  </a:txBody>
                  <a:tcPr marL="45720" marR="4572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100" dirty="0"/>
                        <a:t>1 – Clean, accessible, structured data already exists</a:t>
                      </a:r>
                    </a:p>
                    <a:p>
                      <a:r>
                        <a:rPr lang="en-US" sz="1100" dirty="0"/>
                        <a:t>2 – Minor preparation required</a:t>
                      </a:r>
                    </a:p>
                    <a:p>
                      <a:r>
                        <a:rPr lang="en-US" sz="1100" dirty="0"/>
                        <a:t>3 – Some gaps or quality concerns</a:t>
                      </a:r>
                    </a:p>
                    <a:p>
                      <a:r>
                        <a:rPr lang="en-US" sz="1100" dirty="0"/>
                        <a:t>4 – Significant cleanup or access issues</a:t>
                      </a:r>
                    </a:p>
                    <a:p>
                      <a:r>
                        <a:rPr lang="en-US" sz="1100" dirty="0"/>
                        <a:t>5 – Data unavailable, fragmented, or poorly understood</a:t>
                      </a:r>
                    </a:p>
                  </a:txBody>
                  <a:tcPr marL="45720" marR="45720">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781764621"/>
                  </a:ext>
                </a:extLst>
              </a:tr>
              <a:tr h="220027">
                <a:tc>
                  <a:txBody>
                    <a:bodyPr/>
                    <a:lstStyle/>
                    <a:p>
                      <a:pPr algn="l"/>
                      <a:r>
                        <a:rPr lang="en-US" sz="1100" dirty="0"/>
                        <a:t>Stakeholder Coordination</a:t>
                      </a:r>
                    </a:p>
                  </a:txBody>
                  <a:tcPr marL="45720" marR="4572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100" dirty="0"/>
                        <a:t>1 – Single owner or team</a:t>
                      </a:r>
                    </a:p>
                    <a:p>
                      <a:r>
                        <a:rPr lang="en-US" sz="1100" dirty="0"/>
                        <a:t>2 – Two teams involved</a:t>
                      </a:r>
                    </a:p>
                    <a:p>
                      <a:r>
                        <a:rPr lang="en-US" sz="1100" dirty="0"/>
                        <a:t>3 – Several stakeholders need alignment</a:t>
                      </a:r>
                    </a:p>
                    <a:p>
                      <a:r>
                        <a:rPr lang="en-US" sz="1100" dirty="0"/>
                        <a:t>4 – Cross-functional coordination required</a:t>
                      </a:r>
                    </a:p>
                    <a:p>
                      <a:r>
                        <a:rPr lang="en-US" sz="1100" dirty="0"/>
                        <a:t>5 – Enterprise-wide coordination and governance required</a:t>
                      </a:r>
                    </a:p>
                  </a:txBody>
                  <a:tcPr marL="45720" marR="45720">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532030300"/>
                  </a:ext>
                </a:extLst>
              </a:tr>
              <a:tr h="220027">
                <a:tc>
                  <a:txBody>
                    <a:bodyPr/>
                    <a:lstStyle/>
                    <a:p>
                      <a:pPr algn="l"/>
                      <a:r>
                        <a:rPr lang="en-US" sz="1100" dirty="0"/>
                        <a:t>Change Management</a:t>
                      </a:r>
                    </a:p>
                  </a:txBody>
                  <a:tcPr marL="45720" marR="4572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sz="1100" dirty="0"/>
                        <a:t>1 – Little to no training required</a:t>
                      </a:r>
                    </a:p>
                    <a:p>
                      <a:r>
                        <a:rPr lang="en-US" sz="1100" dirty="0"/>
                        <a:t>2 – Minor communications and training</a:t>
                      </a:r>
                    </a:p>
                    <a:p>
                      <a:r>
                        <a:rPr lang="en-US" sz="1100" dirty="0"/>
                        <a:t>3 – Moderate changes in behavior or skills</a:t>
                      </a:r>
                    </a:p>
                    <a:p>
                      <a:r>
                        <a:rPr lang="en-US" sz="1100" dirty="0"/>
                        <a:t>4 – Significant adoption effort required</a:t>
                      </a:r>
                    </a:p>
                    <a:p>
                      <a:r>
                        <a:rPr lang="en-US" sz="1100" dirty="0"/>
                        <a:t>5 – Major organizational change initiative</a:t>
                      </a:r>
                    </a:p>
                  </a:txBody>
                  <a:tcPr marL="45720" marR="45720">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749567296"/>
                  </a:ext>
                </a:extLst>
              </a:tr>
            </a:tbl>
          </a:graphicData>
        </a:graphic>
      </p:graphicFrame>
      <p:sp>
        <p:nvSpPr>
          <p:cNvPr id="13" name="Content Placeholder 2">
            <a:extLst>
              <a:ext uri="{FF2B5EF4-FFF2-40B4-BE49-F238E27FC236}">
                <a16:creationId xmlns:a16="http://schemas.microsoft.com/office/drawing/2014/main" id="{2B8EB912-6593-0934-95AA-432885EB5A57}"/>
              </a:ext>
            </a:extLst>
          </p:cNvPr>
          <p:cNvSpPr txBox="1">
            <a:spLocks/>
          </p:cNvSpPr>
          <p:nvPr/>
        </p:nvSpPr>
        <p:spPr>
          <a:xfrm>
            <a:off x="6613592" y="4545405"/>
            <a:ext cx="2437009" cy="625307"/>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rgbClr val="021836"/>
              </a:buClr>
              <a:buNone/>
            </a:pPr>
            <a:r>
              <a:rPr lang="en-US" sz="1200" i="1" dirty="0">
                <a:solidFill>
                  <a:srgbClr val="021836"/>
                </a:solidFill>
              </a:rPr>
              <a:t>Example:</a:t>
            </a:r>
          </a:p>
          <a:p>
            <a:pPr marL="0" indent="0">
              <a:buClr>
                <a:srgbClr val="021836"/>
              </a:buClr>
              <a:buNone/>
            </a:pPr>
            <a:r>
              <a:rPr lang="en-US" sz="1200" i="1" dirty="0">
                <a:solidFill>
                  <a:schemeClr val="bg1">
                    <a:lumMod val="50000"/>
                  </a:schemeClr>
                </a:solidFill>
              </a:rPr>
              <a:t>(4+3+2+4+3) / 5 = 3.2</a:t>
            </a:r>
          </a:p>
        </p:txBody>
      </p:sp>
      <p:graphicFrame>
        <p:nvGraphicFramePr>
          <p:cNvPr id="14" name="Table 13">
            <a:extLst>
              <a:ext uri="{FF2B5EF4-FFF2-40B4-BE49-F238E27FC236}">
                <a16:creationId xmlns:a16="http://schemas.microsoft.com/office/drawing/2014/main" id="{DA772DAD-C74D-F138-4DD9-BB2235E08CC6}"/>
              </a:ext>
            </a:extLst>
          </p:cNvPr>
          <p:cNvGraphicFramePr>
            <a:graphicFrameLocks noGrp="1"/>
          </p:cNvGraphicFramePr>
          <p:nvPr/>
        </p:nvGraphicFramePr>
        <p:xfrm>
          <a:off x="6670052" y="2875598"/>
          <a:ext cx="2215231" cy="1554480"/>
        </p:xfrm>
        <a:graphic>
          <a:graphicData uri="http://schemas.openxmlformats.org/drawingml/2006/table">
            <a:tbl>
              <a:tblPr firstRow="1" bandRow="1">
                <a:effectLst/>
                <a:tableStyleId>{2D5ABB26-0587-4C30-8999-92F81FD0307C}</a:tableStyleId>
              </a:tblPr>
              <a:tblGrid>
                <a:gridCol w="1222091">
                  <a:extLst>
                    <a:ext uri="{9D8B030D-6E8A-4147-A177-3AD203B41FA5}">
                      <a16:colId xmlns:a16="http://schemas.microsoft.com/office/drawing/2014/main" val="2728554600"/>
                    </a:ext>
                  </a:extLst>
                </a:gridCol>
                <a:gridCol w="993140">
                  <a:extLst>
                    <a:ext uri="{9D8B030D-6E8A-4147-A177-3AD203B41FA5}">
                      <a16:colId xmlns:a16="http://schemas.microsoft.com/office/drawing/2014/main" val="682756451"/>
                    </a:ext>
                  </a:extLst>
                </a:gridCol>
              </a:tblGrid>
              <a:tr h="220027">
                <a:tc>
                  <a:txBody>
                    <a:bodyPr/>
                    <a:lstStyle/>
                    <a:p>
                      <a:pPr algn="l"/>
                      <a:r>
                        <a:rPr lang="en-US" sz="1100" b="1" dirty="0">
                          <a:solidFill>
                            <a:srgbClr val="021836"/>
                          </a:solidFill>
                        </a:rPr>
                        <a:t>Score Range</a:t>
                      </a:r>
                    </a:p>
                  </a:txBody>
                  <a:tcPr marL="45720" marR="45720">
                    <a:lnR w="12700" cap="flat" cmpd="sng" algn="ctr">
                      <a:noFill/>
                      <a:prstDash val="solid"/>
                      <a:round/>
                      <a:headEnd type="none" w="med" len="med"/>
                      <a:tailEnd type="none" w="med" len="med"/>
                    </a:lnR>
                    <a:lnB w="12700" cap="flat" cmpd="sng" algn="ctr">
                      <a:solidFill>
                        <a:srgbClr val="0396A6"/>
                      </a:solidFill>
                      <a:prstDash val="solid"/>
                      <a:round/>
                      <a:headEnd type="none" w="med" len="med"/>
                      <a:tailEnd type="none" w="med" len="med"/>
                    </a:lnB>
                  </a:tcPr>
                </a:tc>
                <a:tc>
                  <a:txBody>
                    <a:bodyPr/>
                    <a:lstStyle/>
                    <a:p>
                      <a:r>
                        <a:rPr lang="en-US" sz="1100" b="1" dirty="0">
                          <a:solidFill>
                            <a:srgbClr val="021836"/>
                          </a:solidFill>
                        </a:rPr>
                        <a:t>Complexity</a:t>
                      </a:r>
                    </a:p>
                  </a:txBody>
                  <a:tcPr marL="45720" marR="45720">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rgbClr val="0396A6"/>
                      </a:solidFill>
                      <a:prstDash val="solid"/>
                      <a:round/>
                      <a:headEnd type="none" w="med" len="med"/>
                      <a:tailEnd type="none" w="med" len="med"/>
                    </a:lnB>
                  </a:tcPr>
                </a:tc>
                <a:extLst>
                  <a:ext uri="{0D108BD9-81ED-4DB2-BD59-A6C34878D82A}">
                    <a16:rowId xmlns:a16="http://schemas.microsoft.com/office/drawing/2014/main" val="3173400939"/>
                  </a:ext>
                </a:extLst>
              </a:tr>
              <a:tr h="220027">
                <a:tc>
                  <a:txBody>
                    <a:bodyPr/>
                    <a:lstStyle/>
                    <a:p>
                      <a:pPr algn="l"/>
                      <a:r>
                        <a:rPr lang="en-US" sz="1100" dirty="0"/>
                        <a:t>1.0 - 1.9</a:t>
                      </a:r>
                    </a:p>
                  </a:txBody>
                  <a:tcPr marL="45720" marR="45720">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100" dirty="0"/>
                        <a:t>Low</a:t>
                      </a:r>
                    </a:p>
                  </a:txBody>
                  <a:tcPr marL="45720" marR="45720">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185261034"/>
                  </a:ext>
                </a:extLst>
              </a:tr>
              <a:tr h="220027">
                <a:tc>
                  <a:txBody>
                    <a:bodyPr/>
                    <a:lstStyle/>
                    <a:p>
                      <a:pPr algn="l"/>
                      <a:r>
                        <a:rPr lang="en-US" sz="1100" dirty="0"/>
                        <a:t>2.0 - 2.9</a:t>
                      </a:r>
                    </a:p>
                  </a:txBody>
                  <a:tcPr marL="45720" marR="4572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100" dirty="0"/>
                        <a:t>Low-Moderate</a:t>
                      </a:r>
                    </a:p>
                  </a:txBody>
                  <a:tcPr marL="45720" marR="45720">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228643947"/>
                  </a:ext>
                </a:extLst>
              </a:tr>
              <a:tr h="220027">
                <a:tc>
                  <a:txBody>
                    <a:bodyPr/>
                    <a:lstStyle/>
                    <a:p>
                      <a:pPr algn="l"/>
                      <a:r>
                        <a:rPr lang="en-US" sz="1100" dirty="0"/>
                        <a:t>3.0 – 3.9</a:t>
                      </a:r>
                    </a:p>
                  </a:txBody>
                  <a:tcPr marL="45720" marR="4572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100" dirty="0"/>
                        <a:t>Moderate</a:t>
                      </a:r>
                    </a:p>
                  </a:txBody>
                  <a:tcPr marL="45720" marR="45720">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781764621"/>
                  </a:ext>
                </a:extLst>
              </a:tr>
              <a:tr h="220027">
                <a:tc>
                  <a:txBody>
                    <a:bodyPr/>
                    <a:lstStyle/>
                    <a:p>
                      <a:pPr algn="l"/>
                      <a:r>
                        <a:rPr lang="en-US" sz="1100" dirty="0"/>
                        <a:t>4.0 – 4.5</a:t>
                      </a:r>
                    </a:p>
                  </a:txBody>
                  <a:tcPr marL="45720" marR="4572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100" dirty="0"/>
                        <a:t>High</a:t>
                      </a:r>
                    </a:p>
                  </a:txBody>
                  <a:tcPr marL="45720" marR="45720">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532030300"/>
                  </a:ext>
                </a:extLst>
              </a:tr>
              <a:tr h="220027">
                <a:tc>
                  <a:txBody>
                    <a:bodyPr/>
                    <a:lstStyle/>
                    <a:p>
                      <a:pPr algn="l"/>
                      <a:r>
                        <a:rPr lang="en-US" sz="1100" dirty="0"/>
                        <a:t>4.6 – 5.0</a:t>
                      </a:r>
                    </a:p>
                  </a:txBody>
                  <a:tcPr marL="45720" marR="4572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sz="1100" dirty="0"/>
                        <a:t>Very High</a:t>
                      </a:r>
                    </a:p>
                  </a:txBody>
                  <a:tcPr marL="45720" marR="45720">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749567296"/>
                  </a:ext>
                </a:extLst>
              </a:tr>
            </a:tbl>
          </a:graphicData>
        </a:graphic>
      </p:graphicFrame>
      <p:sp>
        <p:nvSpPr>
          <p:cNvPr id="4" name="TextBox 3">
            <a:extLst>
              <a:ext uri="{FF2B5EF4-FFF2-40B4-BE49-F238E27FC236}">
                <a16:creationId xmlns:a16="http://schemas.microsoft.com/office/drawing/2014/main" id="{8851B214-32B1-4FBB-D423-445153DC8651}"/>
              </a:ext>
            </a:extLst>
          </p:cNvPr>
          <p:cNvSpPr txBox="1"/>
          <p:nvPr/>
        </p:nvSpPr>
        <p:spPr>
          <a:xfrm>
            <a:off x="4953000" y="64309"/>
            <a:ext cx="4084462" cy="276999"/>
          </a:xfrm>
          <a:prstGeom prst="rect">
            <a:avLst/>
          </a:prstGeom>
          <a:noFill/>
        </p:spPr>
        <p:txBody>
          <a:bodyPr wrap="square" rtlCol="0">
            <a:spAutoFit/>
          </a:bodyPr>
          <a:lstStyle/>
          <a:p>
            <a:r>
              <a:rPr lang="en-US" sz="1200" dirty="0">
                <a:solidFill>
                  <a:schemeClr val="bg1">
                    <a:lumMod val="50000"/>
                  </a:schemeClr>
                </a:solidFill>
              </a:rPr>
              <a:t>AI Operational Readiness • Opportunity Prioritization Matrix</a:t>
            </a:r>
          </a:p>
        </p:txBody>
      </p:sp>
    </p:spTree>
    <p:extLst>
      <p:ext uri="{BB962C8B-B14F-4D97-AF65-F5344CB8AC3E}">
        <p14:creationId xmlns:p14="http://schemas.microsoft.com/office/powerpoint/2010/main" val="12711860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3D7E9B-F714-FC3C-9F31-2698188BA5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452260-3936-8AF1-7438-A53E13AA7702}"/>
              </a:ext>
            </a:extLst>
          </p:cNvPr>
          <p:cNvSpPr>
            <a:spLocks noGrp="1"/>
          </p:cNvSpPr>
          <p:nvPr>
            <p:ph type="title"/>
          </p:nvPr>
        </p:nvSpPr>
        <p:spPr>
          <a:xfrm>
            <a:off x="273534" y="-86630"/>
            <a:ext cx="7886700" cy="1325563"/>
          </a:xfrm>
        </p:spPr>
        <p:txBody>
          <a:bodyPr/>
          <a:lstStyle/>
          <a:p>
            <a:r>
              <a:rPr lang="en-US" dirty="0"/>
              <a:t>Risk Score</a:t>
            </a:r>
          </a:p>
        </p:txBody>
      </p:sp>
      <p:graphicFrame>
        <p:nvGraphicFramePr>
          <p:cNvPr id="12" name="Table 11">
            <a:extLst>
              <a:ext uri="{FF2B5EF4-FFF2-40B4-BE49-F238E27FC236}">
                <a16:creationId xmlns:a16="http://schemas.microsoft.com/office/drawing/2014/main" id="{4F10617F-8355-8865-73DE-85EF76A34F59}"/>
              </a:ext>
            </a:extLst>
          </p:cNvPr>
          <p:cNvGraphicFramePr>
            <a:graphicFrameLocks noGrp="1"/>
          </p:cNvGraphicFramePr>
          <p:nvPr/>
        </p:nvGraphicFramePr>
        <p:xfrm>
          <a:off x="301906" y="1238933"/>
          <a:ext cx="6185977" cy="5242560"/>
        </p:xfrm>
        <a:graphic>
          <a:graphicData uri="http://schemas.openxmlformats.org/drawingml/2006/table">
            <a:tbl>
              <a:tblPr firstRow="1" bandRow="1">
                <a:effectLst/>
                <a:tableStyleId>{2D5ABB26-0587-4C30-8999-92F81FD0307C}</a:tableStyleId>
              </a:tblPr>
              <a:tblGrid>
                <a:gridCol w="2299777">
                  <a:extLst>
                    <a:ext uri="{9D8B030D-6E8A-4147-A177-3AD203B41FA5}">
                      <a16:colId xmlns:a16="http://schemas.microsoft.com/office/drawing/2014/main" val="2728554600"/>
                    </a:ext>
                  </a:extLst>
                </a:gridCol>
                <a:gridCol w="3886200">
                  <a:extLst>
                    <a:ext uri="{9D8B030D-6E8A-4147-A177-3AD203B41FA5}">
                      <a16:colId xmlns:a16="http://schemas.microsoft.com/office/drawing/2014/main" val="682756451"/>
                    </a:ext>
                  </a:extLst>
                </a:gridCol>
              </a:tblGrid>
              <a:tr h="220027">
                <a:tc>
                  <a:txBody>
                    <a:bodyPr/>
                    <a:lstStyle/>
                    <a:p>
                      <a:pPr algn="l"/>
                      <a:r>
                        <a:rPr lang="en-US" sz="1100" b="1" dirty="0">
                          <a:solidFill>
                            <a:srgbClr val="021836"/>
                          </a:solidFill>
                        </a:rPr>
                        <a:t>Risk Factor</a:t>
                      </a:r>
                    </a:p>
                  </a:txBody>
                  <a:tcPr marL="45720" marR="45720">
                    <a:lnR w="12700" cap="flat" cmpd="sng" algn="ctr">
                      <a:noFill/>
                      <a:prstDash val="solid"/>
                      <a:round/>
                      <a:headEnd type="none" w="med" len="med"/>
                      <a:tailEnd type="none" w="med" len="med"/>
                    </a:lnR>
                    <a:lnB w="12700" cap="flat" cmpd="sng" algn="ctr">
                      <a:solidFill>
                        <a:srgbClr val="0396A6"/>
                      </a:solidFill>
                      <a:prstDash val="solid"/>
                      <a:round/>
                      <a:headEnd type="none" w="med" len="med"/>
                      <a:tailEnd type="none" w="med" len="med"/>
                    </a:lnB>
                  </a:tcPr>
                </a:tc>
                <a:tc>
                  <a:txBody>
                    <a:bodyPr/>
                    <a:lstStyle/>
                    <a:p>
                      <a:r>
                        <a:rPr lang="en-US" sz="1100" b="1" dirty="0">
                          <a:solidFill>
                            <a:srgbClr val="021836"/>
                          </a:solidFill>
                        </a:rPr>
                        <a:t>Score</a:t>
                      </a:r>
                    </a:p>
                  </a:txBody>
                  <a:tcPr marL="45720" marR="45720">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rgbClr val="0396A6"/>
                      </a:solidFill>
                      <a:prstDash val="solid"/>
                      <a:round/>
                      <a:headEnd type="none" w="med" len="med"/>
                      <a:tailEnd type="none" w="med" len="med"/>
                    </a:lnB>
                  </a:tcPr>
                </a:tc>
                <a:extLst>
                  <a:ext uri="{0D108BD9-81ED-4DB2-BD59-A6C34878D82A}">
                    <a16:rowId xmlns:a16="http://schemas.microsoft.com/office/drawing/2014/main" val="3173400939"/>
                  </a:ext>
                </a:extLst>
              </a:tr>
              <a:tr h="220027">
                <a:tc>
                  <a:txBody>
                    <a:bodyPr/>
                    <a:lstStyle/>
                    <a:p>
                      <a:pPr algn="l"/>
                      <a:r>
                        <a:rPr lang="en-US" sz="1100" dirty="0"/>
                        <a:t>Data Sensitivity</a:t>
                      </a:r>
                    </a:p>
                  </a:txBody>
                  <a:tcPr marL="45720" marR="45720">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100" dirty="0"/>
                        <a:t>1 – Public Information</a:t>
                      </a:r>
                    </a:p>
                    <a:p>
                      <a:r>
                        <a:rPr lang="en-US" sz="1100" dirty="0"/>
                        <a:t>2 – Internal Information</a:t>
                      </a:r>
                    </a:p>
                    <a:p>
                      <a:r>
                        <a:rPr lang="en-US" sz="1100" dirty="0"/>
                        <a:t>3 – Confidential business information</a:t>
                      </a:r>
                    </a:p>
                    <a:p>
                      <a:r>
                        <a:rPr lang="en-US" sz="1100" dirty="0"/>
                        <a:t>4 – Sensitive customer or employee information</a:t>
                      </a:r>
                    </a:p>
                    <a:p>
                      <a:r>
                        <a:rPr lang="en-US" sz="1100" dirty="0"/>
                        <a:t>5 – Highly regulated or legally protected information</a:t>
                      </a:r>
                    </a:p>
                  </a:txBody>
                  <a:tcPr marL="45720" marR="45720">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185261034"/>
                  </a:ext>
                </a:extLst>
              </a:tr>
              <a:tr h="220027">
                <a:tc>
                  <a:txBody>
                    <a:bodyPr/>
                    <a:lstStyle/>
                    <a:p>
                      <a:pPr algn="l"/>
                      <a:r>
                        <a:rPr lang="en-US" sz="1100" dirty="0"/>
                        <a:t>Decision Consequence</a:t>
                      </a:r>
                    </a:p>
                  </a:txBody>
                  <a:tcPr marL="45720" marR="4572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100" dirty="0"/>
                        <a:t>1 – Minor inconvenience; easily reversible</a:t>
                      </a:r>
                    </a:p>
                    <a:p>
                      <a:r>
                        <a:rPr lang="en-US" sz="1100" dirty="0"/>
                        <a:t>2 – Localized operational impact; readily remediated</a:t>
                      </a:r>
                    </a:p>
                    <a:p>
                      <a:r>
                        <a:rPr lang="en-US" sz="1100" dirty="0"/>
                        <a:t>3 – Moderate business impact requiring remediation</a:t>
                      </a:r>
                    </a:p>
                    <a:p>
                      <a:pPr marL="173038" indent="-173038"/>
                      <a:r>
                        <a:rPr lang="en-US" sz="1100" dirty="0"/>
                        <a:t>4 – Significant financial, customer, or reputational impact; difficult to reverse</a:t>
                      </a:r>
                    </a:p>
                    <a:p>
                      <a:pPr marL="173038" indent="-173038"/>
                      <a:r>
                        <a:rPr lang="en-US" sz="1100" dirty="0"/>
                        <a:t>5 – Severe legal, regulatory, safety, or brand consequence; difficult or impossible to reverse</a:t>
                      </a:r>
                    </a:p>
                  </a:txBody>
                  <a:tcPr marL="45720" marR="45720">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228643947"/>
                  </a:ext>
                </a:extLst>
              </a:tr>
              <a:tr h="220027">
                <a:tc>
                  <a:txBody>
                    <a:bodyPr/>
                    <a:lstStyle/>
                    <a:p>
                      <a:pPr algn="l"/>
                      <a:r>
                        <a:rPr lang="en-US" sz="1100" dirty="0"/>
                        <a:t>Oversight &amp; Accountability Requirement</a:t>
                      </a:r>
                    </a:p>
                  </a:txBody>
                  <a:tcPr marL="45720" marR="4572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100" dirty="0"/>
                        <a:t>1 – Human review optional</a:t>
                      </a:r>
                    </a:p>
                    <a:p>
                      <a:r>
                        <a:rPr lang="en-US" sz="1100" dirty="0"/>
                        <a:t>2 – Human review recommended</a:t>
                      </a:r>
                    </a:p>
                    <a:p>
                      <a:r>
                        <a:rPr lang="en-US" sz="1100" dirty="0"/>
                        <a:t>3 – Human approval normally expected</a:t>
                      </a:r>
                    </a:p>
                    <a:p>
                      <a:r>
                        <a:rPr lang="en-US" sz="1100" dirty="0"/>
                        <a:t>4 – Human approval required</a:t>
                      </a:r>
                    </a:p>
                    <a:p>
                      <a:r>
                        <a:rPr lang="en-US" sz="1100" dirty="0"/>
                        <a:t>5 – Human accountability legally or operationally mandatory</a:t>
                      </a:r>
                    </a:p>
                  </a:txBody>
                  <a:tcPr marL="45720" marR="45720">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781764621"/>
                  </a:ext>
                </a:extLst>
              </a:tr>
              <a:tr h="220027">
                <a:tc>
                  <a:txBody>
                    <a:bodyPr/>
                    <a:lstStyle/>
                    <a:p>
                      <a:pPr algn="l"/>
                      <a:r>
                        <a:rPr lang="en-US" sz="1100" dirty="0"/>
                        <a:t>External Exposure</a:t>
                      </a:r>
                    </a:p>
                  </a:txBody>
                  <a:tcPr marL="45720" marR="4572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100" dirty="0"/>
                        <a:t>1 – Internal-only</a:t>
                      </a:r>
                    </a:p>
                    <a:p>
                      <a:r>
                        <a:rPr lang="en-US" sz="1100" dirty="0"/>
                        <a:t>2 – Limited audience</a:t>
                      </a:r>
                    </a:p>
                    <a:p>
                      <a:r>
                        <a:rPr lang="en-US" sz="1100" dirty="0"/>
                        <a:t>3 – Broad internal use</a:t>
                      </a:r>
                    </a:p>
                    <a:p>
                      <a:r>
                        <a:rPr lang="en-US" sz="1100" dirty="0"/>
                        <a:t>4 – Customer or partner-facing</a:t>
                      </a:r>
                    </a:p>
                    <a:p>
                      <a:r>
                        <a:rPr lang="en-US" sz="1100" dirty="0"/>
                        <a:t>5 – Public or regulatory exposure</a:t>
                      </a:r>
                    </a:p>
                  </a:txBody>
                  <a:tcPr marL="45720" marR="45720">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532030300"/>
                  </a:ext>
                </a:extLst>
              </a:tr>
              <a:tr h="220027">
                <a:tc>
                  <a:txBody>
                    <a:bodyPr/>
                    <a:lstStyle/>
                    <a:p>
                      <a:pPr algn="l"/>
                      <a:r>
                        <a:rPr lang="en-US" sz="1100" dirty="0"/>
                        <a:t>Compliance / Reputation</a:t>
                      </a:r>
                    </a:p>
                  </a:txBody>
                  <a:tcPr marL="45720" marR="4572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sz="1100" dirty="0"/>
                        <a:t>1 – Minimal concerns</a:t>
                      </a:r>
                    </a:p>
                    <a:p>
                      <a:r>
                        <a:rPr lang="en-US" sz="1100" dirty="0"/>
                        <a:t>2 – Low concerns</a:t>
                      </a:r>
                    </a:p>
                    <a:p>
                      <a:r>
                        <a:rPr lang="en-US" sz="1100" dirty="0"/>
                        <a:t>3 – Moderate concerns</a:t>
                      </a:r>
                    </a:p>
                    <a:p>
                      <a:r>
                        <a:rPr lang="en-US" sz="1100" dirty="0"/>
                        <a:t>4 – Significant exposure</a:t>
                      </a:r>
                    </a:p>
                    <a:p>
                      <a:r>
                        <a:rPr lang="en-US" sz="1100" dirty="0"/>
                        <a:t>5 – High regulatory or reputational consequences</a:t>
                      </a:r>
                    </a:p>
                  </a:txBody>
                  <a:tcPr marL="45720" marR="45720">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749567296"/>
                  </a:ext>
                </a:extLst>
              </a:tr>
            </a:tbl>
          </a:graphicData>
        </a:graphic>
      </p:graphicFrame>
      <p:sp>
        <p:nvSpPr>
          <p:cNvPr id="3" name="Content Placeholder 2">
            <a:extLst>
              <a:ext uri="{FF2B5EF4-FFF2-40B4-BE49-F238E27FC236}">
                <a16:creationId xmlns:a16="http://schemas.microsoft.com/office/drawing/2014/main" id="{9DD47951-E472-210D-986A-26CC7FE77DB9}"/>
              </a:ext>
            </a:extLst>
          </p:cNvPr>
          <p:cNvSpPr txBox="1">
            <a:spLocks/>
          </p:cNvSpPr>
          <p:nvPr/>
        </p:nvSpPr>
        <p:spPr>
          <a:xfrm>
            <a:off x="273534" y="931355"/>
            <a:ext cx="7886700" cy="299244"/>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rgbClr val="021836"/>
              </a:buClr>
              <a:buNone/>
            </a:pPr>
            <a:r>
              <a:rPr lang="en-US" sz="1200" i="1" dirty="0">
                <a:solidFill>
                  <a:schemeClr val="bg1">
                    <a:lumMod val="50000"/>
                  </a:schemeClr>
                </a:solidFill>
              </a:rPr>
              <a:t>Calculate risk from 5 factors, each scored 1-5. Risk Score = the average of the five risk factors.</a:t>
            </a:r>
          </a:p>
        </p:txBody>
      </p:sp>
      <p:sp>
        <p:nvSpPr>
          <p:cNvPr id="4" name="Content Placeholder 2">
            <a:extLst>
              <a:ext uri="{FF2B5EF4-FFF2-40B4-BE49-F238E27FC236}">
                <a16:creationId xmlns:a16="http://schemas.microsoft.com/office/drawing/2014/main" id="{C32D64CD-DE26-DB21-ACD7-6E0AE4D7153D}"/>
              </a:ext>
            </a:extLst>
          </p:cNvPr>
          <p:cNvSpPr txBox="1">
            <a:spLocks/>
          </p:cNvSpPr>
          <p:nvPr/>
        </p:nvSpPr>
        <p:spPr>
          <a:xfrm>
            <a:off x="6613592" y="4214823"/>
            <a:ext cx="2437009" cy="625307"/>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rgbClr val="021836"/>
              </a:buClr>
              <a:buNone/>
            </a:pPr>
            <a:r>
              <a:rPr lang="en-US" sz="1200" i="1" dirty="0">
                <a:solidFill>
                  <a:srgbClr val="021836"/>
                </a:solidFill>
              </a:rPr>
              <a:t>Example:</a:t>
            </a:r>
          </a:p>
          <a:p>
            <a:pPr marL="0" indent="0">
              <a:buClr>
                <a:srgbClr val="021836"/>
              </a:buClr>
              <a:buNone/>
            </a:pPr>
            <a:r>
              <a:rPr lang="en-US" sz="1200" i="1" dirty="0">
                <a:solidFill>
                  <a:schemeClr val="bg1">
                    <a:lumMod val="50000"/>
                  </a:schemeClr>
                </a:solidFill>
              </a:rPr>
              <a:t>(4+3+2+4+3) / 5 = 3.2</a:t>
            </a:r>
          </a:p>
        </p:txBody>
      </p:sp>
      <p:graphicFrame>
        <p:nvGraphicFramePr>
          <p:cNvPr id="6" name="Table 5">
            <a:extLst>
              <a:ext uri="{FF2B5EF4-FFF2-40B4-BE49-F238E27FC236}">
                <a16:creationId xmlns:a16="http://schemas.microsoft.com/office/drawing/2014/main" id="{FE654B40-C98F-2B52-597D-6677ADD40A82}"/>
              </a:ext>
            </a:extLst>
          </p:cNvPr>
          <p:cNvGraphicFramePr>
            <a:graphicFrameLocks noGrp="1"/>
          </p:cNvGraphicFramePr>
          <p:nvPr/>
        </p:nvGraphicFramePr>
        <p:xfrm>
          <a:off x="6670052" y="2545016"/>
          <a:ext cx="2215231" cy="1554480"/>
        </p:xfrm>
        <a:graphic>
          <a:graphicData uri="http://schemas.openxmlformats.org/drawingml/2006/table">
            <a:tbl>
              <a:tblPr firstRow="1" bandRow="1">
                <a:effectLst/>
                <a:tableStyleId>{2D5ABB26-0587-4C30-8999-92F81FD0307C}</a:tableStyleId>
              </a:tblPr>
              <a:tblGrid>
                <a:gridCol w="1222091">
                  <a:extLst>
                    <a:ext uri="{9D8B030D-6E8A-4147-A177-3AD203B41FA5}">
                      <a16:colId xmlns:a16="http://schemas.microsoft.com/office/drawing/2014/main" val="2728554600"/>
                    </a:ext>
                  </a:extLst>
                </a:gridCol>
                <a:gridCol w="993140">
                  <a:extLst>
                    <a:ext uri="{9D8B030D-6E8A-4147-A177-3AD203B41FA5}">
                      <a16:colId xmlns:a16="http://schemas.microsoft.com/office/drawing/2014/main" val="682756451"/>
                    </a:ext>
                  </a:extLst>
                </a:gridCol>
              </a:tblGrid>
              <a:tr h="220027">
                <a:tc>
                  <a:txBody>
                    <a:bodyPr/>
                    <a:lstStyle/>
                    <a:p>
                      <a:pPr algn="l"/>
                      <a:r>
                        <a:rPr lang="en-US" sz="1100" b="1" dirty="0">
                          <a:solidFill>
                            <a:srgbClr val="021836"/>
                          </a:solidFill>
                        </a:rPr>
                        <a:t>Score Range</a:t>
                      </a:r>
                    </a:p>
                  </a:txBody>
                  <a:tcPr marL="45720" marR="45720">
                    <a:lnR w="12700" cap="flat" cmpd="sng" algn="ctr">
                      <a:noFill/>
                      <a:prstDash val="solid"/>
                      <a:round/>
                      <a:headEnd type="none" w="med" len="med"/>
                      <a:tailEnd type="none" w="med" len="med"/>
                    </a:lnR>
                    <a:lnB w="12700" cap="flat" cmpd="sng" algn="ctr">
                      <a:solidFill>
                        <a:srgbClr val="0396A6"/>
                      </a:solidFill>
                      <a:prstDash val="solid"/>
                      <a:round/>
                      <a:headEnd type="none" w="med" len="med"/>
                      <a:tailEnd type="none" w="med" len="med"/>
                    </a:lnB>
                  </a:tcPr>
                </a:tc>
                <a:tc>
                  <a:txBody>
                    <a:bodyPr/>
                    <a:lstStyle/>
                    <a:p>
                      <a:r>
                        <a:rPr lang="en-US" sz="1100" b="1" dirty="0">
                          <a:solidFill>
                            <a:srgbClr val="021836"/>
                          </a:solidFill>
                        </a:rPr>
                        <a:t>Risk</a:t>
                      </a:r>
                    </a:p>
                  </a:txBody>
                  <a:tcPr marL="45720" marR="45720">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rgbClr val="0396A6"/>
                      </a:solidFill>
                      <a:prstDash val="solid"/>
                      <a:round/>
                      <a:headEnd type="none" w="med" len="med"/>
                      <a:tailEnd type="none" w="med" len="med"/>
                    </a:lnB>
                  </a:tcPr>
                </a:tc>
                <a:extLst>
                  <a:ext uri="{0D108BD9-81ED-4DB2-BD59-A6C34878D82A}">
                    <a16:rowId xmlns:a16="http://schemas.microsoft.com/office/drawing/2014/main" val="3173400939"/>
                  </a:ext>
                </a:extLst>
              </a:tr>
              <a:tr h="220027">
                <a:tc>
                  <a:txBody>
                    <a:bodyPr/>
                    <a:lstStyle/>
                    <a:p>
                      <a:pPr algn="l"/>
                      <a:r>
                        <a:rPr lang="en-US" sz="1100" dirty="0"/>
                        <a:t>1.0 - 1.9</a:t>
                      </a:r>
                    </a:p>
                  </a:txBody>
                  <a:tcPr marL="45720" marR="45720">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100" dirty="0"/>
                        <a:t>Low</a:t>
                      </a:r>
                    </a:p>
                  </a:txBody>
                  <a:tcPr marL="45720" marR="45720">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185261034"/>
                  </a:ext>
                </a:extLst>
              </a:tr>
              <a:tr h="220027">
                <a:tc>
                  <a:txBody>
                    <a:bodyPr/>
                    <a:lstStyle/>
                    <a:p>
                      <a:pPr algn="l"/>
                      <a:r>
                        <a:rPr lang="en-US" sz="1100" dirty="0"/>
                        <a:t>2.0 - 2.9</a:t>
                      </a:r>
                    </a:p>
                  </a:txBody>
                  <a:tcPr marL="45720" marR="4572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100" dirty="0"/>
                        <a:t>Low-Moderate</a:t>
                      </a:r>
                    </a:p>
                  </a:txBody>
                  <a:tcPr marL="45720" marR="45720">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228643947"/>
                  </a:ext>
                </a:extLst>
              </a:tr>
              <a:tr h="220027">
                <a:tc>
                  <a:txBody>
                    <a:bodyPr/>
                    <a:lstStyle/>
                    <a:p>
                      <a:pPr algn="l"/>
                      <a:r>
                        <a:rPr lang="en-US" sz="1100" dirty="0"/>
                        <a:t>3.0 – 3.9</a:t>
                      </a:r>
                    </a:p>
                  </a:txBody>
                  <a:tcPr marL="45720" marR="4572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100" dirty="0"/>
                        <a:t>Moderate</a:t>
                      </a:r>
                    </a:p>
                  </a:txBody>
                  <a:tcPr marL="45720" marR="45720">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781764621"/>
                  </a:ext>
                </a:extLst>
              </a:tr>
              <a:tr h="220027">
                <a:tc>
                  <a:txBody>
                    <a:bodyPr/>
                    <a:lstStyle/>
                    <a:p>
                      <a:pPr algn="l"/>
                      <a:r>
                        <a:rPr lang="en-US" sz="1100" dirty="0"/>
                        <a:t>4.0 – 4.5</a:t>
                      </a:r>
                    </a:p>
                  </a:txBody>
                  <a:tcPr marL="45720" marR="4572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100" dirty="0"/>
                        <a:t>High</a:t>
                      </a:r>
                    </a:p>
                  </a:txBody>
                  <a:tcPr marL="45720" marR="45720">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532030300"/>
                  </a:ext>
                </a:extLst>
              </a:tr>
              <a:tr h="220027">
                <a:tc>
                  <a:txBody>
                    <a:bodyPr/>
                    <a:lstStyle/>
                    <a:p>
                      <a:pPr algn="l"/>
                      <a:r>
                        <a:rPr lang="en-US" sz="1100" dirty="0"/>
                        <a:t>4.6 – 5.0</a:t>
                      </a:r>
                    </a:p>
                  </a:txBody>
                  <a:tcPr marL="45720" marR="4572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sz="1100" dirty="0"/>
                        <a:t>Very High</a:t>
                      </a:r>
                    </a:p>
                  </a:txBody>
                  <a:tcPr marL="45720" marR="45720">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749567296"/>
                  </a:ext>
                </a:extLst>
              </a:tr>
            </a:tbl>
          </a:graphicData>
        </a:graphic>
      </p:graphicFrame>
      <p:sp>
        <p:nvSpPr>
          <p:cNvPr id="7" name="TextBox 6">
            <a:extLst>
              <a:ext uri="{FF2B5EF4-FFF2-40B4-BE49-F238E27FC236}">
                <a16:creationId xmlns:a16="http://schemas.microsoft.com/office/drawing/2014/main" id="{D89EA3C2-8961-EEC2-1CF9-8C897144BEDC}"/>
              </a:ext>
            </a:extLst>
          </p:cNvPr>
          <p:cNvSpPr txBox="1"/>
          <p:nvPr/>
        </p:nvSpPr>
        <p:spPr>
          <a:xfrm>
            <a:off x="4953000" y="64309"/>
            <a:ext cx="4084462" cy="276999"/>
          </a:xfrm>
          <a:prstGeom prst="rect">
            <a:avLst/>
          </a:prstGeom>
          <a:noFill/>
        </p:spPr>
        <p:txBody>
          <a:bodyPr wrap="square" rtlCol="0">
            <a:spAutoFit/>
          </a:bodyPr>
          <a:lstStyle/>
          <a:p>
            <a:r>
              <a:rPr lang="en-US" sz="1200" dirty="0">
                <a:solidFill>
                  <a:schemeClr val="bg1">
                    <a:lumMod val="50000"/>
                  </a:schemeClr>
                </a:solidFill>
              </a:rPr>
              <a:t>AI Operational Readiness • Opportunity Prioritization Matrix</a:t>
            </a:r>
          </a:p>
        </p:txBody>
      </p:sp>
    </p:spTree>
    <p:extLst>
      <p:ext uri="{BB962C8B-B14F-4D97-AF65-F5344CB8AC3E}">
        <p14:creationId xmlns:p14="http://schemas.microsoft.com/office/powerpoint/2010/main" val="20640912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F98925-03C5-536C-BA62-E43C43A30B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3E467C-047F-FE4E-7FEB-23911CA0C683}"/>
              </a:ext>
            </a:extLst>
          </p:cNvPr>
          <p:cNvSpPr>
            <a:spLocks noGrp="1"/>
          </p:cNvSpPr>
          <p:nvPr>
            <p:ph type="title"/>
          </p:nvPr>
        </p:nvSpPr>
        <p:spPr>
          <a:xfrm>
            <a:off x="171451" y="209325"/>
            <a:ext cx="8972550" cy="882422"/>
          </a:xfrm>
        </p:spPr>
        <p:txBody>
          <a:bodyPr>
            <a:normAutofit/>
          </a:bodyPr>
          <a:lstStyle/>
          <a:p>
            <a:r>
              <a:rPr lang="en-US" sz="3600" dirty="0"/>
              <a:t>Opportunity Drivers vs Implementation Friction</a:t>
            </a:r>
          </a:p>
        </p:txBody>
      </p:sp>
      <p:sp>
        <p:nvSpPr>
          <p:cNvPr id="3" name="Content Placeholder 2">
            <a:extLst>
              <a:ext uri="{FF2B5EF4-FFF2-40B4-BE49-F238E27FC236}">
                <a16:creationId xmlns:a16="http://schemas.microsoft.com/office/drawing/2014/main" id="{E25E6B09-31BC-A9B0-BC0E-DB5436208202}"/>
              </a:ext>
            </a:extLst>
          </p:cNvPr>
          <p:cNvSpPr>
            <a:spLocks noGrp="1"/>
          </p:cNvSpPr>
          <p:nvPr>
            <p:ph idx="1"/>
          </p:nvPr>
        </p:nvSpPr>
        <p:spPr>
          <a:xfrm>
            <a:off x="595998" y="1455091"/>
            <a:ext cx="2343150" cy="1570715"/>
          </a:xfrm>
        </p:spPr>
        <p:txBody>
          <a:bodyPr>
            <a:normAutofit/>
          </a:bodyPr>
          <a:lstStyle/>
          <a:p>
            <a:pPr marL="0" indent="0">
              <a:buNone/>
            </a:pPr>
            <a:r>
              <a:rPr lang="en-US" sz="1400" b="1" dirty="0">
                <a:solidFill>
                  <a:srgbClr val="021836"/>
                </a:solidFill>
              </a:rPr>
              <a:t>Opportunity Drivers (+)</a:t>
            </a:r>
          </a:p>
          <a:p>
            <a:pPr>
              <a:buClr>
                <a:schemeClr val="bg1">
                  <a:lumMod val="50000"/>
                </a:schemeClr>
              </a:buClr>
            </a:pPr>
            <a:r>
              <a:rPr lang="en-US" sz="1200" dirty="0"/>
              <a:t>Frequency</a:t>
            </a:r>
          </a:p>
          <a:p>
            <a:pPr>
              <a:buClr>
                <a:schemeClr val="bg1">
                  <a:lumMod val="50000"/>
                </a:schemeClr>
              </a:buClr>
            </a:pPr>
            <a:r>
              <a:rPr lang="en-US" sz="1200" dirty="0"/>
              <a:t>Pain Level</a:t>
            </a:r>
          </a:p>
          <a:p>
            <a:pPr>
              <a:buClr>
                <a:schemeClr val="bg1">
                  <a:lumMod val="50000"/>
                </a:schemeClr>
              </a:buClr>
            </a:pPr>
            <a:r>
              <a:rPr lang="en-US" sz="1200" dirty="0"/>
              <a:t>AI Fit</a:t>
            </a:r>
          </a:p>
          <a:p>
            <a:pPr>
              <a:buClr>
                <a:schemeClr val="bg1">
                  <a:lumMod val="50000"/>
                </a:schemeClr>
              </a:buClr>
            </a:pPr>
            <a:r>
              <a:rPr lang="en-US" sz="1200" dirty="0"/>
              <a:t>Business Impact</a:t>
            </a:r>
          </a:p>
        </p:txBody>
      </p:sp>
      <p:sp>
        <p:nvSpPr>
          <p:cNvPr id="4" name="Content Placeholder 2">
            <a:extLst>
              <a:ext uri="{FF2B5EF4-FFF2-40B4-BE49-F238E27FC236}">
                <a16:creationId xmlns:a16="http://schemas.microsoft.com/office/drawing/2014/main" id="{2CBF1194-A570-0D70-8617-76A7C44B01D3}"/>
              </a:ext>
            </a:extLst>
          </p:cNvPr>
          <p:cNvSpPr txBox="1">
            <a:spLocks/>
          </p:cNvSpPr>
          <p:nvPr/>
        </p:nvSpPr>
        <p:spPr>
          <a:xfrm>
            <a:off x="595998" y="1027786"/>
            <a:ext cx="3857625" cy="44949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srgbClr val="021836"/>
                </a:solidFill>
                <a:effectLst/>
                <a:uLnTx/>
                <a:uFillTx/>
                <a:latin typeface="Aptos" panose="02110004020202020204"/>
                <a:ea typeface="+mn-ea"/>
                <a:cs typeface="+mn-cs"/>
              </a:rPr>
              <a:t>Priority Score Components</a:t>
            </a:r>
            <a:endParaRPr kumimoji="0" lang="en-US" sz="1600" b="1" i="0" u="none" strike="noStrike" kern="1200" cap="none" spc="0" normalizeH="0" baseline="0" noProof="0" dirty="0">
              <a:ln>
                <a:noFill/>
              </a:ln>
              <a:solidFill>
                <a:srgbClr val="021836"/>
              </a:solidFill>
              <a:effectLst/>
              <a:uLnTx/>
              <a:uFillTx/>
              <a:latin typeface="Aptos" panose="02110004020202020204"/>
              <a:ea typeface="+mn-ea"/>
              <a:cs typeface="+mn-cs"/>
            </a:endParaRPr>
          </a:p>
        </p:txBody>
      </p:sp>
      <p:cxnSp>
        <p:nvCxnSpPr>
          <p:cNvPr id="5" name="Straight Connector 4">
            <a:extLst>
              <a:ext uri="{FF2B5EF4-FFF2-40B4-BE49-F238E27FC236}">
                <a16:creationId xmlns:a16="http://schemas.microsoft.com/office/drawing/2014/main" id="{6FC66F9B-1B38-8080-1FCE-77C4A561692F}"/>
              </a:ext>
            </a:extLst>
          </p:cNvPr>
          <p:cNvCxnSpPr>
            <a:cxnSpLocks/>
          </p:cNvCxnSpPr>
          <p:nvPr/>
        </p:nvCxnSpPr>
        <p:spPr>
          <a:xfrm>
            <a:off x="171450" y="3107694"/>
            <a:ext cx="8801100" cy="0"/>
          </a:xfrm>
          <a:prstGeom prst="line">
            <a:avLst/>
          </a:prstGeom>
          <a:ln w="9525">
            <a:solidFill>
              <a:srgbClr val="0396A6"/>
            </a:solidFill>
          </a:ln>
        </p:spPr>
        <p:style>
          <a:lnRef idx="2">
            <a:schemeClr val="accent1"/>
          </a:lnRef>
          <a:fillRef idx="0">
            <a:schemeClr val="accent1"/>
          </a:fillRef>
          <a:effectRef idx="1">
            <a:schemeClr val="accent1"/>
          </a:effectRef>
          <a:fontRef idx="minor">
            <a:schemeClr val="tx1"/>
          </a:fontRef>
        </p:style>
      </p:cxnSp>
      <p:sp>
        <p:nvSpPr>
          <p:cNvPr id="9" name="Content Placeholder 2">
            <a:extLst>
              <a:ext uri="{FF2B5EF4-FFF2-40B4-BE49-F238E27FC236}">
                <a16:creationId xmlns:a16="http://schemas.microsoft.com/office/drawing/2014/main" id="{44FC1EAF-E868-4A78-6F1F-2CB1E9D05E6C}"/>
              </a:ext>
            </a:extLst>
          </p:cNvPr>
          <p:cNvSpPr txBox="1">
            <a:spLocks/>
          </p:cNvSpPr>
          <p:nvPr/>
        </p:nvSpPr>
        <p:spPr>
          <a:xfrm>
            <a:off x="-5191095" y="3325414"/>
            <a:ext cx="2709152" cy="299244"/>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Understanding how work moves</a:t>
            </a:r>
          </a:p>
        </p:txBody>
      </p:sp>
      <p:sp>
        <p:nvSpPr>
          <p:cNvPr id="10" name="Content Placeholder 2">
            <a:extLst>
              <a:ext uri="{FF2B5EF4-FFF2-40B4-BE49-F238E27FC236}">
                <a16:creationId xmlns:a16="http://schemas.microsoft.com/office/drawing/2014/main" id="{3CB7DD2D-B8AA-71A0-824B-2832539B6268}"/>
              </a:ext>
            </a:extLst>
          </p:cNvPr>
          <p:cNvSpPr txBox="1">
            <a:spLocks/>
          </p:cNvSpPr>
          <p:nvPr/>
        </p:nvSpPr>
        <p:spPr>
          <a:xfrm>
            <a:off x="3177883" y="1455092"/>
            <a:ext cx="2524123" cy="98648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b="1" dirty="0">
                <a:solidFill>
                  <a:srgbClr val="021836"/>
                </a:solidFill>
              </a:rPr>
              <a:t>Implementation Friction (-)</a:t>
            </a:r>
          </a:p>
          <a:p>
            <a:pPr>
              <a:buClr>
                <a:schemeClr val="bg1">
                  <a:lumMod val="50000"/>
                </a:schemeClr>
              </a:buClr>
            </a:pPr>
            <a:r>
              <a:rPr lang="en-US" sz="1200" dirty="0"/>
              <a:t>Complexity </a:t>
            </a:r>
          </a:p>
          <a:p>
            <a:pPr>
              <a:buClr>
                <a:schemeClr val="bg1">
                  <a:lumMod val="50000"/>
                </a:schemeClr>
              </a:buClr>
            </a:pPr>
            <a:r>
              <a:rPr lang="en-US" sz="1200" dirty="0"/>
              <a:t>Risk</a:t>
            </a:r>
          </a:p>
        </p:txBody>
      </p:sp>
      <p:sp>
        <p:nvSpPr>
          <p:cNvPr id="13" name="Content Placeholder 2">
            <a:extLst>
              <a:ext uri="{FF2B5EF4-FFF2-40B4-BE49-F238E27FC236}">
                <a16:creationId xmlns:a16="http://schemas.microsoft.com/office/drawing/2014/main" id="{5B51430A-66C7-1531-0990-99CBF0163489}"/>
              </a:ext>
            </a:extLst>
          </p:cNvPr>
          <p:cNvSpPr txBox="1">
            <a:spLocks/>
          </p:cNvSpPr>
          <p:nvPr/>
        </p:nvSpPr>
        <p:spPr>
          <a:xfrm>
            <a:off x="595998" y="3415617"/>
            <a:ext cx="3655559" cy="72685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b="1" dirty="0">
                <a:solidFill>
                  <a:srgbClr val="021836"/>
                </a:solidFill>
              </a:rPr>
              <a:t>Priority Score</a:t>
            </a:r>
          </a:p>
          <a:p>
            <a:pPr>
              <a:buClr>
                <a:schemeClr val="bg1">
                  <a:lumMod val="50000"/>
                </a:schemeClr>
              </a:buClr>
            </a:pPr>
            <a:r>
              <a:rPr lang="en-US" sz="1200" dirty="0"/>
              <a:t>Opportunity Drivers – Implementation Friction</a:t>
            </a:r>
          </a:p>
        </p:txBody>
      </p:sp>
      <p:graphicFrame>
        <p:nvGraphicFramePr>
          <p:cNvPr id="14" name="Table 13">
            <a:extLst>
              <a:ext uri="{FF2B5EF4-FFF2-40B4-BE49-F238E27FC236}">
                <a16:creationId xmlns:a16="http://schemas.microsoft.com/office/drawing/2014/main" id="{7D30BB13-44E0-FA29-18C6-B3F63C96EC37}"/>
              </a:ext>
            </a:extLst>
          </p:cNvPr>
          <p:cNvGraphicFramePr>
            <a:graphicFrameLocks noGrp="1"/>
          </p:cNvGraphicFramePr>
          <p:nvPr/>
        </p:nvGraphicFramePr>
        <p:xfrm>
          <a:off x="4892445" y="3260882"/>
          <a:ext cx="3207061" cy="1036320"/>
        </p:xfrm>
        <a:graphic>
          <a:graphicData uri="http://schemas.openxmlformats.org/drawingml/2006/table">
            <a:tbl>
              <a:tblPr firstRow="1" bandRow="1">
                <a:effectLst/>
                <a:tableStyleId>{2D5ABB26-0587-4C30-8999-92F81FD0307C}</a:tableStyleId>
              </a:tblPr>
              <a:tblGrid>
                <a:gridCol w="762245">
                  <a:extLst>
                    <a:ext uri="{9D8B030D-6E8A-4147-A177-3AD203B41FA5}">
                      <a16:colId xmlns:a16="http://schemas.microsoft.com/office/drawing/2014/main" val="2728554600"/>
                    </a:ext>
                  </a:extLst>
                </a:gridCol>
                <a:gridCol w="2444816">
                  <a:extLst>
                    <a:ext uri="{9D8B030D-6E8A-4147-A177-3AD203B41FA5}">
                      <a16:colId xmlns:a16="http://schemas.microsoft.com/office/drawing/2014/main" val="682756451"/>
                    </a:ext>
                  </a:extLst>
                </a:gridCol>
              </a:tblGrid>
              <a:tr h="220027">
                <a:tc>
                  <a:txBody>
                    <a:bodyPr/>
                    <a:lstStyle/>
                    <a:p>
                      <a:pPr algn="l"/>
                      <a:r>
                        <a:rPr lang="en-US" sz="1100" b="1" dirty="0">
                          <a:solidFill>
                            <a:srgbClr val="021836"/>
                          </a:solidFill>
                        </a:rPr>
                        <a:t>Priority</a:t>
                      </a:r>
                    </a:p>
                  </a:txBody>
                  <a:tcPr marL="45720" marR="45720">
                    <a:lnR w="12700" cap="flat" cmpd="sng" algn="ctr">
                      <a:noFill/>
                      <a:prstDash val="solid"/>
                      <a:round/>
                      <a:headEnd type="none" w="med" len="med"/>
                      <a:tailEnd type="none" w="med" len="med"/>
                    </a:lnR>
                    <a:lnB w="12700" cap="flat" cmpd="sng" algn="ctr">
                      <a:solidFill>
                        <a:srgbClr val="0396A6"/>
                      </a:solidFill>
                      <a:prstDash val="solid"/>
                      <a:round/>
                      <a:headEnd type="none" w="med" len="med"/>
                      <a:tailEnd type="none" w="med" len="med"/>
                    </a:lnB>
                  </a:tcPr>
                </a:tc>
                <a:tc>
                  <a:txBody>
                    <a:bodyPr/>
                    <a:lstStyle/>
                    <a:p>
                      <a:r>
                        <a:rPr lang="en-US" sz="1100" b="1" dirty="0">
                          <a:solidFill>
                            <a:srgbClr val="021836"/>
                          </a:solidFill>
                        </a:rPr>
                        <a:t>Recommended Action</a:t>
                      </a:r>
                    </a:p>
                  </a:txBody>
                  <a:tcPr marL="45720" marR="45720">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rgbClr val="0396A6"/>
                      </a:solidFill>
                      <a:prstDash val="solid"/>
                      <a:round/>
                      <a:headEnd type="none" w="med" len="med"/>
                      <a:tailEnd type="none" w="med" len="med"/>
                    </a:lnB>
                  </a:tcPr>
                </a:tc>
                <a:extLst>
                  <a:ext uri="{0D108BD9-81ED-4DB2-BD59-A6C34878D82A}">
                    <a16:rowId xmlns:a16="http://schemas.microsoft.com/office/drawing/2014/main" val="3173400939"/>
                  </a:ext>
                </a:extLst>
              </a:tr>
              <a:tr h="220027">
                <a:tc>
                  <a:txBody>
                    <a:bodyPr/>
                    <a:lstStyle/>
                    <a:p>
                      <a:pPr algn="l"/>
                      <a:r>
                        <a:rPr lang="en-US" sz="1100" dirty="0"/>
                        <a:t>High</a:t>
                      </a:r>
                    </a:p>
                  </a:txBody>
                  <a:tcPr marL="45720" marR="45720">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100" dirty="0"/>
                        <a:t>Advance for classification and design</a:t>
                      </a:r>
                    </a:p>
                  </a:txBody>
                  <a:tcPr marL="45720" marR="45720">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185261034"/>
                  </a:ext>
                </a:extLst>
              </a:tr>
              <a:tr h="220027">
                <a:tc>
                  <a:txBody>
                    <a:bodyPr/>
                    <a:lstStyle/>
                    <a:p>
                      <a:pPr algn="l"/>
                      <a:r>
                        <a:rPr lang="en-US" sz="1100" dirty="0"/>
                        <a:t>Medium</a:t>
                      </a:r>
                    </a:p>
                  </a:txBody>
                  <a:tcPr marL="45720" marR="4572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100" dirty="0"/>
                        <a:t>Refine, investigate, or defer</a:t>
                      </a:r>
                    </a:p>
                  </a:txBody>
                  <a:tcPr marL="45720" marR="45720">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228643947"/>
                  </a:ext>
                </a:extLst>
              </a:tr>
              <a:tr h="220027">
                <a:tc>
                  <a:txBody>
                    <a:bodyPr/>
                    <a:lstStyle/>
                    <a:p>
                      <a:pPr algn="l"/>
                      <a:r>
                        <a:rPr lang="en-US" sz="1100" dirty="0"/>
                        <a:t>Low</a:t>
                      </a:r>
                    </a:p>
                  </a:txBody>
                  <a:tcPr marL="45720" marR="4572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100" dirty="0"/>
                        <a:t>Hold or revisit later</a:t>
                      </a:r>
                    </a:p>
                  </a:txBody>
                  <a:tcPr marL="45720" marR="45720">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781764621"/>
                  </a:ext>
                </a:extLst>
              </a:tr>
            </a:tbl>
          </a:graphicData>
        </a:graphic>
      </p:graphicFrame>
      <p:cxnSp>
        <p:nvCxnSpPr>
          <p:cNvPr id="15" name="Straight Connector 14">
            <a:extLst>
              <a:ext uri="{FF2B5EF4-FFF2-40B4-BE49-F238E27FC236}">
                <a16:creationId xmlns:a16="http://schemas.microsoft.com/office/drawing/2014/main" id="{959839DE-78C7-327C-6ECF-55B833DD8F53}"/>
              </a:ext>
            </a:extLst>
          </p:cNvPr>
          <p:cNvCxnSpPr>
            <a:cxnSpLocks/>
          </p:cNvCxnSpPr>
          <p:nvPr/>
        </p:nvCxnSpPr>
        <p:spPr>
          <a:xfrm>
            <a:off x="171450" y="4457524"/>
            <a:ext cx="8801100" cy="0"/>
          </a:xfrm>
          <a:prstGeom prst="line">
            <a:avLst/>
          </a:prstGeom>
          <a:ln w="9525">
            <a:solidFill>
              <a:srgbClr val="0396A6"/>
            </a:solidFill>
          </a:ln>
        </p:spPr>
        <p:style>
          <a:lnRef idx="2">
            <a:schemeClr val="accent1"/>
          </a:lnRef>
          <a:fillRef idx="0">
            <a:schemeClr val="accent1"/>
          </a:fillRef>
          <a:effectRef idx="1">
            <a:schemeClr val="accent1"/>
          </a:effectRef>
          <a:fontRef idx="minor">
            <a:schemeClr val="tx1"/>
          </a:fontRef>
        </p:style>
      </p:cxnSp>
      <p:graphicFrame>
        <p:nvGraphicFramePr>
          <p:cNvPr id="16" name="Table 15">
            <a:extLst>
              <a:ext uri="{FF2B5EF4-FFF2-40B4-BE49-F238E27FC236}">
                <a16:creationId xmlns:a16="http://schemas.microsoft.com/office/drawing/2014/main" id="{DFCEB0D6-9B1A-21F0-CA55-66AE1FB0B675}"/>
              </a:ext>
            </a:extLst>
          </p:cNvPr>
          <p:cNvGraphicFramePr>
            <a:graphicFrameLocks noGrp="1"/>
          </p:cNvGraphicFramePr>
          <p:nvPr/>
        </p:nvGraphicFramePr>
        <p:xfrm>
          <a:off x="1823675" y="4974136"/>
          <a:ext cx="5496651" cy="1295400"/>
        </p:xfrm>
        <a:graphic>
          <a:graphicData uri="http://schemas.openxmlformats.org/drawingml/2006/table">
            <a:tbl>
              <a:tblPr firstRow="1" bandRow="1">
                <a:effectLst/>
                <a:tableStyleId>{2D5ABB26-0587-4C30-8999-92F81FD0307C}</a:tableStyleId>
              </a:tblPr>
              <a:tblGrid>
                <a:gridCol w="2003371">
                  <a:extLst>
                    <a:ext uri="{9D8B030D-6E8A-4147-A177-3AD203B41FA5}">
                      <a16:colId xmlns:a16="http://schemas.microsoft.com/office/drawing/2014/main" val="166422686"/>
                    </a:ext>
                  </a:extLst>
                </a:gridCol>
                <a:gridCol w="947886">
                  <a:extLst>
                    <a:ext uri="{9D8B030D-6E8A-4147-A177-3AD203B41FA5}">
                      <a16:colId xmlns:a16="http://schemas.microsoft.com/office/drawing/2014/main" val="2728554600"/>
                    </a:ext>
                  </a:extLst>
                </a:gridCol>
                <a:gridCol w="2545394">
                  <a:extLst>
                    <a:ext uri="{9D8B030D-6E8A-4147-A177-3AD203B41FA5}">
                      <a16:colId xmlns:a16="http://schemas.microsoft.com/office/drawing/2014/main" val="682756451"/>
                    </a:ext>
                  </a:extLst>
                </a:gridCol>
              </a:tblGrid>
              <a:tr h="220027">
                <a:tc>
                  <a:txBody>
                    <a:bodyPr/>
                    <a:lstStyle/>
                    <a:p>
                      <a:pPr algn="l"/>
                      <a:r>
                        <a:rPr lang="en-US" sz="1100" b="1" dirty="0">
                          <a:solidFill>
                            <a:srgbClr val="021836"/>
                          </a:solidFill>
                        </a:rPr>
                        <a:t>Opportunity</a:t>
                      </a:r>
                    </a:p>
                  </a:txBody>
                  <a:tcPr marL="45720" marR="45720">
                    <a:lnR w="12700" cap="flat" cmpd="sng" algn="ctr">
                      <a:noFill/>
                      <a:prstDash val="solid"/>
                      <a:round/>
                      <a:headEnd type="none" w="med" len="med"/>
                      <a:tailEnd type="none" w="med" len="med"/>
                    </a:lnR>
                    <a:lnB w="12700" cap="flat" cmpd="sng" algn="ctr">
                      <a:solidFill>
                        <a:srgbClr val="0396A6"/>
                      </a:solidFill>
                      <a:prstDash val="solid"/>
                      <a:round/>
                      <a:headEnd type="none" w="med" len="med"/>
                      <a:tailEnd type="none" w="med" len="med"/>
                    </a:lnB>
                  </a:tcPr>
                </a:tc>
                <a:tc>
                  <a:txBody>
                    <a:bodyPr/>
                    <a:lstStyle/>
                    <a:p>
                      <a:pPr algn="l"/>
                      <a:r>
                        <a:rPr lang="en-US" sz="1100" b="1" dirty="0">
                          <a:solidFill>
                            <a:srgbClr val="021836"/>
                          </a:solidFill>
                        </a:rPr>
                        <a:t>Priority</a:t>
                      </a:r>
                    </a:p>
                  </a:txBody>
                  <a:tcPr marL="45720" marR="45720">
                    <a:lnL>
                      <a:noFill/>
                    </a:lnL>
                    <a:lnR w="12700" cap="flat" cmpd="sng" algn="ctr">
                      <a:noFill/>
                      <a:prstDash val="solid"/>
                      <a:round/>
                      <a:headEnd type="none" w="med" len="med"/>
                      <a:tailEnd type="none" w="med" len="med"/>
                    </a:lnR>
                    <a:lnB w="12700" cap="flat" cmpd="sng" algn="ctr">
                      <a:solidFill>
                        <a:srgbClr val="0396A6"/>
                      </a:solidFill>
                      <a:prstDash val="solid"/>
                      <a:round/>
                      <a:headEnd type="none" w="med" len="med"/>
                      <a:tailEnd type="none" w="med" len="med"/>
                    </a:lnB>
                  </a:tcPr>
                </a:tc>
                <a:tc>
                  <a:txBody>
                    <a:bodyPr/>
                    <a:lstStyle/>
                    <a:p>
                      <a:r>
                        <a:rPr lang="en-US" sz="1100" b="1" dirty="0">
                          <a:solidFill>
                            <a:srgbClr val="021836"/>
                          </a:solidFill>
                        </a:rPr>
                        <a:t>Notes</a:t>
                      </a:r>
                    </a:p>
                  </a:txBody>
                  <a:tcPr marL="45720" marR="45720">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rgbClr val="0396A6"/>
                      </a:solidFill>
                      <a:prstDash val="solid"/>
                      <a:round/>
                      <a:headEnd type="none" w="med" len="med"/>
                      <a:tailEnd type="none" w="med" len="med"/>
                    </a:lnB>
                  </a:tcPr>
                </a:tc>
                <a:extLst>
                  <a:ext uri="{0D108BD9-81ED-4DB2-BD59-A6C34878D82A}">
                    <a16:rowId xmlns:a16="http://schemas.microsoft.com/office/drawing/2014/main" val="3173400939"/>
                  </a:ext>
                </a:extLst>
              </a:tr>
              <a:tr h="220027">
                <a:tc>
                  <a:txBody>
                    <a:bodyPr/>
                    <a:lstStyle/>
                    <a:p>
                      <a:pPr algn="l"/>
                      <a:r>
                        <a:rPr lang="en-US" sz="1100" dirty="0"/>
                        <a:t>Meeting summary drafts</a:t>
                      </a:r>
                    </a:p>
                  </a:txBody>
                  <a:tcPr marL="45720" marR="45720">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l"/>
                      <a:r>
                        <a:rPr lang="en-US" sz="1100" dirty="0"/>
                        <a:t>High</a:t>
                      </a:r>
                    </a:p>
                  </a:txBody>
                  <a:tcPr marL="45720" marR="4572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100" dirty="0"/>
                        <a:t>Quick win</a:t>
                      </a:r>
                    </a:p>
                  </a:txBody>
                  <a:tcPr marL="45720" marR="45720">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185261034"/>
                  </a:ext>
                </a:extLst>
              </a:tr>
              <a:tr h="220027">
                <a:tc>
                  <a:txBody>
                    <a:bodyPr/>
                    <a:lstStyle/>
                    <a:p>
                      <a:pPr algn="l"/>
                      <a:r>
                        <a:rPr lang="en-US" sz="1100" dirty="0"/>
                        <a:t>Knowledge search assistant</a:t>
                      </a:r>
                    </a:p>
                  </a:txBody>
                  <a:tcPr marL="45720" marR="4572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l"/>
                      <a:r>
                        <a:rPr lang="en-US" sz="1100" dirty="0"/>
                        <a:t>High</a:t>
                      </a:r>
                    </a:p>
                  </a:txBody>
                  <a:tcPr marL="45720" marR="4572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100" dirty="0"/>
                        <a:t>Strong AI fit</a:t>
                      </a:r>
                    </a:p>
                  </a:txBody>
                  <a:tcPr marL="45720" marR="45720">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228643947"/>
                  </a:ext>
                </a:extLst>
              </a:tr>
              <a:tr h="220027">
                <a:tc>
                  <a:txBody>
                    <a:bodyPr/>
                    <a:lstStyle/>
                    <a:p>
                      <a:pPr algn="l"/>
                      <a:r>
                        <a:rPr lang="en-US" sz="1100" dirty="0"/>
                        <a:t>Contract review automation</a:t>
                      </a:r>
                    </a:p>
                  </a:txBody>
                  <a:tcPr marL="45720" marR="4572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l"/>
                      <a:r>
                        <a:rPr lang="en-US" sz="1100" dirty="0"/>
                        <a:t>Medium</a:t>
                      </a:r>
                    </a:p>
                  </a:txBody>
                  <a:tcPr marL="45720" marR="4572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100" dirty="0"/>
                        <a:t>Higher risk</a:t>
                      </a:r>
                    </a:p>
                  </a:txBody>
                  <a:tcPr marL="45720" marR="45720">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781764621"/>
                  </a:ext>
                </a:extLst>
              </a:tr>
              <a:tr h="220027">
                <a:tc>
                  <a:txBody>
                    <a:bodyPr/>
                    <a:lstStyle/>
                    <a:p>
                      <a:pPr algn="l"/>
                      <a:r>
                        <a:rPr lang="en-US" sz="1100" dirty="0"/>
                        <a:t>Automated customer refunds</a:t>
                      </a:r>
                    </a:p>
                  </a:txBody>
                  <a:tcPr marL="45720" marR="4572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l"/>
                      <a:r>
                        <a:rPr lang="en-US" sz="1100" dirty="0"/>
                        <a:t>Low</a:t>
                      </a:r>
                    </a:p>
                  </a:txBody>
                  <a:tcPr marL="45720" marR="4572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100" dirty="0"/>
                        <a:t>High consequence and risk</a:t>
                      </a:r>
                    </a:p>
                  </a:txBody>
                  <a:tcPr marL="45720" marR="45720">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556231872"/>
                  </a:ext>
                </a:extLst>
              </a:tr>
            </a:tbl>
          </a:graphicData>
        </a:graphic>
      </p:graphicFrame>
      <p:sp>
        <p:nvSpPr>
          <p:cNvPr id="17" name="Content Placeholder 2">
            <a:extLst>
              <a:ext uri="{FF2B5EF4-FFF2-40B4-BE49-F238E27FC236}">
                <a16:creationId xmlns:a16="http://schemas.microsoft.com/office/drawing/2014/main" id="{CC13C87B-91EB-0890-FEF1-E96873368BD9}"/>
              </a:ext>
            </a:extLst>
          </p:cNvPr>
          <p:cNvSpPr txBox="1">
            <a:spLocks/>
          </p:cNvSpPr>
          <p:nvPr/>
        </p:nvSpPr>
        <p:spPr>
          <a:xfrm>
            <a:off x="595998" y="4617847"/>
            <a:ext cx="3857625" cy="44949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srgbClr val="021836"/>
                </a:solidFill>
                <a:effectLst/>
                <a:uLnTx/>
                <a:uFillTx/>
                <a:latin typeface="Aptos" panose="02110004020202020204"/>
                <a:ea typeface="+mn-ea"/>
                <a:cs typeface="+mn-cs"/>
              </a:rPr>
              <a:t>Example Opportunity Profiles</a:t>
            </a:r>
            <a:endParaRPr kumimoji="0" lang="en-US" sz="1600" b="1" i="0" u="none" strike="noStrike" kern="1200" cap="none" spc="0" normalizeH="0" baseline="0" noProof="0" dirty="0">
              <a:ln>
                <a:noFill/>
              </a:ln>
              <a:solidFill>
                <a:srgbClr val="021836"/>
              </a:solidFill>
              <a:effectLst/>
              <a:uLnTx/>
              <a:uFillTx/>
              <a:latin typeface="Aptos" panose="02110004020202020204"/>
              <a:ea typeface="+mn-ea"/>
              <a:cs typeface="+mn-cs"/>
            </a:endParaRPr>
          </a:p>
        </p:txBody>
      </p:sp>
      <p:sp>
        <p:nvSpPr>
          <p:cNvPr id="7" name="Content Placeholder 2">
            <a:extLst>
              <a:ext uri="{FF2B5EF4-FFF2-40B4-BE49-F238E27FC236}">
                <a16:creationId xmlns:a16="http://schemas.microsoft.com/office/drawing/2014/main" id="{BB708776-1E28-3E19-E849-F54906A394A3}"/>
              </a:ext>
            </a:extLst>
          </p:cNvPr>
          <p:cNvSpPr txBox="1">
            <a:spLocks/>
          </p:cNvSpPr>
          <p:nvPr/>
        </p:nvSpPr>
        <p:spPr>
          <a:xfrm>
            <a:off x="5940742" y="1474643"/>
            <a:ext cx="2750872" cy="565911"/>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200" b="1" dirty="0">
                <a:solidFill>
                  <a:srgbClr val="021836"/>
                </a:solidFill>
              </a:rPr>
              <a:t>Continuity Risk </a:t>
            </a:r>
            <a:r>
              <a:rPr lang="en-US" sz="1200" dirty="0">
                <a:solidFill>
                  <a:srgbClr val="021836"/>
                </a:solidFill>
              </a:rPr>
              <a:t>– tracked separately as an operational dependency indicator.</a:t>
            </a:r>
            <a:endParaRPr lang="en-US" sz="1100" dirty="0"/>
          </a:p>
        </p:txBody>
      </p:sp>
      <p:sp>
        <p:nvSpPr>
          <p:cNvPr id="8" name="TextBox 7">
            <a:extLst>
              <a:ext uri="{FF2B5EF4-FFF2-40B4-BE49-F238E27FC236}">
                <a16:creationId xmlns:a16="http://schemas.microsoft.com/office/drawing/2014/main" id="{4BB191BC-FB8E-E0AA-B37E-1DC5D2585B3E}"/>
              </a:ext>
            </a:extLst>
          </p:cNvPr>
          <p:cNvSpPr txBox="1"/>
          <p:nvPr/>
        </p:nvSpPr>
        <p:spPr>
          <a:xfrm>
            <a:off x="4953000" y="64309"/>
            <a:ext cx="4084462" cy="276999"/>
          </a:xfrm>
          <a:prstGeom prst="rect">
            <a:avLst/>
          </a:prstGeom>
          <a:noFill/>
        </p:spPr>
        <p:txBody>
          <a:bodyPr wrap="square" rtlCol="0">
            <a:spAutoFit/>
          </a:bodyPr>
          <a:lstStyle/>
          <a:p>
            <a:r>
              <a:rPr lang="en-US" sz="1200" dirty="0">
                <a:solidFill>
                  <a:schemeClr val="bg1">
                    <a:lumMod val="50000"/>
                  </a:schemeClr>
                </a:solidFill>
              </a:rPr>
              <a:t>AI Operational Readiness • Opportunity Prioritization Matrix</a:t>
            </a:r>
          </a:p>
        </p:txBody>
      </p:sp>
    </p:spTree>
    <p:extLst>
      <p:ext uri="{BB962C8B-B14F-4D97-AF65-F5344CB8AC3E}">
        <p14:creationId xmlns:p14="http://schemas.microsoft.com/office/powerpoint/2010/main" val="34896109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D07AE8-8652-9080-43CC-B6AE19EC57E1}"/>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386F8521-0E4F-72E4-02B1-D620F8960076}"/>
              </a:ext>
            </a:extLst>
          </p:cNvPr>
          <p:cNvSpPr txBox="1">
            <a:spLocks/>
          </p:cNvSpPr>
          <p:nvPr/>
        </p:nvSpPr>
        <p:spPr>
          <a:xfrm>
            <a:off x="273534" y="511629"/>
            <a:ext cx="7886700" cy="72730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rgbClr val="021836"/>
                </a:solidFill>
                <a:latin typeface="+mj-lt"/>
                <a:ea typeface="+mj-ea"/>
                <a:cs typeface="+mj-cs"/>
              </a:defRPr>
            </a:lvl1pPr>
          </a:lstStyle>
          <a:p>
            <a:r>
              <a:rPr lang="en-US" dirty="0"/>
              <a:t>Opportunity Prioritization Themes</a:t>
            </a:r>
          </a:p>
        </p:txBody>
      </p:sp>
      <p:sp>
        <p:nvSpPr>
          <p:cNvPr id="9" name="Content Placeholder 2">
            <a:extLst>
              <a:ext uri="{FF2B5EF4-FFF2-40B4-BE49-F238E27FC236}">
                <a16:creationId xmlns:a16="http://schemas.microsoft.com/office/drawing/2014/main" id="{E18B09CD-D47F-F504-48D6-3CD5ED616F47}"/>
              </a:ext>
            </a:extLst>
          </p:cNvPr>
          <p:cNvSpPr txBox="1">
            <a:spLocks/>
          </p:cNvSpPr>
          <p:nvPr/>
        </p:nvSpPr>
        <p:spPr>
          <a:xfrm>
            <a:off x="-5191095" y="3325414"/>
            <a:ext cx="2709152" cy="299244"/>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Understanding how work moves</a:t>
            </a:r>
          </a:p>
        </p:txBody>
      </p:sp>
      <p:graphicFrame>
        <p:nvGraphicFramePr>
          <p:cNvPr id="14" name="Table 13">
            <a:extLst>
              <a:ext uri="{FF2B5EF4-FFF2-40B4-BE49-F238E27FC236}">
                <a16:creationId xmlns:a16="http://schemas.microsoft.com/office/drawing/2014/main" id="{17844C42-82E1-9EDF-9D99-5A1E9C1FC589}"/>
              </a:ext>
            </a:extLst>
          </p:cNvPr>
          <p:cNvGraphicFramePr>
            <a:graphicFrameLocks noGrp="1"/>
          </p:cNvGraphicFramePr>
          <p:nvPr/>
        </p:nvGraphicFramePr>
        <p:xfrm>
          <a:off x="1276293" y="2004332"/>
          <a:ext cx="6387250" cy="1608434"/>
        </p:xfrm>
        <a:graphic>
          <a:graphicData uri="http://schemas.openxmlformats.org/drawingml/2006/table">
            <a:tbl>
              <a:tblPr firstRow="1" bandRow="1">
                <a:effectLst/>
                <a:tableStyleId>{2D5ABB26-0587-4C30-8999-92F81FD0307C}</a:tableStyleId>
              </a:tblPr>
              <a:tblGrid>
                <a:gridCol w="2343982">
                  <a:extLst>
                    <a:ext uri="{9D8B030D-6E8A-4147-A177-3AD203B41FA5}">
                      <a16:colId xmlns:a16="http://schemas.microsoft.com/office/drawing/2014/main" val="2728554600"/>
                    </a:ext>
                  </a:extLst>
                </a:gridCol>
                <a:gridCol w="4043268">
                  <a:extLst>
                    <a:ext uri="{9D8B030D-6E8A-4147-A177-3AD203B41FA5}">
                      <a16:colId xmlns:a16="http://schemas.microsoft.com/office/drawing/2014/main" val="682756451"/>
                    </a:ext>
                  </a:extLst>
                </a:gridCol>
              </a:tblGrid>
              <a:tr h="313488">
                <a:tc>
                  <a:txBody>
                    <a:bodyPr/>
                    <a:lstStyle/>
                    <a:p>
                      <a:pPr algn="l"/>
                      <a:r>
                        <a:rPr lang="en-US" sz="1600" b="1" dirty="0">
                          <a:solidFill>
                            <a:srgbClr val="021836"/>
                          </a:solidFill>
                        </a:rPr>
                        <a:t>Component</a:t>
                      </a:r>
                    </a:p>
                  </a:txBody>
                  <a:tcPr marL="45720" marR="45720" marT="55321" marB="55321">
                    <a:lnR w="12700" cap="flat" cmpd="sng" algn="ctr">
                      <a:noFill/>
                      <a:prstDash val="solid"/>
                      <a:round/>
                      <a:headEnd type="none" w="med" len="med"/>
                      <a:tailEnd type="none" w="med" len="med"/>
                    </a:lnR>
                    <a:lnB w="12700" cap="flat" cmpd="sng" algn="ctr">
                      <a:solidFill>
                        <a:srgbClr val="0396A6"/>
                      </a:solidFill>
                      <a:prstDash val="solid"/>
                      <a:round/>
                      <a:headEnd type="none" w="med" len="med"/>
                      <a:tailEnd type="none" w="med" len="med"/>
                    </a:lnB>
                  </a:tcPr>
                </a:tc>
                <a:tc>
                  <a:txBody>
                    <a:bodyPr/>
                    <a:lstStyle/>
                    <a:p>
                      <a:r>
                        <a:rPr lang="en-US" sz="1600" b="1" dirty="0">
                          <a:solidFill>
                            <a:srgbClr val="021836"/>
                          </a:solidFill>
                        </a:rPr>
                        <a:t>Purpose</a:t>
                      </a:r>
                    </a:p>
                  </a:txBody>
                  <a:tcPr marL="45720" marR="45720" marT="55321" marB="55321">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rgbClr val="0396A6"/>
                      </a:solidFill>
                      <a:prstDash val="solid"/>
                      <a:round/>
                      <a:headEnd type="none" w="med" len="med"/>
                      <a:tailEnd type="none" w="med" len="med"/>
                    </a:lnB>
                  </a:tcPr>
                </a:tc>
                <a:extLst>
                  <a:ext uri="{0D108BD9-81ED-4DB2-BD59-A6C34878D82A}">
                    <a16:rowId xmlns:a16="http://schemas.microsoft.com/office/drawing/2014/main" val="3173400939"/>
                  </a:ext>
                </a:extLst>
              </a:tr>
              <a:tr h="313488">
                <a:tc>
                  <a:txBody>
                    <a:bodyPr/>
                    <a:lstStyle/>
                    <a:p>
                      <a:pPr algn="l"/>
                      <a:r>
                        <a:rPr lang="en-US" sz="1300" dirty="0"/>
                        <a:t>Opportunity Drivers</a:t>
                      </a:r>
                    </a:p>
                  </a:txBody>
                  <a:tcPr marL="45720" marR="45720" marT="55321" marB="55321">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300" dirty="0"/>
                        <a:t>Identify value</a:t>
                      </a:r>
                    </a:p>
                  </a:txBody>
                  <a:tcPr marL="45720" marR="45720" marT="55321" marB="5532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185261034"/>
                  </a:ext>
                </a:extLst>
              </a:tr>
              <a:tr h="313488">
                <a:tc>
                  <a:txBody>
                    <a:bodyPr/>
                    <a:lstStyle/>
                    <a:p>
                      <a:pPr algn="l"/>
                      <a:r>
                        <a:rPr lang="en-US" sz="1300" dirty="0"/>
                        <a:t>Implementation Friction</a:t>
                      </a:r>
                    </a:p>
                  </a:txBody>
                  <a:tcPr marL="45720" marR="45720" marT="55321" marB="55321">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300" dirty="0"/>
                        <a:t>Understand effort and risk</a:t>
                      </a:r>
                    </a:p>
                  </a:txBody>
                  <a:tcPr marL="45720" marR="45720" marT="55321" marB="5532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228643947"/>
                  </a:ext>
                </a:extLst>
              </a:tr>
              <a:tr h="313488">
                <a:tc>
                  <a:txBody>
                    <a:bodyPr/>
                    <a:lstStyle/>
                    <a:p>
                      <a:pPr algn="l"/>
                      <a:r>
                        <a:rPr lang="en-US" sz="1300" dirty="0"/>
                        <a:t>Priority Score</a:t>
                      </a:r>
                    </a:p>
                  </a:txBody>
                  <a:tcPr marL="45720" marR="45720" marT="55321" marB="55321">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300" dirty="0"/>
                        <a:t>Balance value and friction</a:t>
                      </a:r>
                    </a:p>
                  </a:txBody>
                  <a:tcPr marL="45720" marR="45720" marT="55321" marB="5532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781764621"/>
                  </a:ext>
                </a:extLst>
              </a:tr>
              <a:tr h="313488">
                <a:tc>
                  <a:txBody>
                    <a:bodyPr/>
                    <a:lstStyle/>
                    <a:p>
                      <a:pPr algn="l"/>
                      <a:r>
                        <a:rPr lang="en-US" sz="1300" dirty="0"/>
                        <a:t>Recommended Action</a:t>
                      </a:r>
                    </a:p>
                  </a:txBody>
                  <a:tcPr marL="45720" marR="45720" marT="55321" marB="55321">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300" dirty="0"/>
                        <a:t>Guide next steps</a:t>
                      </a:r>
                    </a:p>
                  </a:txBody>
                  <a:tcPr marL="45720" marR="45720" marT="55321" marB="5532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415467063"/>
                  </a:ext>
                </a:extLst>
              </a:tr>
            </a:tbl>
          </a:graphicData>
        </a:graphic>
      </p:graphicFrame>
      <p:cxnSp>
        <p:nvCxnSpPr>
          <p:cNvPr id="15" name="Straight Connector 14">
            <a:extLst>
              <a:ext uri="{FF2B5EF4-FFF2-40B4-BE49-F238E27FC236}">
                <a16:creationId xmlns:a16="http://schemas.microsoft.com/office/drawing/2014/main" id="{3FF43B80-EC00-8DC8-7D16-D9532D1D1EFA}"/>
              </a:ext>
            </a:extLst>
          </p:cNvPr>
          <p:cNvCxnSpPr>
            <a:cxnSpLocks/>
          </p:cNvCxnSpPr>
          <p:nvPr/>
        </p:nvCxnSpPr>
        <p:spPr>
          <a:xfrm>
            <a:off x="171450" y="4638921"/>
            <a:ext cx="8801100" cy="0"/>
          </a:xfrm>
          <a:prstGeom prst="line">
            <a:avLst/>
          </a:prstGeom>
          <a:ln w="9525">
            <a:solidFill>
              <a:srgbClr val="0396A6"/>
            </a:solidFill>
          </a:ln>
        </p:spPr>
        <p:style>
          <a:lnRef idx="2">
            <a:schemeClr val="accent1"/>
          </a:lnRef>
          <a:fillRef idx="0">
            <a:schemeClr val="accent1"/>
          </a:fillRef>
          <a:effectRef idx="1">
            <a:schemeClr val="accent1"/>
          </a:effectRef>
          <a:fontRef idx="minor">
            <a:schemeClr val="tx1"/>
          </a:fontRef>
        </p:style>
      </p:cxnSp>
      <p:sp>
        <p:nvSpPr>
          <p:cNvPr id="6" name="Content Placeholder 2">
            <a:extLst>
              <a:ext uri="{FF2B5EF4-FFF2-40B4-BE49-F238E27FC236}">
                <a16:creationId xmlns:a16="http://schemas.microsoft.com/office/drawing/2014/main" id="{70C0C76A-F97B-B40D-6140-2763D9503E9A}"/>
              </a:ext>
            </a:extLst>
          </p:cNvPr>
          <p:cNvSpPr txBox="1">
            <a:spLocks/>
          </p:cNvSpPr>
          <p:nvPr/>
        </p:nvSpPr>
        <p:spPr>
          <a:xfrm>
            <a:off x="273534" y="1181727"/>
            <a:ext cx="7886700" cy="299244"/>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rgbClr val="021836"/>
              </a:buClr>
              <a:buNone/>
            </a:pPr>
            <a:r>
              <a:rPr lang="en-US" sz="1200" i="1" dirty="0">
                <a:solidFill>
                  <a:schemeClr val="bg1">
                    <a:lumMod val="50000"/>
                  </a:schemeClr>
                </a:solidFill>
              </a:rPr>
              <a:t>Translating opportunities into action</a:t>
            </a:r>
          </a:p>
        </p:txBody>
      </p:sp>
      <p:sp>
        <p:nvSpPr>
          <p:cNvPr id="11" name="Content Placeholder 2">
            <a:extLst>
              <a:ext uri="{FF2B5EF4-FFF2-40B4-BE49-F238E27FC236}">
                <a16:creationId xmlns:a16="http://schemas.microsoft.com/office/drawing/2014/main" id="{CD76AD44-B336-7A54-011B-C446426D1C88}"/>
              </a:ext>
            </a:extLst>
          </p:cNvPr>
          <p:cNvSpPr txBox="1">
            <a:spLocks/>
          </p:cNvSpPr>
          <p:nvPr/>
        </p:nvSpPr>
        <p:spPr>
          <a:xfrm>
            <a:off x="595998" y="4751255"/>
            <a:ext cx="8079916" cy="8824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b="1" dirty="0">
                <a:solidFill>
                  <a:srgbClr val="021836"/>
                </a:solidFill>
              </a:rPr>
              <a:t>Next Steps</a:t>
            </a:r>
          </a:p>
          <a:p>
            <a:pPr marL="0" indent="0">
              <a:buClr>
                <a:schemeClr val="bg1">
                  <a:lumMod val="50000"/>
                </a:schemeClr>
              </a:buClr>
              <a:buNone/>
            </a:pPr>
            <a:r>
              <a:rPr lang="en-US" sz="1200" dirty="0"/>
              <a:t>Advance selected opportunities to AI use-case classification to identify the capability pattern before designing the future-state workflow.</a:t>
            </a:r>
          </a:p>
        </p:txBody>
      </p:sp>
      <p:sp>
        <p:nvSpPr>
          <p:cNvPr id="3" name="TextBox 2">
            <a:extLst>
              <a:ext uri="{FF2B5EF4-FFF2-40B4-BE49-F238E27FC236}">
                <a16:creationId xmlns:a16="http://schemas.microsoft.com/office/drawing/2014/main" id="{549E6EC6-81A7-54E0-C93A-E8F184770C17}"/>
              </a:ext>
            </a:extLst>
          </p:cNvPr>
          <p:cNvSpPr txBox="1"/>
          <p:nvPr/>
        </p:nvSpPr>
        <p:spPr>
          <a:xfrm>
            <a:off x="4953000" y="64309"/>
            <a:ext cx="4084462" cy="276999"/>
          </a:xfrm>
          <a:prstGeom prst="rect">
            <a:avLst/>
          </a:prstGeom>
          <a:noFill/>
        </p:spPr>
        <p:txBody>
          <a:bodyPr wrap="square" rtlCol="0">
            <a:spAutoFit/>
          </a:bodyPr>
          <a:lstStyle/>
          <a:p>
            <a:r>
              <a:rPr lang="en-US" sz="1200" dirty="0">
                <a:solidFill>
                  <a:schemeClr val="bg1">
                    <a:lumMod val="50000"/>
                  </a:schemeClr>
                </a:solidFill>
              </a:rPr>
              <a:t>AI Operational Readiness • Opportunity Prioritization Matrix</a:t>
            </a:r>
          </a:p>
        </p:txBody>
      </p:sp>
    </p:spTree>
    <p:extLst>
      <p:ext uri="{BB962C8B-B14F-4D97-AF65-F5344CB8AC3E}">
        <p14:creationId xmlns:p14="http://schemas.microsoft.com/office/powerpoint/2010/main" val="26444017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CF70BFA2-5938-369D-A85C-6787A846E64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9144000" cy="6858000"/>
          </a:xfrm>
          <a:prstGeom prst="rect">
            <a:avLst/>
          </a:prstGeom>
        </p:spPr>
      </p:pic>
    </p:spTree>
    <p:extLst>
      <p:ext uri="{BB962C8B-B14F-4D97-AF65-F5344CB8AC3E}">
        <p14:creationId xmlns:p14="http://schemas.microsoft.com/office/powerpoint/2010/main" val="35613706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F44F6-AAF9-F6E6-B3DC-C2D8FC3F68FB}"/>
              </a:ext>
            </a:extLst>
          </p:cNvPr>
          <p:cNvSpPr>
            <a:spLocks noGrp="1"/>
          </p:cNvSpPr>
          <p:nvPr>
            <p:ph type="title"/>
          </p:nvPr>
        </p:nvSpPr>
        <p:spPr>
          <a:xfrm>
            <a:off x="285750" y="783524"/>
            <a:ext cx="7886700" cy="362276"/>
          </a:xfrm>
        </p:spPr>
        <p:txBody>
          <a:bodyPr>
            <a:normAutofit fontScale="90000"/>
          </a:bodyPr>
          <a:lstStyle/>
          <a:p>
            <a:r>
              <a:rPr lang="en-US" dirty="0"/>
              <a:t>Framework Overview</a:t>
            </a:r>
          </a:p>
        </p:txBody>
      </p:sp>
      <p:cxnSp>
        <p:nvCxnSpPr>
          <p:cNvPr id="10" name="Straight Connector 9">
            <a:extLst>
              <a:ext uri="{FF2B5EF4-FFF2-40B4-BE49-F238E27FC236}">
                <a16:creationId xmlns:a16="http://schemas.microsoft.com/office/drawing/2014/main" id="{C0020D96-D985-F85D-9155-2AFC35B6AE59}"/>
              </a:ext>
            </a:extLst>
          </p:cNvPr>
          <p:cNvCxnSpPr>
            <a:cxnSpLocks/>
          </p:cNvCxnSpPr>
          <p:nvPr/>
        </p:nvCxnSpPr>
        <p:spPr>
          <a:xfrm>
            <a:off x="171450" y="5712199"/>
            <a:ext cx="8801100" cy="0"/>
          </a:xfrm>
          <a:prstGeom prst="line">
            <a:avLst/>
          </a:prstGeom>
          <a:ln w="9525">
            <a:solidFill>
              <a:srgbClr val="0396A6"/>
            </a:solidFill>
          </a:ln>
        </p:spPr>
        <p:style>
          <a:lnRef idx="2">
            <a:schemeClr val="accent1"/>
          </a:lnRef>
          <a:fillRef idx="0">
            <a:schemeClr val="accent1"/>
          </a:fillRef>
          <a:effectRef idx="1">
            <a:schemeClr val="accent1"/>
          </a:effectRef>
          <a:fontRef idx="minor">
            <a:schemeClr val="tx1"/>
          </a:fontRef>
        </p:style>
      </p:cxnSp>
      <p:grpSp>
        <p:nvGrpSpPr>
          <p:cNvPr id="37" name="Group 36">
            <a:extLst>
              <a:ext uri="{FF2B5EF4-FFF2-40B4-BE49-F238E27FC236}">
                <a16:creationId xmlns:a16="http://schemas.microsoft.com/office/drawing/2014/main" id="{07427C67-24F8-34E3-16AD-56FCB95CE120}"/>
              </a:ext>
            </a:extLst>
          </p:cNvPr>
          <p:cNvGrpSpPr/>
          <p:nvPr/>
        </p:nvGrpSpPr>
        <p:grpSpPr>
          <a:xfrm>
            <a:off x="381675" y="3361652"/>
            <a:ext cx="8583386" cy="1464737"/>
            <a:chOff x="628650" y="4778376"/>
            <a:chExt cx="7886700" cy="1464737"/>
          </a:xfrm>
        </p:grpSpPr>
        <p:sp>
          <p:nvSpPr>
            <p:cNvPr id="9" name="Content Placeholder 2">
              <a:extLst>
                <a:ext uri="{FF2B5EF4-FFF2-40B4-BE49-F238E27FC236}">
                  <a16:creationId xmlns:a16="http://schemas.microsoft.com/office/drawing/2014/main" id="{8C9AC330-2344-BEDA-9EC6-BFB62190E7E3}"/>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b="1" dirty="0">
                  <a:solidFill>
                    <a:srgbClr val="021836"/>
                  </a:solidFill>
                </a:rPr>
                <a:t>Why It Matters</a:t>
              </a:r>
            </a:p>
          </p:txBody>
        </p:sp>
        <p:sp>
          <p:nvSpPr>
            <p:cNvPr id="11" name="Content Placeholder 2">
              <a:extLst>
                <a:ext uri="{FF2B5EF4-FFF2-40B4-BE49-F238E27FC236}">
                  <a16:creationId xmlns:a16="http://schemas.microsoft.com/office/drawing/2014/main" id="{FD78CC86-2052-A718-2145-5489B68A5D91}"/>
                </a:ext>
              </a:extLst>
            </p:cNvPr>
            <p:cNvSpPr txBox="1">
              <a:spLocks/>
            </p:cNvSpPr>
            <p:nvPr/>
          </p:nvSpPr>
          <p:spPr>
            <a:xfrm>
              <a:off x="628650" y="5032600"/>
              <a:ext cx="7886700" cy="1210513"/>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rgbClr val="021836"/>
                </a:buClr>
                <a:buNone/>
              </a:pPr>
              <a:r>
                <a:rPr lang="en-US" sz="1200" dirty="0"/>
                <a:t>Organizations frequently say:</a:t>
              </a:r>
            </a:p>
            <a:p>
              <a:pPr marL="347663" indent="-119063">
                <a:buClr>
                  <a:srgbClr val="021836"/>
                </a:buClr>
                <a:buNone/>
              </a:pPr>
              <a:r>
                <a:rPr lang="en-US" sz="1200" b="1" dirty="0"/>
                <a:t>“We need AI.”</a:t>
              </a:r>
            </a:p>
            <a:p>
              <a:pPr marL="0" indent="0">
                <a:buClr>
                  <a:srgbClr val="021836"/>
                </a:buClr>
                <a:buNone/>
              </a:pPr>
              <a:r>
                <a:rPr lang="en-US" sz="1200" dirty="0"/>
                <a:t>The more useful question is:</a:t>
              </a:r>
            </a:p>
            <a:p>
              <a:pPr marL="0" indent="228600">
                <a:buClr>
                  <a:srgbClr val="021836"/>
                </a:buClr>
                <a:buNone/>
              </a:pPr>
              <a:r>
                <a:rPr lang="en-US" sz="1200" b="1" dirty="0"/>
                <a:t>“What kind of AI capability does this work require?”</a:t>
              </a:r>
            </a:p>
          </p:txBody>
        </p:sp>
      </p:grpSp>
      <p:sp>
        <p:nvSpPr>
          <p:cNvPr id="32" name="Content Placeholder 2">
            <a:extLst>
              <a:ext uri="{FF2B5EF4-FFF2-40B4-BE49-F238E27FC236}">
                <a16:creationId xmlns:a16="http://schemas.microsoft.com/office/drawing/2014/main" id="{3100EC29-4DE1-0548-69CA-66C82A4659A2}"/>
              </a:ext>
            </a:extLst>
          </p:cNvPr>
          <p:cNvSpPr txBox="1">
            <a:spLocks/>
          </p:cNvSpPr>
          <p:nvPr/>
        </p:nvSpPr>
        <p:spPr>
          <a:xfrm>
            <a:off x="389164" y="1737482"/>
            <a:ext cx="7886700" cy="147176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b="1" dirty="0">
                <a:solidFill>
                  <a:srgbClr val="021836"/>
                </a:solidFill>
              </a:rPr>
              <a:t>Purpose</a:t>
            </a:r>
          </a:p>
          <a:p>
            <a:pPr marL="0" indent="0">
              <a:lnSpc>
                <a:spcPct val="110000"/>
              </a:lnSpc>
              <a:spcBef>
                <a:spcPts val="600"/>
              </a:spcBef>
              <a:buFont typeface="Arial" panose="020B0604020202020204" pitchFamily="34" charset="0"/>
              <a:buNone/>
            </a:pPr>
            <a:r>
              <a:rPr lang="en-US" sz="1200" dirty="0"/>
              <a:t>AI use cases are often unique in context but repetitive in pattern. This framework helps teams classify opportunities into common categories that can guide design, governance, and implementation. </a:t>
            </a:r>
          </a:p>
          <a:p>
            <a:pPr marL="0" indent="0">
              <a:spcBef>
                <a:spcPts val="600"/>
              </a:spcBef>
              <a:buNone/>
            </a:pPr>
            <a:r>
              <a:rPr lang="en-US" sz="1200" dirty="0"/>
              <a:t>A use case may combine multiple capability patterns. Classify the primary pattern and any supporting patterns needed to perform the work.</a:t>
            </a:r>
          </a:p>
        </p:txBody>
      </p:sp>
      <p:sp>
        <p:nvSpPr>
          <p:cNvPr id="23" name="Content Placeholder 2">
            <a:extLst>
              <a:ext uri="{FF2B5EF4-FFF2-40B4-BE49-F238E27FC236}">
                <a16:creationId xmlns:a16="http://schemas.microsoft.com/office/drawing/2014/main" id="{75364D2D-B9ED-34BF-5672-4A5056208954}"/>
              </a:ext>
            </a:extLst>
          </p:cNvPr>
          <p:cNvSpPr txBox="1">
            <a:spLocks/>
          </p:cNvSpPr>
          <p:nvPr/>
        </p:nvSpPr>
        <p:spPr>
          <a:xfrm>
            <a:off x="316359" y="1181319"/>
            <a:ext cx="7886700" cy="299244"/>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rgbClr val="021836"/>
              </a:buClr>
              <a:buNone/>
            </a:pPr>
            <a:r>
              <a:rPr lang="en-US" sz="1200" i="1" dirty="0">
                <a:solidFill>
                  <a:schemeClr val="bg1">
                    <a:lumMod val="50000"/>
                  </a:schemeClr>
                </a:solidFill>
              </a:rPr>
              <a:t>Understanding how AI problems become repeatable patterns</a:t>
            </a:r>
          </a:p>
        </p:txBody>
      </p:sp>
      <p:sp>
        <p:nvSpPr>
          <p:cNvPr id="24" name="Content Placeholder 2">
            <a:extLst>
              <a:ext uri="{FF2B5EF4-FFF2-40B4-BE49-F238E27FC236}">
                <a16:creationId xmlns:a16="http://schemas.microsoft.com/office/drawing/2014/main" id="{458C60B2-6FD9-3741-DA41-043698D2EAC0}"/>
              </a:ext>
            </a:extLst>
          </p:cNvPr>
          <p:cNvSpPr txBox="1">
            <a:spLocks/>
          </p:cNvSpPr>
          <p:nvPr/>
        </p:nvSpPr>
        <p:spPr>
          <a:xfrm>
            <a:off x="285750" y="5864603"/>
            <a:ext cx="7886700" cy="84726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b="1" dirty="0">
                <a:solidFill>
                  <a:srgbClr val="021836"/>
                </a:solidFill>
              </a:rPr>
              <a:t>Guiding Philosophy</a:t>
            </a:r>
          </a:p>
          <a:p>
            <a:pPr marL="0" indent="0">
              <a:lnSpc>
                <a:spcPct val="110000"/>
              </a:lnSpc>
              <a:spcBef>
                <a:spcPts val="600"/>
              </a:spcBef>
              <a:buFont typeface="Arial" panose="020B0604020202020204" pitchFamily="34" charset="0"/>
              <a:buNone/>
            </a:pPr>
            <a:r>
              <a:rPr lang="en-US" sz="1200" i="1" dirty="0"/>
              <a:t>Business problems are often unique in context but repetitive in pattern.</a:t>
            </a:r>
            <a:endParaRPr lang="en-US" sz="1600" i="1" dirty="0"/>
          </a:p>
        </p:txBody>
      </p:sp>
      <p:sp>
        <p:nvSpPr>
          <p:cNvPr id="4" name="TextBox 3">
            <a:extLst>
              <a:ext uri="{FF2B5EF4-FFF2-40B4-BE49-F238E27FC236}">
                <a16:creationId xmlns:a16="http://schemas.microsoft.com/office/drawing/2014/main" id="{9A5088E5-22D8-4AB7-2B42-672CA22883E5}"/>
              </a:ext>
            </a:extLst>
          </p:cNvPr>
          <p:cNvSpPr txBox="1"/>
          <p:nvPr/>
        </p:nvSpPr>
        <p:spPr>
          <a:xfrm>
            <a:off x="4953000" y="64309"/>
            <a:ext cx="4084462" cy="276999"/>
          </a:xfrm>
          <a:prstGeom prst="rect">
            <a:avLst/>
          </a:prstGeom>
          <a:noFill/>
        </p:spPr>
        <p:txBody>
          <a:bodyPr wrap="square" rtlCol="0">
            <a:spAutoFit/>
          </a:bodyPr>
          <a:lstStyle/>
          <a:p>
            <a:pPr algn="r"/>
            <a:r>
              <a:rPr lang="en-US" sz="1200" dirty="0">
                <a:solidFill>
                  <a:schemeClr val="bg1">
                    <a:lumMod val="50000"/>
                  </a:schemeClr>
                </a:solidFill>
              </a:rPr>
              <a:t>AI Operational Readiness • AI Use Case Categories</a:t>
            </a:r>
          </a:p>
        </p:txBody>
      </p:sp>
    </p:spTree>
    <p:extLst>
      <p:ext uri="{BB962C8B-B14F-4D97-AF65-F5344CB8AC3E}">
        <p14:creationId xmlns:p14="http://schemas.microsoft.com/office/powerpoint/2010/main" val="28337240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671BA3-B71C-0F6C-5DCC-2BDE8C41B7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743337-A53D-43FB-1D3A-AFB5942472E9}"/>
              </a:ext>
            </a:extLst>
          </p:cNvPr>
          <p:cNvSpPr>
            <a:spLocks noGrp="1"/>
          </p:cNvSpPr>
          <p:nvPr>
            <p:ph type="title"/>
          </p:nvPr>
        </p:nvSpPr>
        <p:spPr>
          <a:xfrm>
            <a:off x="273534" y="-86630"/>
            <a:ext cx="7886700" cy="1325563"/>
          </a:xfrm>
        </p:spPr>
        <p:txBody>
          <a:bodyPr/>
          <a:lstStyle/>
          <a:p>
            <a:r>
              <a:rPr lang="en-US" dirty="0"/>
              <a:t>Knowledge Use Cases</a:t>
            </a:r>
          </a:p>
        </p:txBody>
      </p:sp>
      <p:sp>
        <p:nvSpPr>
          <p:cNvPr id="4" name="Content Placeholder 2">
            <a:extLst>
              <a:ext uri="{FF2B5EF4-FFF2-40B4-BE49-F238E27FC236}">
                <a16:creationId xmlns:a16="http://schemas.microsoft.com/office/drawing/2014/main" id="{CF44140D-EC65-5A27-655D-229B2C295DC7}"/>
              </a:ext>
            </a:extLst>
          </p:cNvPr>
          <p:cNvSpPr txBox="1">
            <a:spLocks/>
          </p:cNvSpPr>
          <p:nvPr/>
        </p:nvSpPr>
        <p:spPr>
          <a:xfrm>
            <a:off x="381675" y="868186"/>
            <a:ext cx="7886700" cy="299244"/>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rgbClr val="021836"/>
              </a:buClr>
              <a:buNone/>
            </a:pPr>
            <a:r>
              <a:rPr lang="en-US" sz="1200" i="1" dirty="0">
                <a:solidFill>
                  <a:schemeClr val="bg1">
                    <a:lumMod val="50000"/>
                  </a:schemeClr>
                </a:solidFill>
              </a:rPr>
              <a:t>Understanding and finding information</a:t>
            </a:r>
          </a:p>
        </p:txBody>
      </p:sp>
      <p:graphicFrame>
        <p:nvGraphicFramePr>
          <p:cNvPr id="15" name="Table 14">
            <a:extLst>
              <a:ext uri="{FF2B5EF4-FFF2-40B4-BE49-F238E27FC236}">
                <a16:creationId xmlns:a16="http://schemas.microsoft.com/office/drawing/2014/main" id="{8AD66CCD-81D2-2AC4-8FC9-2F20B532D397}"/>
              </a:ext>
            </a:extLst>
          </p:cNvPr>
          <p:cNvGraphicFramePr>
            <a:graphicFrameLocks noGrp="1"/>
          </p:cNvGraphicFramePr>
          <p:nvPr/>
        </p:nvGraphicFramePr>
        <p:xfrm>
          <a:off x="381675" y="1238933"/>
          <a:ext cx="8218714" cy="2045116"/>
        </p:xfrm>
        <a:graphic>
          <a:graphicData uri="http://schemas.openxmlformats.org/drawingml/2006/table">
            <a:tbl>
              <a:tblPr firstRow="1" bandRow="1">
                <a:tableStyleId>{2D5ABB26-0587-4C30-8999-92F81FD0307C}</a:tableStyleId>
              </a:tblPr>
              <a:tblGrid>
                <a:gridCol w="3287487">
                  <a:extLst>
                    <a:ext uri="{9D8B030D-6E8A-4147-A177-3AD203B41FA5}">
                      <a16:colId xmlns:a16="http://schemas.microsoft.com/office/drawing/2014/main" val="2470210094"/>
                    </a:ext>
                  </a:extLst>
                </a:gridCol>
                <a:gridCol w="4931227">
                  <a:extLst>
                    <a:ext uri="{9D8B030D-6E8A-4147-A177-3AD203B41FA5}">
                      <a16:colId xmlns:a16="http://schemas.microsoft.com/office/drawing/2014/main" val="72878264"/>
                    </a:ext>
                  </a:extLst>
                </a:gridCol>
              </a:tblGrid>
              <a:tr h="273402">
                <a:tc>
                  <a:txBody>
                    <a:bodyPr/>
                    <a:lstStyle/>
                    <a:p>
                      <a:r>
                        <a:rPr lang="en-US" sz="1600" b="1" dirty="0">
                          <a:solidFill>
                            <a:srgbClr val="021836"/>
                          </a:solidFill>
                        </a:rPr>
                        <a:t>Category</a:t>
                      </a:r>
                    </a:p>
                  </a:txBody>
                  <a:tcPr>
                    <a:lnR w="12700" cap="flat" cmpd="sng" algn="ctr">
                      <a:solidFill>
                        <a:schemeClr val="bg1">
                          <a:lumMod val="75000"/>
                        </a:schemeClr>
                      </a:solidFill>
                      <a:prstDash val="solid"/>
                      <a:round/>
                      <a:headEnd type="none" w="med" len="med"/>
                      <a:tailEnd type="none" w="med" len="med"/>
                    </a:lnR>
                    <a:lnB w="12700" cap="flat" cmpd="sng" algn="ctr">
                      <a:solidFill>
                        <a:srgbClr val="0396A6"/>
                      </a:solidFill>
                      <a:prstDash val="solid"/>
                      <a:round/>
                      <a:headEnd type="none" w="med" len="med"/>
                      <a:tailEnd type="none" w="med" len="med"/>
                    </a:lnB>
                  </a:tcPr>
                </a:tc>
                <a:tc>
                  <a:txBody>
                    <a:bodyPr/>
                    <a:lstStyle/>
                    <a:p>
                      <a:r>
                        <a:rPr lang="en-US" sz="1600" b="1" dirty="0">
                          <a:solidFill>
                            <a:srgbClr val="021836"/>
                          </a:solidFill>
                        </a:rPr>
                        <a:t>Purpose</a:t>
                      </a:r>
                    </a:p>
                  </a:txBody>
                  <a:tcPr>
                    <a:lnL w="12700" cap="flat" cmpd="sng" algn="ctr">
                      <a:solidFill>
                        <a:schemeClr val="bg1">
                          <a:lumMod val="75000"/>
                        </a:schemeClr>
                      </a:solidFill>
                      <a:prstDash val="solid"/>
                      <a:round/>
                      <a:headEnd type="none" w="med" len="med"/>
                      <a:tailEnd type="none" w="med" len="med"/>
                    </a:lnL>
                    <a:lnB w="12700" cap="flat" cmpd="sng" algn="ctr">
                      <a:solidFill>
                        <a:srgbClr val="0396A6"/>
                      </a:solidFill>
                      <a:prstDash val="solid"/>
                      <a:round/>
                      <a:headEnd type="none" w="med" len="med"/>
                      <a:tailEnd type="none" w="med" len="med"/>
                    </a:lnB>
                  </a:tcPr>
                </a:tc>
                <a:extLst>
                  <a:ext uri="{0D108BD9-81ED-4DB2-BD59-A6C34878D82A}">
                    <a16:rowId xmlns:a16="http://schemas.microsoft.com/office/drawing/2014/main" val="2061593276"/>
                  </a:ext>
                </a:extLst>
              </a:tr>
              <a:tr h="427459">
                <a:tc>
                  <a:txBody>
                    <a:bodyPr/>
                    <a:lstStyle/>
                    <a:p>
                      <a:pPr>
                        <a:buClr>
                          <a:schemeClr val="bg1">
                            <a:lumMod val="50000"/>
                          </a:schemeClr>
                        </a:buClr>
                      </a:pPr>
                      <a:r>
                        <a:rPr lang="en-US" sz="1400" b="1" dirty="0">
                          <a:solidFill>
                            <a:srgbClr val="021836"/>
                          </a:solidFill>
                        </a:rPr>
                        <a:t>Search</a:t>
                      </a:r>
                      <a:endParaRPr lang="en-US" sz="1400" dirty="0"/>
                    </a:p>
                  </a:txBody>
                  <a:tcPr>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400" dirty="0"/>
                        <a:t>Locate information</a:t>
                      </a:r>
                    </a:p>
                  </a:txBody>
                  <a:tcPr>
                    <a:lnL w="12700" cap="flat" cmpd="sng" algn="ctr">
                      <a:solidFill>
                        <a:schemeClr val="bg1">
                          <a:lumMod val="75000"/>
                        </a:schemeClr>
                      </a:solidFill>
                      <a:prstDash val="solid"/>
                      <a:round/>
                      <a:headEnd type="none" w="med" len="med"/>
                      <a:tailEnd type="none" w="med" len="med"/>
                    </a:lnL>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493753442"/>
                  </a:ext>
                </a:extLst>
              </a:tr>
              <a:tr h="427459">
                <a:tc>
                  <a:txBody>
                    <a:bodyPr/>
                    <a:lstStyle/>
                    <a:p>
                      <a:pPr>
                        <a:buClr>
                          <a:schemeClr val="bg1">
                            <a:lumMod val="50000"/>
                          </a:schemeClr>
                        </a:buClr>
                      </a:pPr>
                      <a:r>
                        <a:rPr lang="en-US" sz="1400" b="1" dirty="0">
                          <a:solidFill>
                            <a:srgbClr val="021836"/>
                          </a:solidFill>
                        </a:rPr>
                        <a:t>Summarization</a:t>
                      </a:r>
                      <a:endParaRPr lang="en-US" sz="1400" dirty="0"/>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400" dirty="0"/>
                        <a:t>Condense information</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23325965"/>
                  </a:ext>
                </a:extLst>
              </a:tr>
              <a:tr h="427459">
                <a:tc>
                  <a:txBody>
                    <a:bodyPr/>
                    <a:lstStyle/>
                    <a:p>
                      <a:pPr>
                        <a:buClr>
                          <a:schemeClr val="bg1">
                            <a:lumMod val="50000"/>
                          </a:schemeClr>
                        </a:buClr>
                      </a:pPr>
                      <a:r>
                        <a:rPr lang="en-US" sz="1400" b="1" dirty="0">
                          <a:solidFill>
                            <a:srgbClr val="021836"/>
                          </a:solidFill>
                        </a:rPr>
                        <a:t>Extraction</a:t>
                      </a:r>
                      <a:endParaRPr lang="en-US" sz="1400" dirty="0"/>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400" dirty="0"/>
                        <a:t>Convert documents into structured data</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845834834"/>
                  </a:ext>
                </a:extLst>
              </a:tr>
              <a:tr h="427459">
                <a:tc>
                  <a:txBody>
                    <a:bodyPr/>
                    <a:lstStyle/>
                    <a:p>
                      <a:pPr>
                        <a:buClr>
                          <a:schemeClr val="bg1">
                            <a:lumMod val="50000"/>
                          </a:schemeClr>
                        </a:buClr>
                      </a:pPr>
                      <a:r>
                        <a:rPr lang="en-US" sz="1400" b="1" dirty="0">
                          <a:solidFill>
                            <a:srgbClr val="021836"/>
                          </a:solidFill>
                        </a:rPr>
                        <a:t>Translation</a:t>
                      </a:r>
                      <a:endParaRPr lang="en-US" sz="1400" dirty="0"/>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400" dirty="0"/>
                        <a:t>Adapt language or formats</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012176639"/>
                  </a:ext>
                </a:extLst>
              </a:tr>
            </a:tbl>
          </a:graphicData>
        </a:graphic>
      </p:graphicFrame>
      <p:grpSp>
        <p:nvGrpSpPr>
          <p:cNvPr id="16" name="Group 15">
            <a:extLst>
              <a:ext uri="{FF2B5EF4-FFF2-40B4-BE49-F238E27FC236}">
                <a16:creationId xmlns:a16="http://schemas.microsoft.com/office/drawing/2014/main" id="{C87AF0CB-3AB1-9BB5-7B0D-C4A3F1EE521D}"/>
              </a:ext>
            </a:extLst>
          </p:cNvPr>
          <p:cNvGrpSpPr/>
          <p:nvPr/>
        </p:nvGrpSpPr>
        <p:grpSpPr>
          <a:xfrm>
            <a:off x="381675" y="3396456"/>
            <a:ext cx="7886700" cy="820961"/>
            <a:chOff x="628650" y="4778376"/>
            <a:chExt cx="7886700" cy="820961"/>
          </a:xfrm>
        </p:grpSpPr>
        <p:sp>
          <p:nvSpPr>
            <p:cNvPr id="17" name="Content Placeholder 2">
              <a:extLst>
                <a:ext uri="{FF2B5EF4-FFF2-40B4-BE49-F238E27FC236}">
                  <a16:creationId xmlns:a16="http://schemas.microsoft.com/office/drawing/2014/main" id="{C6732B73-92BE-5719-D4D8-EC9ACCEA9F8A}"/>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Examples</a:t>
              </a:r>
            </a:p>
          </p:txBody>
        </p:sp>
        <p:sp>
          <p:nvSpPr>
            <p:cNvPr id="18" name="Content Placeholder 2">
              <a:extLst>
                <a:ext uri="{FF2B5EF4-FFF2-40B4-BE49-F238E27FC236}">
                  <a16:creationId xmlns:a16="http://schemas.microsoft.com/office/drawing/2014/main" id="{96DC3DAC-6636-38F4-9FB3-06D5B4ED553E}"/>
                </a:ext>
              </a:extLst>
            </p:cNvPr>
            <p:cNvSpPr txBox="1">
              <a:spLocks/>
            </p:cNvSpPr>
            <p:nvPr/>
          </p:nvSpPr>
          <p:spPr>
            <a:xfrm>
              <a:off x="628650" y="5032600"/>
              <a:ext cx="7305675" cy="566737"/>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021836"/>
                </a:buClr>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Meeting notes</a:t>
              </a:r>
            </a:p>
            <a:p>
              <a:pPr>
                <a:buClr>
                  <a:srgbClr val="021836"/>
                </a:buClr>
              </a:pPr>
              <a:r>
                <a:rPr lang="en-US" sz="1200" i="1" dirty="0">
                  <a:solidFill>
                    <a:prstClr val="white">
                      <a:lumMod val="50000"/>
                    </a:prstClr>
                  </a:solidFill>
                  <a:latin typeface="Aptos" panose="02110004020202020204"/>
                </a:rPr>
                <a:t>Policies</a:t>
              </a:r>
            </a:p>
            <a:p>
              <a:pPr>
                <a:buClr>
                  <a:srgbClr val="021836"/>
                </a:buClr>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Contracts</a:t>
              </a:r>
            </a:p>
            <a:p>
              <a:pPr>
                <a:buClr>
                  <a:srgbClr val="021836"/>
                </a:buClr>
              </a:pPr>
              <a:r>
                <a:rPr lang="en-US" sz="1200" i="1" dirty="0">
                  <a:solidFill>
                    <a:prstClr val="white">
                      <a:lumMod val="50000"/>
                    </a:prstClr>
                  </a:solidFill>
                  <a:latin typeface="Aptos" panose="02110004020202020204"/>
                </a:rPr>
                <a:t>Knowledge bases</a:t>
              </a:r>
              <a:endPar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endParaRPr>
            </a:p>
          </p:txBody>
        </p:sp>
      </p:grpSp>
      <p:cxnSp>
        <p:nvCxnSpPr>
          <p:cNvPr id="3" name="Straight Connector 2">
            <a:extLst>
              <a:ext uri="{FF2B5EF4-FFF2-40B4-BE49-F238E27FC236}">
                <a16:creationId xmlns:a16="http://schemas.microsoft.com/office/drawing/2014/main" id="{19F6770F-7488-47FD-2B44-4FB3807B4E2B}"/>
              </a:ext>
            </a:extLst>
          </p:cNvPr>
          <p:cNvCxnSpPr>
            <a:cxnSpLocks/>
          </p:cNvCxnSpPr>
          <p:nvPr/>
        </p:nvCxnSpPr>
        <p:spPr>
          <a:xfrm>
            <a:off x="171450" y="4924372"/>
            <a:ext cx="8801100" cy="0"/>
          </a:xfrm>
          <a:prstGeom prst="line">
            <a:avLst/>
          </a:prstGeom>
          <a:ln w="9525">
            <a:solidFill>
              <a:srgbClr val="0396A6"/>
            </a:solidFill>
          </a:ln>
        </p:spPr>
        <p:style>
          <a:lnRef idx="2">
            <a:schemeClr val="accent1"/>
          </a:lnRef>
          <a:fillRef idx="0">
            <a:schemeClr val="accent1"/>
          </a:fillRef>
          <a:effectRef idx="1">
            <a:schemeClr val="accent1"/>
          </a:effectRef>
          <a:fontRef idx="minor">
            <a:schemeClr val="tx1"/>
          </a:fontRef>
        </p:style>
      </p:cxnSp>
      <p:grpSp>
        <p:nvGrpSpPr>
          <p:cNvPr id="5" name="Group 4">
            <a:extLst>
              <a:ext uri="{FF2B5EF4-FFF2-40B4-BE49-F238E27FC236}">
                <a16:creationId xmlns:a16="http://schemas.microsoft.com/office/drawing/2014/main" id="{A7F33815-022F-931D-6074-02D887AD7977}"/>
              </a:ext>
            </a:extLst>
          </p:cNvPr>
          <p:cNvGrpSpPr/>
          <p:nvPr/>
        </p:nvGrpSpPr>
        <p:grpSpPr>
          <a:xfrm>
            <a:off x="542925" y="5081765"/>
            <a:ext cx="7886700" cy="908049"/>
            <a:chOff x="628650" y="4778376"/>
            <a:chExt cx="7886700" cy="908049"/>
          </a:xfrm>
        </p:grpSpPr>
        <p:sp>
          <p:nvSpPr>
            <p:cNvPr id="6" name="Content Placeholder 2">
              <a:extLst>
                <a:ext uri="{FF2B5EF4-FFF2-40B4-BE49-F238E27FC236}">
                  <a16:creationId xmlns:a16="http://schemas.microsoft.com/office/drawing/2014/main" id="{FEC22999-90FA-CBAD-AB10-A3BCA75B334C}"/>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Opportunity Signals</a:t>
              </a:r>
            </a:p>
          </p:txBody>
        </p:sp>
        <p:sp>
          <p:nvSpPr>
            <p:cNvPr id="7" name="Content Placeholder 2">
              <a:extLst>
                <a:ext uri="{FF2B5EF4-FFF2-40B4-BE49-F238E27FC236}">
                  <a16:creationId xmlns:a16="http://schemas.microsoft.com/office/drawing/2014/main" id="{B6AD70A5-077C-9CF6-875A-599406966D4B}"/>
                </a:ext>
              </a:extLst>
            </p:cNvPr>
            <p:cNvSpPr txBox="1">
              <a:spLocks/>
            </p:cNvSpPr>
            <p:nvPr/>
          </p:nvSpPr>
          <p:spPr>
            <a:xfrm>
              <a:off x="628650" y="5119688"/>
              <a:ext cx="7886700" cy="566737"/>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Clr>
                  <a:srgbClr val="021836"/>
                </a:buClr>
                <a:buNone/>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Search burden </a:t>
              </a:r>
              <a:r>
                <a:rPr lang="en-US" sz="1200" i="1" dirty="0">
                  <a:solidFill>
                    <a:prstClr val="white">
                      <a:lumMod val="50000"/>
                    </a:prstClr>
                  </a:solidFill>
                </a:rPr>
                <a:t>• Tribal knowledge • Duplicate effort • Repeated questions • Spreadsheet dependency • Context switching • Manual review</a:t>
              </a:r>
              <a:endPar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endParaRPr>
            </a:p>
          </p:txBody>
        </p:sp>
      </p:grpSp>
      <p:grpSp>
        <p:nvGrpSpPr>
          <p:cNvPr id="8" name="Group 7">
            <a:extLst>
              <a:ext uri="{FF2B5EF4-FFF2-40B4-BE49-F238E27FC236}">
                <a16:creationId xmlns:a16="http://schemas.microsoft.com/office/drawing/2014/main" id="{6A621A1F-7F66-B241-E213-3E34DBAFC90D}"/>
              </a:ext>
            </a:extLst>
          </p:cNvPr>
          <p:cNvGrpSpPr/>
          <p:nvPr/>
        </p:nvGrpSpPr>
        <p:grpSpPr>
          <a:xfrm>
            <a:off x="542925" y="5917911"/>
            <a:ext cx="7886700" cy="908049"/>
            <a:chOff x="628650" y="4778376"/>
            <a:chExt cx="7886700" cy="908049"/>
          </a:xfrm>
        </p:grpSpPr>
        <p:sp>
          <p:nvSpPr>
            <p:cNvPr id="9" name="Content Placeholder 2">
              <a:extLst>
                <a:ext uri="{FF2B5EF4-FFF2-40B4-BE49-F238E27FC236}">
                  <a16:creationId xmlns:a16="http://schemas.microsoft.com/office/drawing/2014/main" id="{25B0FE23-C1E6-DCFB-DFFC-3D96FB15CCBD}"/>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Why This Matters</a:t>
              </a:r>
            </a:p>
          </p:txBody>
        </p:sp>
        <p:sp>
          <p:nvSpPr>
            <p:cNvPr id="10" name="Content Placeholder 2">
              <a:extLst>
                <a:ext uri="{FF2B5EF4-FFF2-40B4-BE49-F238E27FC236}">
                  <a16:creationId xmlns:a16="http://schemas.microsoft.com/office/drawing/2014/main" id="{ECB04230-F8EA-45D8-6BBB-F058FE5461B7}"/>
                </a:ext>
              </a:extLst>
            </p:cNvPr>
            <p:cNvSpPr txBox="1">
              <a:spLocks/>
            </p:cNvSpPr>
            <p:nvPr/>
          </p:nvSpPr>
          <p:spPr>
            <a:xfrm>
              <a:off x="628650" y="5119688"/>
              <a:ext cx="6837589" cy="566737"/>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Clr>
                  <a:srgbClr val="021836"/>
                </a:buClr>
                <a:buNone/>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Knowledge work often begins with finding, understanding, and organizing information before decisions are made.</a:t>
              </a:r>
            </a:p>
          </p:txBody>
        </p:sp>
      </p:grpSp>
      <p:sp>
        <p:nvSpPr>
          <p:cNvPr id="12" name="TextBox 11">
            <a:extLst>
              <a:ext uri="{FF2B5EF4-FFF2-40B4-BE49-F238E27FC236}">
                <a16:creationId xmlns:a16="http://schemas.microsoft.com/office/drawing/2014/main" id="{96C43ADC-4A15-6FF0-0561-4758E55B7890}"/>
              </a:ext>
            </a:extLst>
          </p:cNvPr>
          <p:cNvSpPr txBox="1"/>
          <p:nvPr/>
        </p:nvSpPr>
        <p:spPr>
          <a:xfrm>
            <a:off x="4953000" y="64309"/>
            <a:ext cx="4084462" cy="276999"/>
          </a:xfrm>
          <a:prstGeom prst="rect">
            <a:avLst/>
          </a:prstGeom>
          <a:noFill/>
        </p:spPr>
        <p:txBody>
          <a:bodyPr wrap="square" rtlCol="0">
            <a:spAutoFit/>
          </a:bodyPr>
          <a:lstStyle/>
          <a:p>
            <a:pPr algn="r"/>
            <a:r>
              <a:rPr lang="en-US" sz="1200" dirty="0">
                <a:solidFill>
                  <a:schemeClr val="bg1">
                    <a:lumMod val="50000"/>
                  </a:schemeClr>
                </a:solidFill>
              </a:rPr>
              <a:t>AI Operational Readiness • AI Use Case Categories</a:t>
            </a:r>
          </a:p>
        </p:txBody>
      </p:sp>
    </p:spTree>
    <p:extLst>
      <p:ext uri="{BB962C8B-B14F-4D97-AF65-F5344CB8AC3E}">
        <p14:creationId xmlns:p14="http://schemas.microsoft.com/office/powerpoint/2010/main" val="41493309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4A20EB-F0F1-633E-A917-29CACC76D2DD}"/>
              </a:ext>
            </a:extLst>
          </p:cNvPr>
          <p:cNvSpPr>
            <a:spLocks noGrp="1"/>
          </p:cNvSpPr>
          <p:nvPr>
            <p:ph type="title"/>
          </p:nvPr>
        </p:nvSpPr>
        <p:spPr>
          <a:xfrm>
            <a:off x="273534" y="-86630"/>
            <a:ext cx="7886700" cy="1325563"/>
          </a:xfrm>
        </p:spPr>
        <p:txBody>
          <a:bodyPr/>
          <a:lstStyle/>
          <a:p>
            <a:r>
              <a:rPr lang="en-US" dirty="0"/>
              <a:t>Content Use Cases</a:t>
            </a:r>
          </a:p>
        </p:txBody>
      </p:sp>
      <p:sp>
        <p:nvSpPr>
          <p:cNvPr id="9" name="Content Placeholder 2">
            <a:extLst>
              <a:ext uri="{FF2B5EF4-FFF2-40B4-BE49-F238E27FC236}">
                <a16:creationId xmlns:a16="http://schemas.microsoft.com/office/drawing/2014/main" id="{48E51978-00F1-B6E7-729C-1B8DF030C461}"/>
              </a:ext>
            </a:extLst>
          </p:cNvPr>
          <p:cNvSpPr txBox="1">
            <a:spLocks/>
          </p:cNvSpPr>
          <p:nvPr/>
        </p:nvSpPr>
        <p:spPr>
          <a:xfrm>
            <a:off x="317078" y="844267"/>
            <a:ext cx="7886700" cy="299244"/>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Creating and organizing information</a:t>
            </a:r>
          </a:p>
        </p:txBody>
      </p:sp>
      <p:graphicFrame>
        <p:nvGraphicFramePr>
          <p:cNvPr id="16" name="Table 15">
            <a:extLst>
              <a:ext uri="{FF2B5EF4-FFF2-40B4-BE49-F238E27FC236}">
                <a16:creationId xmlns:a16="http://schemas.microsoft.com/office/drawing/2014/main" id="{1F028CA4-3E17-6645-268E-07FCE459F517}"/>
              </a:ext>
            </a:extLst>
          </p:cNvPr>
          <p:cNvGraphicFramePr>
            <a:graphicFrameLocks noGrp="1"/>
          </p:cNvGraphicFramePr>
          <p:nvPr/>
        </p:nvGraphicFramePr>
        <p:xfrm>
          <a:off x="381675" y="1243584"/>
          <a:ext cx="8218714" cy="2101172"/>
        </p:xfrm>
        <a:graphic>
          <a:graphicData uri="http://schemas.openxmlformats.org/drawingml/2006/table">
            <a:tbl>
              <a:tblPr firstRow="1" bandRow="1">
                <a:tableStyleId>{2D5ABB26-0587-4C30-8999-92F81FD0307C}</a:tableStyleId>
              </a:tblPr>
              <a:tblGrid>
                <a:gridCol w="3287487">
                  <a:extLst>
                    <a:ext uri="{9D8B030D-6E8A-4147-A177-3AD203B41FA5}">
                      <a16:colId xmlns:a16="http://schemas.microsoft.com/office/drawing/2014/main" val="2470210094"/>
                    </a:ext>
                  </a:extLst>
                </a:gridCol>
                <a:gridCol w="4931227">
                  <a:extLst>
                    <a:ext uri="{9D8B030D-6E8A-4147-A177-3AD203B41FA5}">
                      <a16:colId xmlns:a16="http://schemas.microsoft.com/office/drawing/2014/main" val="72878264"/>
                    </a:ext>
                  </a:extLst>
                </a:gridCol>
              </a:tblGrid>
              <a:tr h="282365">
                <a:tc>
                  <a:txBody>
                    <a:bodyPr/>
                    <a:lstStyle/>
                    <a:p>
                      <a:r>
                        <a:rPr lang="en-US" sz="1600" b="1" dirty="0">
                          <a:solidFill>
                            <a:srgbClr val="021836"/>
                          </a:solidFill>
                        </a:rPr>
                        <a:t>Category</a:t>
                      </a:r>
                    </a:p>
                  </a:txBody>
                  <a:tcPr>
                    <a:lnR w="12700" cap="flat" cmpd="sng" algn="ctr">
                      <a:solidFill>
                        <a:schemeClr val="bg1">
                          <a:lumMod val="75000"/>
                        </a:schemeClr>
                      </a:solidFill>
                      <a:prstDash val="solid"/>
                      <a:round/>
                      <a:headEnd type="none" w="med" len="med"/>
                      <a:tailEnd type="none" w="med" len="med"/>
                    </a:lnR>
                    <a:lnB w="12700" cap="flat" cmpd="sng" algn="ctr">
                      <a:solidFill>
                        <a:srgbClr val="0396A6"/>
                      </a:solidFill>
                      <a:prstDash val="solid"/>
                      <a:round/>
                      <a:headEnd type="none" w="med" len="med"/>
                      <a:tailEnd type="none" w="med" len="med"/>
                    </a:lnB>
                  </a:tcPr>
                </a:tc>
                <a:tc>
                  <a:txBody>
                    <a:bodyPr/>
                    <a:lstStyle/>
                    <a:p>
                      <a:r>
                        <a:rPr lang="en-US" sz="1600" b="1" dirty="0">
                          <a:solidFill>
                            <a:srgbClr val="021836"/>
                          </a:solidFill>
                        </a:rPr>
                        <a:t>Purpose</a:t>
                      </a:r>
                    </a:p>
                  </a:txBody>
                  <a:tcPr>
                    <a:lnL w="12700" cap="flat" cmpd="sng" algn="ctr">
                      <a:solidFill>
                        <a:schemeClr val="bg1">
                          <a:lumMod val="75000"/>
                        </a:schemeClr>
                      </a:solidFill>
                      <a:prstDash val="solid"/>
                      <a:round/>
                      <a:headEnd type="none" w="med" len="med"/>
                      <a:tailEnd type="none" w="med" len="med"/>
                    </a:lnL>
                    <a:lnB w="12700" cap="flat" cmpd="sng" algn="ctr">
                      <a:solidFill>
                        <a:srgbClr val="0396A6"/>
                      </a:solidFill>
                      <a:prstDash val="solid"/>
                      <a:round/>
                      <a:headEnd type="none" w="med" len="med"/>
                      <a:tailEnd type="none" w="med" len="med"/>
                    </a:lnB>
                  </a:tcPr>
                </a:tc>
                <a:extLst>
                  <a:ext uri="{0D108BD9-81ED-4DB2-BD59-A6C34878D82A}">
                    <a16:rowId xmlns:a16="http://schemas.microsoft.com/office/drawing/2014/main" val="2061593276"/>
                  </a:ext>
                </a:extLst>
              </a:tr>
              <a:tr h="441473">
                <a:tc>
                  <a:txBody>
                    <a:bodyPr/>
                    <a:lstStyle/>
                    <a:p>
                      <a:pPr>
                        <a:buClr>
                          <a:schemeClr val="bg1">
                            <a:lumMod val="50000"/>
                          </a:schemeClr>
                        </a:buClr>
                      </a:pPr>
                      <a:r>
                        <a:rPr lang="en-US" sz="1400" b="1" dirty="0">
                          <a:solidFill>
                            <a:srgbClr val="021836"/>
                          </a:solidFill>
                        </a:rPr>
                        <a:t>Draft</a:t>
                      </a:r>
                      <a:endParaRPr lang="en-US" sz="1400" dirty="0"/>
                    </a:p>
                  </a:txBody>
                  <a:tcPr>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400" dirty="0"/>
                        <a:t>Create first versions</a:t>
                      </a:r>
                    </a:p>
                  </a:txBody>
                  <a:tcPr>
                    <a:lnL w="12700" cap="flat" cmpd="sng" algn="ctr">
                      <a:solidFill>
                        <a:schemeClr val="bg1">
                          <a:lumMod val="75000"/>
                        </a:schemeClr>
                      </a:solidFill>
                      <a:prstDash val="solid"/>
                      <a:round/>
                      <a:headEnd type="none" w="med" len="med"/>
                      <a:tailEnd type="none" w="med" len="med"/>
                    </a:lnL>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493753442"/>
                  </a:ext>
                </a:extLst>
              </a:tr>
              <a:tr h="441473">
                <a:tc>
                  <a:txBody>
                    <a:bodyPr/>
                    <a:lstStyle/>
                    <a:p>
                      <a:pPr>
                        <a:buClr>
                          <a:schemeClr val="bg1">
                            <a:lumMod val="50000"/>
                          </a:schemeClr>
                        </a:buClr>
                      </a:pPr>
                      <a:r>
                        <a:rPr lang="en-US" sz="1400" b="1" dirty="0">
                          <a:solidFill>
                            <a:srgbClr val="021836"/>
                          </a:solidFill>
                        </a:rPr>
                        <a:t>Classification</a:t>
                      </a:r>
                      <a:endParaRPr lang="en-US" sz="1400" dirty="0"/>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400" dirty="0"/>
                        <a:t>Categorize content</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23325965"/>
                  </a:ext>
                </a:extLst>
              </a:tr>
              <a:tr h="441473">
                <a:tc>
                  <a:txBody>
                    <a:bodyPr/>
                    <a:lstStyle/>
                    <a:p>
                      <a:pPr>
                        <a:buClr>
                          <a:schemeClr val="bg1">
                            <a:lumMod val="50000"/>
                          </a:schemeClr>
                        </a:buClr>
                      </a:pPr>
                      <a:r>
                        <a:rPr lang="en-US" sz="1400" b="1" dirty="0">
                          <a:solidFill>
                            <a:srgbClr val="021836"/>
                          </a:solidFill>
                        </a:rPr>
                        <a:t>Rewriting</a:t>
                      </a:r>
                      <a:endParaRPr lang="en-US" sz="1400" dirty="0"/>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400" dirty="0"/>
                        <a:t>Improve tone or clarity</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845834834"/>
                  </a:ext>
                </a:extLst>
              </a:tr>
              <a:tr h="441473">
                <a:tc>
                  <a:txBody>
                    <a:bodyPr/>
                    <a:lstStyle/>
                    <a:p>
                      <a:pPr>
                        <a:buClr>
                          <a:schemeClr val="bg1">
                            <a:lumMod val="50000"/>
                          </a:schemeClr>
                        </a:buClr>
                      </a:pPr>
                      <a:r>
                        <a:rPr lang="en-US" sz="1400" b="1" dirty="0">
                          <a:solidFill>
                            <a:srgbClr val="021836"/>
                          </a:solidFill>
                        </a:rPr>
                        <a:t>Tagging</a:t>
                      </a:r>
                      <a:endParaRPr lang="en-US" sz="1400" dirty="0"/>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400" dirty="0"/>
                        <a:t>Organize information</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012176639"/>
                  </a:ext>
                </a:extLst>
              </a:tr>
            </a:tbl>
          </a:graphicData>
        </a:graphic>
      </p:graphicFrame>
      <p:grpSp>
        <p:nvGrpSpPr>
          <p:cNvPr id="17" name="Group 16">
            <a:extLst>
              <a:ext uri="{FF2B5EF4-FFF2-40B4-BE49-F238E27FC236}">
                <a16:creationId xmlns:a16="http://schemas.microsoft.com/office/drawing/2014/main" id="{77560419-B90D-D360-F473-8E5CD8EEE9E9}"/>
              </a:ext>
            </a:extLst>
          </p:cNvPr>
          <p:cNvGrpSpPr/>
          <p:nvPr/>
        </p:nvGrpSpPr>
        <p:grpSpPr>
          <a:xfrm>
            <a:off x="381675" y="3392424"/>
            <a:ext cx="7886700" cy="820961"/>
            <a:chOff x="628650" y="4778376"/>
            <a:chExt cx="7886700" cy="820961"/>
          </a:xfrm>
        </p:grpSpPr>
        <p:sp>
          <p:nvSpPr>
            <p:cNvPr id="18" name="Content Placeholder 2">
              <a:extLst>
                <a:ext uri="{FF2B5EF4-FFF2-40B4-BE49-F238E27FC236}">
                  <a16:creationId xmlns:a16="http://schemas.microsoft.com/office/drawing/2014/main" id="{53E9AC0C-00CC-2A76-2AFE-5A670368E977}"/>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Examples</a:t>
              </a:r>
            </a:p>
          </p:txBody>
        </p:sp>
        <p:sp>
          <p:nvSpPr>
            <p:cNvPr id="19" name="Content Placeholder 2">
              <a:extLst>
                <a:ext uri="{FF2B5EF4-FFF2-40B4-BE49-F238E27FC236}">
                  <a16:creationId xmlns:a16="http://schemas.microsoft.com/office/drawing/2014/main" id="{BFFD2DD1-A014-60BE-5E43-3FAB86196B1D}"/>
                </a:ext>
              </a:extLst>
            </p:cNvPr>
            <p:cNvSpPr txBox="1">
              <a:spLocks/>
            </p:cNvSpPr>
            <p:nvPr/>
          </p:nvSpPr>
          <p:spPr>
            <a:xfrm>
              <a:off x="628650" y="5032600"/>
              <a:ext cx="7305675" cy="566737"/>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021836"/>
                </a:buClr>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Emails</a:t>
              </a:r>
            </a:p>
            <a:p>
              <a:pPr>
                <a:buClr>
                  <a:srgbClr val="021836"/>
                </a:buClr>
              </a:pPr>
              <a:r>
                <a:rPr lang="en-US" sz="1200" i="1" dirty="0">
                  <a:solidFill>
                    <a:prstClr val="white">
                      <a:lumMod val="50000"/>
                    </a:prstClr>
                  </a:solidFill>
                  <a:latin typeface="Aptos" panose="02110004020202020204"/>
                </a:rPr>
                <a:t>Reports</a:t>
              </a:r>
            </a:p>
            <a:p>
              <a:pPr>
                <a:buClr>
                  <a:srgbClr val="021836"/>
                </a:buClr>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Job descriptions</a:t>
              </a:r>
            </a:p>
            <a:p>
              <a:pPr>
                <a:buClr>
                  <a:srgbClr val="021836"/>
                </a:buClr>
              </a:pPr>
              <a:r>
                <a:rPr lang="en-US" sz="1200" i="1" dirty="0">
                  <a:solidFill>
                    <a:prstClr val="white">
                      <a:lumMod val="50000"/>
                    </a:prstClr>
                  </a:solidFill>
                  <a:latin typeface="Aptos" panose="02110004020202020204"/>
                </a:rPr>
                <a:t>Customer communications</a:t>
              </a:r>
              <a:endPar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endParaRPr>
            </a:p>
          </p:txBody>
        </p:sp>
      </p:grpSp>
      <p:cxnSp>
        <p:nvCxnSpPr>
          <p:cNvPr id="3" name="Straight Connector 2">
            <a:extLst>
              <a:ext uri="{FF2B5EF4-FFF2-40B4-BE49-F238E27FC236}">
                <a16:creationId xmlns:a16="http://schemas.microsoft.com/office/drawing/2014/main" id="{8EDDEA30-3FF4-DCB6-6D3F-E443BACFD6F5}"/>
              </a:ext>
            </a:extLst>
          </p:cNvPr>
          <p:cNvCxnSpPr>
            <a:cxnSpLocks/>
          </p:cNvCxnSpPr>
          <p:nvPr/>
        </p:nvCxnSpPr>
        <p:spPr>
          <a:xfrm>
            <a:off x="171450" y="4924372"/>
            <a:ext cx="8801100" cy="0"/>
          </a:xfrm>
          <a:prstGeom prst="line">
            <a:avLst/>
          </a:prstGeom>
          <a:ln w="9525">
            <a:solidFill>
              <a:srgbClr val="0396A6"/>
            </a:solidFill>
          </a:ln>
        </p:spPr>
        <p:style>
          <a:lnRef idx="2">
            <a:schemeClr val="accent1"/>
          </a:lnRef>
          <a:fillRef idx="0">
            <a:schemeClr val="accent1"/>
          </a:fillRef>
          <a:effectRef idx="1">
            <a:schemeClr val="accent1"/>
          </a:effectRef>
          <a:fontRef idx="minor">
            <a:schemeClr val="tx1"/>
          </a:fontRef>
        </p:style>
      </p:cxnSp>
      <p:grpSp>
        <p:nvGrpSpPr>
          <p:cNvPr id="4" name="Group 3">
            <a:extLst>
              <a:ext uri="{FF2B5EF4-FFF2-40B4-BE49-F238E27FC236}">
                <a16:creationId xmlns:a16="http://schemas.microsoft.com/office/drawing/2014/main" id="{81BDD542-C6FD-1DCC-7904-537EDB32BC14}"/>
              </a:ext>
            </a:extLst>
          </p:cNvPr>
          <p:cNvGrpSpPr/>
          <p:nvPr/>
        </p:nvGrpSpPr>
        <p:grpSpPr>
          <a:xfrm>
            <a:off x="381675" y="5081765"/>
            <a:ext cx="7886700" cy="908049"/>
            <a:chOff x="628650" y="4778376"/>
            <a:chExt cx="7886700" cy="908049"/>
          </a:xfrm>
        </p:grpSpPr>
        <p:sp>
          <p:nvSpPr>
            <p:cNvPr id="5" name="Content Placeholder 2">
              <a:extLst>
                <a:ext uri="{FF2B5EF4-FFF2-40B4-BE49-F238E27FC236}">
                  <a16:creationId xmlns:a16="http://schemas.microsoft.com/office/drawing/2014/main" id="{01EE67B2-D4F0-333E-F2A6-8446DC117050}"/>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Opportunity Signals</a:t>
              </a:r>
            </a:p>
          </p:txBody>
        </p:sp>
        <p:sp>
          <p:nvSpPr>
            <p:cNvPr id="6" name="Content Placeholder 2">
              <a:extLst>
                <a:ext uri="{FF2B5EF4-FFF2-40B4-BE49-F238E27FC236}">
                  <a16:creationId xmlns:a16="http://schemas.microsoft.com/office/drawing/2014/main" id="{E72F3C1C-CE19-AB33-0B5C-87A025F412AD}"/>
                </a:ext>
              </a:extLst>
            </p:cNvPr>
            <p:cNvSpPr txBox="1">
              <a:spLocks/>
            </p:cNvSpPr>
            <p:nvPr/>
          </p:nvSpPr>
          <p:spPr>
            <a:xfrm>
              <a:off x="628650" y="5119688"/>
              <a:ext cx="7886700" cy="566737"/>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Clr>
                  <a:srgbClr val="021836"/>
                </a:buClr>
                <a:buNone/>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Drafting </a:t>
              </a:r>
              <a:r>
                <a:rPr lang="en-US" sz="1200" i="1" dirty="0">
                  <a:solidFill>
                    <a:prstClr val="white">
                      <a:lumMod val="50000"/>
                    </a:prstClr>
                  </a:solidFill>
                </a:rPr>
                <a:t>• Rewriting • Classification • Tagging • Communication burden • Inconsistent outputs • Manual documentation</a:t>
              </a:r>
              <a:endPar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endParaRPr>
            </a:p>
          </p:txBody>
        </p:sp>
      </p:grpSp>
      <p:grpSp>
        <p:nvGrpSpPr>
          <p:cNvPr id="7" name="Group 6">
            <a:extLst>
              <a:ext uri="{FF2B5EF4-FFF2-40B4-BE49-F238E27FC236}">
                <a16:creationId xmlns:a16="http://schemas.microsoft.com/office/drawing/2014/main" id="{091A6BC9-7CB4-D8BA-31A8-EA6175100F97}"/>
              </a:ext>
            </a:extLst>
          </p:cNvPr>
          <p:cNvGrpSpPr/>
          <p:nvPr/>
        </p:nvGrpSpPr>
        <p:grpSpPr>
          <a:xfrm>
            <a:off x="381675" y="5917911"/>
            <a:ext cx="7886700" cy="908049"/>
            <a:chOff x="628650" y="4778376"/>
            <a:chExt cx="7886700" cy="908049"/>
          </a:xfrm>
        </p:grpSpPr>
        <p:sp>
          <p:nvSpPr>
            <p:cNvPr id="8" name="Content Placeholder 2">
              <a:extLst>
                <a:ext uri="{FF2B5EF4-FFF2-40B4-BE49-F238E27FC236}">
                  <a16:creationId xmlns:a16="http://schemas.microsoft.com/office/drawing/2014/main" id="{5D028CF6-EBD3-50F9-4902-163B3E0BC8BD}"/>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Why This Matters</a:t>
              </a:r>
            </a:p>
          </p:txBody>
        </p:sp>
        <p:sp>
          <p:nvSpPr>
            <p:cNvPr id="10" name="Content Placeholder 2">
              <a:extLst>
                <a:ext uri="{FF2B5EF4-FFF2-40B4-BE49-F238E27FC236}">
                  <a16:creationId xmlns:a16="http://schemas.microsoft.com/office/drawing/2014/main" id="{00444CC9-9B36-B01B-26BF-C8C5327F6B57}"/>
                </a:ext>
              </a:extLst>
            </p:cNvPr>
            <p:cNvSpPr txBox="1">
              <a:spLocks/>
            </p:cNvSpPr>
            <p:nvPr/>
          </p:nvSpPr>
          <p:spPr>
            <a:xfrm>
              <a:off x="628650" y="5119688"/>
              <a:ext cx="6837589" cy="566737"/>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Clr>
                  <a:srgbClr val="021836"/>
                </a:buClr>
                <a:buNone/>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Content work benefits from improving consistency, speed, and quality rather than replacing human authorship.</a:t>
              </a:r>
            </a:p>
          </p:txBody>
        </p:sp>
      </p:grpSp>
      <p:sp>
        <p:nvSpPr>
          <p:cNvPr id="12" name="TextBox 11">
            <a:extLst>
              <a:ext uri="{FF2B5EF4-FFF2-40B4-BE49-F238E27FC236}">
                <a16:creationId xmlns:a16="http://schemas.microsoft.com/office/drawing/2014/main" id="{E9DDF83B-6798-339D-8F16-C5F051E88B1E}"/>
              </a:ext>
            </a:extLst>
          </p:cNvPr>
          <p:cNvSpPr txBox="1"/>
          <p:nvPr/>
        </p:nvSpPr>
        <p:spPr>
          <a:xfrm>
            <a:off x="4953000" y="64309"/>
            <a:ext cx="4084462" cy="276999"/>
          </a:xfrm>
          <a:prstGeom prst="rect">
            <a:avLst/>
          </a:prstGeom>
          <a:noFill/>
        </p:spPr>
        <p:txBody>
          <a:bodyPr wrap="square" rtlCol="0">
            <a:spAutoFit/>
          </a:bodyPr>
          <a:lstStyle/>
          <a:p>
            <a:pPr algn="r"/>
            <a:r>
              <a:rPr lang="en-US" sz="1200" dirty="0">
                <a:solidFill>
                  <a:schemeClr val="bg1">
                    <a:lumMod val="50000"/>
                  </a:schemeClr>
                </a:solidFill>
              </a:rPr>
              <a:t>AI Operational Readiness • AI Use Case Categories</a:t>
            </a:r>
          </a:p>
        </p:txBody>
      </p:sp>
    </p:spTree>
    <p:extLst>
      <p:ext uri="{BB962C8B-B14F-4D97-AF65-F5344CB8AC3E}">
        <p14:creationId xmlns:p14="http://schemas.microsoft.com/office/powerpoint/2010/main" val="30714691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DC71FF-CBF4-FC54-7A2B-D7254BB031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AF52D9-FE03-2BD0-E5E9-269315222672}"/>
              </a:ext>
            </a:extLst>
          </p:cNvPr>
          <p:cNvSpPr>
            <a:spLocks noGrp="1"/>
          </p:cNvSpPr>
          <p:nvPr>
            <p:ph type="title"/>
          </p:nvPr>
        </p:nvSpPr>
        <p:spPr>
          <a:xfrm>
            <a:off x="273534" y="-86630"/>
            <a:ext cx="7886700" cy="1325563"/>
          </a:xfrm>
        </p:spPr>
        <p:txBody>
          <a:bodyPr/>
          <a:lstStyle/>
          <a:p>
            <a:r>
              <a:rPr lang="en-US" dirty="0"/>
              <a:t>Analysis Use Cases</a:t>
            </a:r>
          </a:p>
        </p:txBody>
      </p:sp>
      <p:sp>
        <p:nvSpPr>
          <p:cNvPr id="9" name="Content Placeholder 2">
            <a:extLst>
              <a:ext uri="{FF2B5EF4-FFF2-40B4-BE49-F238E27FC236}">
                <a16:creationId xmlns:a16="http://schemas.microsoft.com/office/drawing/2014/main" id="{2C849893-F0E0-F39D-BE28-77D78D0FEAF9}"/>
              </a:ext>
            </a:extLst>
          </p:cNvPr>
          <p:cNvSpPr txBox="1">
            <a:spLocks/>
          </p:cNvSpPr>
          <p:nvPr/>
        </p:nvSpPr>
        <p:spPr>
          <a:xfrm>
            <a:off x="317078" y="844267"/>
            <a:ext cx="7886700" cy="299244"/>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Clr>
                <a:srgbClr val="021836"/>
              </a:buClr>
              <a:buNone/>
              <a:defRPr/>
            </a:pPr>
            <a:r>
              <a:rPr lang="en-US" sz="1200" i="1" dirty="0">
                <a:solidFill>
                  <a:prstClr val="white">
                    <a:lumMod val="50000"/>
                  </a:prstClr>
                </a:solidFill>
              </a:rPr>
              <a:t>Supporting decisions</a:t>
            </a:r>
          </a:p>
        </p:txBody>
      </p:sp>
      <p:graphicFrame>
        <p:nvGraphicFramePr>
          <p:cNvPr id="18" name="Table 17">
            <a:extLst>
              <a:ext uri="{FF2B5EF4-FFF2-40B4-BE49-F238E27FC236}">
                <a16:creationId xmlns:a16="http://schemas.microsoft.com/office/drawing/2014/main" id="{915FCE0F-6D6A-C866-B6EF-5DD125C387E0}"/>
              </a:ext>
            </a:extLst>
          </p:cNvPr>
          <p:cNvGraphicFramePr>
            <a:graphicFrameLocks noGrp="1"/>
          </p:cNvGraphicFramePr>
          <p:nvPr/>
        </p:nvGraphicFramePr>
        <p:xfrm>
          <a:off x="381675" y="1238933"/>
          <a:ext cx="8218714" cy="2101172"/>
        </p:xfrm>
        <a:graphic>
          <a:graphicData uri="http://schemas.openxmlformats.org/drawingml/2006/table">
            <a:tbl>
              <a:tblPr firstRow="1" bandRow="1">
                <a:tableStyleId>{2D5ABB26-0587-4C30-8999-92F81FD0307C}</a:tableStyleId>
              </a:tblPr>
              <a:tblGrid>
                <a:gridCol w="3287487">
                  <a:extLst>
                    <a:ext uri="{9D8B030D-6E8A-4147-A177-3AD203B41FA5}">
                      <a16:colId xmlns:a16="http://schemas.microsoft.com/office/drawing/2014/main" val="2470210094"/>
                    </a:ext>
                  </a:extLst>
                </a:gridCol>
                <a:gridCol w="4931227">
                  <a:extLst>
                    <a:ext uri="{9D8B030D-6E8A-4147-A177-3AD203B41FA5}">
                      <a16:colId xmlns:a16="http://schemas.microsoft.com/office/drawing/2014/main" val="72878264"/>
                    </a:ext>
                  </a:extLst>
                </a:gridCol>
              </a:tblGrid>
              <a:tr h="282365">
                <a:tc>
                  <a:txBody>
                    <a:bodyPr/>
                    <a:lstStyle/>
                    <a:p>
                      <a:r>
                        <a:rPr lang="en-US" sz="1600" b="1" dirty="0">
                          <a:solidFill>
                            <a:srgbClr val="021836"/>
                          </a:solidFill>
                        </a:rPr>
                        <a:t>Category</a:t>
                      </a:r>
                    </a:p>
                  </a:txBody>
                  <a:tcPr>
                    <a:lnR w="12700" cap="flat" cmpd="sng" algn="ctr">
                      <a:solidFill>
                        <a:schemeClr val="bg1">
                          <a:lumMod val="75000"/>
                        </a:schemeClr>
                      </a:solidFill>
                      <a:prstDash val="solid"/>
                      <a:round/>
                      <a:headEnd type="none" w="med" len="med"/>
                      <a:tailEnd type="none" w="med" len="med"/>
                    </a:lnR>
                    <a:lnB w="12700" cap="flat" cmpd="sng" algn="ctr">
                      <a:solidFill>
                        <a:srgbClr val="0396A6"/>
                      </a:solidFill>
                      <a:prstDash val="solid"/>
                      <a:round/>
                      <a:headEnd type="none" w="med" len="med"/>
                      <a:tailEnd type="none" w="med" len="med"/>
                    </a:lnB>
                  </a:tcPr>
                </a:tc>
                <a:tc>
                  <a:txBody>
                    <a:bodyPr/>
                    <a:lstStyle/>
                    <a:p>
                      <a:r>
                        <a:rPr lang="en-US" sz="1600" b="1" dirty="0">
                          <a:solidFill>
                            <a:srgbClr val="021836"/>
                          </a:solidFill>
                        </a:rPr>
                        <a:t>Purpose</a:t>
                      </a:r>
                    </a:p>
                  </a:txBody>
                  <a:tcPr>
                    <a:lnL w="12700" cap="flat" cmpd="sng" algn="ctr">
                      <a:solidFill>
                        <a:schemeClr val="bg1">
                          <a:lumMod val="75000"/>
                        </a:schemeClr>
                      </a:solidFill>
                      <a:prstDash val="solid"/>
                      <a:round/>
                      <a:headEnd type="none" w="med" len="med"/>
                      <a:tailEnd type="none" w="med" len="med"/>
                    </a:lnL>
                    <a:lnB w="12700" cap="flat" cmpd="sng" algn="ctr">
                      <a:solidFill>
                        <a:srgbClr val="0396A6"/>
                      </a:solidFill>
                      <a:prstDash val="solid"/>
                      <a:round/>
                      <a:headEnd type="none" w="med" len="med"/>
                      <a:tailEnd type="none" w="med" len="med"/>
                    </a:lnB>
                  </a:tcPr>
                </a:tc>
                <a:extLst>
                  <a:ext uri="{0D108BD9-81ED-4DB2-BD59-A6C34878D82A}">
                    <a16:rowId xmlns:a16="http://schemas.microsoft.com/office/drawing/2014/main" val="2061593276"/>
                  </a:ext>
                </a:extLst>
              </a:tr>
              <a:tr h="441473">
                <a:tc>
                  <a:txBody>
                    <a:bodyPr/>
                    <a:lstStyle/>
                    <a:p>
                      <a:pPr>
                        <a:buClr>
                          <a:schemeClr val="bg1">
                            <a:lumMod val="50000"/>
                          </a:schemeClr>
                        </a:buClr>
                      </a:pPr>
                      <a:r>
                        <a:rPr lang="en-US" sz="1400" b="1" dirty="0">
                          <a:solidFill>
                            <a:srgbClr val="021836"/>
                          </a:solidFill>
                        </a:rPr>
                        <a:t>Recommendations</a:t>
                      </a:r>
                      <a:endParaRPr lang="en-US" sz="1400" dirty="0"/>
                    </a:p>
                  </a:txBody>
                  <a:tcPr>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400" dirty="0"/>
                        <a:t>Suggest actions</a:t>
                      </a:r>
                    </a:p>
                  </a:txBody>
                  <a:tcPr>
                    <a:lnL w="12700" cap="flat" cmpd="sng" algn="ctr">
                      <a:solidFill>
                        <a:schemeClr val="bg1">
                          <a:lumMod val="75000"/>
                        </a:schemeClr>
                      </a:solidFill>
                      <a:prstDash val="solid"/>
                      <a:round/>
                      <a:headEnd type="none" w="med" len="med"/>
                      <a:tailEnd type="none" w="med" len="med"/>
                    </a:lnL>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493753442"/>
                  </a:ext>
                </a:extLst>
              </a:tr>
              <a:tr h="441473">
                <a:tc>
                  <a:txBody>
                    <a:bodyPr/>
                    <a:lstStyle/>
                    <a:p>
                      <a:pPr>
                        <a:buClr>
                          <a:schemeClr val="bg1">
                            <a:lumMod val="50000"/>
                          </a:schemeClr>
                        </a:buClr>
                      </a:pPr>
                      <a:r>
                        <a:rPr lang="en-US" sz="1400" b="1" dirty="0">
                          <a:solidFill>
                            <a:srgbClr val="021836"/>
                          </a:solidFill>
                        </a:rPr>
                        <a:t>Pattern Detection</a:t>
                      </a:r>
                      <a:endParaRPr lang="en-US" sz="1400" dirty="0"/>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400" dirty="0"/>
                        <a:t>Identify trends</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23325965"/>
                  </a:ext>
                </a:extLst>
              </a:tr>
              <a:tr h="441473">
                <a:tc>
                  <a:txBody>
                    <a:bodyPr/>
                    <a:lstStyle/>
                    <a:p>
                      <a:pPr>
                        <a:buClr>
                          <a:schemeClr val="bg1">
                            <a:lumMod val="50000"/>
                          </a:schemeClr>
                        </a:buClr>
                      </a:pPr>
                      <a:r>
                        <a:rPr lang="en-US" sz="1400" b="1" dirty="0">
                          <a:solidFill>
                            <a:srgbClr val="021836"/>
                          </a:solidFill>
                        </a:rPr>
                        <a:t>Decision Support</a:t>
                      </a:r>
                      <a:endParaRPr lang="en-US" sz="1400" dirty="0"/>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400" dirty="0"/>
                        <a:t>Surface insights</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845834834"/>
                  </a:ext>
                </a:extLst>
              </a:tr>
              <a:tr h="441473">
                <a:tc>
                  <a:txBody>
                    <a:bodyPr/>
                    <a:lstStyle/>
                    <a:p>
                      <a:pPr>
                        <a:buClr>
                          <a:schemeClr val="bg1">
                            <a:lumMod val="50000"/>
                          </a:schemeClr>
                        </a:buClr>
                      </a:pPr>
                      <a:r>
                        <a:rPr lang="en-US" sz="1400" b="1" dirty="0">
                          <a:solidFill>
                            <a:srgbClr val="021836"/>
                          </a:solidFill>
                        </a:rPr>
                        <a:t>Risk Detection</a:t>
                      </a:r>
                      <a:endParaRPr lang="en-US" sz="1400" dirty="0"/>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400" dirty="0"/>
                        <a:t>Highlight anomalies</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012176639"/>
                  </a:ext>
                </a:extLst>
              </a:tr>
            </a:tbl>
          </a:graphicData>
        </a:graphic>
      </p:graphicFrame>
      <p:grpSp>
        <p:nvGrpSpPr>
          <p:cNvPr id="19" name="Group 18">
            <a:extLst>
              <a:ext uri="{FF2B5EF4-FFF2-40B4-BE49-F238E27FC236}">
                <a16:creationId xmlns:a16="http://schemas.microsoft.com/office/drawing/2014/main" id="{D98D2223-43FD-A2D0-1A4F-35A96203F226}"/>
              </a:ext>
            </a:extLst>
          </p:cNvPr>
          <p:cNvGrpSpPr/>
          <p:nvPr/>
        </p:nvGrpSpPr>
        <p:grpSpPr>
          <a:xfrm>
            <a:off x="381675" y="3392424"/>
            <a:ext cx="7886700" cy="820961"/>
            <a:chOff x="628650" y="4778376"/>
            <a:chExt cx="7886700" cy="820961"/>
          </a:xfrm>
        </p:grpSpPr>
        <p:sp>
          <p:nvSpPr>
            <p:cNvPr id="20" name="Content Placeholder 2">
              <a:extLst>
                <a:ext uri="{FF2B5EF4-FFF2-40B4-BE49-F238E27FC236}">
                  <a16:creationId xmlns:a16="http://schemas.microsoft.com/office/drawing/2014/main" id="{231BAE42-E68E-E023-7DA2-955370A80C5F}"/>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Examples</a:t>
              </a:r>
            </a:p>
          </p:txBody>
        </p:sp>
        <p:sp>
          <p:nvSpPr>
            <p:cNvPr id="21" name="Content Placeholder 2">
              <a:extLst>
                <a:ext uri="{FF2B5EF4-FFF2-40B4-BE49-F238E27FC236}">
                  <a16:creationId xmlns:a16="http://schemas.microsoft.com/office/drawing/2014/main" id="{F762B33C-887B-DCAA-EA95-D4AE3A8ADB95}"/>
                </a:ext>
              </a:extLst>
            </p:cNvPr>
            <p:cNvSpPr txBox="1">
              <a:spLocks/>
            </p:cNvSpPr>
            <p:nvPr/>
          </p:nvSpPr>
          <p:spPr>
            <a:xfrm>
              <a:off x="628650" y="5032600"/>
              <a:ext cx="7305675" cy="566737"/>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021836"/>
                </a:buClr>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Incident reports</a:t>
              </a:r>
            </a:p>
            <a:p>
              <a:pPr>
                <a:buClr>
                  <a:srgbClr val="021836"/>
                </a:buClr>
              </a:pPr>
              <a:r>
                <a:rPr lang="en-US" sz="1200" i="1" dirty="0">
                  <a:solidFill>
                    <a:prstClr val="white">
                      <a:lumMod val="50000"/>
                    </a:prstClr>
                  </a:solidFill>
                  <a:latin typeface="Aptos" panose="02110004020202020204"/>
                </a:rPr>
                <a:t>Customer feedback</a:t>
              </a:r>
            </a:p>
            <a:p>
              <a:pPr>
                <a:buClr>
                  <a:srgbClr val="021836"/>
                </a:buClr>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Financial analysis</a:t>
              </a:r>
            </a:p>
          </p:txBody>
        </p:sp>
      </p:grpSp>
      <p:cxnSp>
        <p:nvCxnSpPr>
          <p:cNvPr id="3" name="Straight Connector 2">
            <a:extLst>
              <a:ext uri="{FF2B5EF4-FFF2-40B4-BE49-F238E27FC236}">
                <a16:creationId xmlns:a16="http://schemas.microsoft.com/office/drawing/2014/main" id="{8CB6C598-DBC0-5FE2-6B2F-9C0F295801DB}"/>
              </a:ext>
            </a:extLst>
          </p:cNvPr>
          <p:cNvCxnSpPr>
            <a:cxnSpLocks/>
          </p:cNvCxnSpPr>
          <p:nvPr/>
        </p:nvCxnSpPr>
        <p:spPr>
          <a:xfrm>
            <a:off x="171450" y="4924372"/>
            <a:ext cx="8801100" cy="0"/>
          </a:xfrm>
          <a:prstGeom prst="line">
            <a:avLst/>
          </a:prstGeom>
          <a:ln w="9525">
            <a:solidFill>
              <a:srgbClr val="0396A6"/>
            </a:solidFill>
          </a:ln>
        </p:spPr>
        <p:style>
          <a:lnRef idx="2">
            <a:schemeClr val="accent1"/>
          </a:lnRef>
          <a:fillRef idx="0">
            <a:schemeClr val="accent1"/>
          </a:fillRef>
          <a:effectRef idx="1">
            <a:schemeClr val="accent1"/>
          </a:effectRef>
          <a:fontRef idx="minor">
            <a:schemeClr val="tx1"/>
          </a:fontRef>
        </p:style>
      </p:cxnSp>
      <p:grpSp>
        <p:nvGrpSpPr>
          <p:cNvPr id="4" name="Group 3">
            <a:extLst>
              <a:ext uri="{FF2B5EF4-FFF2-40B4-BE49-F238E27FC236}">
                <a16:creationId xmlns:a16="http://schemas.microsoft.com/office/drawing/2014/main" id="{433372E7-5424-A17A-415F-A5A80BAB4555}"/>
              </a:ext>
            </a:extLst>
          </p:cNvPr>
          <p:cNvGrpSpPr/>
          <p:nvPr/>
        </p:nvGrpSpPr>
        <p:grpSpPr>
          <a:xfrm>
            <a:off x="381675" y="5081765"/>
            <a:ext cx="7886700" cy="908049"/>
            <a:chOff x="628650" y="4778376"/>
            <a:chExt cx="7886700" cy="908049"/>
          </a:xfrm>
        </p:grpSpPr>
        <p:sp>
          <p:nvSpPr>
            <p:cNvPr id="5" name="Content Placeholder 2">
              <a:extLst>
                <a:ext uri="{FF2B5EF4-FFF2-40B4-BE49-F238E27FC236}">
                  <a16:creationId xmlns:a16="http://schemas.microsoft.com/office/drawing/2014/main" id="{326CADB7-5660-A5E4-B72F-7D87F186E7FD}"/>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Opportunity Signals</a:t>
              </a:r>
            </a:p>
          </p:txBody>
        </p:sp>
        <p:sp>
          <p:nvSpPr>
            <p:cNvPr id="6" name="Content Placeholder 2">
              <a:extLst>
                <a:ext uri="{FF2B5EF4-FFF2-40B4-BE49-F238E27FC236}">
                  <a16:creationId xmlns:a16="http://schemas.microsoft.com/office/drawing/2014/main" id="{B8432CC8-ECB6-6947-D8B2-AECCA6495021}"/>
                </a:ext>
              </a:extLst>
            </p:cNvPr>
            <p:cNvSpPr txBox="1">
              <a:spLocks/>
            </p:cNvSpPr>
            <p:nvPr/>
          </p:nvSpPr>
          <p:spPr>
            <a:xfrm>
              <a:off x="628650" y="5119688"/>
              <a:ext cx="7886700" cy="566737"/>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Clr>
                  <a:srgbClr val="021836"/>
                </a:buClr>
                <a:buNone/>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Pattern recognition </a:t>
              </a:r>
              <a:r>
                <a:rPr lang="en-US" sz="1200" i="1" dirty="0">
                  <a:solidFill>
                    <a:prstClr val="white">
                      <a:lumMod val="50000"/>
                    </a:prstClr>
                  </a:solidFill>
                </a:rPr>
                <a:t>• Risk assessment • Decision support • Trend analysis • Reporting burden • Insight generation</a:t>
              </a:r>
              <a:endPar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endParaRPr>
            </a:p>
          </p:txBody>
        </p:sp>
      </p:grpSp>
      <p:grpSp>
        <p:nvGrpSpPr>
          <p:cNvPr id="7" name="Group 6">
            <a:extLst>
              <a:ext uri="{FF2B5EF4-FFF2-40B4-BE49-F238E27FC236}">
                <a16:creationId xmlns:a16="http://schemas.microsoft.com/office/drawing/2014/main" id="{24F56109-A0B5-4BF9-3160-E48507DAAB28}"/>
              </a:ext>
            </a:extLst>
          </p:cNvPr>
          <p:cNvGrpSpPr/>
          <p:nvPr/>
        </p:nvGrpSpPr>
        <p:grpSpPr>
          <a:xfrm>
            <a:off x="381675" y="5917911"/>
            <a:ext cx="7886700" cy="908049"/>
            <a:chOff x="628650" y="4778376"/>
            <a:chExt cx="7886700" cy="908049"/>
          </a:xfrm>
        </p:grpSpPr>
        <p:sp>
          <p:nvSpPr>
            <p:cNvPr id="8" name="Content Placeholder 2">
              <a:extLst>
                <a:ext uri="{FF2B5EF4-FFF2-40B4-BE49-F238E27FC236}">
                  <a16:creationId xmlns:a16="http://schemas.microsoft.com/office/drawing/2014/main" id="{7E4400AA-1C8F-C51E-6336-894316F56ABF}"/>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Why This Matters</a:t>
              </a:r>
            </a:p>
          </p:txBody>
        </p:sp>
        <p:sp>
          <p:nvSpPr>
            <p:cNvPr id="10" name="Content Placeholder 2">
              <a:extLst>
                <a:ext uri="{FF2B5EF4-FFF2-40B4-BE49-F238E27FC236}">
                  <a16:creationId xmlns:a16="http://schemas.microsoft.com/office/drawing/2014/main" id="{CD71FF83-9829-90FA-6A79-BE8447FBAAEA}"/>
                </a:ext>
              </a:extLst>
            </p:cNvPr>
            <p:cNvSpPr txBox="1">
              <a:spLocks/>
            </p:cNvSpPr>
            <p:nvPr/>
          </p:nvSpPr>
          <p:spPr>
            <a:xfrm>
              <a:off x="628650" y="5119688"/>
              <a:ext cx="6837589" cy="566737"/>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Clr>
                  <a:srgbClr val="021836"/>
                </a:buClr>
                <a:buNone/>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Analysis use cases help humans make better decisions rather than transferring accountability to AI.</a:t>
              </a:r>
            </a:p>
          </p:txBody>
        </p:sp>
      </p:grpSp>
      <p:sp>
        <p:nvSpPr>
          <p:cNvPr id="12" name="TextBox 11">
            <a:extLst>
              <a:ext uri="{FF2B5EF4-FFF2-40B4-BE49-F238E27FC236}">
                <a16:creationId xmlns:a16="http://schemas.microsoft.com/office/drawing/2014/main" id="{BBCED1A7-2E72-4F90-2373-927D29CEA3E8}"/>
              </a:ext>
            </a:extLst>
          </p:cNvPr>
          <p:cNvSpPr txBox="1"/>
          <p:nvPr/>
        </p:nvSpPr>
        <p:spPr>
          <a:xfrm>
            <a:off x="4953000" y="64309"/>
            <a:ext cx="4084462" cy="276999"/>
          </a:xfrm>
          <a:prstGeom prst="rect">
            <a:avLst/>
          </a:prstGeom>
          <a:noFill/>
        </p:spPr>
        <p:txBody>
          <a:bodyPr wrap="square" rtlCol="0">
            <a:spAutoFit/>
          </a:bodyPr>
          <a:lstStyle/>
          <a:p>
            <a:pPr algn="r"/>
            <a:r>
              <a:rPr lang="en-US" sz="1200" dirty="0">
                <a:solidFill>
                  <a:schemeClr val="bg1">
                    <a:lumMod val="50000"/>
                  </a:schemeClr>
                </a:solidFill>
              </a:rPr>
              <a:t>AI Operational Readiness • AI Use Case Categories</a:t>
            </a:r>
          </a:p>
        </p:txBody>
      </p:sp>
    </p:spTree>
    <p:extLst>
      <p:ext uri="{BB962C8B-B14F-4D97-AF65-F5344CB8AC3E}">
        <p14:creationId xmlns:p14="http://schemas.microsoft.com/office/powerpoint/2010/main" val="20492898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7DB763-CE25-9972-BD1D-6AFC64AEDA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538B8A-2BB5-086F-B9C4-585C8E4DEAD7}"/>
              </a:ext>
            </a:extLst>
          </p:cNvPr>
          <p:cNvSpPr>
            <a:spLocks noGrp="1"/>
          </p:cNvSpPr>
          <p:nvPr>
            <p:ph type="title"/>
          </p:nvPr>
        </p:nvSpPr>
        <p:spPr>
          <a:xfrm>
            <a:off x="273534" y="-86630"/>
            <a:ext cx="7886700" cy="1325563"/>
          </a:xfrm>
        </p:spPr>
        <p:txBody>
          <a:bodyPr/>
          <a:lstStyle/>
          <a:p>
            <a:r>
              <a:rPr lang="en-US" dirty="0"/>
              <a:t>Workflow Use Cases</a:t>
            </a:r>
          </a:p>
        </p:txBody>
      </p:sp>
      <p:sp>
        <p:nvSpPr>
          <p:cNvPr id="9" name="Content Placeholder 2">
            <a:extLst>
              <a:ext uri="{FF2B5EF4-FFF2-40B4-BE49-F238E27FC236}">
                <a16:creationId xmlns:a16="http://schemas.microsoft.com/office/drawing/2014/main" id="{60A351E5-C4A8-927B-4DBD-D7704D1A47D0}"/>
              </a:ext>
            </a:extLst>
          </p:cNvPr>
          <p:cNvSpPr txBox="1">
            <a:spLocks/>
          </p:cNvSpPr>
          <p:nvPr/>
        </p:nvSpPr>
        <p:spPr>
          <a:xfrm>
            <a:off x="317078" y="844267"/>
            <a:ext cx="7886700" cy="299244"/>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Coordinating work</a:t>
            </a:r>
          </a:p>
        </p:txBody>
      </p:sp>
      <p:graphicFrame>
        <p:nvGraphicFramePr>
          <p:cNvPr id="16" name="Table 15">
            <a:extLst>
              <a:ext uri="{FF2B5EF4-FFF2-40B4-BE49-F238E27FC236}">
                <a16:creationId xmlns:a16="http://schemas.microsoft.com/office/drawing/2014/main" id="{DA96F569-7CE0-1AAA-9AE5-749B91310B89}"/>
              </a:ext>
            </a:extLst>
          </p:cNvPr>
          <p:cNvGraphicFramePr>
            <a:graphicFrameLocks noGrp="1"/>
          </p:cNvGraphicFramePr>
          <p:nvPr/>
        </p:nvGraphicFramePr>
        <p:xfrm>
          <a:off x="381675" y="1243584"/>
          <a:ext cx="8218714" cy="2101172"/>
        </p:xfrm>
        <a:graphic>
          <a:graphicData uri="http://schemas.openxmlformats.org/drawingml/2006/table">
            <a:tbl>
              <a:tblPr firstRow="1" bandRow="1">
                <a:tableStyleId>{2D5ABB26-0587-4C30-8999-92F81FD0307C}</a:tableStyleId>
              </a:tblPr>
              <a:tblGrid>
                <a:gridCol w="3287487">
                  <a:extLst>
                    <a:ext uri="{9D8B030D-6E8A-4147-A177-3AD203B41FA5}">
                      <a16:colId xmlns:a16="http://schemas.microsoft.com/office/drawing/2014/main" val="2470210094"/>
                    </a:ext>
                  </a:extLst>
                </a:gridCol>
                <a:gridCol w="4931227">
                  <a:extLst>
                    <a:ext uri="{9D8B030D-6E8A-4147-A177-3AD203B41FA5}">
                      <a16:colId xmlns:a16="http://schemas.microsoft.com/office/drawing/2014/main" val="72878264"/>
                    </a:ext>
                  </a:extLst>
                </a:gridCol>
              </a:tblGrid>
              <a:tr h="282365">
                <a:tc>
                  <a:txBody>
                    <a:bodyPr/>
                    <a:lstStyle/>
                    <a:p>
                      <a:r>
                        <a:rPr lang="en-US" sz="1600" b="1" dirty="0">
                          <a:solidFill>
                            <a:srgbClr val="021836"/>
                          </a:solidFill>
                        </a:rPr>
                        <a:t>Category</a:t>
                      </a:r>
                    </a:p>
                  </a:txBody>
                  <a:tcPr>
                    <a:lnR w="12700" cap="flat" cmpd="sng" algn="ctr">
                      <a:solidFill>
                        <a:schemeClr val="bg1">
                          <a:lumMod val="75000"/>
                        </a:schemeClr>
                      </a:solidFill>
                      <a:prstDash val="solid"/>
                      <a:round/>
                      <a:headEnd type="none" w="med" len="med"/>
                      <a:tailEnd type="none" w="med" len="med"/>
                    </a:lnR>
                    <a:lnB w="12700" cap="flat" cmpd="sng" algn="ctr">
                      <a:solidFill>
                        <a:srgbClr val="0396A6"/>
                      </a:solidFill>
                      <a:prstDash val="solid"/>
                      <a:round/>
                      <a:headEnd type="none" w="med" len="med"/>
                      <a:tailEnd type="none" w="med" len="med"/>
                    </a:lnB>
                  </a:tcPr>
                </a:tc>
                <a:tc>
                  <a:txBody>
                    <a:bodyPr/>
                    <a:lstStyle/>
                    <a:p>
                      <a:r>
                        <a:rPr lang="en-US" sz="1600" b="1" dirty="0">
                          <a:solidFill>
                            <a:srgbClr val="021836"/>
                          </a:solidFill>
                        </a:rPr>
                        <a:t>Purpose</a:t>
                      </a:r>
                    </a:p>
                  </a:txBody>
                  <a:tcPr>
                    <a:lnL w="12700" cap="flat" cmpd="sng" algn="ctr">
                      <a:solidFill>
                        <a:schemeClr val="bg1">
                          <a:lumMod val="75000"/>
                        </a:schemeClr>
                      </a:solidFill>
                      <a:prstDash val="solid"/>
                      <a:round/>
                      <a:headEnd type="none" w="med" len="med"/>
                      <a:tailEnd type="none" w="med" len="med"/>
                    </a:lnL>
                    <a:lnB w="12700" cap="flat" cmpd="sng" algn="ctr">
                      <a:solidFill>
                        <a:srgbClr val="0396A6"/>
                      </a:solidFill>
                      <a:prstDash val="solid"/>
                      <a:round/>
                      <a:headEnd type="none" w="med" len="med"/>
                      <a:tailEnd type="none" w="med" len="med"/>
                    </a:lnB>
                  </a:tcPr>
                </a:tc>
                <a:extLst>
                  <a:ext uri="{0D108BD9-81ED-4DB2-BD59-A6C34878D82A}">
                    <a16:rowId xmlns:a16="http://schemas.microsoft.com/office/drawing/2014/main" val="2061593276"/>
                  </a:ext>
                </a:extLst>
              </a:tr>
              <a:tr h="441473">
                <a:tc>
                  <a:txBody>
                    <a:bodyPr/>
                    <a:lstStyle/>
                    <a:p>
                      <a:pPr>
                        <a:buClr>
                          <a:schemeClr val="bg1">
                            <a:lumMod val="50000"/>
                          </a:schemeClr>
                        </a:buClr>
                      </a:pPr>
                      <a:r>
                        <a:rPr lang="en-US" sz="1400" b="1" dirty="0">
                          <a:solidFill>
                            <a:srgbClr val="021836"/>
                          </a:solidFill>
                        </a:rPr>
                        <a:t>Routing</a:t>
                      </a:r>
                      <a:endParaRPr lang="en-US" sz="1400" dirty="0"/>
                    </a:p>
                  </a:txBody>
                  <a:tcPr>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400" dirty="0"/>
                        <a:t>Direct work</a:t>
                      </a:r>
                    </a:p>
                  </a:txBody>
                  <a:tcPr>
                    <a:lnL w="12700" cap="flat" cmpd="sng" algn="ctr">
                      <a:solidFill>
                        <a:schemeClr val="bg1">
                          <a:lumMod val="75000"/>
                        </a:schemeClr>
                      </a:solidFill>
                      <a:prstDash val="solid"/>
                      <a:round/>
                      <a:headEnd type="none" w="med" len="med"/>
                      <a:tailEnd type="none" w="med" len="med"/>
                    </a:lnL>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493753442"/>
                  </a:ext>
                </a:extLst>
              </a:tr>
              <a:tr h="441473">
                <a:tc>
                  <a:txBody>
                    <a:bodyPr/>
                    <a:lstStyle/>
                    <a:p>
                      <a:pPr>
                        <a:buClr>
                          <a:schemeClr val="bg1">
                            <a:lumMod val="50000"/>
                          </a:schemeClr>
                        </a:buClr>
                      </a:pPr>
                      <a:r>
                        <a:rPr lang="en-US" sz="1400" b="1" dirty="0">
                          <a:solidFill>
                            <a:srgbClr val="021836"/>
                          </a:solidFill>
                        </a:rPr>
                        <a:t>Monitoring</a:t>
                      </a:r>
                      <a:endParaRPr lang="en-US" sz="1400" dirty="0"/>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400" dirty="0"/>
                        <a:t>Watch thresholds</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23325965"/>
                  </a:ext>
                </a:extLst>
              </a:tr>
              <a:tr h="441473">
                <a:tc>
                  <a:txBody>
                    <a:bodyPr/>
                    <a:lstStyle/>
                    <a:p>
                      <a:pPr>
                        <a:buClr>
                          <a:schemeClr val="bg1">
                            <a:lumMod val="50000"/>
                          </a:schemeClr>
                        </a:buClr>
                      </a:pPr>
                      <a:r>
                        <a:rPr lang="en-US" sz="1400" b="1" dirty="0">
                          <a:solidFill>
                            <a:srgbClr val="021836"/>
                          </a:solidFill>
                        </a:rPr>
                        <a:t>Escalation Support</a:t>
                      </a:r>
                      <a:endParaRPr lang="en-US" sz="1400" dirty="0"/>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400" dirty="0"/>
                        <a:t>Surface issues</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845834834"/>
                  </a:ext>
                </a:extLst>
              </a:tr>
              <a:tr h="441473">
                <a:tc>
                  <a:txBody>
                    <a:bodyPr/>
                    <a:lstStyle/>
                    <a:p>
                      <a:pPr>
                        <a:buClr>
                          <a:schemeClr val="bg1">
                            <a:lumMod val="50000"/>
                          </a:schemeClr>
                        </a:buClr>
                      </a:pPr>
                      <a:r>
                        <a:rPr lang="en-US" sz="1400" b="1" dirty="0">
                          <a:solidFill>
                            <a:srgbClr val="021836"/>
                          </a:solidFill>
                        </a:rPr>
                        <a:t>Notifications</a:t>
                      </a:r>
                      <a:endParaRPr lang="en-US" sz="1400" dirty="0"/>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400" dirty="0"/>
                        <a:t>Trigger actions</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012176639"/>
                  </a:ext>
                </a:extLst>
              </a:tr>
            </a:tbl>
          </a:graphicData>
        </a:graphic>
      </p:graphicFrame>
      <p:grpSp>
        <p:nvGrpSpPr>
          <p:cNvPr id="17" name="Group 16">
            <a:extLst>
              <a:ext uri="{FF2B5EF4-FFF2-40B4-BE49-F238E27FC236}">
                <a16:creationId xmlns:a16="http://schemas.microsoft.com/office/drawing/2014/main" id="{F20BABD2-D028-CA40-9A02-325593B3FB70}"/>
              </a:ext>
            </a:extLst>
          </p:cNvPr>
          <p:cNvGrpSpPr/>
          <p:nvPr/>
        </p:nvGrpSpPr>
        <p:grpSpPr>
          <a:xfrm>
            <a:off x="303438" y="3392424"/>
            <a:ext cx="7886700" cy="820961"/>
            <a:chOff x="628650" y="4778376"/>
            <a:chExt cx="7886700" cy="820961"/>
          </a:xfrm>
        </p:grpSpPr>
        <p:sp>
          <p:nvSpPr>
            <p:cNvPr id="18" name="Content Placeholder 2">
              <a:extLst>
                <a:ext uri="{FF2B5EF4-FFF2-40B4-BE49-F238E27FC236}">
                  <a16:creationId xmlns:a16="http://schemas.microsoft.com/office/drawing/2014/main" id="{9B248894-FD59-1035-1945-81D820B847BD}"/>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Examples</a:t>
              </a:r>
            </a:p>
          </p:txBody>
        </p:sp>
        <p:sp>
          <p:nvSpPr>
            <p:cNvPr id="19" name="Content Placeholder 2">
              <a:extLst>
                <a:ext uri="{FF2B5EF4-FFF2-40B4-BE49-F238E27FC236}">
                  <a16:creationId xmlns:a16="http://schemas.microsoft.com/office/drawing/2014/main" id="{52A58544-8F67-DD69-2E9D-C4A6F1228FCB}"/>
                </a:ext>
              </a:extLst>
            </p:cNvPr>
            <p:cNvSpPr txBox="1">
              <a:spLocks/>
            </p:cNvSpPr>
            <p:nvPr/>
          </p:nvSpPr>
          <p:spPr>
            <a:xfrm>
              <a:off x="628650" y="5032600"/>
              <a:ext cx="7305675" cy="566737"/>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021836"/>
                </a:buClr>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Ticketing</a:t>
              </a:r>
            </a:p>
            <a:p>
              <a:pPr>
                <a:buClr>
                  <a:srgbClr val="021836"/>
                </a:buClr>
              </a:pPr>
              <a:r>
                <a:rPr lang="en-US" sz="1200" i="1" dirty="0">
                  <a:solidFill>
                    <a:prstClr val="white">
                      <a:lumMod val="50000"/>
                    </a:prstClr>
                  </a:solidFill>
                  <a:latin typeface="Aptos" panose="02110004020202020204"/>
                </a:rPr>
                <a:t>Service Requests</a:t>
              </a:r>
            </a:p>
            <a:p>
              <a:pPr>
                <a:buClr>
                  <a:srgbClr val="021836"/>
                </a:buClr>
              </a:pPr>
              <a:r>
                <a:rPr lang="en-US" sz="1200" i="1" dirty="0">
                  <a:solidFill>
                    <a:prstClr val="white">
                      <a:lumMod val="50000"/>
                    </a:prstClr>
                  </a:solidFill>
                  <a:latin typeface="Aptos" panose="02110004020202020204"/>
                </a:rPr>
                <a:t>Compliance reviews</a:t>
              </a:r>
              <a:endPar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endParaRPr>
            </a:p>
          </p:txBody>
        </p:sp>
      </p:grpSp>
      <p:cxnSp>
        <p:nvCxnSpPr>
          <p:cNvPr id="3" name="Straight Connector 2">
            <a:extLst>
              <a:ext uri="{FF2B5EF4-FFF2-40B4-BE49-F238E27FC236}">
                <a16:creationId xmlns:a16="http://schemas.microsoft.com/office/drawing/2014/main" id="{C26C7ECF-8B20-F20D-9D5F-6D2FEC2AD1C4}"/>
              </a:ext>
            </a:extLst>
          </p:cNvPr>
          <p:cNvCxnSpPr>
            <a:cxnSpLocks/>
          </p:cNvCxnSpPr>
          <p:nvPr/>
        </p:nvCxnSpPr>
        <p:spPr>
          <a:xfrm>
            <a:off x="171450" y="4924372"/>
            <a:ext cx="8801100" cy="0"/>
          </a:xfrm>
          <a:prstGeom prst="line">
            <a:avLst/>
          </a:prstGeom>
          <a:ln w="9525">
            <a:solidFill>
              <a:srgbClr val="0396A6"/>
            </a:solidFill>
          </a:ln>
        </p:spPr>
        <p:style>
          <a:lnRef idx="2">
            <a:schemeClr val="accent1"/>
          </a:lnRef>
          <a:fillRef idx="0">
            <a:schemeClr val="accent1"/>
          </a:fillRef>
          <a:effectRef idx="1">
            <a:schemeClr val="accent1"/>
          </a:effectRef>
          <a:fontRef idx="minor">
            <a:schemeClr val="tx1"/>
          </a:fontRef>
        </p:style>
      </p:cxnSp>
      <p:grpSp>
        <p:nvGrpSpPr>
          <p:cNvPr id="4" name="Group 3">
            <a:extLst>
              <a:ext uri="{FF2B5EF4-FFF2-40B4-BE49-F238E27FC236}">
                <a16:creationId xmlns:a16="http://schemas.microsoft.com/office/drawing/2014/main" id="{EEE1F270-BC40-D548-E64B-122A05C7CD9C}"/>
              </a:ext>
            </a:extLst>
          </p:cNvPr>
          <p:cNvGrpSpPr/>
          <p:nvPr/>
        </p:nvGrpSpPr>
        <p:grpSpPr>
          <a:xfrm>
            <a:off x="381675" y="5081765"/>
            <a:ext cx="7886700" cy="908049"/>
            <a:chOff x="628650" y="4778376"/>
            <a:chExt cx="7886700" cy="908049"/>
          </a:xfrm>
        </p:grpSpPr>
        <p:sp>
          <p:nvSpPr>
            <p:cNvPr id="5" name="Content Placeholder 2">
              <a:extLst>
                <a:ext uri="{FF2B5EF4-FFF2-40B4-BE49-F238E27FC236}">
                  <a16:creationId xmlns:a16="http://schemas.microsoft.com/office/drawing/2014/main" id="{5CB3085A-6026-9F48-4FF4-E686C59CB68D}"/>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Opportunity Signals</a:t>
              </a:r>
            </a:p>
          </p:txBody>
        </p:sp>
        <p:sp>
          <p:nvSpPr>
            <p:cNvPr id="6" name="Content Placeholder 2">
              <a:extLst>
                <a:ext uri="{FF2B5EF4-FFF2-40B4-BE49-F238E27FC236}">
                  <a16:creationId xmlns:a16="http://schemas.microsoft.com/office/drawing/2014/main" id="{46A3F9A6-4A9F-95CE-ECCD-2F025566E24B}"/>
                </a:ext>
              </a:extLst>
            </p:cNvPr>
            <p:cNvSpPr txBox="1">
              <a:spLocks/>
            </p:cNvSpPr>
            <p:nvPr/>
          </p:nvSpPr>
          <p:spPr>
            <a:xfrm>
              <a:off x="628650" y="5119688"/>
              <a:ext cx="7886700" cy="566737"/>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Clr>
                  <a:srgbClr val="021836"/>
                </a:buClr>
                <a:buNone/>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Routing </a:t>
              </a:r>
              <a:r>
                <a:rPr lang="en-US" sz="1200" i="1" dirty="0">
                  <a:solidFill>
                    <a:prstClr val="white">
                      <a:lumMod val="50000"/>
                    </a:prstClr>
                  </a:solidFill>
                </a:rPr>
                <a:t>• Monitoring • Notifications • Escalation triggers • Bottlenecks • Waiting • Coordination burden</a:t>
              </a:r>
              <a:endPar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endParaRPr>
            </a:p>
          </p:txBody>
        </p:sp>
      </p:grpSp>
      <p:grpSp>
        <p:nvGrpSpPr>
          <p:cNvPr id="7" name="Group 6">
            <a:extLst>
              <a:ext uri="{FF2B5EF4-FFF2-40B4-BE49-F238E27FC236}">
                <a16:creationId xmlns:a16="http://schemas.microsoft.com/office/drawing/2014/main" id="{1ED1A33F-A32D-300A-37C5-6F7E406E6FF2}"/>
              </a:ext>
            </a:extLst>
          </p:cNvPr>
          <p:cNvGrpSpPr/>
          <p:nvPr/>
        </p:nvGrpSpPr>
        <p:grpSpPr>
          <a:xfrm>
            <a:off x="381675" y="5917911"/>
            <a:ext cx="7886700" cy="908049"/>
            <a:chOff x="628650" y="4778376"/>
            <a:chExt cx="7886700" cy="908049"/>
          </a:xfrm>
        </p:grpSpPr>
        <p:sp>
          <p:nvSpPr>
            <p:cNvPr id="8" name="Content Placeholder 2">
              <a:extLst>
                <a:ext uri="{FF2B5EF4-FFF2-40B4-BE49-F238E27FC236}">
                  <a16:creationId xmlns:a16="http://schemas.microsoft.com/office/drawing/2014/main" id="{94CB057E-0450-F1E4-1E31-822CE3770B8E}"/>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Why This Matters</a:t>
              </a:r>
            </a:p>
          </p:txBody>
        </p:sp>
        <p:sp>
          <p:nvSpPr>
            <p:cNvPr id="10" name="Content Placeholder 2">
              <a:extLst>
                <a:ext uri="{FF2B5EF4-FFF2-40B4-BE49-F238E27FC236}">
                  <a16:creationId xmlns:a16="http://schemas.microsoft.com/office/drawing/2014/main" id="{6FCFA9A5-AB44-E6A8-A3AE-731E1AAF88BE}"/>
                </a:ext>
              </a:extLst>
            </p:cNvPr>
            <p:cNvSpPr txBox="1">
              <a:spLocks/>
            </p:cNvSpPr>
            <p:nvPr/>
          </p:nvSpPr>
          <p:spPr>
            <a:xfrm>
              <a:off x="628650" y="5119688"/>
              <a:ext cx="6837589" cy="566737"/>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Clr>
                  <a:srgbClr val="021836"/>
                </a:buClr>
                <a:buNone/>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Workflow use cases improve how work moves across people, teams, and systems.</a:t>
              </a:r>
            </a:p>
          </p:txBody>
        </p:sp>
      </p:grpSp>
      <p:sp>
        <p:nvSpPr>
          <p:cNvPr id="12" name="TextBox 11">
            <a:extLst>
              <a:ext uri="{FF2B5EF4-FFF2-40B4-BE49-F238E27FC236}">
                <a16:creationId xmlns:a16="http://schemas.microsoft.com/office/drawing/2014/main" id="{285EA68C-98E9-0414-C8CB-E1808C610293}"/>
              </a:ext>
            </a:extLst>
          </p:cNvPr>
          <p:cNvSpPr txBox="1"/>
          <p:nvPr/>
        </p:nvSpPr>
        <p:spPr>
          <a:xfrm>
            <a:off x="4953000" y="64309"/>
            <a:ext cx="4084462" cy="276999"/>
          </a:xfrm>
          <a:prstGeom prst="rect">
            <a:avLst/>
          </a:prstGeom>
          <a:noFill/>
        </p:spPr>
        <p:txBody>
          <a:bodyPr wrap="square" rtlCol="0">
            <a:spAutoFit/>
          </a:bodyPr>
          <a:lstStyle/>
          <a:p>
            <a:pPr algn="r"/>
            <a:r>
              <a:rPr lang="en-US" sz="1200" dirty="0">
                <a:solidFill>
                  <a:schemeClr val="bg1">
                    <a:lumMod val="50000"/>
                  </a:schemeClr>
                </a:solidFill>
              </a:rPr>
              <a:t>AI Operational Readiness • AI Use Case Categories</a:t>
            </a:r>
          </a:p>
        </p:txBody>
      </p:sp>
    </p:spTree>
    <p:extLst>
      <p:ext uri="{BB962C8B-B14F-4D97-AF65-F5344CB8AC3E}">
        <p14:creationId xmlns:p14="http://schemas.microsoft.com/office/powerpoint/2010/main" val="30870904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B69937-832F-9551-58B2-5670626C15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207E23-5B02-DD26-6F5B-F90BCAFD7403}"/>
              </a:ext>
            </a:extLst>
          </p:cNvPr>
          <p:cNvSpPr>
            <a:spLocks noGrp="1"/>
          </p:cNvSpPr>
          <p:nvPr>
            <p:ph type="title"/>
          </p:nvPr>
        </p:nvSpPr>
        <p:spPr>
          <a:xfrm>
            <a:off x="273534" y="-86630"/>
            <a:ext cx="7886700" cy="1325563"/>
          </a:xfrm>
        </p:spPr>
        <p:txBody>
          <a:bodyPr/>
          <a:lstStyle/>
          <a:p>
            <a:r>
              <a:rPr lang="en-US" dirty="0"/>
              <a:t>Agentic Use Cases</a:t>
            </a:r>
          </a:p>
        </p:txBody>
      </p:sp>
      <p:sp>
        <p:nvSpPr>
          <p:cNvPr id="9" name="Content Placeholder 2">
            <a:extLst>
              <a:ext uri="{FF2B5EF4-FFF2-40B4-BE49-F238E27FC236}">
                <a16:creationId xmlns:a16="http://schemas.microsoft.com/office/drawing/2014/main" id="{FA627E1C-818B-7617-BA70-887120A5181B}"/>
              </a:ext>
            </a:extLst>
          </p:cNvPr>
          <p:cNvSpPr txBox="1">
            <a:spLocks/>
          </p:cNvSpPr>
          <p:nvPr/>
        </p:nvSpPr>
        <p:spPr>
          <a:xfrm>
            <a:off x="317078" y="844267"/>
            <a:ext cx="7886700" cy="299244"/>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Executing multi-step tasks</a:t>
            </a:r>
          </a:p>
        </p:txBody>
      </p:sp>
      <p:graphicFrame>
        <p:nvGraphicFramePr>
          <p:cNvPr id="16" name="Table 15">
            <a:extLst>
              <a:ext uri="{FF2B5EF4-FFF2-40B4-BE49-F238E27FC236}">
                <a16:creationId xmlns:a16="http://schemas.microsoft.com/office/drawing/2014/main" id="{969A0D65-E62C-4BB9-77A1-09027D77BAB9}"/>
              </a:ext>
            </a:extLst>
          </p:cNvPr>
          <p:cNvGraphicFramePr>
            <a:graphicFrameLocks noGrp="1"/>
          </p:cNvGraphicFramePr>
          <p:nvPr/>
        </p:nvGraphicFramePr>
        <p:xfrm>
          <a:off x="381675" y="1243584"/>
          <a:ext cx="8218714" cy="2144505"/>
        </p:xfrm>
        <a:graphic>
          <a:graphicData uri="http://schemas.openxmlformats.org/drawingml/2006/table">
            <a:tbl>
              <a:tblPr firstRow="1" bandRow="1">
                <a:tableStyleId>{2D5ABB26-0587-4C30-8999-92F81FD0307C}</a:tableStyleId>
              </a:tblPr>
              <a:tblGrid>
                <a:gridCol w="3287487">
                  <a:extLst>
                    <a:ext uri="{9D8B030D-6E8A-4147-A177-3AD203B41FA5}">
                      <a16:colId xmlns:a16="http://schemas.microsoft.com/office/drawing/2014/main" val="2470210094"/>
                    </a:ext>
                  </a:extLst>
                </a:gridCol>
                <a:gridCol w="4931227">
                  <a:extLst>
                    <a:ext uri="{9D8B030D-6E8A-4147-A177-3AD203B41FA5}">
                      <a16:colId xmlns:a16="http://schemas.microsoft.com/office/drawing/2014/main" val="72878264"/>
                    </a:ext>
                  </a:extLst>
                </a:gridCol>
              </a:tblGrid>
              <a:tr h="326836">
                <a:tc>
                  <a:txBody>
                    <a:bodyPr/>
                    <a:lstStyle/>
                    <a:p>
                      <a:r>
                        <a:rPr lang="en-US" sz="1600" b="1" dirty="0">
                          <a:solidFill>
                            <a:srgbClr val="021836"/>
                          </a:solidFill>
                        </a:rPr>
                        <a:t>Category</a:t>
                      </a:r>
                    </a:p>
                  </a:txBody>
                  <a:tcPr>
                    <a:lnR w="12700" cap="flat" cmpd="sng" algn="ctr">
                      <a:solidFill>
                        <a:schemeClr val="bg1">
                          <a:lumMod val="75000"/>
                        </a:schemeClr>
                      </a:solidFill>
                      <a:prstDash val="solid"/>
                      <a:round/>
                      <a:headEnd type="none" w="med" len="med"/>
                      <a:tailEnd type="none" w="med" len="med"/>
                    </a:lnR>
                    <a:lnB w="12700" cap="flat" cmpd="sng" algn="ctr">
                      <a:solidFill>
                        <a:srgbClr val="0396A6"/>
                      </a:solidFill>
                      <a:prstDash val="solid"/>
                      <a:round/>
                      <a:headEnd type="none" w="med" len="med"/>
                      <a:tailEnd type="none" w="med" len="med"/>
                    </a:lnB>
                  </a:tcPr>
                </a:tc>
                <a:tc>
                  <a:txBody>
                    <a:bodyPr/>
                    <a:lstStyle/>
                    <a:p>
                      <a:r>
                        <a:rPr lang="en-US" sz="1600" b="1" dirty="0">
                          <a:solidFill>
                            <a:srgbClr val="021836"/>
                          </a:solidFill>
                        </a:rPr>
                        <a:t>Purpose</a:t>
                      </a:r>
                    </a:p>
                  </a:txBody>
                  <a:tcPr>
                    <a:lnL w="12700" cap="flat" cmpd="sng" algn="ctr">
                      <a:solidFill>
                        <a:schemeClr val="bg1">
                          <a:lumMod val="75000"/>
                        </a:schemeClr>
                      </a:solidFill>
                      <a:prstDash val="solid"/>
                      <a:round/>
                      <a:headEnd type="none" w="med" len="med"/>
                      <a:tailEnd type="none" w="med" len="med"/>
                    </a:lnL>
                    <a:lnB w="12700" cap="flat" cmpd="sng" algn="ctr">
                      <a:solidFill>
                        <a:srgbClr val="0396A6"/>
                      </a:solidFill>
                      <a:prstDash val="solid"/>
                      <a:round/>
                      <a:headEnd type="none" w="med" len="med"/>
                      <a:tailEnd type="none" w="med" len="med"/>
                    </a:lnB>
                  </a:tcPr>
                </a:tc>
                <a:extLst>
                  <a:ext uri="{0D108BD9-81ED-4DB2-BD59-A6C34878D82A}">
                    <a16:rowId xmlns:a16="http://schemas.microsoft.com/office/drawing/2014/main" val="2061593276"/>
                  </a:ext>
                </a:extLst>
              </a:tr>
              <a:tr h="430355">
                <a:tc>
                  <a:txBody>
                    <a:bodyPr/>
                    <a:lstStyle/>
                    <a:p>
                      <a:pPr>
                        <a:buClr>
                          <a:schemeClr val="bg1">
                            <a:lumMod val="50000"/>
                          </a:schemeClr>
                        </a:buClr>
                      </a:pPr>
                      <a:r>
                        <a:rPr lang="en-US" sz="1400" b="1" dirty="0">
                          <a:solidFill>
                            <a:srgbClr val="021836"/>
                          </a:solidFill>
                        </a:rPr>
                        <a:t>Tool-Using Assistant</a:t>
                      </a:r>
                      <a:endParaRPr lang="en-US" sz="1400" dirty="0"/>
                    </a:p>
                  </a:txBody>
                  <a:tcPr>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400" dirty="0"/>
                        <a:t>Interacts with systems or tools to complete bounded tasks</a:t>
                      </a:r>
                    </a:p>
                  </a:txBody>
                  <a:tcPr>
                    <a:lnL w="12700" cap="flat" cmpd="sng" algn="ctr">
                      <a:solidFill>
                        <a:schemeClr val="bg1">
                          <a:lumMod val="75000"/>
                        </a:schemeClr>
                      </a:solidFill>
                      <a:prstDash val="solid"/>
                      <a:round/>
                      <a:headEnd type="none" w="med" len="med"/>
                      <a:tailEnd type="none" w="med" len="med"/>
                    </a:lnL>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493753442"/>
                  </a:ext>
                </a:extLst>
              </a:tr>
              <a:tr h="430355">
                <a:tc>
                  <a:txBody>
                    <a:bodyPr/>
                    <a:lstStyle/>
                    <a:p>
                      <a:pPr>
                        <a:buClr>
                          <a:schemeClr val="bg1">
                            <a:lumMod val="50000"/>
                          </a:schemeClr>
                        </a:buClr>
                      </a:pPr>
                      <a:r>
                        <a:rPr lang="en-US" sz="1400" b="1" dirty="0">
                          <a:solidFill>
                            <a:srgbClr val="021836"/>
                          </a:solidFill>
                        </a:rPr>
                        <a:t>Guided Workflow</a:t>
                      </a:r>
                      <a:endParaRPr lang="en-US" sz="1400" dirty="0"/>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400" dirty="0"/>
                        <a:t>Assists a human through defined steps</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23325965"/>
                  </a:ext>
                </a:extLst>
              </a:tr>
              <a:tr h="430355">
                <a:tc>
                  <a:txBody>
                    <a:bodyPr/>
                    <a:lstStyle/>
                    <a:p>
                      <a:pPr>
                        <a:buClr>
                          <a:schemeClr val="bg1">
                            <a:lumMod val="50000"/>
                          </a:schemeClr>
                        </a:buClr>
                      </a:pPr>
                      <a:r>
                        <a:rPr lang="en-US" sz="1400" b="1" dirty="0">
                          <a:solidFill>
                            <a:srgbClr val="021836"/>
                          </a:solidFill>
                        </a:rPr>
                        <a:t>Multi-Step Agent</a:t>
                      </a:r>
                      <a:endParaRPr lang="en-US" sz="1400" dirty="0"/>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400" dirty="0"/>
                        <a:t>Performs a sequence across steps/tools</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845834834"/>
                  </a:ext>
                </a:extLst>
              </a:tr>
              <a:tr h="430355">
                <a:tc>
                  <a:txBody>
                    <a:bodyPr/>
                    <a:lstStyle/>
                    <a:p>
                      <a:pPr>
                        <a:buClr>
                          <a:schemeClr val="bg1">
                            <a:lumMod val="50000"/>
                          </a:schemeClr>
                        </a:buClr>
                      </a:pPr>
                      <a:r>
                        <a:rPr lang="en-US" sz="1400" b="1" dirty="0">
                          <a:solidFill>
                            <a:srgbClr val="021836"/>
                          </a:solidFill>
                        </a:rPr>
                        <a:t>Autonomous Agent</a:t>
                      </a:r>
                      <a:endParaRPr lang="en-US" sz="1400" dirty="0"/>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400" dirty="0"/>
                        <a:t>Independently selects and executes actions within defined authority.</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012176639"/>
                  </a:ext>
                </a:extLst>
              </a:tr>
            </a:tbl>
          </a:graphicData>
        </a:graphic>
      </p:graphicFrame>
      <p:grpSp>
        <p:nvGrpSpPr>
          <p:cNvPr id="17" name="Group 16">
            <a:extLst>
              <a:ext uri="{FF2B5EF4-FFF2-40B4-BE49-F238E27FC236}">
                <a16:creationId xmlns:a16="http://schemas.microsoft.com/office/drawing/2014/main" id="{BB5A9F0B-0046-6CAE-AECD-96FAA60B2106}"/>
              </a:ext>
            </a:extLst>
          </p:cNvPr>
          <p:cNvGrpSpPr/>
          <p:nvPr/>
        </p:nvGrpSpPr>
        <p:grpSpPr>
          <a:xfrm>
            <a:off x="303438" y="3392424"/>
            <a:ext cx="7886700" cy="1279665"/>
            <a:chOff x="628650" y="4778376"/>
            <a:chExt cx="7886700" cy="1279665"/>
          </a:xfrm>
        </p:grpSpPr>
        <p:sp>
          <p:nvSpPr>
            <p:cNvPr id="18" name="Content Placeholder 2">
              <a:extLst>
                <a:ext uri="{FF2B5EF4-FFF2-40B4-BE49-F238E27FC236}">
                  <a16:creationId xmlns:a16="http://schemas.microsoft.com/office/drawing/2014/main" id="{A78401F9-24FA-A78F-BFE9-A33CC77581A4}"/>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Examples</a:t>
              </a:r>
            </a:p>
          </p:txBody>
        </p:sp>
        <p:sp>
          <p:nvSpPr>
            <p:cNvPr id="19" name="Content Placeholder 2">
              <a:extLst>
                <a:ext uri="{FF2B5EF4-FFF2-40B4-BE49-F238E27FC236}">
                  <a16:creationId xmlns:a16="http://schemas.microsoft.com/office/drawing/2014/main" id="{EA7224E3-C723-C91E-0775-BEF94EAD642F}"/>
                </a:ext>
              </a:extLst>
            </p:cNvPr>
            <p:cNvSpPr txBox="1">
              <a:spLocks/>
            </p:cNvSpPr>
            <p:nvPr/>
          </p:nvSpPr>
          <p:spPr>
            <a:xfrm>
              <a:off x="628650" y="5032600"/>
              <a:ext cx="7305675" cy="1025441"/>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021836"/>
                </a:buClr>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HR onboarding</a:t>
              </a:r>
            </a:p>
            <a:p>
              <a:pPr>
                <a:buClr>
                  <a:srgbClr val="021836"/>
                </a:buClr>
              </a:pPr>
              <a:r>
                <a:rPr lang="en-US" sz="1200" i="1" dirty="0">
                  <a:solidFill>
                    <a:prstClr val="white">
                      <a:lumMod val="50000"/>
                    </a:prstClr>
                  </a:solidFill>
                  <a:latin typeface="Aptos" panose="02110004020202020204"/>
                </a:rPr>
                <a:t>Customer service</a:t>
              </a:r>
            </a:p>
            <a:p>
              <a:pPr>
                <a:buClr>
                  <a:srgbClr val="021836"/>
                </a:buClr>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Procurement</a:t>
              </a:r>
            </a:p>
          </p:txBody>
        </p:sp>
      </p:grpSp>
      <p:cxnSp>
        <p:nvCxnSpPr>
          <p:cNvPr id="3" name="Straight Connector 2">
            <a:extLst>
              <a:ext uri="{FF2B5EF4-FFF2-40B4-BE49-F238E27FC236}">
                <a16:creationId xmlns:a16="http://schemas.microsoft.com/office/drawing/2014/main" id="{AD91FFDF-F445-FAD4-E986-4A9963381CF5}"/>
              </a:ext>
            </a:extLst>
          </p:cNvPr>
          <p:cNvCxnSpPr>
            <a:cxnSpLocks/>
          </p:cNvCxnSpPr>
          <p:nvPr/>
        </p:nvCxnSpPr>
        <p:spPr>
          <a:xfrm>
            <a:off x="171450" y="4924372"/>
            <a:ext cx="8801100" cy="0"/>
          </a:xfrm>
          <a:prstGeom prst="line">
            <a:avLst/>
          </a:prstGeom>
          <a:ln w="9525">
            <a:solidFill>
              <a:srgbClr val="0396A6"/>
            </a:solidFill>
          </a:ln>
        </p:spPr>
        <p:style>
          <a:lnRef idx="2">
            <a:schemeClr val="accent1"/>
          </a:lnRef>
          <a:fillRef idx="0">
            <a:schemeClr val="accent1"/>
          </a:fillRef>
          <a:effectRef idx="1">
            <a:schemeClr val="accent1"/>
          </a:effectRef>
          <a:fontRef idx="minor">
            <a:schemeClr val="tx1"/>
          </a:fontRef>
        </p:style>
      </p:cxnSp>
      <p:grpSp>
        <p:nvGrpSpPr>
          <p:cNvPr id="4" name="Group 3">
            <a:extLst>
              <a:ext uri="{FF2B5EF4-FFF2-40B4-BE49-F238E27FC236}">
                <a16:creationId xmlns:a16="http://schemas.microsoft.com/office/drawing/2014/main" id="{05D662A2-3CC1-F691-40DE-E67241785823}"/>
              </a:ext>
            </a:extLst>
          </p:cNvPr>
          <p:cNvGrpSpPr/>
          <p:nvPr/>
        </p:nvGrpSpPr>
        <p:grpSpPr>
          <a:xfrm>
            <a:off x="381675" y="5081765"/>
            <a:ext cx="7886700" cy="908049"/>
            <a:chOff x="628650" y="4778376"/>
            <a:chExt cx="7886700" cy="908049"/>
          </a:xfrm>
        </p:grpSpPr>
        <p:sp>
          <p:nvSpPr>
            <p:cNvPr id="5" name="Content Placeholder 2">
              <a:extLst>
                <a:ext uri="{FF2B5EF4-FFF2-40B4-BE49-F238E27FC236}">
                  <a16:creationId xmlns:a16="http://schemas.microsoft.com/office/drawing/2014/main" id="{B483177F-B45B-3650-1A45-DC9041901576}"/>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Opportunity Signals</a:t>
              </a:r>
            </a:p>
          </p:txBody>
        </p:sp>
        <p:sp>
          <p:nvSpPr>
            <p:cNvPr id="6" name="Content Placeholder 2">
              <a:extLst>
                <a:ext uri="{FF2B5EF4-FFF2-40B4-BE49-F238E27FC236}">
                  <a16:creationId xmlns:a16="http://schemas.microsoft.com/office/drawing/2014/main" id="{8412D7A3-EFB4-A25E-4E82-58A391E93CE2}"/>
                </a:ext>
              </a:extLst>
            </p:cNvPr>
            <p:cNvSpPr txBox="1">
              <a:spLocks/>
            </p:cNvSpPr>
            <p:nvPr/>
          </p:nvSpPr>
          <p:spPr>
            <a:xfrm>
              <a:off x="628650" y="5119688"/>
              <a:ext cx="7886700" cy="566737"/>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Clr>
                  <a:srgbClr val="021836"/>
                </a:buClr>
                <a:buNone/>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Multi-step processes </a:t>
              </a:r>
              <a:r>
                <a:rPr lang="en-US" sz="1200" i="1" dirty="0">
                  <a:solidFill>
                    <a:prstClr val="white">
                      <a:lumMod val="50000"/>
                    </a:prstClr>
                  </a:solidFill>
                </a:rPr>
                <a:t>• Cross-system work • Repeated approvals • Coordination overhead • Manual orchestration</a:t>
              </a:r>
              <a:endPar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endParaRPr>
            </a:p>
          </p:txBody>
        </p:sp>
      </p:grpSp>
      <p:grpSp>
        <p:nvGrpSpPr>
          <p:cNvPr id="7" name="Group 6">
            <a:extLst>
              <a:ext uri="{FF2B5EF4-FFF2-40B4-BE49-F238E27FC236}">
                <a16:creationId xmlns:a16="http://schemas.microsoft.com/office/drawing/2014/main" id="{86CC0BC2-E27E-890A-53FA-C8818FDB9917}"/>
              </a:ext>
            </a:extLst>
          </p:cNvPr>
          <p:cNvGrpSpPr/>
          <p:nvPr/>
        </p:nvGrpSpPr>
        <p:grpSpPr>
          <a:xfrm>
            <a:off x="381675" y="5917911"/>
            <a:ext cx="7886700" cy="908049"/>
            <a:chOff x="628650" y="4778376"/>
            <a:chExt cx="7886700" cy="908049"/>
          </a:xfrm>
        </p:grpSpPr>
        <p:sp>
          <p:nvSpPr>
            <p:cNvPr id="8" name="Content Placeholder 2">
              <a:extLst>
                <a:ext uri="{FF2B5EF4-FFF2-40B4-BE49-F238E27FC236}">
                  <a16:creationId xmlns:a16="http://schemas.microsoft.com/office/drawing/2014/main" id="{DBABAB62-624D-D0D4-C9F2-190B5E8A9376}"/>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Why This Matters</a:t>
              </a:r>
            </a:p>
          </p:txBody>
        </p:sp>
        <p:sp>
          <p:nvSpPr>
            <p:cNvPr id="10" name="Content Placeholder 2">
              <a:extLst>
                <a:ext uri="{FF2B5EF4-FFF2-40B4-BE49-F238E27FC236}">
                  <a16:creationId xmlns:a16="http://schemas.microsoft.com/office/drawing/2014/main" id="{EB682A7F-72CA-7E5A-A670-9E37884E9048}"/>
                </a:ext>
              </a:extLst>
            </p:cNvPr>
            <p:cNvSpPr txBox="1">
              <a:spLocks/>
            </p:cNvSpPr>
            <p:nvPr/>
          </p:nvSpPr>
          <p:spPr>
            <a:xfrm>
              <a:off x="628650" y="5119688"/>
              <a:ext cx="6837589" cy="566737"/>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Clr>
                  <a:srgbClr val="021836"/>
                </a:buClr>
                <a:buNone/>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As AI takes on multi-step work or execution authority, governance must address the scope of authority, human intervention, escalation, and the </a:t>
              </a:r>
              <a:r>
                <a:rPr kumimoji="0" lang="en-US" sz="1200" b="0" i="1" u="none" strike="noStrike" kern="1200" cap="none" spc="0" normalizeH="0" baseline="0" noProof="0" dirty="0" err="1">
                  <a:ln>
                    <a:noFill/>
                  </a:ln>
                  <a:solidFill>
                    <a:prstClr val="white">
                      <a:lumMod val="50000"/>
                    </a:prstClr>
                  </a:solidFill>
                  <a:effectLst/>
                  <a:uLnTx/>
                  <a:uFillTx/>
                  <a:latin typeface="Aptos" panose="02110004020202020204"/>
                  <a:ea typeface="+mn-ea"/>
                  <a:cs typeface="+mn-cs"/>
                </a:rPr>
                <a:t>consequencea</a:t>
              </a: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 or autonomous action.</a:t>
              </a:r>
            </a:p>
          </p:txBody>
        </p:sp>
      </p:grpSp>
      <p:sp>
        <p:nvSpPr>
          <p:cNvPr id="12" name="TextBox 11">
            <a:extLst>
              <a:ext uri="{FF2B5EF4-FFF2-40B4-BE49-F238E27FC236}">
                <a16:creationId xmlns:a16="http://schemas.microsoft.com/office/drawing/2014/main" id="{D1406063-2E04-E680-874B-3395BD114DC2}"/>
              </a:ext>
            </a:extLst>
          </p:cNvPr>
          <p:cNvSpPr txBox="1"/>
          <p:nvPr/>
        </p:nvSpPr>
        <p:spPr>
          <a:xfrm>
            <a:off x="4953000" y="64309"/>
            <a:ext cx="4084462" cy="276999"/>
          </a:xfrm>
          <a:prstGeom prst="rect">
            <a:avLst/>
          </a:prstGeom>
          <a:noFill/>
        </p:spPr>
        <p:txBody>
          <a:bodyPr wrap="square" rtlCol="0">
            <a:spAutoFit/>
          </a:bodyPr>
          <a:lstStyle/>
          <a:p>
            <a:pPr algn="r"/>
            <a:r>
              <a:rPr lang="en-US" sz="1200" dirty="0">
                <a:solidFill>
                  <a:schemeClr val="bg1">
                    <a:lumMod val="50000"/>
                  </a:schemeClr>
                </a:solidFill>
              </a:rPr>
              <a:t>AI Operational Readiness • AI Use Case Categories</a:t>
            </a:r>
          </a:p>
        </p:txBody>
      </p:sp>
    </p:spTree>
    <p:extLst>
      <p:ext uri="{BB962C8B-B14F-4D97-AF65-F5344CB8AC3E}">
        <p14:creationId xmlns:p14="http://schemas.microsoft.com/office/powerpoint/2010/main" val="41286793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998CF9-DE8C-7AA0-33B8-94C8DDACD4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B6F700-0A00-5E0E-85DA-FFE93610A125}"/>
              </a:ext>
            </a:extLst>
          </p:cNvPr>
          <p:cNvSpPr>
            <a:spLocks noGrp="1"/>
          </p:cNvSpPr>
          <p:nvPr>
            <p:ph type="title"/>
          </p:nvPr>
        </p:nvSpPr>
        <p:spPr>
          <a:xfrm>
            <a:off x="273534" y="-86630"/>
            <a:ext cx="7886700" cy="1325563"/>
          </a:xfrm>
        </p:spPr>
        <p:txBody>
          <a:bodyPr/>
          <a:lstStyle/>
          <a:p>
            <a:r>
              <a:rPr lang="en-US" dirty="0"/>
              <a:t>Extraction Explained</a:t>
            </a:r>
          </a:p>
        </p:txBody>
      </p:sp>
      <p:sp>
        <p:nvSpPr>
          <p:cNvPr id="9" name="Content Placeholder 2">
            <a:extLst>
              <a:ext uri="{FF2B5EF4-FFF2-40B4-BE49-F238E27FC236}">
                <a16:creationId xmlns:a16="http://schemas.microsoft.com/office/drawing/2014/main" id="{77D93F61-A67D-C339-182C-D5E3B3772F48}"/>
              </a:ext>
            </a:extLst>
          </p:cNvPr>
          <p:cNvSpPr txBox="1">
            <a:spLocks/>
          </p:cNvSpPr>
          <p:nvPr/>
        </p:nvSpPr>
        <p:spPr>
          <a:xfrm>
            <a:off x="317078" y="844267"/>
            <a:ext cx="7886700" cy="299244"/>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Turning unstructured information into structured data</a:t>
            </a:r>
          </a:p>
        </p:txBody>
      </p:sp>
      <p:graphicFrame>
        <p:nvGraphicFramePr>
          <p:cNvPr id="16" name="Table 15">
            <a:extLst>
              <a:ext uri="{FF2B5EF4-FFF2-40B4-BE49-F238E27FC236}">
                <a16:creationId xmlns:a16="http://schemas.microsoft.com/office/drawing/2014/main" id="{728F131A-5E93-0328-A5DB-0E47C27028B6}"/>
              </a:ext>
            </a:extLst>
          </p:cNvPr>
          <p:cNvGraphicFramePr>
            <a:graphicFrameLocks noGrp="1"/>
          </p:cNvGraphicFramePr>
          <p:nvPr/>
        </p:nvGraphicFramePr>
        <p:xfrm>
          <a:off x="381675" y="1635728"/>
          <a:ext cx="8218714" cy="853440"/>
        </p:xfrm>
        <a:graphic>
          <a:graphicData uri="http://schemas.openxmlformats.org/drawingml/2006/table">
            <a:tbl>
              <a:tblPr firstRow="1" bandRow="1">
                <a:tableStyleId>{2D5ABB26-0587-4C30-8999-92F81FD0307C}</a:tableStyleId>
              </a:tblPr>
              <a:tblGrid>
                <a:gridCol w="3287487">
                  <a:extLst>
                    <a:ext uri="{9D8B030D-6E8A-4147-A177-3AD203B41FA5}">
                      <a16:colId xmlns:a16="http://schemas.microsoft.com/office/drawing/2014/main" val="2470210094"/>
                    </a:ext>
                  </a:extLst>
                </a:gridCol>
                <a:gridCol w="4931227">
                  <a:extLst>
                    <a:ext uri="{9D8B030D-6E8A-4147-A177-3AD203B41FA5}">
                      <a16:colId xmlns:a16="http://schemas.microsoft.com/office/drawing/2014/main" val="72878264"/>
                    </a:ext>
                  </a:extLst>
                </a:gridCol>
              </a:tblGrid>
              <a:tr h="326836">
                <a:tc>
                  <a:txBody>
                    <a:bodyPr/>
                    <a:lstStyle/>
                    <a:p>
                      <a:r>
                        <a:rPr lang="en-US" sz="1600" b="1" dirty="0">
                          <a:solidFill>
                            <a:srgbClr val="021836"/>
                          </a:solidFill>
                        </a:rPr>
                        <a:t>Current State</a:t>
                      </a:r>
                    </a:p>
                  </a:txBody>
                  <a:tcPr>
                    <a:lnR w="12700" cap="flat" cmpd="sng" algn="ctr">
                      <a:solidFill>
                        <a:schemeClr val="bg1">
                          <a:lumMod val="75000"/>
                        </a:schemeClr>
                      </a:solidFill>
                      <a:prstDash val="solid"/>
                      <a:round/>
                      <a:headEnd type="none" w="med" len="med"/>
                      <a:tailEnd type="none" w="med" len="med"/>
                    </a:lnR>
                    <a:lnB w="12700" cap="flat" cmpd="sng" algn="ctr">
                      <a:solidFill>
                        <a:srgbClr val="0396A6"/>
                      </a:solidFill>
                      <a:prstDash val="solid"/>
                      <a:round/>
                      <a:headEnd type="none" w="med" len="med"/>
                      <a:tailEnd type="none" w="med" len="med"/>
                    </a:lnB>
                  </a:tcPr>
                </a:tc>
                <a:tc>
                  <a:txBody>
                    <a:bodyPr/>
                    <a:lstStyle/>
                    <a:p>
                      <a:r>
                        <a:rPr lang="en-US" sz="1600" b="1" dirty="0">
                          <a:solidFill>
                            <a:srgbClr val="021836"/>
                          </a:solidFill>
                        </a:rPr>
                        <a:t>AI Assistance</a:t>
                      </a:r>
                    </a:p>
                  </a:txBody>
                  <a:tcPr>
                    <a:lnL w="12700" cap="flat" cmpd="sng" algn="ctr">
                      <a:solidFill>
                        <a:schemeClr val="bg1">
                          <a:lumMod val="75000"/>
                        </a:schemeClr>
                      </a:solidFill>
                      <a:prstDash val="solid"/>
                      <a:round/>
                      <a:headEnd type="none" w="med" len="med"/>
                      <a:tailEnd type="none" w="med" len="med"/>
                    </a:lnL>
                    <a:lnB w="12700" cap="flat" cmpd="sng" algn="ctr">
                      <a:solidFill>
                        <a:srgbClr val="0396A6"/>
                      </a:solidFill>
                      <a:prstDash val="solid"/>
                      <a:round/>
                      <a:headEnd type="none" w="med" len="med"/>
                      <a:tailEnd type="none" w="med" len="med"/>
                    </a:lnB>
                  </a:tcPr>
                </a:tc>
                <a:extLst>
                  <a:ext uri="{0D108BD9-81ED-4DB2-BD59-A6C34878D82A}">
                    <a16:rowId xmlns:a16="http://schemas.microsoft.com/office/drawing/2014/main" val="2061593276"/>
                  </a:ext>
                </a:extLst>
              </a:tr>
              <a:tr h="430355">
                <a:tc>
                  <a:txBody>
                    <a:bodyPr/>
                    <a:lstStyle/>
                    <a:p>
                      <a:pPr>
                        <a:buClr>
                          <a:schemeClr val="bg1">
                            <a:lumMod val="50000"/>
                          </a:schemeClr>
                        </a:buClr>
                      </a:pPr>
                      <a:r>
                        <a:rPr lang="en-US" sz="1400" b="0" dirty="0">
                          <a:solidFill>
                            <a:srgbClr val="021836"/>
                          </a:solidFill>
                        </a:rPr>
                        <a:t>Someone reads invoices manually and enters values into SAP or Excel</a:t>
                      </a:r>
                      <a:endParaRPr lang="en-US" sz="1400" b="0" dirty="0"/>
                    </a:p>
                  </a:txBody>
                  <a:tcPr>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400" dirty="0"/>
                        <a:t>AI extracts vendor name, invoice number, amount, and due date automatically</a:t>
                      </a:r>
                    </a:p>
                  </a:txBody>
                  <a:tcPr>
                    <a:lnL w="12700" cap="flat" cmpd="sng" algn="ctr">
                      <a:solidFill>
                        <a:schemeClr val="bg1">
                          <a:lumMod val="75000"/>
                        </a:schemeClr>
                      </a:solidFill>
                      <a:prstDash val="solid"/>
                      <a:round/>
                      <a:headEnd type="none" w="med" len="med"/>
                      <a:tailEnd type="none" w="med" len="med"/>
                    </a:lnL>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493753442"/>
                  </a:ext>
                </a:extLst>
              </a:tr>
            </a:tbl>
          </a:graphicData>
        </a:graphic>
      </p:graphicFrame>
      <p:grpSp>
        <p:nvGrpSpPr>
          <p:cNvPr id="17" name="Group 16">
            <a:extLst>
              <a:ext uri="{FF2B5EF4-FFF2-40B4-BE49-F238E27FC236}">
                <a16:creationId xmlns:a16="http://schemas.microsoft.com/office/drawing/2014/main" id="{68417CD7-BBA6-F43E-67A4-A020F518A707}"/>
              </a:ext>
            </a:extLst>
          </p:cNvPr>
          <p:cNvGrpSpPr/>
          <p:nvPr/>
        </p:nvGrpSpPr>
        <p:grpSpPr>
          <a:xfrm>
            <a:off x="303438" y="2870170"/>
            <a:ext cx="7886700" cy="1279665"/>
            <a:chOff x="628650" y="4778376"/>
            <a:chExt cx="7886700" cy="1279665"/>
          </a:xfrm>
        </p:grpSpPr>
        <p:sp>
          <p:nvSpPr>
            <p:cNvPr id="18" name="Content Placeholder 2">
              <a:extLst>
                <a:ext uri="{FF2B5EF4-FFF2-40B4-BE49-F238E27FC236}">
                  <a16:creationId xmlns:a16="http://schemas.microsoft.com/office/drawing/2014/main" id="{8D80D3E8-CCF1-175B-5916-86EB7E6A1C63}"/>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Examples</a:t>
              </a:r>
            </a:p>
          </p:txBody>
        </p:sp>
        <p:sp>
          <p:nvSpPr>
            <p:cNvPr id="19" name="Content Placeholder 2">
              <a:extLst>
                <a:ext uri="{FF2B5EF4-FFF2-40B4-BE49-F238E27FC236}">
                  <a16:creationId xmlns:a16="http://schemas.microsoft.com/office/drawing/2014/main" id="{CA3E28A9-A74A-E44F-2BC3-45E517478011}"/>
                </a:ext>
              </a:extLst>
            </p:cNvPr>
            <p:cNvSpPr txBox="1">
              <a:spLocks/>
            </p:cNvSpPr>
            <p:nvPr/>
          </p:nvSpPr>
          <p:spPr>
            <a:xfrm>
              <a:off x="628650" y="5032600"/>
              <a:ext cx="7305675" cy="1025441"/>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021836"/>
                </a:buClr>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Invoices</a:t>
              </a:r>
            </a:p>
            <a:p>
              <a:pPr>
                <a:buClr>
                  <a:srgbClr val="021836"/>
                </a:buClr>
              </a:pPr>
              <a:r>
                <a:rPr lang="en-US" sz="1200" i="1" dirty="0">
                  <a:solidFill>
                    <a:prstClr val="white">
                      <a:lumMod val="50000"/>
                    </a:prstClr>
                  </a:solidFill>
                  <a:latin typeface="Aptos" panose="02110004020202020204"/>
                </a:rPr>
                <a:t>Contracts</a:t>
              </a:r>
            </a:p>
            <a:p>
              <a:pPr>
                <a:buClr>
                  <a:srgbClr val="021836"/>
                </a:buClr>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Resumes</a:t>
              </a:r>
            </a:p>
            <a:p>
              <a:pPr>
                <a:buClr>
                  <a:srgbClr val="021836"/>
                </a:buClr>
              </a:pPr>
              <a:r>
                <a:rPr lang="en-US" sz="1200" i="1" dirty="0">
                  <a:solidFill>
                    <a:prstClr val="white">
                      <a:lumMod val="50000"/>
                    </a:prstClr>
                  </a:solidFill>
                  <a:latin typeface="Aptos" panose="02110004020202020204"/>
                </a:rPr>
                <a:t>Forms</a:t>
              </a:r>
            </a:p>
            <a:p>
              <a:pPr>
                <a:buClr>
                  <a:srgbClr val="021836"/>
                </a:buClr>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Emails</a:t>
              </a:r>
            </a:p>
          </p:txBody>
        </p:sp>
      </p:grpSp>
      <p:cxnSp>
        <p:nvCxnSpPr>
          <p:cNvPr id="3" name="Straight Connector 2">
            <a:extLst>
              <a:ext uri="{FF2B5EF4-FFF2-40B4-BE49-F238E27FC236}">
                <a16:creationId xmlns:a16="http://schemas.microsoft.com/office/drawing/2014/main" id="{3E013372-2520-5F8E-2CDA-ABA51E09DB39}"/>
              </a:ext>
            </a:extLst>
          </p:cNvPr>
          <p:cNvCxnSpPr>
            <a:cxnSpLocks/>
          </p:cNvCxnSpPr>
          <p:nvPr/>
        </p:nvCxnSpPr>
        <p:spPr>
          <a:xfrm>
            <a:off x="171450" y="4924372"/>
            <a:ext cx="8801100" cy="0"/>
          </a:xfrm>
          <a:prstGeom prst="line">
            <a:avLst/>
          </a:prstGeom>
          <a:ln w="9525">
            <a:solidFill>
              <a:srgbClr val="0396A6"/>
            </a:solidFill>
          </a:ln>
        </p:spPr>
        <p:style>
          <a:lnRef idx="2">
            <a:schemeClr val="accent1"/>
          </a:lnRef>
          <a:fillRef idx="0">
            <a:schemeClr val="accent1"/>
          </a:fillRef>
          <a:effectRef idx="1">
            <a:schemeClr val="accent1"/>
          </a:effectRef>
          <a:fontRef idx="minor">
            <a:schemeClr val="tx1"/>
          </a:fontRef>
        </p:style>
      </p:cxnSp>
      <p:grpSp>
        <p:nvGrpSpPr>
          <p:cNvPr id="4" name="Group 3">
            <a:extLst>
              <a:ext uri="{FF2B5EF4-FFF2-40B4-BE49-F238E27FC236}">
                <a16:creationId xmlns:a16="http://schemas.microsoft.com/office/drawing/2014/main" id="{B7A5D8B8-10D7-A293-F2B2-9D711AF075D8}"/>
              </a:ext>
            </a:extLst>
          </p:cNvPr>
          <p:cNvGrpSpPr/>
          <p:nvPr/>
        </p:nvGrpSpPr>
        <p:grpSpPr>
          <a:xfrm>
            <a:off x="381675" y="5081765"/>
            <a:ext cx="7886700" cy="908049"/>
            <a:chOff x="628650" y="4778376"/>
            <a:chExt cx="7886700" cy="908049"/>
          </a:xfrm>
        </p:grpSpPr>
        <p:sp>
          <p:nvSpPr>
            <p:cNvPr id="5" name="Content Placeholder 2">
              <a:extLst>
                <a:ext uri="{FF2B5EF4-FFF2-40B4-BE49-F238E27FC236}">
                  <a16:creationId xmlns:a16="http://schemas.microsoft.com/office/drawing/2014/main" id="{7E6E7F84-A46E-C657-D6A4-BB151CC80AE2}"/>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Opportunity Signals</a:t>
              </a:r>
            </a:p>
          </p:txBody>
        </p:sp>
        <p:sp>
          <p:nvSpPr>
            <p:cNvPr id="6" name="Content Placeholder 2">
              <a:extLst>
                <a:ext uri="{FF2B5EF4-FFF2-40B4-BE49-F238E27FC236}">
                  <a16:creationId xmlns:a16="http://schemas.microsoft.com/office/drawing/2014/main" id="{83538808-A731-8D4D-2284-EE35A5490EE4}"/>
                </a:ext>
              </a:extLst>
            </p:cNvPr>
            <p:cNvSpPr txBox="1">
              <a:spLocks/>
            </p:cNvSpPr>
            <p:nvPr/>
          </p:nvSpPr>
          <p:spPr>
            <a:xfrm>
              <a:off x="628650" y="5119688"/>
              <a:ext cx="7886700" cy="566737"/>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Clr>
                  <a:srgbClr val="021836"/>
                </a:buClr>
                <a:buNone/>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Manual entry </a:t>
              </a:r>
              <a:r>
                <a:rPr lang="en-US" sz="1200" i="1" dirty="0">
                  <a:solidFill>
                    <a:prstClr val="white">
                      <a:lumMod val="50000"/>
                    </a:prstClr>
                  </a:solidFill>
                </a:rPr>
                <a:t>• Repeated copying • Spreadsheet work • Review burden</a:t>
              </a:r>
              <a:endPar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endParaRPr>
            </a:p>
          </p:txBody>
        </p:sp>
      </p:grpSp>
      <p:grpSp>
        <p:nvGrpSpPr>
          <p:cNvPr id="7" name="Group 6">
            <a:extLst>
              <a:ext uri="{FF2B5EF4-FFF2-40B4-BE49-F238E27FC236}">
                <a16:creationId xmlns:a16="http://schemas.microsoft.com/office/drawing/2014/main" id="{4D67321B-314D-2AE5-99E5-B7BA3493100C}"/>
              </a:ext>
            </a:extLst>
          </p:cNvPr>
          <p:cNvGrpSpPr/>
          <p:nvPr/>
        </p:nvGrpSpPr>
        <p:grpSpPr>
          <a:xfrm>
            <a:off x="381675" y="5917911"/>
            <a:ext cx="7886700" cy="908049"/>
            <a:chOff x="628650" y="4778376"/>
            <a:chExt cx="7886700" cy="908049"/>
          </a:xfrm>
        </p:grpSpPr>
        <p:sp>
          <p:nvSpPr>
            <p:cNvPr id="8" name="Content Placeholder 2">
              <a:extLst>
                <a:ext uri="{FF2B5EF4-FFF2-40B4-BE49-F238E27FC236}">
                  <a16:creationId xmlns:a16="http://schemas.microsoft.com/office/drawing/2014/main" id="{B5FF0988-5DDC-AD03-4501-0964425B54CF}"/>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Why This Matters</a:t>
              </a:r>
            </a:p>
          </p:txBody>
        </p:sp>
        <p:sp>
          <p:nvSpPr>
            <p:cNvPr id="10" name="Content Placeholder 2">
              <a:extLst>
                <a:ext uri="{FF2B5EF4-FFF2-40B4-BE49-F238E27FC236}">
                  <a16:creationId xmlns:a16="http://schemas.microsoft.com/office/drawing/2014/main" id="{B968C3E2-7FCF-B035-B6AA-B2EEC7A6003B}"/>
                </a:ext>
              </a:extLst>
            </p:cNvPr>
            <p:cNvSpPr txBox="1">
              <a:spLocks/>
            </p:cNvSpPr>
            <p:nvPr/>
          </p:nvSpPr>
          <p:spPr>
            <a:xfrm>
              <a:off x="628650" y="5119688"/>
              <a:ext cx="6837589" cy="566737"/>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Clr>
                  <a:srgbClr val="021836"/>
                </a:buClr>
                <a:buNone/>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Extraction converts information into data that other workflows can use.</a:t>
              </a:r>
            </a:p>
          </p:txBody>
        </p:sp>
      </p:grpSp>
      <p:sp>
        <p:nvSpPr>
          <p:cNvPr id="12" name="TextBox 11">
            <a:extLst>
              <a:ext uri="{FF2B5EF4-FFF2-40B4-BE49-F238E27FC236}">
                <a16:creationId xmlns:a16="http://schemas.microsoft.com/office/drawing/2014/main" id="{FA671AB9-BD86-2602-9AE6-5ACB8FB7BC94}"/>
              </a:ext>
            </a:extLst>
          </p:cNvPr>
          <p:cNvSpPr txBox="1"/>
          <p:nvPr/>
        </p:nvSpPr>
        <p:spPr>
          <a:xfrm>
            <a:off x="4953000" y="64309"/>
            <a:ext cx="4084462" cy="276999"/>
          </a:xfrm>
          <a:prstGeom prst="rect">
            <a:avLst/>
          </a:prstGeom>
          <a:noFill/>
        </p:spPr>
        <p:txBody>
          <a:bodyPr wrap="square" rtlCol="0">
            <a:spAutoFit/>
          </a:bodyPr>
          <a:lstStyle/>
          <a:p>
            <a:pPr algn="r"/>
            <a:r>
              <a:rPr lang="en-US" sz="1200" dirty="0">
                <a:solidFill>
                  <a:schemeClr val="bg1">
                    <a:lumMod val="50000"/>
                  </a:schemeClr>
                </a:solidFill>
              </a:rPr>
              <a:t>AI Operational Readiness • AI Use Case Categories</a:t>
            </a:r>
          </a:p>
        </p:txBody>
      </p:sp>
    </p:spTree>
    <p:extLst>
      <p:ext uri="{BB962C8B-B14F-4D97-AF65-F5344CB8AC3E}">
        <p14:creationId xmlns:p14="http://schemas.microsoft.com/office/powerpoint/2010/main" val="29947546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2A23E-38D8-04F4-F8DB-D794890E9E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265EA3-20E2-EC8C-9C7B-C0FCDB5707BC}"/>
              </a:ext>
            </a:extLst>
          </p:cNvPr>
          <p:cNvSpPr>
            <a:spLocks noGrp="1"/>
          </p:cNvSpPr>
          <p:nvPr>
            <p:ph type="title"/>
          </p:nvPr>
        </p:nvSpPr>
        <p:spPr>
          <a:xfrm>
            <a:off x="273534" y="22230"/>
            <a:ext cx="8553388" cy="1325563"/>
          </a:xfrm>
        </p:spPr>
        <p:txBody>
          <a:bodyPr/>
          <a:lstStyle/>
          <a:p>
            <a:r>
              <a:rPr lang="en-US" dirty="0"/>
              <a:t>Capability &amp; Agency Spectrum</a:t>
            </a:r>
          </a:p>
        </p:txBody>
      </p:sp>
      <p:sp>
        <p:nvSpPr>
          <p:cNvPr id="9" name="Content Placeholder 2">
            <a:extLst>
              <a:ext uri="{FF2B5EF4-FFF2-40B4-BE49-F238E27FC236}">
                <a16:creationId xmlns:a16="http://schemas.microsoft.com/office/drawing/2014/main" id="{3BC50A5E-FC1D-DDF7-9940-4702796135D7}"/>
              </a:ext>
            </a:extLst>
          </p:cNvPr>
          <p:cNvSpPr txBox="1">
            <a:spLocks/>
          </p:cNvSpPr>
          <p:nvPr/>
        </p:nvSpPr>
        <p:spPr>
          <a:xfrm>
            <a:off x="317078" y="1048549"/>
            <a:ext cx="7886700" cy="299244"/>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Understanding how AI patterns move from information support toward greater action and agency </a:t>
            </a:r>
          </a:p>
        </p:txBody>
      </p:sp>
      <p:graphicFrame>
        <p:nvGraphicFramePr>
          <p:cNvPr id="16" name="Table 15">
            <a:extLst>
              <a:ext uri="{FF2B5EF4-FFF2-40B4-BE49-F238E27FC236}">
                <a16:creationId xmlns:a16="http://schemas.microsoft.com/office/drawing/2014/main" id="{B71028C3-F317-98CD-36C2-CB0DBB1008BF}"/>
              </a:ext>
            </a:extLst>
          </p:cNvPr>
          <p:cNvGraphicFramePr>
            <a:graphicFrameLocks noGrp="1"/>
          </p:cNvGraphicFramePr>
          <p:nvPr/>
        </p:nvGraphicFramePr>
        <p:xfrm>
          <a:off x="3020786" y="1990566"/>
          <a:ext cx="3102428" cy="2084832"/>
        </p:xfrm>
        <a:graphic>
          <a:graphicData uri="http://schemas.openxmlformats.org/drawingml/2006/table">
            <a:tbl>
              <a:tblPr firstRow="1" bandRow="1">
                <a:tableStyleId>{2D5ABB26-0587-4C30-8999-92F81FD0307C}</a:tableStyleId>
              </a:tblPr>
              <a:tblGrid>
                <a:gridCol w="3102428">
                  <a:extLst>
                    <a:ext uri="{9D8B030D-6E8A-4147-A177-3AD203B41FA5}">
                      <a16:colId xmlns:a16="http://schemas.microsoft.com/office/drawing/2014/main" val="2240749041"/>
                    </a:ext>
                  </a:extLst>
                </a:gridCol>
              </a:tblGrid>
              <a:tr h="143313">
                <a:tc>
                  <a:txBody>
                    <a:bodyPr/>
                    <a:lstStyle/>
                    <a:p>
                      <a:pPr algn="ctr"/>
                      <a:r>
                        <a:rPr lang="en-US" sz="1400" b="1" dirty="0">
                          <a:solidFill>
                            <a:srgbClr val="021836"/>
                          </a:solidFill>
                        </a:rPr>
                        <a:t>Information Support</a:t>
                      </a:r>
                    </a:p>
                  </a:txBody>
                  <a:tcPr marT="9144" marB="9144"/>
                </a:tc>
                <a:extLst>
                  <a:ext uri="{0D108BD9-81ED-4DB2-BD59-A6C34878D82A}">
                    <a16:rowId xmlns:a16="http://schemas.microsoft.com/office/drawing/2014/main" val="2227360274"/>
                  </a:ext>
                </a:extLst>
              </a:tr>
              <a:tr h="143313">
                <a:tc>
                  <a:txBody>
                    <a:bodyPr/>
                    <a:lstStyle/>
                    <a:p>
                      <a:pPr algn="ctr"/>
                      <a:r>
                        <a:rPr lang="en-US" sz="1400" dirty="0"/>
                        <a:t>↓</a:t>
                      </a:r>
                    </a:p>
                  </a:txBody>
                  <a:tcPr marT="9144" marB="9144"/>
                </a:tc>
                <a:extLst>
                  <a:ext uri="{0D108BD9-81ED-4DB2-BD59-A6C34878D82A}">
                    <a16:rowId xmlns:a16="http://schemas.microsoft.com/office/drawing/2014/main" val="3140674848"/>
                  </a:ext>
                </a:extLst>
              </a:tr>
              <a:tr h="143313">
                <a:tc>
                  <a:txBody>
                    <a:bodyPr/>
                    <a:lstStyle/>
                    <a:p>
                      <a:pPr algn="ctr"/>
                      <a:r>
                        <a:rPr lang="en-US" sz="1400" b="1" dirty="0">
                          <a:solidFill>
                            <a:srgbClr val="021836"/>
                          </a:solidFill>
                        </a:rPr>
                        <a:t>Content Generation</a:t>
                      </a:r>
                    </a:p>
                  </a:txBody>
                  <a:tcPr marT="9144" marB="9144"/>
                </a:tc>
                <a:extLst>
                  <a:ext uri="{0D108BD9-81ED-4DB2-BD59-A6C34878D82A}">
                    <a16:rowId xmlns:a16="http://schemas.microsoft.com/office/drawing/2014/main" val="1232233979"/>
                  </a:ext>
                </a:extLst>
              </a:tr>
              <a:tr h="1433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rgbClr val="021836"/>
                          </a:solidFill>
                        </a:rPr>
                        <a:t>↓</a:t>
                      </a:r>
                    </a:p>
                  </a:txBody>
                  <a:tcPr marT="9144" marB="9144"/>
                </a:tc>
                <a:extLst>
                  <a:ext uri="{0D108BD9-81ED-4DB2-BD59-A6C34878D82A}">
                    <a16:rowId xmlns:a16="http://schemas.microsoft.com/office/drawing/2014/main" val="4196322439"/>
                  </a:ext>
                </a:extLst>
              </a:tr>
              <a:tr h="143313">
                <a:tc>
                  <a:txBody>
                    <a:bodyPr/>
                    <a:lstStyle/>
                    <a:p>
                      <a:pPr algn="ctr"/>
                      <a:r>
                        <a:rPr lang="en-US" sz="1400" b="1" dirty="0">
                          <a:solidFill>
                            <a:srgbClr val="021836"/>
                          </a:solidFill>
                        </a:rPr>
                        <a:t>Analysis/Decision Support</a:t>
                      </a:r>
                    </a:p>
                  </a:txBody>
                  <a:tcPr marT="9144" marB="9144"/>
                </a:tc>
                <a:extLst>
                  <a:ext uri="{0D108BD9-81ED-4DB2-BD59-A6C34878D82A}">
                    <a16:rowId xmlns:a16="http://schemas.microsoft.com/office/drawing/2014/main" val="2021164355"/>
                  </a:ext>
                </a:extLst>
              </a:tr>
              <a:tr h="1433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rgbClr val="021836"/>
                          </a:solidFill>
                        </a:rPr>
                        <a:t>↓</a:t>
                      </a:r>
                    </a:p>
                  </a:txBody>
                  <a:tcPr marT="9144" marB="9144"/>
                </a:tc>
                <a:extLst>
                  <a:ext uri="{0D108BD9-81ED-4DB2-BD59-A6C34878D82A}">
                    <a16:rowId xmlns:a16="http://schemas.microsoft.com/office/drawing/2014/main" val="3482703872"/>
                  </a:ext>
                </a:extLst>
              </a:tr>
              <a:tr h="1433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rgbClr val="021836"/>
                          </a:solidFill>
                        </a:rPr>
                        <a:t>Workflow Coordination</a:t>
                      </a:r>
                    </a:p>
                  </a:txBody>
                  <a:tcPr marT="9144" marB="9144"/>
                </a:tc>
                <a:extLst>
                  <a:ext uri="{0D108BD9-81ED-4DB2-BD59-A6C34878D82A}">
                    <a16:rowId xmlns:a16="http://schemas.microsoft.com/office/drawing/2014/main" val="3132301756"/>
                  </a:ext>
                </a:extLst>
              </a:tr>
              <a:tr h="1433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rgbClr val="021836"/>
                          </a:solidFill>
                        </a:rPr>
                        <a:t>↓</a:t>
                      </a:r>
                    </a:p>
                  </a:txBody>
                  <a:tcPr marT="9144" marB="9144"/>
                </a:tc>
                <a:extLst>
                  <a:ext uri="{0D108BD9-81ED-4DB2-BD59-A6C34878D82A}">
                    <a16:rowId xmlns:a16="http://schemas.microsoft.com/office/drawing/2014/main" val="2523848684"/>
                  </a:ext>
                </a:extLst>
              </a:tr>
              <a:tr h="1433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rgbClr val="021836"/>
                          </a:solidFill>
                        </a:rPr>
                        <a:t>Multi-step Action </a:t>
                      </a:r>
                    </a:p>
                  </a:txBody>
                  <a:tcPr marT="9144" marB="9144"/>
                </a:tc>
                <a:extLst>
                  <a:ext uri="{0D108BD9-81ED-4DB2-BD59-A6C34878D82A}">
                    <a16:rowId xmlns:a16="http://schemas.microsoft.com/office/drawing/2014/main" val="1271560361"/>
                  </a:ext>
                </a:extLst>
              </a:tr>
            </a:tbl>
          </a:graphicData>
        </a:graphic>
      </p:graphicFrame>
      <p:cxnSp>
        <p:nvCxnSpPr>
          <p:cNvPr id="17" name="Straight Connector 16">
            <a:extLst>
              <a:ext uri="{FF2B5EF4-FFF2-40B4-BE49-F238E27FC236}">
                <a16:creationId xmlns:a16="http://schemas.microsoft.com/office/drawing/2014/main" id="{58692116-A797-1CEF-CA10-954BF648E3BA}"/>
              </a:ext>
            </a:extLst>
          </p:cNvPr>
          <p:cNvCxnSpPr>
            <a:cxnSpLocks/>
          </p:cNvCxnSpPr>
          <p:nvPr/>
        </p:nvCxnSpPr>
        <p:spPr>
          <a:xfrm>
            <a:off x="171450" y="4905209"/>
            <a:ext cx="8801100" cy="0"/>
          </a:xfrm>
          <a:prstGeom prst="line">
            <a:avLst/>
          </a:prstGeom>
          <a:ln w="9525">
            <a:solidFill>
              <a:srgbClr val="0396A6"/>
            </a:solidFill>
          </a:ln>
        </p:spPr>
        <p:style>
          <a:lnRef idx="2">
            <a:schemeClr val="accent1"/>
          </a:lnRef>
          <a:fillRef idx="0">
            <a:schemeClr val="accent1"/>
          </a:fillRef>
          <a:effectRef idx="1">
            <a:schemeClr val="accent1"/>
          </a:effectRef>
          <a:fontRef idx="minor">
            <a:schemeClr val="tx1"/>
          </a:fontRef>
        </p:style>
      </p:cxnSp>
      <p:sp>
        <p:nvSpPr>
          <p:cNvPr id="18" name="Content Placeholder 2">
            <a:extLst>
              <a:ext uri="{FF2B5EF4-FFF2-40B4-BE49-F238E27FC236}">
                <a16:creationId xmlns:a16="http://schemas.microsoft.com/office/drawing/2014/main" id="{7DF8D91E-80B8-C08B-8878-DA348AAAE30D}"/>
              </a:ext>
            </a:extLst>
          </p:cNvPr>
          <p:cNvSpPr txBox="1">
            <a:spLocks/>
          </p:cNvSpPr>
          <p:nvPr/>
        </p:nvSpPr>
        <p:spPr>
          <a:xfrm>
            <a:off x="285750" y="5057612"/>
            <a:ext cx="7886700" cy="120167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b="1" dirty="0">
                <a:solidFill>
                  <a:srgbClr val="021836"/>
                </a:solidFill>
              </a:rPr>
              <a:t>Guiding Philosophy</a:t>
            </a:r>
          </a:p>
          <a:p>
            <a:pPr marL="0" indent="0">
              <a:lnSpc>
                <a:spcPct val="90000"/>
              </a:lnSpc>
              <a:spcBef>
                <a:spcPts val="600"/>
              </a:spcBef>
              <a:buFont typeface="Arial" panose="020B0604020202020204" pitchFamily="34" charset="0"/>
              <a:buNone/>
            </a:pPr>
            <a:r>
              <a:rPr lang="en-US" sz="1200" i="1" dirty="0"/>
              <a:t>Not all AI use cases carry the same complexity, risk, or governance requirements. </a:t>
            </a:r>
          </a:p>
          <a:p>
            <a:pPr marL="0" indent="0">
              <a:lnSpc>
                <a:spcPct val="90000"/>
              </a:lnSpc>
              <a:spcBef>
                <a:spcPts val="600"/>
              </a:spcBef>
              <a:buFont typeface="Arial" panose="020B0604020202020204" pitchFamily="34" charset="0"/>
              <a:buNone/>
            </a:pPr>
            <a:r>
              <a:rPr lang="en-US" sz="1200" i="1" dirty="0"/>
              <a:t>The capability pattern alone does not determine risk. Risk and complexity depend on context, consequence, data, authority, integration, reversibility, and operating conditions.</a:t>
            </a:r>
          </a:p>
        </p:txBody>
      </p:sp>
      <p:sp>
        <p:nvSpPr>
          <p:cNvPr id="4" name="TextBox 3">
            <a:extLst>
              <a:ext uri="{FF2B5EF4-FFF2-40B4-BE49-F238E27FC236}">
                <a16:creationId xmlns:a16="http://schemas.microsoft.com/office/drawing/2014/main" id="{33190B65-3465-8795-55B0-B2DBEFBD3B32}"/>
              </a:ext>
            </a:extLst>
          </p:cNvPr>
          <p:cNvSpPr txBox="1"/>
          <p:nvPr/>
        </p:nvSpPr>
        <p:spPr>
          <a:xfrm>
            <a:off x="4953000" y="64309"/>
            <a:ext cx="4084462" cy="276999"/>
          </a:xfrm>
          <a:prstGeom prst="rect">
            <a:avLst/>
          </a:prstGeom>
          <a:noFill/>
        </p:spPr>
        <p:txBody>
          <a:bodyPr wrap="square" rtlCol="0">
            <a:spAutoFit/>
          </a:bodyPr>
          <a:lstStyle/>
          <a:p>
            <a:pPr algn="r"/>
            <a:r>
              <a:rPr lang="en-US" sz="1200" dirty="0">
                <a:solidFill>
                  <a:schemeClr val="bg1">
                    <a:lumMod val="50000"/>
                  </a:schemeClr>
                </a:solidFill>
              </a:rPr>
              <a:t>AI Operational Readiness • AI Use Case Categories</a:t>
            </a:r>
          </a:p>
        </p:txBody>
      </p:sp>
    </p:spTree>
    <p:extLst>
      <p:ext uri="{BB962C8B-B14F-4D97-AF65-F5344CB8AC3E}">
        <p14:creationId xmlns:p14="http://schemas.microsoft.com/office/powerpoint/2010/main" val="16551514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B4DA7C-B000-1568-B381-A09C027740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6B42B7-1F74-FDD2-091B-94BD50B1B5A0}"/>
              </a:ext>
            </a:extLst>
          </p:cNvPr>
          <p:cNvSpPr>
            <a:spLocks noGrp="1"/>
          </p:cNvSpPr>
          <p:nvPr>
            <p:ph type="title"/>
          </p:nvPr>
        </p:nvSpPr>
        <p:spPr>
          <a:xfrm>
            <a:off x="273533" y="22230"/>
            <a:ext cx="8699017" cy="1325563"/>
          </a:xfrm>
        </p:spPr>
        <p:txBody>
          <a:bodyPr>
            <a:normAutofit/>
          </a:bodyPr>
          <a:lstStyle/>
          <a:p>
            <a:r>
              <a:rPr lang="en-US" sz="4000" dirty="0"/>
              <a:t>Relationship to AI Operational Readiness</a:t>
            </a:r>
          </a:p>
        </p:txBody>
      </p:sp>
      <p:sp>
        <p:nvSpPr>
          <p:cNvPr id="15" name="Content Placeholder 2">
            <a:extLst>
              <a:ext uri="{FF2B5EF4-FFF2-40B4-BE49-F238E27FC236}">
                <a16:creationId xmlns:a16="http://schemas.microsoft.com/office/drawing/2014/main" id="{10E82DF4-8401-43D0-7041-6F2B71E71E39}"/>
              </a:ext>
            </a:extLst>
          </p:cNvPr>
          <p:cNvSpPr txBox="1">
            <a:spLocks/>
          </p:cNvSpPr>
          <p:nvPr/>
        </p:nvSpPr>
        <p:spPr>
          <a:xfrm>
            <a:off x="317078" y="953127"/>
            <a:ext cx="7886700" cy="299244"/>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Understanding where use case classification fits within the methodology</a:t>
            </a:r>
          </a:p>
        </p:txBody>
      </p:sp>
      <p:graphicFrame>
        <p:nvGraphicFramePr>
          <p:cNvPr id="23" name="Table 22">
            <a:extLst>
              <a:ext uri="{FF2B5EF4-FFF2-40B4-BE49-F238E27FC236}">
                <a16:creationId xmlns:a16="http://schemas.microsoft.com/office/drawing/2014/main" id="{A3F14734-0FF3-AED1-285F-C6A752F74DF7}"/>
              </a:ext>
            </a:extLst>
          </p:cNvPr>
          <p:cNvGraphicFramePr>
            <a:graphicFrameLocks noGrp="1"/>
          </p:cNvGraphicFramePr>
          <p:nvPr/>
        </p:nvGraphicFramePr>
        <p:xfrm>
          <a:off x="2680608" y="1600717"/>
          <a:ext cx="3782785" cy="3474720"/>
        </p:xfrm>
        <a:graphic>
          <a:graphicData uri="http://schemas.openxmlformats.org/drawingml/2006/table">
            <a:tbl>
              <a:tblPr firstRow="1" bandRow="1">
                <a:tableStyleId>{2D5ABB26-0587-4C30-8999-92F81FD0307C}</a:tableStyleId>
              </a:tblPr>
              <a:tblGrid>
                <a:gridCol w="3782785">
                  <a:extLst>
                    <a:ext uri="{9D8B030D-6E8A-4147-A177-3AD203B41FA5}">
                      <a16:colId xmlns:a16="http://schemas.microsoft.com/office/drawing/2014/main" val="2240749041"/>
                    </a:ext>
                  </a:extLst>
                </a:gridCol>
              </a:tblGrid>
              <a:tr h="228413">
                <a:tc>
                  <a:txBody>
                    <a:bodyPr/>
                    <a:lstStyle/>
                    <a:p>
                      <a:pPr algn="ctr"/>
                      <a:r>
                        <a:rPr lang="en-US" sz="1400" b="1" dirty="0">
                          <a:solidFill>
                            <a:srgbClr val="021836"/>
                          </a:solidFill>
                        </a:rPr>
                        <a:t>Discover</a:t>
                      </a:r>
                    </a:p>
                  </a:txBody>
                  <a:tcPr marT="9144" marB="9144"/>
                </a:tc>
                <a:extLst>
                  <a:ext uri="{0D108BD9-81ED-4DB2-BD59-A6C34878D82A}">
                    <a16:rowId xmlns:a16="http://schemas.microsoft.com/office/drawing/2014/main" val="2227360274"/>
                  </a:ext>
                </a:extLst>
              </a:tr>
              <a:tr h="177176">
                <a:tc>
                  <a:txBody>
                    <a:bodyPr/>
                    <a:lstStyle/>
                    <a:p>
                      <a:pPr algn="ctr"/>
                      <a:r>
                        <a:rPr lang="en-US" sz="1400" dirty="0"/>
                        <a:t>↓</a:t>
                      </a:r>
                    </a:p>
                  </a:txBody>
                  <a:tcPr marT="9144" marB="9144"/>
                </a:tc>
                <a:extLst>
                  <a:ext uri="{0D108BD9-81ED-4DB2-BD59-A6C34878D82A}">
                    <a16:rowId xmlns:a16="http://schemas.microsoft.com/office/drawing/2014/main" val="3140674848"/>
                  </a:ext>
                </a:extLst>
              </a:tr>
              <a:tr h="228413">
                <a:tc>
                  <a:txBody>
                    <a:bodyPr/>
                    <a:lstStyle/>
                    <a:p>
                      <a:pPr algn="ctr"/>
                      <a:r>
                        <a:rPr lang="en-US" sz="1400" b="1" dirty="0">
                          <a:solidFill>
                            <a:srgbClr val="021836"/>
                          </a:solidFill>
                        </a:rPr>
                        <a:t>Prioritize: </a:t>
                      </a:r>
                      <a:r>
                        <a:rPr lang="en-US" sz="1400" b="0" dirty="0">
                          <a:solidFill>
                            <a:srgbClr val="021836"/>
                          </a:solidFill>
                        </a:rPr>
                        <a:t>Opportunity Matrix</a:t>
                      </a:r>
                    </a:p>
                  </a:txBody>
                  <a:tcPr marT="9144" marB="9144"/>
                </a:tc>
                <a:extLst>
                  <a:ext uri="{0D108BD9-81ED-4DB2-BD59-A6C34878D82A}">
                    <a16:rowId xmlns:a16="http://schemas.microsoft.com/office/drawing/2014/main" val="1232233979"/>
                  </a:ext>
                </a:extLst>
              </a:tr>
              <a:tr h="17717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rgbClr val="021836"/>
                          </a:solidFill>
                        </a:rPr>
                        <a:t>↓</a:t>
                      </a:r>
                    </a:p>
                  </a:txBody>
                  <a:tcPr marT="9144" marB="9144"/>
                </a:tc>
                <a:extLst>
                  <a:ext uri="{0D108BD9-81ED-4DB2-BD59-A6C34878D82A}">
                    <a16:rowId xmlns:a16="http://schemas.microsoft.com/office/drawing/2014/main" val="4196322439"/>
                  </a:ext>
                </a:extLst>
              </a:tr>
              <a:tr h="228413">
                <a:tc>
                  <a:txBody>
                    <a:bodyPr/>
                    <a:lstStyle/>
                    <a:p>
                      <a:pPr algn="ctr"/>
                      <a:r>
                        <a:rPr lang="en-US" sz="1400" b="1" dirty="0">
                          <a:solidFill>
                            <a:srgbClr val="021836"/>
                          </a:solidFill>
                        </a:rPr>
                        <a:t>Classify: </a:t>
                      </a:r>
                      <a:r>
                        <a:rPr lang="en-US" sz="1400" b="0" dirty="0">
                          <a:solidFill>
                            <a:srgbClr val="021836"/>
                          </a:solidFill>
                        </a:rPr>
                        <a:t>Use Case Categories</a:t>
                      </a:r>
                    </a:p>
                  </a:txBody>
                  <a:tcPr marT="9144" marB="9144"/>
                </a:tc>
                <a:extLst>
                  <a:ext uri="{0D108BD9-81ED-4DB2-BD59-A6C34878D82A}">
                    <a16:rowId xmlns:a16="http://schemas.microsoft.com/office/drawing/2014/main" val="2021164355"/>
                  </a:ext>
                </a:extLst>
              </a:tr>
              <a:tr h="17717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rgbClr val="021836"/>
                          </a:solidFill>
                        </a:rPr>
                        <a:t>↓</a:t>
                      </a:r>
                    </a:p>
                  </a:txBody>
                  <a:tcPr marT="9144" marB="9144"/>
                </a:tc>
                <a:extLst>
                  <a:ext uri="{0D108BD9-81ED-4DB2-BD59-A6C34878D82A}">
                    <a16:rowId xmlns:a16="http://schemas.microsoft.com/office/drawing/2014/main" val="3482703872"/>
                  </a:ext>
                </a:extLst>
              </a:tr>
              <a:tr h="2284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rgbClr val="021836"/>
                          </a:solidFill>
                        </a:rPr>
                        <a:t>Design: </a:t>
                      </a:r>
                      <a:r>
                        <a:rPr lang="en-US" sz="1400" b="0" dirty="0">
                          <a:solidFill>
                            <a:srgbClr val="021836"/>
                          </a:solidFill>
                        </a:rPr>
                        <a:t>Current-State → Future-State Design</a:t>
                      </a:r>
                    </a:p>
                  </a:txBody>
                  <a:tcPr marT="9144" marB="9144"/>
                </a:tc>
                <a:extLst>
                  <a:ext uri="{0D108BD9-81ED-4DB2-BD59-A6C34878D82A}">
                    <a16:rowId xmlns:a16="http://schemas.microsoft.com/office/drawing/2014/main" val="3132301756"/>
                  </a:ext>
                </a:extLst>
              </a:tr>
              <a:tr h="17717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rgbClr val="021836"/>
                          </a:solidFill>
                        </a:rPr>
                        <a:t>↓</a:t>
                      </a:r>
                    </a:p>
                  </a:txBody>
                  <a:tcPr marT="9144" marB="9144"/>
                </a:tc>
                <a:extLst>
                  <a:ext uri="{0D108BD9-81ED-4DB2-BD59-A6C34878D82A}">
                    <a16:rowId xmlns:a16="http://schemas.microsoft.com/office/drawing/2014/main" val="2523848684"/>
                  </a:ext>
                </a:extLst>
              </a:tr>
              <a:tr h="2284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rgbClr val="021836"/>
                          </a:solidFill>
                        </a:rPr>
                        <a:t>Govern: </a:t>
                      </a:r>
                      <a:r>
                        <a:rPr lang="en-US" sz="1400" b="0" dirty="0">
                          <a:solidFill>
                            <a:srgbClr val="021836"/>
                          </a:solidFill>
                        </a:rPr>
                        <a:t>Decision Rights</a:t>
                      </a:r>
                    </a:p>
                  </a:txBody>
                  <a:tcPr marT="9144" marB="9144"/>
                </a:tc>
                <a:extLst>
                  <a:ext uri="{0D108BD9-81ED-4DB2-BD59-A6C34878D82A}">
                    <a16:rowId xmlns:a16="http://schemas.microsoft.com/office/drawing/2014/main" val="1271560361"/>
                  </a:ext>
                </a:extLst>
              </a:tr>
              <a:tr h="17717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rgbClr val="021836"/>
                          </a:solidFill>
                        </a:rPr>
                        <a:t>↓</a:t>
                      </a:r>
                    </a:p>
                  </a:txBody>
                  <a:tcPr marT="9144" marB="9144"/>
                </a:tc>
                <a:extLst>
                  <a:ext uri="{0D108BD9-81ED-4DB2-BD59-A6C34878D82A}">
                    <a16:rowId xmlns:a16="http://schemas.microsoft.com/office/drawing/2014/main" val="3840834462"/>
                  </a:ext>
                </a:extLst>
              </a:tr>
              <a:tr h="2284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rgbClr val="021836"/>
                          </a:solidFill>
                        </a:rPr>
                        <a:t>Evidence</a:t>
                      </a:r>
                    </a:p>
                  </a:txBody>
                  <a:tcPr marT="9144" marB="9144"/>
                </a:tc>
                <a:extLst>
                  <a:ext uri="{0D108BD9-81ED-4DB2-BD59-A6C34878D82A}">
                    <a16:rowId xmlns:a16="http://schemas.microsoft.com/office/drawing/2014/main" val="2230365561"/>
                  </a:ext>
                </a:extLst>
              </a:tr>
              <a:tr h="2284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rgbClr val="021836"/>
                          </a:solidFill>
                        </a:rPr>
                        <a:t>↓</a:t>
                      </a:r>
                    </a:p>
                  </a:txBody>
                  <a:tcPr marT="9144" marB="9144"/>
                </a:tc>
                <a:extLst>
                  <a:ext uri="{0D108BD9-81ED-4DB2-BD59-A6C34878D82A}">
                    <a16:rowId xmlns:a16="http://schemas.microsoft.com/office/drawing/2014/main" val="2039239282"/>
                  </a:ext>
                </a:extLst>
              </a:tr>
              <a:tr h="2284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rgbClr val="021836"/>
                          </a:solidFill>
                        </a:rPr>
                        <a:t>Prepare: </a:t>
                      </a:r>
                      <a:r>
                        <a:rPr lang="en-US" sz="1400" b="0" dirty="0">
                          <a:solidFill>
                            <a:srgbClr val="021836"/>
                          </a:solidFill>
                        </a:rPr>
                        <a:t>Pilot</a:t>
                      </a:r>
                    </a:p>
                  </a:txBody>
                  <a:tcPr marT="9144" marB="9144"/>
                </a:tc>
                <a:extLst>
                  <a:ext uri="{0D108BD9-81ED-4DB2-BD59-A6C34878D82A}">
                    <a16:rowId xmlns:a16="http://schemas.microsoft.com/office/drawing/2014/main" val="3439118804"/>
                  </a:ext>
                </a:extLst>
              </a:tr>
              <a:tr h="2284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rgbClr val="021836"/>
                          </a:solidFill>
                        </a:rPr>
                        <a:t>↓</a:t>
                      </a:r>
                    </a:p>
                  </a:txBody>
                  <a:tcPr marT="9144" marB="9144"/>
                </a:tc>
                <a:extLst>
                  <a:ext uri="{0D108BD9-81ED-4DB2-BD59-A6C34878D82A}">
                    <a16:rowId xmlns:a16="http://schemas.microsoft.com/office/drawing/2014/main" val="2939719374"/>
                  </a:ext>
                </a:extLst>
              </a:tr>
              <a:tr h="2284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rgbClr val="021836"/>
                          </a:solidFill>
                        </a:rPr>
                        <a:t>Operate</a:t>
                      </a:r>
                    </a:p>
                  </a:txBody>
                  <a:tcPr marT="9144" marB="9144"/>
                </a:tc>
                <a:extLst>
                  <a:ext uri="{0D108BD9-81ED-4DB2-BD59-A6C34878D82A}">
                    <a16:rowId xmlns:a16="http://schemas.microsoft.com/office/drawing/2014/main" val="1134106042"/>
                  </a:ext>
                </a:extLst>
              </a:tr>
            </a:tbl>
          </a:graphicData>
        </a:graphic>
      </p:graphicFrame>
      <p:cxnSp>
        <p:nvCxnSpPr>
          <p:cNvPr id="24" name="Straight Connector 23">
            <a:extLst>
              <a:ext uri="{FF2B5EF4-FFF2-40B4-BE49-F238E27FC236}">
                <a16:creationId xmlns:a16="http://schemas.microsoft.com/office/drawing/2014/main" id="{2677D5EA-26DE-D36D-6251-F0A38EDD2E71}"/>
              </a:ext>
            </a:extLst>
          </p:cNvPr>
          <p:cNvCxnSpPr>
            <a:cxnSpLocks/>
          </p:cNvCxnSpPr>
          <p:nvPr/>
        </p:nvCxnSpPr>
        <p:spPr>
          <a:xfrm>
            <a:off x="171450" y="5712199"/>
            <a:ext cx="8801100" cy="0"/>
          </a:xfrm>
          <a:prstGeom prst="line">
            <a:avLst/>
          </a:prstGeom>
          <a:ln w="9525">
            <a:solidFill>
              <a:srgbClr val="0396A6"/>
            </a:solidFill>
          </a:ln>
        </p:spPr>
        <p:style>
          <a:lnRef idx="2">
            <a:schemeClr val="accent1"/>
          </a:lnRef>
          <a:fillRef idx="0">
            <a:schemeClr val="accent1"/>
          </a:fillRef>
          <a:effectRef idx="1">
            <a:schemeClr val="accent1"/>
          </a:effectRef>
          <a:fontRef idx="minor">
            <a:schemeClr val="tx1"/>
          </a:fontRef>
        </p:style>
      </p:cxnSp>
      <p:sp>
        <p:nvSpPr>
          <p:cNvPr id="25" name="Content Placeholder 2">
            <a:extLst>
              <a:ext uri="{FF2B5EF4-FFF2-40B4-BE49-F238E27FC236}">
                <a16:creationId xmlns:a16="http://schemas.microsoft.com/office/drawing/2014/main" id="{2FF58347-CF7A-AFCF-E9AF-4E210A93504B}"/>
              </a:ext>
            </a:extLst>
          </p:cNvPr>
          <p:cNvSpPr txBox="1">
            <a:spLocks/>
          </p:cNvSpPr>
          <p:nvPr/>
        </p:nvSpPr>
        <p:spPr>
          <a:xfrm>
            <a:off x="285750" y="5864603"/>
            <a:ext cx="7886700" cy="84726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b="1" dirty="0">
                <a:solidFill>
                  <a:srgbClr val="021836"/>
                </a:solidFill>
              </a:rPr>
              <a:t>Guiding Philosophy</a:t>
            </a:r>
          </a:p>
          <a:p>
            <a:pPr marL="0" indent="0">
              <a:lnSpc>
                <a:spcPct val="110000"/>
              </a:lnSpc>
              <a:spcBef>
                <a:spcPts val="600"/>
              </a:spcBef>
              <a:buFont typeface="Arial" panose="020B0604020202020204" pitchFamily="34" charset="0"/>
              <a:buNone/>
            </a:pPr>
            <a:r>
              <a:rPr lang="en-US" sz="1200" i="1" dirty="0"/>
              <a:t>AI use case categories help translate business opportunities into repeatable design patterns. </a:t>
            </a:r>
            <a:endParaRPr lang="en-US" sz="1600" i="1" dirty="0"/>
          </a:p>
        </p:txBody>
      </p:sp>
      <p:sp>
        <p:nvSpPr>
          <p:cNvPr id="4" name="TextBox 3">
            <a:extLst>
              <a:ext uri="{FF2B5EF4-FFF2-40B4-BE49-F238E27FC236}">
                <a16:creationId xmlns:a16="http://schemas.microsoft.com/office/drawing/2014/main" id="{49EFA6C4-53A9-E17A-9CDF-BF65B89FA837}"/>
              </a:ext>
            </a:extLst>
          </p:cNvPr>
          <p:cNvSpPr txBox="1"/>
          <p:nvPr/>
        </p:nvSpPr>
        <p:spPr>
          <a:xfrm>
            <a:off x="4953000" y="64309"/>
            <a:ext cx="4084462" cy="276999"/>
          </a:xfrm>
          <a:prstGeom prst="rect">
            <a:avLst/>
          </a:prstGeom>
          <a:noFill/>
        </p:spPr>
        <p:txBody>
          <a:bodyPr wrap="square" rtlCol="0">
            <a:spAutoFit/>
          </a:bodyPr>
          <a:lstStyle/>
          <a:p>
            <a:pPr algn="r"/>
            <a:r>
              <a:rPr lang="en-US" sz="1200" dirty="0">
                <a:solidFill>
                  <a:schemeClr val="bg1">
                    <a:lumMod val="50000"/>
                  </a:schemeClr>
                </a:solidFill>
              </a:rPr>
              <a:t>AI Operational Readiness • AI Use Case Categories</a:t>
            </a:r>
          </a:p>
        </p:txBody>
      </p:sp>
    </p:spTree>
    <p:extLst>
      <p:ext uri="{BB962C8B-B14F-4D97-AF65-F5344CB8AC3E}">
        <p14:creationId xmlns:p14="http://schemas.microsoft.com/office/powerpoint/2010/main" val="6680714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BC152-D77E-272F-50F0-DA8BC4AE31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201440-84C8-24CD-E259-2451F8074DD4}"/>
              </a:ext>
            </a:extLst>
          </p:cNvPr>
          <p:cNvSpPr>
            <a:spLocks noGrp="1"/>
          </p:cNvSpPr>
          <p:nvPr>
            <p:ph type="title"/>
          </p:nvPr>
        </p:nvSpPr>
        <p:spPr>
          <a:xfrm>
            <a:off x="273534" y="22230"/>
            <a:ext cx="8553388" cy="1325563"/>
          </a:xfrm>
        </p:spPr>
        <p:txBody>
          <a:bodyPr/>
          <a:lstStyle/>
          <a:p>
            <a:r>
              <a:rPr lang="en-US" dirty="0"/>
              <a:t>Business Problem → AI Pattern</a:t>
            </a:r>
          </a:p>
        </p:txBody>
      </p:sp>
      <p:sp>
        <p:nvSpPr>
          <p:cNvPr id="9" name="Content Placeholder 2">
            <a:extLst>
              <a:ext uri="{FF2B5EF4-FFF2-40B4-BE49-F238E27FC236}">
                <a16:creationId xmlns:a16="http://schemas.microsoft.com/office/drawing/2014/main" id="{E275B4CB-735A-C66D-9392-D29DD89C603E}"/>
              </a:ext>
            </a:extLst>
          </p:cNvPr>
          <p:cNvSpPr txBox="1">
            <a:spLocks/>
          </p:cNvSpPr>
          <p:nvPr/>
        </p:nvSpPr>
        <p:spPr>
          <a:xfrm>
            <a:off x="317078" y="953127"/>
            <a:ext cx="7886700" cy="299244"/>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lang="en-US" sz="1200" i="1" dirty="0">
                <a:solidFill>
                  <a:prstClr val="white">
                    <a:lumMod val="50000"/>
                  </a:prstClr>
                </a:solidFill>
                <a:latin typeface="Aptos" panose="02110004020202020204"/>
              </a:rPr>
              <a:t>Translating business language into AI capabilities</a:t>
            </a:r>
            <a:endPar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endParaRPr>
          </a:p>
        </p:txBody>
      </p:sp>
      <p:graphicFrame>
        <p:nvGraphicFramePr>
          <p:cNvPr id="17" name="Table 16">
            <a:extLst>
              <a:ext uri="{FF2B5EF4-FFF2-40B4-BE49-F238E27FC236}">
                <a16:creationId xmlns:a16="http://schemas.microsoft.com/office/drawing/2014/main" id="{1281DB43-8955-DCDA-42C5-8F6D4E80E06B}"/>
              </a:ext>
            </a:extLst>
          </p:cNvPr>
          <p:cNvGraphicFramePr>
            <a:graphicFrameLocks noGrp="1"/>
          </p:cNvGraphicFramePr>
          <p:nvPr/>
        </p:nvGraphicFramePr>
        <p:xfrm>
          <a:off x="317078" y="1675145"/>
          <a:ext cx="4548835" cy="3676080"/>
        </p:xfrm>
        <a:graphic>
          <a:graphicData uri="http://schemas.openxmlformats.org/drawingml/2006/table">
            <a:tbl>
              <a:tblPr firstRow="1" bandRow="1">
                <a:tableStyleId>{2D5ABB26-0587-4C30-8999-92F81FD0307C}</a:tableStyleId>
              </a:tblPr>
              <a:tblGrid>
                <a:gridCol w="1903608">
                  <a:extLst>
                    <a:ext uri="{9D8B030D-6E8A-4147-A177-3AD203B41FA5}">
                      <a16:colId xmlns:a16="http://schemas.microsoft.com/office/drawing/2014/main" val="2470210094"/>
                    </a:ext>
                  </a:extLst>
                </a:gridCol>
                <a:gridCol w="2645227">
                  <a:extLst>
                    <a:ext uri="{9D8B030D-6E8A-4147-A177-3AD203B41FA5}">
                      <a16:colId xmlns:a16="http://schemas.microsoft.com/office/drawing/2014/main" val="72878264"/>
                    </a:ext>
                  </a:extLst>
                </a:gridCol>
              </a:tblGrid>
              <a:tr h="406932">
                <a:tc>
                  <a:txBody>
                    <a:bodyPr/>
                    <a:lstStyle/>
                    <a:p>
                      <a:r>
                        <a:rPr lang="en-US" sz="1400" b="1" dirty="0">
                          <a:solidFill>
                            <a:srgbClr val="021836"/>
                          </a:solidFill>
                        </a:rPr>
                        <a:t>Business Problem</a:t>
                      </a:r>
                    </a:p>
                  </a:txBody>
                  <a:tcPr marT="27432" marB="27432">
                    <a:lnR w="12700" cap="flat" cmpd="sng" algn="ctr">
                      <a:solidFill>
                        <a:schemeClr val="bg1">
                          <a:lumMod val="75000"/>
                        </a:schemeClr>
                      </a:solidFill>
                      <a:prstDash val="solid"/>
                      <a:round/>
                      <a:headEnd type="none" w="med" len="med"/>
                      <a:tailEnd type="none" w="med" len="med"/>
                    </a:lnR>
                    <a:lnB w="12700" cap="flat" cmpd="sng" algn="ctr">
                      <a:solidFill>
                        <a:srgbClr val="0396A6"/>
                      </a:solidFill>
                      <a:prstDash val="solid"/>
                      <a:round/>
                      <a:headEnd type="none" w="med" len="med"/>
                      <a:tailEnd type="none" w="med" len="med"/>
                    </a:lnB>
                  </a:tcPr>
                </a:tc>
                <a:tc>
                  <a:txBody>
                    <a:bodyPr/>
                    <a:lstStyle/>
                    <a:p>
                      <a:r>
                        <a:rPr lang="en-US" sz="1400" b="1" dirty="0">
                          <a:solidFill>
                            <a:srgbClr val="021836"/>
                          </a:solidFill>
                        </a:rPr>
                        <a:t>AI Pattern</a:t>
                      </a:r>
                    </a:p>
                  </a:txBody>
                  <a:tcPr marT="27432" marB="27432">
                    <a:lnL w="12700" cap="flat" cmpd="sng" algn="ctr">
                      <a:solidFill>
                        <a:schemeClr val="bg1">
                          <a:lumMod val="75000"/>
                        </a:schemeClr>
                      </a:solidFill>
                      <a:prstDash val="solid"/>
                      <a:round/>
                      <a:headEnd type="none" w="med" len="med"/>
                      <a:tailEnd type="none" w="med" len="med"/>
                    </a:lnL>
                    <a:lnB w="12700" cap="flat" cmpd="sng" algn="ctr">
                      <a:solidFill>
                        <a:srgbClr val="0396A6"/>
                      </a:solidFill>
                      <a:prstDash val="solid"/>
                      <a:round/>
                      <a:headEnd type="none" w="med" len="med"/>
                      <a:tailEnd type="none" w="med" len="med"/>
                    </a:lnB>
                  </a:tcPr>
                </a:tc>
                <a:extLst>
                  <a:ext uri="{0D108BD9-81ED-4DB2-BD59-A6C34878D82A}">
                    <a16:rowId xmlns:a16="http://schemas.microsoft.com/office/drawing/2014/main" val="2061593276"/>
                  </a:ext>
                </a:extLst>
              </a:tr>
              <a:tr h="406932">
                <a:tc>
                  <a:txBody>
                    <a:bodyPr/>
                    <a:lstStyle/>
                    <a:p>
                      <a:pPr>
                        <a:buClr>
                          <a:schemeClr val="bg1">
                            <a:lumMod val="50000"/>
                          </a:schemeClr>
                        </a:buClr>
                      </a:pPr>
                      <a:r>
                        <a:rPr lang="en-US" sz="1200" dirty="0"/>
                        <a:t>Searching for policies</a:t>
                      </a:r>
                    </a:p>
                  </a:txBody>
                  <a:tcPr marT="27432" marB="27432">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200" dirty="0"/>
                        <a:t>Search</a:t>
                      </a:r>
                    </a:p>
                  </a:txBody>
                  <a:tcPr marT="27432" marB="27432">
                    <a:lnL w="12700" cap="flat" cmpd="sng" algn="ctr">
                      <a:solidFill>
                        <a:schemeClr val="bg1">
                          <a:lumMod val="75000"/>
                        </a:schemeClr>
                      </a:solidFill>
                      <a:prstDash val="solid"/>
                      <a:round/>
                      <a:headEnd type="none" w="med" len="med"/>
                      <a:tailEnd type="none" w="med" len="med"/>
                    </a:lnL>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493753442"/>
                  </a:ext>
                </a:extLst>
              </a:tr>
              <a:tr h="406932">
                <a:tc>
                  <a:txBody>
                    <a:bodyPr/>
                    <a:lstStyle/>
                    <a:p>
                      <a:pPr>
                        <a:buClr>
                          <a:schemeClr val="bg1">
                            <a:lumMod val="50000"/>
                          </a:schemeClr>
                        </a:buClr>
                      </a:pPr>
                      <a:r>
                        <a:rPr lang="en-US" sz="1200" b="0" dirty="0">
                          <a:solidFill>
                            <a:srgbClr val="021836"/>
                          </a:solidFill>
                        </a:rPr>
                        <a:t>Writing summaries</a:t>
                      </a:r>
                    </a:p>
                  </a:txBody>
                  <a:tcPr marT="27432" marB="27432">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200" dirty="0"/>
                        <a:t>Summarization</a:t>
                      </a:r>
                    </a:p>
                  </a:txBody>
                  <a:tcPr marT="27432" marB="27432">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23325965"/>
                  </a:ext>
                </a:extLst>
              </a:tr>
              <a:tr h="406932">
                <a:tc>
                  <a:txBody>
                    <a:bodyPr/>
                    <a:lstStyle/>
                    <a:p>
                      <a:pPr>
                        <a:buClr>
                          <a:schemeClr val="bg1">
                            <a:lumMod val="50000"/>
                          </a:schemeClr>
                        </a:buClr>
                      </a:pPr>
                      <a:r>
                        <a:rPr lang="en-US" sz="1200" b="0" dirty="0">
                          <a:solidFill>
                            <a:srgbClr val="021836"/>
                          </a:solidFill>
                        </a:rPr>
                        <a:t>Extracting contract terms</a:t>
                      </a:r>
                    </a:p>
                  </a:txBody>
                  <a:tcPr marT="27432" marB="27432">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200" dirty="0"/>
                        <a:t>Extraction</a:t>
                      </a:r>
                    </a:p>
                  </a:txBody>
                  <a:tcPr marT="27432" marB="27432">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845834834"/>
                  </a:ext>
                </a:extLst>
              </a:tr>
              <a:tr h="406932">
                <a:tc>
                  <a:txBody>
                    <a:bodyPr/>
                    <a:lstStyle/>
                    <a:p>
                      <a:pPr>
                        <a:buClr>
                          <a:schemeClr val="bg1">
                            <a:lumMod val="50000"/>
                          </a:schemeClr>
                        </a:buClr>
                      </a:pPr>
                      <a:r>
                        <a:rPr lang="en-US" sz="1200" b="0" dirty="0">
                          <a:solidFill>
                            <a:srgbClr val="021836"/>
                          </a:solidFill>
                        </a:rPr>
                        <a:t>Reviewing contracts for issues</a:t>
                      </a:r>
                    </a:p>
                  </a:txBody>
                  <a:tcPr marT="27432" marB="27432">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200" dirty="0"/>
                        <a:t>Extraction + </a:t>
                      </a:r>
                      <a:r>
                        <a:rPr lang="en-US" sz="1200"/>
                        <a:t>Risk Detection</a:t>
                      </a:r>
                      <a:endParaRPr lang="en-US" sz="1200" dirty="0"/>
                    </a:p>
                  </a:txBody>
                  <a:tcPr marT="27432" marB="27432">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075101046"/>
                  </a:ext>
                </a:extLst>
              </a:tr>
              <a:tr h="406932">
                <a:tc>
                  <a:txBody>
                    <a:bodyPr/>
                    <a:lstStyle/>
                    <a:p>
                      <a:pPr>
                        <a:buClr>
                          <a:schemeClr val="bg1">
                            <a:lumMod val="50000"/>
                          </a:schemeClr>
                        </a:buClr>
                      </a:pPr>
                      <a:r>
                        <a:rPr lang="en-US" sz="1200" b="0" dirty="0">
                          <a:solidFill>
                            <a:srgbClr val="021836"/>
                          </a:solidFill>
                        </a:rPr>
                        <a:t>Drafting emails</a:t>
                      </a:r>
                    </a:p>
                  </a:txBody>
                  <a:tcPr marT="27432" marB="27432">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200" dirty="0"/>
                        <a:t>Drafting</a:t>
                      </a:r>
                    </a:p>
                  </a:txBody>
                  <a:tcPr marT="27432" marB="27432">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136224503"/>
                  </a:ext>
                </a:extLst>
              </a:tr>
              <a:tr h="406932">
                <a:tc>
                  <a:txBody>
                    <a:bodyPr/>
                    <a:lstStyle/>
                    <a:p>
                      <a:pPr>
                        <a:buClr>
                          <a:schemeClr val="bg1">
                            <a:lumMod val="50000"/>
                          </a:schemeClr>
                        </a:buClr>
                      </a:pPr>
                      <a:r>
                        <a:rPr lang="en-US" sz="1200" b="0" dirty="0">
                          <a:solidFill>
                            <a:srgbClr val="021836"/>
                          </a:solidFill>
                        </a:rPr>
                        <a:t>Routing tickets</a:t>
                      </a:r>
                    </a:p>
                  </a:txBody>
                  <a:tcPr marT="27432" marB="27432">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200" dirty="0"/>
                        <a:t>Classification + Routing</a:t>
                      </a:r>
                    </a:p>
                  </a:txBody>
                  <a:tcPr marT="27432" marB="27432">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853920732"/>
                  </a:ext>
                </a:extLst>
              </a:tr>
              <a:tr h="406932">
                <a:tc>
                  <a:txBody>
                    <a:bodyPr/>
                    <a:lstStyle/>
                    <a:p>
                      <a:pPr>
                        <a:buClr>
                          <a:schemeClr val="bg1">
                            <a:lumMod val="50000"/>
                          </a:schemeClr>
                        </a:buClr>
                      </a:pPr>
                      <a:r>
                        <a:rPr lang="en-US" sz="1200" b="0" dirty="0">
                          <a:solidFill>
                            <a:srgbClr val="021836"/>
                          </a:solidFill>
                        </a:rPr>
                        <a:t>Identifying anomalies</a:t>
                      </a:r>
                    </a:p>
                  </a:txBody>
                  <a:tcPr marT="27432" marB="27432">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200" dirty="0"/>
                        <a:t>Pattern Detection</a:t>
                      </a:r>
                    </a:p>
                  </a:txBody>
                  <a:tcPr marT="27432" marB="27432">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012176639"/>
                  </a:ext>
                </a:extLst>
              </a:tr>
              <a:tr h="406932">
                <a:tc>
                  <a:txBody>
                    <a:bodyPr/>
                    <a:lstStyle/>
                    <a:p>
                      <a:pPr>
                        <a:buClr>
                          <a:schemeClr val="bg1">
                            <a:lumMod val="50000"/>
                          </a:schemeClr>
                        </a:buClr>
                      </a:pPr>
                      <a:r>
                        <a:rPr lang="en-US" sz="1200" b="0" dirty="0">
                          <a:solidFill>
                            <a:srgbClr val="021836"/>
                          </a:solidFill>
                        </a:rPr>
                        <a:t>Multi-step approvals</a:t>
                      </a:r>
                    </a:p>
                  </a:txBody>
                  <a:tcPr marT="27432" marB="27432">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200" dirty="0"/>
                        <a:t>Agentic Workflow</a:t>
                      </a:r>
                    </a:p>
                  </a:txBody>
                  <a:tcPr marT="27432" marB="27432">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567521445"/>
                  </a:ext>
                </a:extLst>
              </a:tr>
            </a:tbl>
          </a:graphicData>
        </a:graphic>
      </p:graphicFrame>
      <p:sp>
        <p:nvSpPr>
          <p:cNvPr id="5" name="Content Placeholder 2">
            <a:extLst>
              <a:ext uri="{FF2B5EF4-FFF2-40B4-BE49-F238E27FC236}">
                <a16:creationId xmlns:a16="http://schemas.microsoft.com/office/drawing/2014/main" id="{108655BE-1582-C56C-76B1-E45A575A9745}"/>
              </a:ext>
            </a:extLst>
          </p:cNvPr>
          <p:cNvSpPr txBox="1">
            <a:spLocks/>
          </p:cNvSpPr>
          <p:nvPr/>
        </p:nvSpPr>
        <p:spPr>
          <a:xfrm>
            <a:off x="5053724" y="1675145"/>
            <a:ext cx="3857625" cy="451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Classification Record:</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200" b="1" dirty="0">
                <a:solidFill>
                  <a:srgbClr val="021836"/>
                </a:solidFill>
                <a:latin typeface="Aptos" panose="02110004020202020204"/>
              </a:rPr>
              <a:t>Opportunity </a:t>
            </a:r>
            <a:r>
              <a:rPr lang="en-US" sz="1200" dirty="0">
                <a:solidFill>
                  <a:srgbClr val="021836"/>
                </a:solidFill>
                <a:latin typeface="Aptos" panose="02110004020202020204"/>
              </a:rPr>
              <a:t>– What prioritized opportunity are we classifying?</a:t>
            </a:r>
            <a:endParaRPr lang="en-US" sz="1200" b="1" dirty="0">
              <a:solidFill>
                <a:srgbClr val="021836"/>
              </a:solidFill>
              <a:latin typeface="Aptos" panose="02110004020202020204"/>
            </a:endParaRPr>
          </a:p>
          <a:p>
            <a:pPr marL="228600" marR="0" lvl="0" indent="-228600" algn="l" defTabSz="914400" rtl="0" eaLnBrk="1" fontAlgn="auto" latinLnBrk="0" hangingPunct="1">
              <a:lnSpc>
                <a:spcPct val="90000"/>
              </a:lnSpc>
              <a:spcBef>
                <a:spcPts val="1000"/>
              </a:spcBef>
              <a:spcAft>
                <a:spcPts val="0"/>
              </a:spcAft>
              <a:buClr>
                <a:prstClr val="white">
                  <a:lumMod val="50000"/>
                </a:prstClr>
              </a:buClr>
              <a:buSzTx/>
              <a:buFont typeface="Arial" panose="020B0604020202020204" pitchFamily="34" charset="0"/>
              <a:buChar char="•"/>
              <a:tabLst/>
              <a:defRPr/>
            </a:pPr>
            <a:r>
              <a:rPr kumimoji="0" lang="en-US" sz="1200" i="0" u="none" strike="noStrike" kern="1200" cap="none" spc="0" normalizeH="0" baseline="0" noProof="0" dirty="0">
                <a:ln>
                  <a:noFill/>
                </a:ln>
                <a:solidFill>
                  <a:srgbClr val="021836"/>
                </a:solidFill>
                <a:effectLst/>
                <a:uLnTx/>
                <a:uFillTx/>
                <a:latin typeface="Aptos" panose="02110004020202020204"/>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200" b="1" i="0" u="none" strike="noStrike" kern="1200" cap="none" spc="0" normalizeH="0" baseline="0" noProof="0" dirty="0">
                <a:ln>
                  <a:noFill/>
                </a:ln>
                <a:solidFill>
                  <a:srgbClr val="021836"/>
                </a:solidFill>
                <a:effectLst/>
                <a:uLnTx/>
                <a:uFillTx/>
                <a:latin typeface="Aptos" panose="02110004020202020204"/>
                <a:ea typeface="+mn-ea"/>
                <a:cs typeface="+mn-cs"/>
              </a:rPr>
              <a:t>Primary Pattern – What’s the principal capability?</a:t>
            </a:r>
            <a:endPar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endParaRPr>
          </a:p>
          <a:p>
            <a:pPr marL="228600" marR="0" lvl="0" indent="-228600" algn="l" defTabSz="914400" rtl="0" eaLnBrk="1" fontAlgn="auto" latinLnBrk="0" hangingPunct="1">
              <a:lnSpc>
                <a:spcPct val="90000"/>
              </a:lnSpc>
              <a:spcBef>
                <a:spcPts val="1000"/>
              </a:spcBef>
              <a:spcAft>
                <a:spcPts val="0"/>
              </a:spcAft>
              <a:buClr>
                <a:prstClr val="white">
                  <a:lumMod val="50000"/>
                </a:prstClr>
              </a:buClr>
              <a:buSzTx/>
              <a:buFont typeface="Arial" panose="020B0604020202020204" pitchFamily="34" charset="0"/>
              <a:buChar char="•"/>
              <a:tabLst/>
              <a:defRPr/>
            </a:pPr>
            <a:r>
              <a:rPr kumimoji="0" lang="en-US" sz="1200" i="0" u="none" strike="noStrike" kern="1200" cap="none" spc="0" normalizeH="0" baseline="0" noProof="0" dirty="0">
                <a:ln>
                  <a:noFill/>
                </a:ln>
                <a:solidFill>
                  <a:srgbClr val="021836"/>
                </a:solidFill>
                <a:effectLst/>
                <a:uLnTx/>
                <a:uFillTx/>
                <a:latin typeface="Aptos" panose="02110004020202020204"/>
                <a:ea typeface="+mn-ea"/>
                <a:cs typeface="+mn-cs"/>
              </a:rPr>
              <a:t> </a:t>
            </a:r>
          </a:p>
          <a:p>
            <a:pPr marL="0" marR="0" lvl="0" indent="0" algn="l" defTabSz="914400" rtl="0" eaLnBrk="1" fontAlgn="auto" latinLnBrk="0" hangingPunct="1">
              <a:lnSpc>
                <a:spcPct val="90000"/>
              </a:lnSpc>
              <a:spcBef>
                <a:spcPts val="1000"/>
              </a:spcBef>
              <a:spcAft>
                <a:spcPts val="0"/>
              </a:spcAft>
              <a:buClr>
                <a:prstClr val="white">
                  <a:lumMod val="50000"/>
                </a:prstClr>
              </a:buClr>
              <a:buSzTx/>
              <a:buNone/>
              <a:tabLst/>
              <a:defRPr/>
            </a:pPr>
            <a:r>
              <a:rPr lang="en-US" sz="1200" b="1" dirty="0">
                <a:solidFill>
                  <a:srgbClr val="021836"/>
                </a:solidFill>
                <a:latin typeface="Aptos" panose="02110004020202020204"/>
              </a:rPr>
              <a:t>Supporting Pattern(s)</a:t>
            </a:r>
            <a:r>
              <a:rPr lang="en-US" sz="1200" dirty="0">
                <a:solidFill>
                  <a:srgbClr val="021836"/>
                </a:solidFill>
                <a:latin typeface="Aptos" panose="02110004020202020204"/>
              </a:rPr>
              <a:t> – What additional capabilities are needed?</a:t>
            </a:r>
            <a:endParaRPr kumimoji="0" lang="en-US" sz="1200" i="0" u="none" strike="noStrike" kern="1200" cap="none" spc="0" normalizeH="0" baseline="0" noProof="0" dirty="0">
              <a:ln>
                <a:noFill/>
              </a:ln>
              <a:solidFill>
                <a:srgbClr val="021836"/>
              </a:solidFill>
              <a:effectLst/>
              <a:uLnTx/>
              <a:uFillTx/>
              <a:latin typeface="Aptos" panose="02110004020202020204"/>
              <a:ea typeface="+mn-ea"/>
              <a:cs typeface="+mn-cs"/>
            </a:endParaRPr>
          </a:p>
          <a:p>
            <a:pPr marL="228600" marR="0" lvl="0" indent="-228600" algn="l" defTabSz="914400" rtl="0" eaLnBrk="1" fontAlgn="auto" latinLnBrk="0" hangingPunct="1">
              <a:lnSpc>
                <a:spcPct val="90000"/>
              </a:lnSpc>
              <a:spcBef>
                <a:spcPts val="1000"/>
              </a:spcBef>
              <a:spcAft>
                <a:spcPts val="0"/>
              </a:spcAft>
              <a:buClr>
                <a:prstClr val="white">
                  <a:lumMod val="50000"/>
                </a:prstClr>
              </a:buClr>
              <a:buSzTx/>
              <a:buFont typeface="Arial" panose="020B0604020202020204" pitchFamily="34" charset="0"/>
              <a:buChar char="•"/>
              <a:tabLst/>
              <a:defRPr/>
            </a:pPr>
            <a:r>
              <a:rPr kumimoji="0" lang="en-US" sz="1200" i="0" u="none" strike="noStrike" kern="1200" cap="none" spc="0" normalizeH="0" baseline="0" noProof="0" dirty="0">
                <a:ln>
                  <a:noFill/>
                </a:ln>
                <a:solidFill>
                  <a:srgbClr val="021836"/>
                </a:solidFill>
                <a:effectLst/>
                <a:uLnTx/>
                <a:uFillTx/>
                <a:latin typeface="Aptos" panose="02110004020202020204"/>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200" b="1" i="0" u="none" strike="noStrike" kern="1200" cap="none" spc="0" normalizeH="0" baseline="0" noProof="0" dirty="0">
                <a:ln>
                  <a:noFill/>
                </a:ln>
                <a:solidFill>
                  <a:srgbClr val="021836"/>
                </a:solidFill>
                <a:effectLst/>
                <a:uLnTx/>
                <a:uFillTx/>
                <a:latin typeface="Aptos" panose="02110004020202020204"/>
                <a:ea typeface="+mn-ea"/>
                <a:cs typeface="+mn-cs"/>
              </a:rPr>
              <a:t>Why this pattern fits</a:t>
            </a:r>
            <a:r>
              <a:rPr kumimoji="0" lang="en-US" sz="1200" i="0" u="none" strike="noStrike" kern="1200" cap="none" spc="0" normalizeH="0" baseline="0" noProof="0" dirty="0">
                <a:ln>
                  <a:noFill/>
                </a:ln>
                <a:solidFill>
                  <a:srgbClr val="021836"/>
                </a:solidFill>
                <a:effectLst/>
                <a:uLnTx/>
                <a:uFillTx/>
                <a:latin typeface="Aptos" panose="02110004020202020204"/>
                <a:ea typeface="+mn-ea"/>
                <a:cs typeface="+mn-cs"/>
              </a:rPr>
              <a:t> – Why does the classification make sense?</a:t>
            </a:r>
            <a:endParaRPr kumimoji="0" lang="en-US" sz="1400" i="0" u="none" strike="noStrike" kern="1200" cap="none" spc="0" normalizeH="0" baseline="0" noProof="0" dirty="0">
              <a:ln>
                <a:noFill/>
              </a:ln>
              <a:solidFill>
                <a:srgbClr val="021836"/>
              </a:solidFill>
              <a:effectLst/>
              <a:uLnTx/>
              <a:uFillTx/>
              <a:latin typeface="Aptos" panose="02110004020202020204"/>
              <a:ea typeface="+mn-ea"/>
              <a:cs typeface="+mn-cs"/>
            </a:endParaRPr>
          </a:p>
          <a:p>
            <a:pPr marL="228600" marR="0" lvl="0" indent="-228600" algn="l" defTabSz="914400" rtl="0" eaLnBrk="1" fontAlgn="auto" latinLnBrk="0" hangingPunct="1">
              <a:lnSpc>
                <a:spcPct val="90000"/>
              </a:lnSpc>
              <a:spcBef>
                <a:spcPts val="1000"/>
              </a:spcBef>
              <a:spcAft>
                <a:spcPts val="0"/>
              </a:spcAft>
              <a:buClr>
                <a:prstClr val="white">
                  <a:lumMod val="50000"/>
                </a:prstClr>
              </a:buClr>
              <a:buSzTx/>
              <a:buFont typeface="Arial" panose="020B0604020202020204" pitchFamily="34" charset="0"/>
              <a:buChar char="•"/>
              <a:tabLst/>
              <a:defRPr/>
            </a:pPr>
            <a:r>
              <a:rPr kumimoji="0" lang="en-US" sz="1200" b="0" i="0" u="none" strike="noStrike" kern="1200" cap="none" spc="0" normalizeH="0" baseline="0" noProof="0" dirty="0">
                <a:ln>
                  <a:noFill/>
                </a:ln>
                <a:solidFill>
                  <a:srgbClr val="021836"/>
                </a:solidFill>
                <a:effectLst/>
                <a:uLnTx/>
                <a:uFillTx/>
                <a:latin typeface="Aptos" panose="02110004020202020204"/>
                <a:ea typeface="+mn-ea"/>
                <a:cs typeface="+mn-cs"/>
              </a:rPr>
              <a:t> </a:t>
            </a:r>
          </a:p>
          <a:p>
            <a:pPr marL="0" marR="0" lvl="0" indent="0" algn="l" defTabSz="914400" rtl="0" eaLnBrk="1" fontAlgn="auto" latinLnBrk="0" hangingPunct="1">
              <a:lnSpc>
                <a:spcPct val="90000"/>
              </a:lnSpc>
              <a:spcBef>
                <a:spcPts val="1000"/>
              </a:spcBef>
              <a:spcAft>
                <a:spcPts val="0"/>
              </a:spcAft>
              <a:buClr>
                <a:prstClr val="white">
                  <a:lumMod val="50000"/>
                </a:prstClr>
              </a:buClr>
              <a:buSzTx/>
              <a:buNone/>
              <a:tabLst/>
              <a:defRPr/>
            </a:pPr>
            <a:r>
              <a:rPr lang="en-US" sz="1200" b="1" dirty="0">
                <a:solidFill>
                  <a:srgbClr val="021836"/>
                </a:solidFill>
                <a:latin typeface="Aptos" panose="02110004020202020204"/>
              </a:rPr>
              <a:t>Action Implication </a:t>
            </a:r>
            <a:r>
              <a:rPr lang="en-US" sz="1200" dirty="0">
                <a:solidFill>
                  <a:srgbClr val="021836"/>
                </a:solidFill>
                <a:latin typeface="Aptos" panose="02110004020202020204"/>
              </a:rPr>
              <a:t>– Is the AI informing, recommending, coordinating, or acting? Action implications inform downstream workflow and decision-rights design.</a:t>
            </a:r>
            <a:endParaRPr kumimoji="0" lang="en-US" sz="1200" i="0" u="none" strike="noStrike" kern="1200" cap="none" spc="0" normalizeH="0" baseline="0" noProof="0" dirty="0">
              <a:ln>
                <a:noFill/>
              </a:ln>
              <a:solidFill>
                <a:srgbClr val="021836"/>
              </a:solidFill>
              <a:effectLst/>
              <a:uLnTx/>
              <a:uFillTx/>
              <a:latin typeface="Aptos" panose="02110004020202020204"/>
              <a:ea typeface="+mn-ea"/>
              <a:cs typeface="+mn-cs"/>
            </a:endParaRPr>
          </a:p>
          <a:p>
            <a:pPr marL="228600" marR="0" lvl="0" indent="-228600" algn="l" defTabSz="914400" rtl="0" eaLnBrk="1" fontAlgn="auto" latinLnBrk="0" hangingPunct="1">
              <a:lnSpc>
                <a:spcPct val="90000"/>
              </a:lnSpc>
              <a:spcBef>
                <a:spcPts val="1000"/>
              </a:spcBef>
              <a:spcAft>
                <a:spcPts val="0"/>
              </a:spcAft>
              <a:buClr>
                <a:prstClr val="white">
                  <a:lumMod val="50000"/>
                </a:prstClr>
              </a:buClr>
              <a:buSzTx/>
              <a:buFont typeface="Arial" panose="020B0604020202020204" pitchFamily="34" charset="0"/>
              <a:buChar char="•"/>
              <a:tabLst/>
              <a:defRPr/>
            </a:pPr>
            <a:r>
              <a:rPr kumimoji="0" lang="en-US" sz="1200" b="0" i="0" u="none" strike="noStrike" kern="1200" cap="none" spc="0" normalizeH="0" baseline="0" noProof="0" dirty="0">
                <a:ln>
                  <a:noFill/>
                </a:ln>
                <a:solidFill>
                  <a:srgbClr val="021836"/>
                </a:solidFill>
                <a:effectLst/>
                <a:uLnTx/>
                <a:uFillTx/>
                <a:latin typeface="Aptos" panose="02110004020202020204"/>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200" b="1" i="0" u="none" strike="noStrike" kern="1200" cap="none" spc="0" normalizeH="0" baseline="0" noProof="0" dirty="0">
              <a:ln>
                <a:noFill/>
              </a:ln>
              <a:solidFill>
                <a:srgbClr val="021836"/>
              </a:solidFill>
              <a:effectLst/>
              <a:uLnTx/>
              <a:uFillTx/>
              <a:latin typeface="Aptos" panose="02110004020202020204"/>
              <a:ea typeface="+mn-ea"/>
              <a:cs typeface="+mn-cs"/>
            </a:endParaRPr>
          </a:p>
        </p:txBody>
      </p:sp>
      <p:sp>
        <p:nvSpPr>
          <p:cNvPr id="4" name="TextBox 3">
            <a:extLst>
              <a:ext uri="{FF2B5EF4-FFF2-40B4-BE49-F238E27FC236}">
                <a16:creationId xmlns:a16="http://schemas.microsoft.com/office/drawing/2014/main" id="{9BB676A6-C2AB-8860-E0CB-B35832697DC4}"/>
              </a:ext>
            </a:extLst>
          </p:cNvPr>
          <p:cNvSpPr txBox="1"/>
          <p:nvPr/>
        </p:nvSpPr>
        <p:spPr>
          <a:xfrm>
            <a:off x="4953000" y="64309"/>
            <a:ext cx="4084462" cy="276999"/>
          </a:xfrm>
          <a:prstGeom prst="rect">
            <a:avLst/>
          </a:prstGeom>
          <a:noFill/>
        </p:spPr>
        <p:txBody>
          <a:bodyPr wrap="square" rtlCol="0">
            <a:spAutoFit/>
          </a:bodyPr>
          <a:lstStyle/>
          <a:p>
            <a:pPr algn="r"/>
            <a:r>
              <a:rPr lang="en-US" sz="1200" dirty="0">
                <a:solidFill>
                  <a:schemeClr val="bg1">
                    <a:lumMod val="50000"/>
                  </a:schemeClr>
                </a:solidFill>
              </a:rPr>
              <a:t>AI Operational Readiness • AI Use Case Categories</a:t>
            </a:r>
          </a:p>
        </p:txBody>
      </p:sp>
    </p:spTree>
    <p:extLst>
      <p:ext uri="{BB962C8B-B14F-4D97-AF65-F5344CB8AC3E}">
        <p14:creationId xmlns:p14="http://schemas.microsoft.com/office/powerpoint/2010/main" val="2153108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6948C4A-3F0B-A60B-C13A-9C91D4B6899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7884"/>
            <a:ext cx="9144000" cy="6842234"/>
          </a:xfrm>
          <a:prstGeom prst="rect">
            <a:avLst/>
          </a:prstGeom>
        </p:spPr>
      </p:pic>
    </p:spTree>
    <p:extLst>
      <p:ext uri="{BB962C8B-B14F-4D97-AF65-F5344CB8AC3E}">
        <p14:creationId xmlns:p14="http://schemas.microsoft.com/office/powerpoint/2010/main" val="22920709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F44F6-AAF9-F6E6-B3DC-C2D8FC3F68FB}"/>
              </a:ext>
            </a:extLst>
          </p:cNvPr>
          <p:cNvSpPr>
            <a:spLocks noGrp="1"/>
          </p:cNvSpPr>
          <p:nvPr>
            <p:ph type="title"/>
          </p:nvPr>
        </p:nvSpPr>
        <p:spPr>
          <a:xfrm>
            <a:off x="285750" y="434017"/>
            <a:ext cx="7886700" cy="362276"/>
          </a:xfrm>
        </p:spPr>
        <p:txBody>
          <a:bodyPr>
            <a:normAutofit fontScale="90000"/>
          </a:bodyPr>
          <a:lstStyle/>
          <a:p>
            <a:r>
              <a:rPr lang="en-US" dirty="0"/>
              <a:t>Framework Overview</a:t>
            </a:r>
          </a:p>
        </p:txBody>
      </p:sp>
      <p:cxnSp>
        <p:nvCxnSpPr>
          <p:cNvPr id="10" name="Straight Connector 9">
            <a:extLst>
              <a:ext uri="{FF2B5EF4-FFF2-40B4-BE49-F238E27FC236}">
                <a16:creationId xmlns:a16="http://schemas.microsoft.com/office/drawing/2014/main" id="{C0020D96-D985-F85D-9155-2AFC35B6AE59}"/>
              </a:ext>
            </a:extLst>
          </p:cNvPr>
          <p:cNvCxnSpPr>
            <a:cxnSpLocks/>
          </p:cNvCxnSpPr>
          <p:nvPr/>
        </p:nvCxnSpPr>
        <p:spPr>
          <a:xfrm>
            <a:off x="171450" y="5712199"/>
            <a:ext cx="8801100" cy="0"/>
          </a:xfrm>
          <a:prstGeom prst="line">
            <a:avLst/>
          </a:prstGeom>
          <a:ln w="9525">
            <a:solidFill>
              <a:srgbClr val="0396A6"/>
            </a:solidFill>
          </a:ln>
        </p:spPr>
        <p:style>
          <a:lnRef idx="2">
            <a:schemeClr val="accent1"/>
          </a:lnRef>
          <a:fillRef idx="0">
            <a:schemeClr val="accent1"/>
          </a:fillRef>
          <a:effectRef idx="1">
            <a:schemeClr val="accent1"/>
          </a:effectRef>
          <a:fontRef idx="minor">
            <a:schemeClr val="tx1"/>
          </a:fontRef>
        </p:style>
      </p:cxnSp>
      <p:grpSp>
        <p:nvGrpSpPr>
          <p:cNvPr id="37" name="Group 36">
            <a:extLst>
              <a:ext uri="{FF2B5EF4-FFF2-40B4-BE49-F238E27FC236}">
                <a16:creationId xmlns:a16="http://schemas.microsoft.com/office/drawing/2014/main" id="{07427C67-24F8-34E3-16AD-56FCB95CE120}"/>
              </a:ext>
            </a:extLst>
          </p:cNvPr>
          <p:cNvGrpSpPr/>
          <p:nvPr/>
        </p:nvGrpSpPr>
        <p:grpSpPr>
          <a:xfrm>
            <a:off x="381675" y="2439708"/>
            <a:ext cx="8583386" cy="464569"/>
            <a:chOff x="628650" y="4778376"/>
            <a:chExt cx="7886700" cy="464569"/>
          </a:xfrm>
        </p:grpSpPr>
        <p:sp>
          <p:nvSpPr>
            <p:cNvPr id="9" name="Content Placeholder 2">
              <a:extLst>
                <a:ext uri="{FF2B5EF4-FFF2-40B4-BE49-F238E27FC236}">
                  <a16:creationId xmlns:a16="http://schemas.microsoft.com/office/drawing/2014/main" id="{8C9AC330-2344-BEDA-9EC6-BFB62190E7E3}"/>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b="1" dirty="0">
                  <a:solidFill>
                    <a:srgbClr val="021836"/>
                  </a:solidFill>
                </a:rPr>
                <a:t>Core Flow</a:t>
              </a:r>
            </a:p>
          </p:txBody>
        </p:sp>
        <p:sp>
          <p:nvSpPr>
            <p:cNvPr id="11" name="Content Placeholder 2">
              <a:extLst>
                <a:ext uri="{FF2B5EF4-FFF2-40B4-BE49-F238E27FC236}">
                  <a16:creationId xmlns:a16="http://schemas.microsoft.com/office/drawing/2014/main" id="{FD78CC86-2052-A718-2145-5489B68A5D91}"/>
                </a:ext>
              </a:extLst>
            </p:cNvPr>
            <p:cNvSpPr txBox="1">
              <a:spLocks/>
            </p:cNvSpPr>
            <p:nvPr/>
          </p:nvSpPr>
          <p:spPr>
            <a:xfrm>
              <a:off x="628650" y="5032601"/>
              <a:ext cx="7886700" cy="210344"/>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rgbClr val="021836"/>
                </a:buClr>
                <a:buNone/>
              </a:pPr>
              <a:r>
                <a:rPr lang="en-US" sz="1200" dirty="0"/>
                <a:t>Current State → Pain Point → Opportunity → AI Assistance → Human Oversight → Business Outcome</a:t>
              </a:r>
            </a:p>
          </p:txBody>
        </p:sp>
      </p:grpSp>
      <p:sp>
        <p:nvSpPr>
          <p:cNvPr id="32" name="Content Placeholder 2">
            <a:extLst>
              <a:ext uri="{FF2B5EF4-FFF2-40B4-BE49-F238E27FC236}">
                <a16:creationId xmlns:a16="http://schemas.microsoft.com/office/drawing/2014/main" id="{3100EC29-4DE1-0548-69CA-66C82A4659A2}"/>
              </a:ext>
            </a:extLst>
          </p:cNvPr>
          <p:cNvSpPr txBox="1">
            <a:spLocks/>
          </p:cNvSpPr>
          <p:nvPr/>
        </p:nvSpPr>
        <p:spPr>
          <a:xfrm>
            <a:off x="389164" y="1334696"/>
            <a:ext cx="7886700" cy="101235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b="1" dirty="0">
                <a:solidFill>
                  <a:srgbClr val="021836"/>
                </a:solidFill>
              </a:rPr>
              <a:t>Purpose</a:t>
            </a:r>
          </a:p>
          <a:p>
            <a:pPr marL="0" indent="0">
              <a:lnSpc>
                <a:spcPct val="110000"/>
              </a:lnSpc>
              <a:spcBef>
                <a:spcPts val="600"/>
              </a:spcBef>
              <a:buFont typeface="Arial" panose="020B0604020202020204" pitchFamily="34" charset="0"/>
              <a:buNone/>
            </a:pPr>
            <a:r>
              <a:rPr lang="en-US" sz="1200" dirty="0"/>
              <a:t>This framework helps teams translate prioritized AI opportunities into future-state workflows by mapping how work happens today, where friction exists, how AI may assist, where human oversight is required, and what business outcome the future state should create.</a:t>
            </a:r>
            <a:endParaRPr lang="en-US" sz="1600" dirty="0"/>
          </a:p>
        </p:txBody>
      </p:sp>
      <p:sp>
        <p:nvSpPr>
          <p:cNvPr id="5" name="Content Placeholder 2">
            <a:extLst>
              <a:ext uri="{FF2B5EF4-FFF2-40B4-BE49-F238E27FC236}">
                <a16:creationId xmlns:a16="http://schemas.microsoft.com/office/drawing/2014/main" id="{292B2336-1FA0-A3C8-A2A8-5A573F50113B}"/>
              </a:ext>
            </a:extLst>
          </p:cNvPr>
          <p:cNvSpPr txBox="1">
            <a:spLocks/>
          </p:cNvSpPr>
          <p:nvPr/>
        </p:nvSpPr>
        <p:spPr>
          <a:xfrm>
            <a:off x="381675" y="868186"/>
            <a:ext cx="7886700" cy="299244"/>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rgbClr val="021836"/>
              </a:buClr>
              <a:buNone/>
            </a:pPr>
            <a:r>
              <a:rPr lang="en-US" sz="1200" i="1" dirty="0">
                <a:solidFill>
                  <a:schemeClr val="bg1">
                    <a:lumMod val="50000"/>
                  </a:schemeClr>
                </a:solidFill>
              </a:rPr>
              <a:t>Designing AI-enabled work responsibly</a:t>
            </a:r>
          </a:p>
        </p:txBody>
      </p:sp>
      <p:sp>
        <p:nvSpPr>
          <p:cNvPr id="15" name="Content Placeholder 2">
            <a:extLst>
              <a:ext uri="{FF2B5EF4-FFF2-40B4-BE49-F238E27FC236}">
                <a16:creationId xmlns:a16="http://schemas.microsoft.com/office/drawing/2014/main" id="{AFDCFB66-CE04-E353-63C3-854399711881}"/>
              </a:ext>
            </a:extLst>
          </p:cNvPr>
          <p:cNvSpPr txBox="1">
            <a:spLocks/>
          </p:cNvSpPr>
          <p:nvPr/>
        </p:nvSpPr>
        <p:spPr>
          <a:xfrm>
            <a:off x="381675" y="3127908"/>
            <a:ext cx="8583386"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b="1" dirty="0">
                <a:solidFill>
                  <a:srgbClr val="021836"/>
                </a:solidFill>
              </a:rPr>
              <a:t>What This Framework Helps Define</a:t>
            </a:r>
          </a:p>
        </p:txBody>
      </p:sp>
      <p:graphicFrame>
        <p:nvGraphicFramePr>
          <p:cNvPr id="18" name="Table 17">
            <a:extLst>
              <a:ext uri="{FF2B5EF4-FFF2-40B4-BE49-F238E27FC236}">
                <a16:creationId xmlns:a16="http://schemas.microsoft.com/office/drawing/2014/main" id="{E2F20037-47B8-8828-9FAB-CD803A7B47B2}"/>
              </a:ext>
            </a:extLst>
          </p:cNvPr>
          <p:cNvGraphicFramePr>
            <a:graphicFrameLocks noGrp="1"/>
          </p:cNvGraphicFramePr>
          <p:nvPr/>
        </p:nvGraphicFramePr>
        <p:xfrm>
          <a:off x="466638" y="3356709"/>
          <a:ext cx="8210723" cy="2072640"/>
        </p:xfrm>
        <a:graphic>
          <a:graphicData uri="http://schemas.openxmlformats.org/drawingml/2006/table">
            <a:tbl>
              <a:tblPr firstRow="1" bandRow="1">
                <a:effectLst/>
                <a:tableStyleId>{2D5ABB26-0587-4C30-8999-92F81FD0307C}</a:tableStyleId>
              </a:tblPr>
              <a:tblGrid>
                <a:gridCol w="2494276">
                  <a:extLst>
                    <a:ext uri="{9D8B030D-6E8A-4147-A177-3AD203B41FA5}">
                      <a16:colId xmlns:a16="http://schemas.microsoft.com/office/drawing/2014/main" val="2728554600"/>
                    </a:ext>
                  </a:extLst>
                </a:gridCol>
                <a:gridCol w="5716447">
                  <a:extLst>
                    <a:ext uri="{9D8B030D-6E8A-4147-A177-3AD203B41FA5}">
                      <a16:colId xmlns:a16="http://schemas.microsoft.com/office/drawing/2014/main" val="682756451"/>
                    </a:ext>
                  </a:extLst>
                </a:gridCol>
              </a:tblGrid>
              <a:tr h="220027">
                <a:tc>
                  <a:txBody>
                    <a:bodyPr/>
                    <a:lstStyle/>
                    <a:p>
                      <a:pPr algn="l"/>
                      <a:r>
                        <a:rPr lang="en-US" sz="1100" b="1" dirty="0">
                          <a:solidFill>
                            <a:srgbClr val="021836"/>
                          </a:solidFill>
                        </a:rPr>
                        <a:t>Component</a:t>
                      </a:r>
                    </a:p>
                  </a:txBody>
                  <a:tcPr marL="45720" marR="45720">
                    <a:lnR w="12700" cap="flat" cmpd="sng" algn="ctr">
                      <a:noFill/>
                      <a:prstDash val="solid"/>
                      <a:round/>
                      <a:headEnd type="none" w="med" len="med"/>
                      <a:tailEnd type="none" w="med" len="med"/>
                    </a:lnR>
                    <a:lnB w="12700" cap="flat" cmpd="sng" algn="ctr">
                      <a:solidFill>
                        <a:srgbClr val="0396A6"/>
                      </a:solidFill>
                      <a:prstDash val="solid"/>
                      <a:round/>
                      <a:headEnd type="none" w="med" len="med"/>
                      <a:tailEnd type="none" w="med" len="med"/>
                    </a:lnB>
                  </a:tcPr>
                </a:tc>
                <a:tc>
                  <a:txBody>
                    <a:bodyPr/>
                    <a:lstStyle/>
                    <a:p>
                      <a:r>
                        <a:rPr lang="en-US" sz="1100" b="1" dirty="0">
                          <a:solidFill>
                            <a:srgbClr val="021836"/>
                          </a:solidFill>
                        </a:rPr>
                        <a:t>Question It Answers</a:t>
                      </a:r>
                    </a:p>
                  </a:txBody>
                  <a:tcPr marL="45720" marR="45720">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rgbClr val="0396A6"/>
                      </a:solidFill>
                      <a:prstDash val="solid"/>
                      <a:round/>
                      <a:headEnd type="none" w="med" len="med"/>
                      <a:tailEnd type="none" w="med" len="med"/>
                    </a:lnB>
                  </a:tcPr>
                </a:tc>
                <a:extLst>
                  <a:ext uri="{0D108BD9-81ED-4DB2-BD59-A6C34878D82A}">
                    <a16:rowId xmlns:a16="http://schemas.microsoft.com/office/drawing/2014/main" val="3173400939"/>
                  </a:ext>
                </a:extLst>
              </a:tr>
              <a:tr h="220027">
                <a:tc>
                  <a:txBody>
                    <a:bodyPr/>
                    <a:lstStyle/>
                    <a:p>
                      <a:pPr algn="l"/>
                      <a:r>
                        <a:rPr lang="en-US" sz="1100" dirty="0"/>
                        <a:t>Current State</a:t>
                      </a:r>
                    </a:p>
                  </a:txBody>
                  <a:tcPr marL="45720" marR="45720">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100" dirty="0"/>
                        <a:t>How does the work happen today?</a:t>
                      </a:r>
                    </a:p>
                  </a:txBody>
                  <a:tcPr marL="45720" marR="45720">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185261034"/>
                  </a:ext>
                </a:extLst>
              </a:tr>
              <a:tr h="220027">
                <a:tc>
                  <a:txBody>
                    <a:bodyPr/>
                    <a:lstStyle/>
                    <a:p>
                      <a:pPr algn="l"/>
                      <a:r>
                        <a:rPr lang="en-US" sz="1100" dirty="0"/>
                        <a:t>Pain Point</a:t>
                      </a:r>
                    </a:p>
                  </a:txBody>
                  <a:tcPr marL="45720" marR="4572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100" dirty="0"/>
                        <a:t>What friction, delay, or burden exists?</a:t>
                      </a:r>
                    </a:p>
                  </a:txBody>
                  <a:tcPr marL="45720" marR="45720">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228643947"/>
                  </a:ext>
                </a:extLst>
              </a:tr>
              <a:tr h="220027">
                <a:tc>
                  <a:txBody>
                    <a:bodyPr/>
                    <a:lstStyle/>
                    <a:p>
                      <a:pPr algn="l"/>
                      <a:r>
                        <a:rPr lang="en-US" sz="1100" dirty="0"/>
                        <a:t>Opportunity</a:t>
                      </a:r>
                    </a:p>
                  </a:txBody>
                  <a:tcPr marL="45720" marR="4572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100" dirty="0"/>
                        <a:t>What could be improved?</a:t>
                      </a:r>
                    </a:p>
                  </a:txBody>
                  <a:tcPr marL="45720" marR="45720">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781764621"/>
                  </a:ext>
                </a:extLst>
              </a:tr>
              <a:tr h="220027">
                <a:tc>
                  <a:txBody>
                    <a:bodyPr/>
                    <a:lstStyle/>
                    <a:p>
                      <a:pPr algn="l"/>
                      <a:r>
                        <a:rPr lang="en-US" sz="1100" dirty="0"/>
                        <a:t>AI Assistance</a:t>
                      </a:r>
                    </a:p>
                  </a:txBody>
                  <a:tcPr marL="45720" marR="4572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100" dirty="0"/>
                        <a:t>What role could AI play?</a:t>
                      </a:r>
                    </a:p>
                  </a:txBody>
                  <a:tcPr marL="45720" marR="45720">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532030300"/>
                  </a:ext>
                </a:extLst>
              </a:tr>
              <a:tr h="220027">
                <a:tc>
                  <a:txBody>
                    <a:bodyPr/>
                    <a:lstStyle/>
                    <a:p>
                      <a:pPr algn="l"/>
                      <a:r>
                        <a:rPr lang="en-US" sz="1100" dirty="0"/>
                        <a:t>Human Oversight</a:t>
                      </a:r>
                    </a:p>
                  </a:txBody>
                  <a:tcPr marL="45720" marR="4572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100" dirty="0"/>
                        <a:t>Where are reviews, approvals, escalations, interventions, or human accountability required?</a:t>
                      </a:r>
                    </a:p>
                  </a:txBody>
                  <a:tcPr marL="45720" marR="45720">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79336270"/>
                  </a:ext>
                </a:extLst>
              </a:tr>
              <a:tr h="220027">
                <a:tc>
                  <a:txBody>
                    <a:bodyPr/>
                    <a:lstStyle/>
                    <a:p>
                      <a:pPr algn="l"/>
                      <a:r>
                        <a:rPr lang="en-US" sz="1100" dirty="0"/>
                        <a:t>Business Outcome</a:t>
                      </a:r>
                    </a:p>
                  </a:txBody>
                  <a:tcPr marL="45720" marR="4572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100" dirty="0"/>
                        <a:t>What business value should improve?</a:t>
                      </a:r>
                    </a:p>
                  </a:txBody>
                  <a:tcPr marL="45720" marR="45720">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045569480"/>
                  </a:ext>
                </a:extLst>
              </a:tr>
              <a:tr h="220027">
                <a:tc>
                  <a:txBody>
                    <a:bodyPr/>
                    <a:lstStyle/>
                    <a:p>
                      <a:pPr algn="l"/>
                      <a:r>
                        <a:rPr lang="en-US" sz="1100" dirty="0"/>
                        <a:t>Resilience Check</a:t>
                      </a:r>
                    </a:p>
                  </a:txBody>
                  <a:tcPr marL="45720" marR="4572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100" dirty="0"/>
                        <a:t>What is the fallback path if the AI assistance becomes unavailable?</a:t>
                      </a:r>
                    </a:p>
                  </a:txBody>
                  <a:tcPr marL="45720" marR="45720">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194440041"/>
                  </a:ext>
                </a:extLst>
              </a:tr>
            </a:tbl>
          </a:graphicData>
        </a:graphic>
      </p:graphicFrame>
      <p:sp>
        <p:nvSpPr>
          <p:cNvPr id="21" name="Content Placeholder 2">
            <a:extLst>
              <a:ext uri="{FF2B5EF4-FFF2-40B4-BE49-F238E27FC236}">
                <a16:creationId xmlns:a16="http://schemas.microsoft.com/office/drawing/2014/main" id="{C3E6CD39-95FF-9E31-7FA7-E1A32D5D642E}"/>
              </a:ext>
            </a:extLst>
          </p:cNvPr>
          <p:cNvSpPr txBox="1">
            <a:spLocks/>
          </p:cNvSpPr>
          <p:nvPr/>
        </p:nvSpPr>
        <p:spPr>
          <a:xfrm>
            <a:off x="389164" y="5834094"/>
            <a:ext cx="8583386" cy="676720"/>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b="1" dirty="0">
                <a:solidFill>
                  <a:srgbClr val="021836"/>
                </a:solidFill>
              </a:rPr>
              <a:t>Guiding Philosophy</a:t>
            </a:r>
          </a:p>
          <a:p>
            <a:pPr marL="0" indent="0">
              <a:buFont typeface="Arial" panose="020B0604020202020204" pitchFamily="34" charset="0"/>
              <a:buNone/>
            </a:pPr>
            <a:r>
              <a:rPr lang="en-US" sz="1400" i="1" dirty="0">
                <a:solidFill>
                  <a:schemeClr val="bg1">
                    <a:lumMod val="50000"/>
                  </a:schemeClr>
                </a:solidFill>
              </a:rPr>
              <a:t>AI-enabled work should be designed before it is deployed.</a:t>
            </a:r>
          </a:p>
        </p:txBody>
      </p:sp>
      <p:sp>
        <p:nvSpPr>
          <p:cNvPr id="4" name="TextBox 3">
            <a:extLst>
              <a:ext uri="{FF2B5EF4-FFF2-40B4-BE49-F238E27FC236}">
                <a16:creationId xmlns:a16="http://schemas.microsoft.com/office/drawing/2014/main" id="{06DCE6DA-28DF-9897-10E2-499D0458021F}"/>
              </a:ext>
            </a:extLst>
          </p:cNvPr>
          <p:cNvSpPr txBox="1"/>
          <p:nvPr/>
        </p:nvSpPr>
        <p:spPr>
          <a:xfrm>
            <a:off x="4408714" y="64309"/>
            <a:ext cx="4628748" cy="276999"/>
          </a:xfrm>
          <a:prstGeom prst="rect">
            <a:avLst/>
          </a:prstGeom>
          <a:noFill/>
        </p:spPr>
        <p:txBody>
          <a:bodyPr wrap="square" rtlCol="0">
            <a:spAutoFit/>
          </a:bodyPr>
          <a:lstStyle/>
          <a:p>
            <a:pPr algn="r"/>
            <a:r>
              <a:rPr lang="en-US" sz="1200" dirty="0">
                <a:solidFill>
                  <a:schemeClr val="bg1">
                    <a:lumMod val="50000"/>
                  </a:schemeClr>
                </a:solidFill>
              </a:rPr>
              <a:t>AI Operational Readiness • Current-State – Future-State Framework</a:t>
            </a:r>
          </a:p>
        </p:txBody>
      </p:sp>
    </p:spTree>
    <p:extLst>
      <p:ext uri="{BB962C8B-B14F-4D97-AF65-F5344CB8AC3E}">
        <p14:creationId xmlns:p14="http://schemas.microsoft.com/office/powerpoint/2010/main" val="159396895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671BA3-B71C-0F6C-5DCC-2BDE8C41B7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743337-A53D-43FB-1D3A-AFB5942472E9}"/>
              </a:ext>
            </a:extLst>
          </p:cNvPr>
          <p:cNvSpPr>
            <a:spLocks noGrp="1"/>
          </p:cNvSpPr>
          <p:nvPr>
            <p:ph type="title"/>
          </p:nvPr>
        </p:nvSpPr>
        <p:spPr>
          <a:xfrm>
            <a:off x="273534" y="-86630"/>
            <a:ext cx="7886700" cy="1325563"/>
          </a:xfrm>
        </p:spPr>
        <p:txBody>
          <a:bodyPr/>
          <a:lstStyle/>
          <a:p>
            <a:r>
              <a:rPr lang="en-US" dirty="0"/>
              <a:t>The Flow</a:t>
            </a:r>
          </a:p>
        </p:txBody>
      </p:sp>
      <p:graphicFrame>
        <p:nvGraphicFramePr>
          <p:cNvPr id="3" name="Table 2">
            <a:extLst>
              <a:ext uri="{FF2B5EF4-FFF2-40B4-BE49-F238E27FC236}">
                <a16:creationId xmlns:a16="http://schemas.microsoft.com/office/drawing/2014/main" id="{F077FEE6-14AC-D53C-ECBB-41DA8ED12E5B}"/>
              </a:ext>
            </a:extLst>
          </p:cNvPr>
          <p:cNvGraphicFramePr>
            <a:graphicFrameLocks noGrp="1"/>
          </p:cNvGraphicFramePr>
          <p:nvPr/>
        </p:nvGraphicFramePr>
        <p:xfrm>
          <a:off x="273534" y="1606759"/>
          <a:ext cx="3102428" cy="4242816"/>
        </p:xfrm>
        <a:graphic>
          <a:graphicData uri="http://schemas.openxmlformats.org/drawingml/2006/table">
            <a:tbl>
              <a:tblPr firstRow="1" bandRow="1">
                <a:tableStyleId>{2D5ABB26-0587-4C30-8999-92F81FD0307C}</a:tableStyleId>
              </a:tblPr>
              <a:tblGrid>
                <a:gridCol w="3102428">
                  <a:extLst>
                    <a:ext uri="{9D8B030D-6E8A-4147-A177-3AD203B41FA5}">
                      <a16:colId xmlns:a16="http://schemas.microsoft.com/office/drawing/2014/main" val="2240749041"/>
                    </a:ext>
                  </a:extLst>
                </a:gridCol>
              </a:tblGrid>
              <a:tr h="349817">
                <a:tc>
                  <a:txBody>
                    <a:bodyPr/>
                    <a:lstStyle/>
                    <a:p>
                      <a:pPr algn="ctr"/>
                      <a:r>
                        <a:rPr lang="en-US" sz="1400" b="1" dirty="0">
                          <a:solidFill>
                            <a:srgbClr val="021836"/>
                          </a:solidFill>
                        </a:rPr>
                        <a:t>Current State</a:t>
                      </a:r>
                    </a:p>
                    <a:p>
                      <a:pPr algn="ctr"/>
                      <a:r>
                        <a:rPr lang="en-US" sz="1400" dirty="0">
                          <a:solidFill>
                            <a:schemeClr val="bg1">
                              <a:lumMod val="50000"/>
                            </a:schemeClr>
                          </a:solidFill>
                        </a:rPr>
                        <a:t>How it works today</a:t>
                      </a:r>
                    </a:p>
                  </a:txBody>
                  <a:tcPr marT="18288" marB="18288"/>
                </a:tc>
                <a:extLst>
                  <a:ext uri="{0D108BD9-81ED-4DB2-BD59-A6C34878D82A}">
                    <a16:rowId xmlns:a16="http://schemas.microsoft.com/office/drawing/2014/main" val="2227360274"/>
                  </a:ext>
                </a:extLst>
              </a:tr>
              <a:tr h="187111">
                <a:tc>
                  <a:txBody>
                    <a:bodyPr/>
                    <a:lstStyle/>
                    <a:p>
                      <a:pPr algn="ctr"/>
                      <a:r>
                        <a:rPr lang="en-US" sz="1400" dirty="0"/>
                        <a:t>↓</a:t>
                      </a:r>
                    </a:p>
                  </a:txBody>
                  <a:tcPr marT="18288" marB="18288"/>
                </a:tc>
                <a:extLst>
                  <a:ext uri="{0D108BD9-81ED-4DB2-BD59-A6C34878D82A}">
                    <a16:rowId xmlns:a16="http://schemas.microsoft.com/office/drawing/2014/main" val="3140674848"/>
                  </a:ext>
                </a:extLst>
              </a:tr>
              <a:tr h="349817">
                <a:tc>
                  <a:txBody>
                    <a:bodyPr/>
                    <a:lstStyle/>
                    <a:p>
                      <a:pPr algn="ctr"/>
                      <a:r>
                        <a:rPr lang="en-US" sz="1400" b="1" dirty="0">
                          <a:solidFill>
                            <a:srgbClr val="021836"/>
                          </a:solidFill>
                        </a:rPr>
                        <a:t>Pain Point</a:t>
                      </a:r>
                    </a:p>
                    <a:p>
                      <a:pPr algn="ctr"/>
                      <a:r>
                        <a:rPr lang="en-US" sz="1400" dirty="0">
                          <a:solidFill>
                            <a:schemeClr val="bg1">
                              <a:lumMod val="50000"/>
                            </a:schemeClr>
                          </a:solidFill>
                        </a:rPr>
                        <a:t>Friction, delays, or burdens</a:t>
                      </a:r>
                    </a:p>
                  </a:txBody>
                  <a:tcPr marT="18288" marB="18288"/>
                </a:tc>
                <a:extLst>
                  <a:ext uri="{0D108BD9-81ED-4DB2-BD59-A6C34878D82A}">
                    <a16:rowId xmlns:a16="http://schemas.microsoft.com/office/drawing/2014/main" val="1232233979"/>
                  </a:ext>
                </a:extLst>
              </a:tr>
              <a:tr h="18711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a:t>
                      </a:r>
                    </a:p>
                  </a:txBody>
                  <a:tcPr marT="18288" marB="18288"/>
                </a:tc>
                <a:extLst>
                  <a:ext uri="{0D108BD9-81ED-4DB2-BD59-A6C34878D82A}">
                    <a16:rowId xmlns:a16="http://schemas.microsoft.com/office/drawing/2014/main" val="4196322439"/>
                  </a:ext>
                </a:extLst>
              </a:tr>
              <a:tr h="349817">
                <a:tc>
                  <a:txBody>
                    <a:bodyPr/>
                    <a:lstStyle/>
                    <a:p>
                      <a:pPr algn="ctr"/>
                      <a:r>
                        <a:rPr lang="en-US" sz="1400" b="1" dirty="0">
                          <a:solidFill>
                            <a:srgbClr val="021836"/>
                          </a:solidFill>
                        </a:rPr>
                        <a:t>Opportunity</a:t>
                      </a:r>
                    </a:p>
                    <a:p>
                      <a:pPr algn="ctr"/>
                      <a:r>
                        <a:rPr lang="en-US" sz="1400" dirty="0">
                          <a:solidFill>
                            <a:schemeClr val="bg1">
                              <a:lumMod val="50000"/>
                            </a:schemeClr>
                          </a:solidFill>
                        </a:rPr>
                        <a:t>Where value could be created</a:t>
                      </a:r>
                    </a:p>
                  </a:txBody>
                  <a:tcPr marT="18288" marB="18288"/>
                </a:tc>
                <a:extLst>
                  <a:ext uri="{0D108BD9-81ED-4DB2-BD59-A6C34878D82A}">
                    <a16:rowId xmlns:a16="http://schemas.microsoft.com/office/drawing/2014/main" val="2021164355"/>
                  </a:ext>
                </a:extLst>
              </a:tr>
              <a:tr h="18711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a:t>
                      </a:r>
                    </a:p>
                  </a:txBody>
                  <a:tcPr marT="18288" marB="18288"/>
                </a:tc>
                <a:extLst>
                  <a:ext uri="{0D108BD9-81ED-4DB2-BD59-A6C34878D82A}">
                    <a16:rowId xmlns:a16="http://schemas.microsoft.com/office/drawing/2014/main" val="3482703872"/>
                  </a:ext>
                </a:extLst>
              </a:tr>
              <a:tr h="34981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rgbClr val="0396A6"/>
                          </a:solidFill>
                        </a:rPr>
                        <a:t>AI Assistance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bg1">
                              <a:lumMod val="50000"/>
                            </a:schemeClr>
                          </a:solidFill>
                        </a:rPr>
                        <a:t>How AI supports the work</a:t>
                      </a:r>
                    </a:p>
                  </a:txBody>
                  <a:tcPr marT="18288" marB="18288"/>
                </a:tc>
                <a:extLst>
                  <a:ext uri="{0D108BD9-81ED-4DB2-BD59-A6C34878D82A}">
                    <a16:rowId xmlns:a16="http://schemas.microsoft.com/office/drawing/2014/main" val="3132301756"/>
                  </a:ext>
                </a:extLst>
              </a:tr>
              <a:tr h="18711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a:t>
                      </a:r>
                    </a:p>
                  </a:txBody>
                  <a:tcPr marT="18288" marB="18288"/>
                </a:tc>
                <a:extLst>
                  <a:ext uri="{0D108BD9-81ED-4DB2-BD59-A6C34878D82A}">
                    <a16:rowId xmlns:a16="http://schemas.microsoft.com/office/drawing/2014/main" val="2523848684"/>
                  </a:ext>
                </a:extLst>
              </a:tr>
              <a:tr h="34981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rgbClr val="002060"/>
                          </a:solidFill>
                        </a:rPr>
                        <a:t>Human Oversight</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bg1">
                              <a:lumMod val="50000"/>
                            </a:schemeClr>
                          </a:solidFill>
                        </a:rPr>
                        <a:t>Where human review, approval, escalation, or intervention is required</a:t>
                      </a:r>
                    </a:p>
                  </a:txBody>
                  <a:tcPr marT="18288" marB="18288"/>
                </a:tc>
                <a:extLst>
                  <a:ext uri="{0D108BD9-81ED-4DB2-BD59-A6C34878D82A}">
                    <a16:rowId xmlns:a16="http://schemas.microsoft.com/office/drawing/2014/main" val="1271560361"/>
                  </a:ext>
                </a:extLst>
              </a:tr>
              <a:tr h="18711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a:t>
                      </a:r>
                    </a:p>
                  </a:txBody>
                  <a:tcPr marT="18288" marB="18288"/>
                </a:tc>
                <a:extLst>
                  <a:ext uri="{0D108BD9-81ED-4DB2-BD59-A6C34878D82A}">
                    <a16:rowId xmlns:a16="http://schemas.microsoft.com/office/drawing/2014/main" val="3840834462"/>
                  </a:ext>
                </a:extLst>
              </a:tr>
              <a:tr h="34981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rgbClr val="FFC000"/>
                          </a:solidFill>
                        </a:rPr>
                        <a:t>Business Outcome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bg1">
                              <a:lumMod val="50000"/>
                            </a:schemeClr>
                          </a:solidFill>
                        </a:rPr>
                        <a:t>The value we expect to create</a:t>
                      </a:r>
                    </a:p>
                  </a:txBody>
                  <a:tcPr marT="18288" marB="18288"/>
                </a:tc>
                <a:extLst>
                  <a:ext uri="{0D108BD9-81ED-4DB2-BD59-A6C34878D82A}">
                    <a16:rowId xmlns:a16="http://schemas.microsoft.com/office/drawing/2014/main" val="3977405499"/>
                  </a:ext>
                </a:extLst>
              </a:tr>
            </a:tbl>
          </a:graphicData>
        </a:graphic>
      </p:graphicFrame>
      <p:sp>
        <p:nvSpPr>
          <p:cNvPr id="4" name="Content Placeholder 2">
            <a:extLst>
              <a:ext uri="{FF2B5EF4-FFF2-40B4-BE49-F238E27FC236}">
                <a16:creationId xmlns:a16="http://schemas.microsoft.com/office/drawing/2014/main" id="{CF44140D-EC65-5A27-655D-229B2C295DC7}"/>
              </a:ext>
            </a:extLst>
          </p:cNvPr>
          <p:cNvSpPr txBox="1">
            <a:spLocks/>
          </p:cNvSpPr>
          <p:nvPr/>
        </p:nvSpPr>
        <p:spPr>
          <a:xfrm>
            <a:off x="381675" y="868186"/>
            <a:ext cx="7886700" cy="299244"/>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rgbClr val="021836"/>
              </a:buClr>
              <a:buNone/>
            </a:pPr>
            <a:r>
              <a:rPr lang="en-US" sz="1200" i="1" dirty="0">
                <a:solidFill>
                  <a:schemeClr val="bg1">
                    <a:lumMod val="50000"/>
                  </a:schemeClr>
                </a:solidFill>
              </a:rPr>
              <a:t>How work crosses from today’s reality to tomorrow’s value</a:t>
            </a:r>
          </a:p>
        </p:txBody>
      </p:sp>
      <p:sp>
        <p:nvSpPr>
          <p:cNvPr id="6" name="Content Placeholder 2">
            <a:extLst>
              <a:ext uri="{FF2B5EF4-FFF2-40B4-BE49-F238E27FC236}">
                <a16:creationId xmlns:a16="http://schemas.microsoft.com/office/drawing/2014/main" id="{42374ECB-0E6B-6C2C-B8D6-372F53C130C9}"/>
              </a:ext>
            </a:extLst>
          </p:cNvPr>
          <p:cNvSpPr txBox="1">
            <a:spLocks/>
          </p:cNvSpPr>
          <p:nvPr/>
        </p:nvSpPr>
        <p:spPr>
          <a:xfrm>
            <a:off x="5495397" y="2750630"/>
            <a:ext cx="3522204" cy="1872346"/>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bg1">
                  <a:lumMod val="50000"/>
                </a:schemeClr>
              </a:buClr>
            </a:pPr>
            <a:r>
              <a:rPr lang="en-US" sz="1400" dirty="0"/>
              <a:t>AI should assist work, </a:t>
            </a:r>
            <a:r>
              <a:rPr lang="en-US" sz="1400" dirty="0">
                <a:solidFill>
                  <a:srgbClr val="002060"/>
                </a:solidFill>
              </a:rPr>
              <a:t>not replace accountability</a:t>
            </a:r>
            <a:r>
              <a:rPr lang="en-US" sz="1400" dirty="0"/>
              <a:t>.</a:t>
            </a:r>
          </a:p>
          <a:p>
            <a:pPr>
              <a:buClr>
                <a:schemeClr val="bg1">
                  <a:lumMod val="50000"/>
                </a:schemeClr>
              </a:buClr>
            </a:pPr>
            <a:r>
              <a:rPr lang="en-US" sz="1400" dirty="0">
                <a:solidFill>
                  <a:srgbClr val="021836"/>
                </a:solidFill>
              </a:rPr>
              <a:t>Human oversight should be intentionally designed</a:t>
            </a:r>
            <a:r>
              <a:rPr lang="en-US" sz="1400" dirty="0"/>
              <a:t>.</a:t>
            </a:r>
            <a:endParaRPr lang="en-US" sz="1400" dirty="0">
              <a:solidFill>
                <a:srgbClr val="0396A6"/>
              </a:solidFill>
            </a:endParaRPr>
          </a:p>
          <a:p>
            <a:pPr>
              <a:buClr>
                <a:schemeClr val="bg1">
                  <a:lumMod val="50000"/>
                </a:schemeClr>
              </a:buClr>
            </a:pPr>
            <a:r>
              <a:rPr lang="en-US" sz="1400" dirty="0">
                <a:solidFill>
                  <a:srgbClr val="0396A6"/>
                </a:solidFill>
              </a:rPr>
              <a:t>Future-state workflows should improve outcomes, not simply automate tasks. </a:t>
            </a:r>
            <a:endParaRPr lang="en-US" sz="1400" dirty="0">
              <a:solidFill>
                <a:srgbClr val="021836"/>
              </a:solidFill>
            </a:endParaRPr>
          </a:p>
          <a:p>
            <a:pPr>
              <a:buClr>
                <a:schemeClr val="bg1">
                  <a:lumMod val="50000"/>
                </a:schemeClr>
              </a:buClr>
            </a:pPr>
            <a:r>
              <a:rPr lang="en-US" sz="1400" dirty="0">
                <a:solidFill>
                  <a:srgbClr val="FFC000"/>
                </a:solidFill>
              </a:rPr>
              <a:t>Business value should be measurable</a:t>
            </a:r>
          </a:p>
        </p:txBody>
      </p:sp>
      <p:sp>
        <p:nvSpPr>
          <p:cNvPr id="9" name="Right Brace 8">
            <a:extLst>
              <a:ext uri="{FF2B5EF4-FFF2-40B4-BE49-F238E27FC236}">
                <a16:creationId xmlns:a16="http://schemas.microsoft.com/office/drawing/2014/main" id="{EB78B006-DB1F-B12A-1C6D-3BB3CC738E65}"/>
              </a:ext>
            </a:extLst>
          </p:cNvPr>
          <p:cNvSpPr/>
          <p:nvPr/>
        </p:nvSpPr>
        <p:spPr>
          <a:xfrm>
            <a:off x="3083446" y="1578431"/>
            <a:ext cx="822791" cy="4302528"/>
          </a:xfrm>
          <a:prstGeom prst="rightBrace">
            <a:avLst/>
          </a:prstGeom>
          <a:ln>
            <a:solidFill>
              <a:srgbClr val="021836"/>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nvGrpSpPr>
          <p:cNvPr id="14" name="Group 13">
            <a:extLst>
              <a:ext uri="{FF2B5EF4-FFF2-40B4-BE49-F238E27FC236}">
                <a16:creationId xmlns:a16="http://schemas.microsoft.com/office/drawing/2014/main" id="{72E180E7-2C2B-6D24-0A00-B3F00B93A6A8}"/>
              </a:ext>
            </a:extLst>
          </p:cNvPr>
          <p:cNvGrpSpPr/>
          <p:nvPr/>
        </p:nvGrpSpPr>
        <p:grpSpPr>
          <a:xfrm>
            <a:off x="3689500" y="3569838"/>
            <a:ext cx="1813006" cy="321017"/>
            <a:chOff x="4642223" y="769428"/>
            <a:chExt cx="1813006" cy="321017"/>
          </a:xfrm>
        </p:grpSpPr>
        <p:sp>
          <p:nvSpPr>
            <p:cNvPr id="13" name="Rectangle: Rounded Corners 12">
              <a:extLst>
                <a:ext uri="{FF2B5EF4-FFF2-40B4-BE49-F238E27FC236}">
                  <a16:creationId xmlns:a16="http://schemas.microsoft.com/office/drawing/2014/main" id="{5C7DF212-DEC0-8FBE-D7A5-AFA48D559CB8}"/>
                </a:ext>
              </a:extLst>
            </p:cNvPr>
            <p:cNvSpPr/>
            <p:nvPr/>
          </p:nvSpPr>
          <p:spPr>
            <a:xfrm>
              <a:off x="4653109" y="769428"/>
              <a:ext cx="1802120" cy="299244"/>
            </a:xfrm>
            <a:prstGeom prst="roundRect">
              <a:avLst/>
            </a:prstGeom>
            <a:solidFill>
              <a:srgbClr val="02183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ontent Placeholder 2">
              <a:extLst>
                <a:ext uri="{FF2B5EF4-FFF2-40B4-BE49-F238E27FC236}">
                  <a16:creationId xmlns:a16="http://schemas.microsoft.com/office/drawing/2014/main" id="{BFC291B0-C869-E92B-7664-841B9FB1318D}"/>
                </a:ext>
              </a:extLst>
            </p:cNvPr>
            <p:cNvSpPr txBox="1">
              <a:spLocks/>
            </p:cNvSpPr>
            <p:nvPr/>
          </p:nvSpPr>
          <p:spPr>
            <a:xfrm>
              <a:off x="4642223" y="791200"/>
              <a:ext cx="1802120" cy="299245"/>
            </a:xfrm>
            <a:prstGeom prst="rect">
              <a:avLst/>
            </a:prstGeom>
          </p:spPr>
          <p:txBody>
            <a:bodyPr vert="horz" lIns="45720" tIns="45720" rIns="45720" bIns="45720" numCol="1"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Clr>
                  <a:schemeClr val="bg1">
                    <a:lumMod val="50000"/>
                  </a:schemeClr>
                </a:buClr>
                <a:buNone/>
              </a:pPr>
              <a:r>
                <a:rPr lang="en-US" sz="1600" b="1" dirty="0">
                  <a:solidFill>
                    <a:schemeClr val="bg1"/>
                  </a:solidFill>
                </a:rPr>
                <a:t>Design Principles</a:t>
              </a:r>
              <a:endParaRPr lang="en-US" sz="1600" dirty="0">
                <a:solidFill>
                  <a:schemeClr val="bg1"/>
                </a:solidFill>
              </a:endParaRPr>
            </a:p>
          </p:txBody>
        </p:sp>
      </p:grpSp>
      <p:sp>
        <p:nvSpPr>
          <p:cNvPr id="7" name="TextBox 6">
            <a:extLst>
              <a:ext uri="{FF2B5EF4-FFF2-40B4-BE49-F238E27FC236}">
                <a16:creationId xmlns:a16="http://schemas.microsoft.com/office/drawing/2014/main" id="{7EF7D10C-1632-3C4E-B059-F453E04AB238}"/>
              </a:ext>
            </a:extLst>
          </p:cNvPr>
          <p:cNvSpPr txBox="1"/>
          <p:nvPr/>
        </p:nvSpPr>
        <p:spPr>
          <a:xfrm>
            <a:off x="4408714" y="64309"/>
            <a:ext cx="4628748" cy="276999"/>
          </a:xfrm>
          <a:prstGeom prst="rect">
            <a:avLst/>
          </a:prstGeom>
          <a:noFill/>
        </p:spPr>
        <p:txBody>
          <a:bodyPr wrap="square" rtlCol="0">
            <a:spAutoFit/>
          </a:bodyPr>
          <a:lstStyle/>
          <a:p>
            <a:pPr algn="r"/>
            <a:r>
              <a:rPr lang="en-US" sz="1200" dirty="0">
                <a:solidFill>
                  <a:schemeClr val="bg1">
                    <a:lumMod val="50000"/>
                  </a:schemeClr>
                </a:solidFill>
              </a:rPr>
              <a:t>AI Operational Readiness • Current-State – Future-State Framework</a:t>
            </a:r>
          </a:p>
        </p:txBody>
      </p:sp>
    </p:spTree>
    <p:extLst>
      <p:ext uri="{BB962C8B-B14F-4D97-AF65-F5344CB8AC3E}">
        <p14:creationId xmlns:p14="http://schemas.microsoft.com/office/powerpoint/2010/main" val="32246406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4A20EB-F0F1-633E-A917-29CACC76D2DD}"/>
              </a:ext>
            </a:extLst>
          </p:cNvPr>
          <p:cNvSpPr>
            <a:spLocks noGrp="1"/>
          </p:cNvSpPr>
          <p:nvPr>
            <p:ph type="title"/>
          </p:nvPr>
        </p:nvSpPr>
        <p:spPr>
          <a:xfrm>
            <a:off x="273534" y="-86630"/>
            <a:ext cx="7886700" cy="1325563"/>
          </a:xfrm>
        </p:spPr>
        <p:txBody>
          <a:bodyPr/>
          <a:lstStyle/>
          <a:p>
            <a:r>
              <a:rPr lang="en-US" dirty="0"/>
              <a:t>Current State</a:t>
            </a:r>
          </a:p>
        </p:txBody>
      </p:sp>
      <p:cxnSp>
        <p:nvCxnSpPr>
          <p:cNvPr id="5" name="Straight Connector 4">
            <a:extLst>
              <a:ext uri="{FF2B5EF4-FFF2-40B4-BE49-F238E27FC236}">
                <a16:creationId xmlns:a16="http://schemas.microsoft.com/office/drawing/2014/main" id="{D2225A3E-CB1E-5FDD-58D9-DABE23851C5E}"/>
              </a:ext>
            </a:extLst>
          </p:cNvPr>
          <p:cNvCxnSpPr>
            <a:cxnSpLocks/>
          </p:cNvCxnSpPr>
          <p:nvPr/>
        </p:nvCxnSpPr>
        <p:spPr>
          <a:xfrm>
            <a:off x="171450" y="5200201"/>
            <a:ext cx="8801100" cy="0"/>
          </a:xfrm>
          <a:prstGeom prst="line">
            <a:avLst/>
          </a:prstGeom>
          <a:ln w="9525">
            <a:solidFill>
              <a:srgbClr val="0396A6"/>
            </a:solidFill>
          </a:ln>
        </p:spPr>
        <p:style>
          <a:lnRef idx="2">
            <a:schemeClr val="accent1"/>
          </a:lnRef>
          <a:fillRef idx="0">
            <a:schemeClr val="accent1"/>
          </a:fillRef>
          <a:effectRef idx="1">
            <a:schemeClr val="accent1"/>
          </a:effectRef>
          <a:fontRef idx="minor">
            <a:schemeClr val="tx1"/>
          </a:fontRef>
        </p:style>
      </p:cxnSp>
      <p:grpSp>
        <p:nvGrpSpPr>
          <p:cNvPr id="6" name="Group 5">
            <a:extLst>
              <a:ext uri="{FF2B5EF4-FFF2-40B4-BE49-F238E27FC236}">
                <a16:creationId xmlns:a16="http://schemas.microsoft.com/office/drawing/2014/main" id="{012F025E-6950-8ECC-5F8B-24E78459DEA5}"/>
              </a:ext>
            </a:extLst>
          </p:cNvPr>
          <p:cNvGrpSpPr/>
          <p:nvPr/>
        </p:nvGrpSpPr>
        <p:grpSpPr>
          <a:xfrm>
            <a:off x="303438" y="5292275"/>
            <a:ext cx="7886700" cy="820961"/>
            <a:chOff x="628650" y="4778376"/>
            <a:chExt cx="7886700" cy="820961"/>
          </a:xfrm>
        </p:grpSpPr>
        <p:sp>
          <p:nvSpPr>
            <p:cNvPr id="7" name="Content Placeholder 2">
              <a:extLst>
                <a:ext uri="{FF2B5EF4-FFF2-40B4-BE49-F238E27FC236}">
                  <a16:creationId xmlns:a16="http://schemas.microsoft.com/office/drawing/2014/main" id="{3BB86A12-8F81-9A3C-AC12-AE0133CAA661}"/>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Opportunity Signals</a:t>
              </a:r>
            </a:p>
          </p:txBody>
        </p:sp>
        <p:sp>
          <p:nvSpPr>
            <p:cNvPr id="8" name="Content Placeholder 2">
              <a:extLst>
                <a:ext uri="{FF2B5EF4-FFF2-40B4-BE49-F238E27FC236}">
                  <a16:creationId xmlns:a16="http://schemas.microsoft.com/office/drawing/2014/main" id="{E11AED5A-8DAC-22E5-EF00-7B32508C0E46}"/>
                </a:ext>
              </a:extLst>
            </p:cNvPr>
            <p:cNvSpPr txBox="1">
              <a:spLocks/>
            </p:cNvSpPr>
            <p:nvPr/>
          </p:nvSpPr>
          <p:spPr>
            <a:xfrm>
              <a:off x="628650" y="5032600"/>
              <a:ext cx="7305675" cy="566737"/>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Clr>
                  <a:srgbClr val="021836"/>
                </a:buClr>
                <a:buNone/>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Manual work • Multiple handoffs • Repeated searching • Spreadsheet dependency • Context switching • Tribal </a:t>
              </a:r>
              <a:r>
                <a:rPr kumimoji="0" lang="en-US" sz="1200" b="0" i="1" u="none" strike="noStrike" kern="1200" cap="none" spc="0" normalizeH="0" baseline="0" noProof="0" dirty="0" err="1">
                  <a:ln>
                    <a:noFill/>
                  </a:ln>
                  <a:solidFill>
                    <a:prstClr val="white">
                      <a:lumMod val="50000"/>
                    </a:prstClr>
                  </a:solidFill>
                  <a:effectLst/>
                  <a:uLnTx/>
                  <a:uFillTx/>
                  <a:latin typeface="Aptos" panose="02110004020202020204"/>
                  <a:ea typeface="+mn-ea"/>
                  <a:cs typeface="+mn-cs"/>
                </a:rPr>
                <a:t>kn</a:t>
              </a:r>
              <a:r>
                <a:rPr lang="en-US" sz="1200" i="1" dirty="0" err="1">
                  <a:solidFill>
                    <a:prstClr val="white">
                      <a:lumMod val="50000"/>
                    </a:prstClr>
                  </a:solidFill>
                  <a:latin typeface="Aptos" panose="02110004020202020204"/>
                </a:rPr>
                <a:t>owledge</a:t>
              </a:r>
              <a:r>
                <a:rPr lang="en-US" sz="1200" i="1" dirty="0">
                  <a:solidFill>
                    <a:prstClr val="white">
                      <a:lumMod val="50000"/>
                    </a:prstClr>
                  </a:solidFill>
                </a:rPr>
                <a:t> • Duplicate effort • Waiting</a:t>
              </a:r>
              <a:endPar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endParaRPr>
            </a:p>
          </p:txBody>
        </p:sp>
      </p:grpSp>
      <p:sp>
        <p:nvSpPr>
          <p:cNvPr id="9" name="Content Placeholder 2">
            <a:extLst>
              <a:ext uri="{FF2B5EF4-FFF2-40B4-BE49-F238E27FC236}">
                <a16:creationId xmlns:a16="http://schemas.microsoft.com/office/drawing/2014/main" id="{48E51978-00F1-B6E7-729C-1B8DF030C461}"/>
              </a:ext>
            </a:extLst>
          </p:cNvPr>
          <p:cNvSpPr txBox="1">
            <a:spLocks/>
          </p:cNvSpPr>
          <p:nvPr/>
        </p:nvSpPr>
        <p:spPr>
          <a:xfrm>
            <a:off x="317078" y="844267"/>
            <a:ext cx="7886700" cy="299244"/>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Understanding how work happens today, including handoffs and workarounds</a:t>
            </a:r>
          </a:p>
        </p:txBody>
      </p:sp>
      <p:grpSp>
        <p:nvGrpSpPr>
          <p:cNvPr id="10" name="Group 9">
            <a:extLst>
              <a:ext uri="{FF2B5EF4-FFF2-40B4-BE49-F238E27FC236}">
                <a16:creationId xmlns:a16="http://schemas.microsoft.com/office/drawing/2014/main" id="{647C784E-6FC5-57F8-CAD7-249092DD7CC3}"/>
              </a:ext>
            </a:extLst>
          </p:cNvPr>
          <p:cNvGrpSpPr/>
          <p:nvPr/>
        </p:nvGrpSpPr>
        <p:grpSpPr>
          <a:xfrm>
            <a:off x="303438" y="6068163"/>
            <a:ext cx="7886700" cy="820961"/>
            <a:chOff x="628650" y="4778376"/>
            <a:chExt cx="7886700" cy="820961"/>
          </a:xfrm>
        </p:grpSpPr>
        <p:sp>
          <p:nvSpPr>
            <p:cNvPr id="11" name="Content Placeholder 2">
              <a:extLst>
                <a:ext uri="{FF2B5EF4-FFF2-40B4-BE49-F238E27FC236}">
                  <a16:creationId xmlns:a16="http://schemas.microsoft.com/office/drawing/2014/main" id="{668DE4EE-D8EE-587C-2870-BAECABC1E2A0}"/>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Why This Matters</a:t>
              </a:r>
            </a:p>
          </p:txBody>
        </p:sp>
        <p:sp>
          <p:nvSpPr>
            <p:cNvPr id="12" name="Content Placeholder 2">
              <a:extLst>
                <a:ext uri="{FF2B5EF4-FFF2-40B4-BE49-F238E27FC236}">
                  <a16:creationId xmlns:a16="http://schemas.microsoft.com/office/drawing/2014/main" id="{55AC87B1-3B03-B341-B72F-17237C69A84F}"/>
                </a:ext>
              </a:extLst>
            </p:cNvPr>
            <p:cNvSpPr txBox="1">
              <a:spLocks/>
            </p:cNvSpPr>
            <p:nvPr/>
          </p:nvSpPr>
          <p:spPr>
            <a:xfrm>
              <a:off x="628650" y="5032600"/>
              <a:ext cx="7886700" cy="566737"/>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lang="en-US" sz="1200" dirty="0">
                  <a:solidFill>
                    <a:srgbClr val="021836"/>
                  </a:solidFill>
                  <a:latin typeface="Aptos" panose="02110004020202020204"/>
                </a:rPr>
                <a:t>Future-state workflows should begin with understanding today’s work, not with selecting AI capabilities.</a:t>
              </a:r>
              <a:endPar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endParaRPr>
            </a:p>
          </p:txBody>
        </p:sp>
      </p:grpSp>
      <p:graphicFrame>
        <p:nvGraphicFramePr>
          <p:cNvPr id="13" name="Table 12">
            <a:extLst>
              <a:ext uri="{FF2B5EF4-FFF2-40B4-BE49-F238E27FC236}">
                <a16:creationId xmlns:a16="http://schemas.microsoft.com/office/drawing/2014/main" id="{E1AF20BB-126A-AE2E-8229-2D75E4B88BD1}"/>
              </a:ext>
            </a:extLst>
          </p:cNvPr>
          <p:cNvGraphicFramePr>
            <a:graphicFrameLocks noGrp="1"/>
          </p:cNvGraphicFramePr>
          <p:nvPr/>
        </p:nvGraphicFramePr>
        <p:xfrm>
          <a:off x="435427" y="1238932"/>
          <a:ext cx="8218714" cy="3281434"/>
        </p:xfrm>
        <a:graphic>
          <a:graphicData uri="http://schemas.openxmlformats.org/drawingml/2006/table">
            <a:tbl>
              <a:tblPr firstRow="1" bandRow="1">
                <a:tableStyleId>{2D5ABB26-0587-4C30-8999-92F81FD0307C}</a:tableStyleId>
              </a:tblPr>
              <a:tblGrid>
                <a:gridCol w="3287487">
                  <a:extLst>
                    <a:ext uri="{9D8B030D-6E8A-4147-A177-3AD203B41FA5}">
                      <a16:colId xmlns:a16="http://schemas.microsoft.com/office/drawing/2014/main" val="2470210094"/>
                    </a:ext>
                  </a:extLst>
                </a:gridCol>
                <a:gridCol w="4931227">
                  <a:extLst>
                    <a:ext uri="{9D8B030D-6E8A-4147-A177-3AD203B41FA5}">
                      <a16:colId xmlns:a16="http://schemas.microsoft.com/office/drawing/2014/main" val="72878264"/>
                    </a:ext>
                  </a:extLst>
                </a:gridCol>
              </a:tblGrid>
              <a:tr h="372154">
                <a:tc>
                  <a:txBody>
                    <a:bodyPr/>
                    <a:lstStyle/>
                    <a:p>
                      <a:r>
                        <a:rPr lang="en-US" sz="1600" b="1" dirty="0">
                          <a:solidFill>
                            <a:srgbClr val="021836"/>
                          </a:solidFill>
                        </a:rPr>
                        <a:t>Current-State Elements</a:t>
                      </a:r>
                    </a:p>
                  </a:txBody>
                  <a:tcPr>
                    <a:lnR w="12700" cap="flat" cmpd="sng" algn="ctr">
                      <a:solidFill>
                        <a:schemeClr val="bg1">
                          <a:lumMod val="75000"/>
                        </a:schemeClr>
                      </a:solidFill>
                      <a:prstDash val="solid"/>
                      <a:round/>
                      <a:headEnd type="none" w="med" len="med"/>
                      <a:tailEnd type="none" w="med" len="med"/>
                    </a:lnR>
                    <a:lnB w="12700" cap="flat" cmpd="sng" algn="ctr">
                      <a:solidFill>
                        <a:srgbClr val="0396A6"/>
                      </a:solidFill>
                      <a:prstDash val="solid"/>
                      <a:round/>
                      <a:headEnd type="none" w="med" len="med"/>
                      <a:tailEnd type="none" w="med" len="med"/>
                    </a:lnB>
                  </a:tcPr>
                </a:tc>
                <a:tc>
                  <a:txBody>
                    <a:bodyPr/>
                    <a:lstStyle/>
                    <a:p>
                      <a:r>
                        <a:rPr lang="en-US" sz="1600" b="1" dirty="0">
                          <a:solidFill>
                            <a:srgbClr val="021836"/>
                          </a:solidFill>
                        </a:rPr>
                        <a:t>Proposed Design</a:t>
                      </a:r>
                    </a:p>
                  </a:txBody>
                  <a:tcPr>
                    <a:lnL w="12700" cap="flat" cmpd="sng" algn="ctr">
                      <a:solidFill>
                        <a:schemeClr val="bg1">
                          <a:lumMod val="75000"/>
                        </a:schemeClr>
                      </a:solidFill>
                      <a:prstDash val="solid"/>
                      <a:round/>
                      <a:headEnd type="none" w="med" len="med"/>
                      <a:tailEnd type="none" w="med" len="med"/>
                    </a:lnL>
                    <a:lnB w="12700" cap="flat" cmpd="sng" algn="ctr">
                      <a:solidFill>
                        <a:srgbClr val="0396A6"/>
                      </a:solidFill>
                      <a:prstDash val="solid"/>
                      <a:round/>
                      <a:headEnd type="none" w="med" len="med"/>
                      <a:tailEnd type="none" w="med" len="med"/>
                    </a:lnB>
                  </a:tcPr>
                </a:tc>
                <a:extLst>
                  <a:ext uri="{0D108BD9-81ED-4DB2-BD59-A6C34878D82A}">
                    <a16:rowId xmlns:a16="http://schemas.microsoft.com/office/drawing/2014/main" val="2061593276"/>
                  </a:ext>
                </a:extLst>
              </a:tr>
              <a:tr h="581856">
                <a:tc>
                  <a:txBody>
                    <a:bodyPr/>
                    <a:lstStyle/>
                    <a:p>
                      <a:pPr>
                        <a:buClr>
                          <a:schemeClr val="bg1">
                            <a:lumMod val="50000"/>
                          </a:schemeClr>
                        </a:buClr>
                      </a:pPr>
                      <a:r>
                        <a:rPr lang="en-US" sz="1200" b="1" dirty="0">
                          <a:solidFill>
                            <a:srgbClr val="021836"/>
                          </a:solidFill>
                        </a:rPr>
                        <a:t>Workflow: </a:t>
                      </a:r>
                      <a:r>
                        <a:rPr lang="en-US" sz="1200" dirty="0"/>
                        <a:t>How the work is performed today, including handoffs and workarounds</a:t>
                      </a:r>
                    </a:p>
                  </a:txBody>
                  <a:tcPr>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75000"/>
                        </a:schemeClr>
                      </a:solidFill>
                      <a:prstDash val="solid"/>
                      <a:round/>
                      <a:headEnd type="none" w="med" len="med"/>
                      <a:tailEnd type="none" w="med" len="med"/>
                    </a:lnL>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493753442"/>
                  </a:ext>
                </a:extLst>
              </a:tr>
              <a:tr h="581856">
                <a:tc>
                  <a:txBody>
                    <a:bodyPr/>
                    <a:lstStyle/>
                    <a:p>
                      <a:pPr>
                        <a:buClr>
                          <a:schemeClr val="bg1">
                            <a:lumMod val="50000"/>
                          </a:schemeClr>
                        </a:buClr>
                      </a:pPr>
                      <a:r>
                        <a:rPr lang="en-US" sz="1200" b="1" dirty="0">
                          <a:solidFill>
                            <a:srgbClr val="021836"/>
                          </a:solidFill>
                        </a:rPr>
                        <a:t>Inputs: </a:t>
                      </a:r>
                      <a:r>
                        <a:rPr lang="en-US" sz="1200" dirty="0"/>
                        <a:t>Information, documents, systems, and data required.</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23325965"/>
                  </a:ext>
                </a:extLst>
              </a:tr>
              <a:tr h="581856">
                <a:tc>
                  <a:txBody>
                    <a:bodyPr/>
                    <a:lstStyle/>
                    <a:p>
                      <a:pPr>
                        <a:buClr>
                          <a:schemeClr val="bg1">
                            <a:lumMod val="50000"/>
                          </a:schemeClr>
                        </a:buClr>
                      </a:pPr>
                      <a:r>
                        <a:rPr lang="en-US" sz="1200" b="1" dirty="0">
                          <a:solidFill>
                            <a:srgbClr val="021836"/>
                          </a:solidFill>
                        </a:rPr>
                        <a:t>Outputs: </a:t>
                      </a:r>
                      <a:r>
                        <a:rPr lang="en-US" sz="1200" dirty="0"/>
                        <a:t>Artifacts, decisions, reports, or actions produced.</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845834834"/>
                  </a:ext>
                </a:extLst>
              </a:tr>
              <a:tr h="581856">
                <a:tc>
                  <a:txBody>
                    <a:bodyPr/>
                    <a:lstStyle/>
                    <a:p>
                      <a:pPr>
                        <a:buClr>
                          <a:schemeClr val="bg1">
                            <a:lumMod val="50000"/>
                          </a:schemeClr>
                        </a:buClr>
                      </a:pPr>
                      <a:r>
                        <a:rPr lang="en-US" sz="1200" b="1" dirty="0">
                          <a:solidFill>
                            <a:srgbClr val="021836"/>
                          </a:solidFill>
                        </a:rPr>
                        <a:t>Dependencies: </a:t>
                      </a:r>
                      <a:r>
                        <a:rPr lang="en-US" sz="1200" dirty="0"/>
                        <a:t>People, teams, approvals, or systems the work relies upon.</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012176639"/>
                  </a:ext>
                </a:extLst>
              </a:tr>
              <a:tr h="581856">
                <a:tc>
                  <a:txBody>
                    <a:bodyPr/>
                    <a:lstStyle/>
                    <a:p>
                      <a:pPr>
                        <a:buClr>
                          <a:schemeClr val="bg1">
                            <a:lumMod val="50000"/>
                          </a:schemeClr>
                        </a:buClr>
                      </a:pPr>
                      <a:r>
                        <a:rPr lang="en-US" sz="1200" b="1" dirty="0">
                          <a:solidFill>
                            <a:srgbClr val="021836"/>
                          </a:solidFill>
                        </a:rPr>
                        <a:t>Constraints: </a:t>
                      </a:r>
                      <a:r>
                        <a:rPr lang="en-US" sz="1200" dirty="0"/>
                        <a:t>Pain points, delays, review burden, bottlenecks, or limitations. </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tcPr>
                </a:tc>
                <a:tc>
                  <a:txBody>
                    <a:bodyPr/>
                    <a:lstStyle/>
                    <a:p>
                      <a:endParaRPr lang="en-US" dirty="0"/>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tcPr>
                </a:tc>
                <a:extLst>
                  <a:ext uri="{0D108BD9-81ED-4DB2-BD59-A6C34878D82A}">
                    <a16:rowId xmlns:a16="http://schemas.microsoft.com/office/drawing/2014/main" val="3567521445"/>
                  </a:ext>
                </a:extLst>
              </a:tr>
            </a:tbl>
          </a:graphicData>
        </a:graphic>
      </p:graphicFrame>
      <p:sp>
        <p:nvSpPr>
          <p:cNvPr id="4" name="TextBox 3">
            <a:extLst>
              <a:ext uri="{FF2B5EF4-FFF2-40B4-BE49-F238E27FC236}">
                <a16:creationId xmlns:a16="http://schemas.microsoft.com/office/drawing/2014/main" id="{0D47B77A-BF38-9422-CDD7-2D9151E8BADF}"/>
              </a:ext>
            </a:extLst>
          </p:cNvPr>
          <p:cNvSpPr txBox="1"/>
          <p:nvPr/>
        </p:nvSpPr>
        <p:spPr>
          <a:xfrm>
            <a:off x="4408714" y="64309"/>
            <a:ext cx="4628748" cy="276999"/>
          </a:xfrm>
          <a:prstGeom prst="rect">
            <a:avLst/>
          </a:prstGeom>
          <a:noFill/>
        </p:spPr>
        <p:txBody>
          <a:bodyPr wrap="square" rtlCol="0">
            <a:spAutoFit/>
          </a:bodyPr>
          <a:lstStyle/>
          <a:p>
            <a:pPr algn="r"/>
            <a:r>
              <a:rPr lang="en-US" sz="1200" dirty="0">
                <a:solidFill>
                  <a:schemeClr val="bg1">
                    <a:lumMod val="50000"/>
                  </a:schemeClr>
                </a:solidFill>
              </a:rPr>
              <a:t>AI Operational Readiness • Current-State – Future-State Framework</a:t>
            </a:r>
          </a:p>
        </p:txBody>
      </p:sp>
    </p:spTree>
    <p:extLst>
      <p:ext uri="{BB962C8B-B14F-4D97-AF65-F5344CB8AC3E}">
        <p14:creationId xmlns:p14="http://schemas.microsoft.com/office/powerpoint/2010/main" val="29877219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DC71FF-CBF4-FC54-7A2B-D7254BB031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AF52D9-FE03-2BD0-E5E9-269315222672}"/>
              </a:ext>
            </a:extLst>
          </p:cNvPr>
          <p:cNvSpPr>
            <a:spLocks noGrp="1"/>
          </p:cNvSpPr>
          <p:nvPr>
            <p:ph type="title"/>
          </p:nvPr>
        </p:nvSpPr>
        <p:spPr>
          <a:xfrm>
            <a:off x="273534" y="-86630"/>
            <a:ext cx="7886700" cy="1325563"/>
          </a:xfrm>
        </p:spPr>
        <p:txBody>
          <a:bodyPr/>
          <a:lstStyle/>
          <a:p>
            <a:r>
              <a:rPr lang="en-US" dirty="0"/>
              <a:t>Opportunity</a:t>
            </a:r>
          </a:p>
        </p:txBody>
      </p:sp>
      <p:cxnSp>
        <p:nvCxnSpPr>
          <p:cNvPr id="5" name="Straight Connector 4">
            <a:extLst>
              <a:ext uri="{FF2B5EF4-FFF2-40B4-BE49-F238E27FC236}">
                <a16:creationId xmlns:a16="http://schemas.microsoft.com/office/drawing/2014/main" id="{B66E4774-80BF-FC3B-6830-11BD80B69711}"/>
              </a:ext>
            </a:extLst>
          </p:cNvPr>
          <p:cNvCxnSpPr>
            <a:cxnSpLocks/>
          </p:cNvCxnSpPr>
          <p:nvPr/>
        </p:nvCxnSpPr>
        <p:spPr>
          <a:xfrm>
            <a:off x="171450" y="5047801"/>
            <a:ext cx="8801100" cy="0"/>
          </a:xfrm>
          <a:prstGeom prst="line">
            <a:avLst/>
          </a:prstGeom>
          <a:ln w="9525">
            <a:solidFill>
              <a:srgbClr val="0396A6"/>
            </a:solidFill>
          </a:ln>
        </p:spPr>
        <p:style>
          <a:lnRef idx="2">
            <a:schemeClr val="accent1"/>
          </a:lnRef>
          <a:fillRef idx="0">
            <a:schemeClr val="accent1"/>
          </a:fillRef>
          <a:effectRef idx="1">
            <a:schemeClr val="accent1"/>
          </a:effectRef>
          <a:fontRef idx="minor">
            <a:schemeClr val="tx1"/>
          </a:fontRef>
        </p:style>
      </p:cxnSp>
      <p:sp>
        <p:nvSpPr>
          <p:cNvPr id="9" name="Content Placeholder 2">
            <a:extLst>
              <a:ext uri="{FF2B5EF4-FFF2-40B4-BE49-F238E27FC236}">
                <a16:creationId xmlns:a16="http://schemas.microsoft.com/office/drawing/2014/main" id="{2C849893-F0E0-F39D-BE28-77D78D0FEAF9}"/>
              </a:ext>
            </a:extLst>
          </p:cNvPr>
          <p:cNvSpPr txBox="1">
            <a:spLocks/>
          </p:cNvSpPr>
          <p:nvPr/>
        </p:nvSpPr>
        <p:spPr>
          <a:xfrm>
            <a:off x="317078" y="844267"/>
            <a:ext cx="7886700" cy="299244"/>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Clr>
                <a:srgbClr val="021836"/>
              </a:buClr>
              <a:buNone/>
              <a:defRPr/>
            </a:pPr>
            <a:r>
              <a:rPr lang="en-US" sz="1200" i="1" dirty="0">
                <a:solidFill>
                  <a:prstClr val="white">
                    <a:lumMod val="50000"/>
                  </a:prstClr>
                </a:solidFill>
              </a:rPr>
              <a:t>Understanding what we are trying to improve</a:t>
            </a:r>
          </a:p>
        </p:txBody>
      </p:sp>
      <p:graphicFrame>
        <p:nvGraphicFramePr>
          <p:cNvPr id="13" name="Table 12">
            <a:extLst>
              <a:ext uri="{FF2B5EF4-FFF2-40B4-BE49-F238E27FC236}">
                <a16:creationId xmlns:a16="http://schemas.microsoft.com/office/drawing/2014/main" id="{C666EDCE-2B28-CA45-F457-8B88EBA10F5B}"/>
              </a:ext>
            </a:extLst>
          </p:cNvPr>
          <p:cNvGraphicFramePr>
            <a:graphicFrameLocks noGrp="1"/>
          </p:cNvGraphicFramePr>
          <p:nvPr/>
        </p:nvGraphicFramePr>
        <p:xfrm>
          <a:off x="435427" y="1397735"/>
          <a:ext cx="8218714" cy="3469686"/>
        </p:xfrm>
        <a:graphic>
          <a:graphicData uri="http://schemas.openxmlformats.org/drawingml/2006/table">
            <a:tbl>
              <a:tblPr firstRow="1" bandRow="1">
                <a:tableStyleId>{2D5ABB26-0587-4C30-8999-92F81FD0307C}</a:tableStyleId>
              </a:tblPr>
              <a:tblGrid>
                <a:gridCol w="3287487">
                  <a:extLst>
                    <a:ext uri="{9D8B030D-6E8A-4147-A177-3AD203B41FA5}">
                      <a16:colId xmlns:a16="http://schemas.microsoft.com/office/drawing/2014/main" val="2470210094"/>
                    </a:ext>
                  </a:extLst>
                </a:gridCol>
                <a:gridCol w="4931227">
                  <a:extLst>
                    <a:ext uri="{9D8B030D-6E8A-4147-A177-3AD203B41FA5}">
                      <a16:colId xmlns:a16="http://schemas.microsoft.com/office/drawing/2014/main" val="72878264"/>
                    </a:ext>
                  </a:extLst>
                </a:gridCol>
              </a:tblGrid>
              <a:tr h="334127">
                <a:tc>
                  <a:txBody>
                    <a:bodyPr/>
                    <a:lstStyle/>
                    <a:p>
                      <a:r>
                        <a:rPr lang="en-US" sz="1600" b="1" dirty="0">
                          <a:solidFill>
                            <a:srgbClr val="021836"/>
                          </a:solidFill>
                        </a:rPr>
                        <a:t>Opportunity Design Elements</a:t>
                      </a:r>
                    </a:p>
                  </a:txBody>
                  <a:tcPr>
                    <a:lnR w="12700" cap="flat" cmpd="sng" algn="ctr">
                      <a:solidFill>
                        <a:schemeClr val="bg1">
                          <a:lumMod val="75000"/>
                        </a:schemeClr>
                      </a:solidFill>
                      <a:prstDash val="solid"/>
                      <a:round/>
                      <a:headEnd type="none" w="med" len="med"/>
                      <a:tailEnd type="none" w="med" len="med"/>
                    </a:lnR>
                    <a:lnB w="12700" cap="flat" cmpd="sng" algn="ctr">
                      <a:solidFill>
                        <a:srgbClr val="0396A6"/>
                      </a:solidFill>
                      <a:prstDash val="solid"/>
                      <a:round/>
                      <a:headEnd type="none" w="med" len="med"/>
                      <a:tailEnd type="none" w="med" len="med"/>
                    </a:lnB>
                  </a:tcPr>
                </a:tc>
                <a:tc>
                  <a:txBody>
                    <a:bodyPr/>
                    <a:lstStyle/>
                    <a:p>
                      <a:r>
                        <a:rPr lang="en-US" sz="1600" b="1" dirty="0">
                          <a:solidFill>
                            <a:srgbClr val="021836"/>
                          </a:solidFill>
                        </a:rPr>
                        <a:t>Proposed Design</a:t>
                      </a:r>
                    </a:p>
                  </a:txBody>
                  <a:tcPr>
                    <a:lnL w="12700" cap="flat" cmpd="sng" algn="ctr">
                      <a:solidFill>
                        <a:schemeClr val="bg1">
                          <a:lumMod val="75000"/>
                        </a:schemeClr>
                      </a:solidFill>
                      <a:prstDash val="solid"/>
                      <a:round/>
                      <a:headEnd type="none" w="med" len="med"/>
                      <a:tailEnd type="none" w="med" len="med"/>
                    </a:lnL>
                    <a:lnB w="12700" cap="flat" cmpd="sng" algn="ctr">
                      <a:solidFill>
                        <a:srgbClr val="0396A6"/>
                      </a:solidFill>
                      <a:prstDash val="solid"/>
                      <a:round/>
                      <a:headEnd type="none" w="med" len="med"/>
                      <a:tailEnd type="none" w="med" len="med"/>
                    </a:lnB>
                  </a:tcPr>
                </a:tc>
                <a:extLst>
                  <a:ext uri="{0D108BD9-81ED-4DB2-BD59-A6C34878D82A}">
                    <a16:rowId xmlns:a16="http://schemas.microsoft.com/office/drawing/2014/main" val="2061593276"/>
                  </a:ext>
                </a:extLst>
              </a:tr>
              <a:tr h="522401">
                <a:tc>
                  <a:txBody>
                    <a:bodyPr/>
                    <a:lstStyle/>
                    <a:p>
                      <a:pPr>
                        <a:buClr>
                          <a:schemeClr val="bg1">
                            <a:lumMod val="50000"/>
                          </a:schemeClr>
                        </a:buClr>
                      </a:pPr>
                      <a:r>
                        <a:rPr lang="en-US" sz="1400" b="1" dirty="0">
                          <a:solidFill>
                            <a:srgbClr val="021836"/>
                          </a:solidFill>
                        </a:rPr>
                        <a:t>Intended Improvement</a:t>
                      </a:r>
                      <a:endParaRPr lang="en-US" sz="1400" dirty="0"/>
                    </a:p>
                  </a:txBody>
                  <a:tcPr>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400" dirty="0"/>
                        <a:t>What should become faster, easier, more accurate, or more consistent.</a:t>
                      </a:r>
                    </a:p>
                  </a:txBody>
                  <a:tcPr>
                    <a:lnL w="12700" cap="flat" cmpd="sng" algn="ctr">
                      <a:solidFill>
                        <a:schemeClr val="bg1">
                          <a:lumMod val="75000"/>
                        </a:schemeClr>
                      </a:solidFill>
                      <a:prstDash val="solid"/>
                      <a:round/>
                      <a:headEnd type="none" w="med" len="med"/>
                      <a:tailEnd type="none" w="med" len="med"/>
                    </a:lnL>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493753442"/>
                  </a:ext>
                </a:extLst>
              </a:tr>
              <a:tr h="522401">
                <a:tc>
                  <a:txBody>
                    <a:bodyPr/>
                    <a:lstStyle/>
                    <a:p>
                      <a:pPr>
                        <a:buClr>
                          <a:schemeClr val="bg1">
                            <a:lumMod val="50000"/>
                          </a:schemeClr>
                        </a:buClr>
                      </a:pPr>
                      <a:r>
                        <a:rPr lang="en-US" sz="1400" b="1" dirty="0">
                          <a:solidFill>
                            <a:srgbClr val="021836"/>
                          </a:solidFill>
                        </a:rPr>
                        <a:t>Value Area</a:t>
                      </a:r>
                      <a:endParaRPr lang="en-US" sz="1400" dirty="0"/>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400" dirty="0"/>
                        <a:t>Productivity, quality, customer experience, risk reduction, cost, speed, or decision support.</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23325965"/>
                  </a:ext>
                </a:extLst>
              </a:tr>
              <a:tr h="522401">
                <a:tc>
                  <a:txBody>
                    <a:bodyPr/>
                    <a:lstStyle/>
                    <a:p>
                      <a:pPr>
                        <a:buClr>
                          <a:schemeClr val="bg1">
                            <a:lumMod val="50000"/>
                          </a:schemeClr>
                        </a:buClr>
                      </a:pPr>
                      <a:r>
                        <a:rPr lang="en-US" sz="1400" b="1" dirty="0">
                          <a:solidFill>
                            <a:srgbClr val="021836"/>
                          </a:solidFill>
                        </a:rPr>
                        <a:t>AI Pattern</a:t>
                      </a:r>
                      <a:endParaRPr lang="en-US" sz="1400" dirty="0"/>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400" dirty="0"/>
                        <a:t>Primary and supporting capability pattern(s) identified during classification.</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845834834"/>
                  </a:ext>
                </a:extLst>
              </a:tr>
              <a:tr h="522401">
                <a:tc>
                  <a:txBody>
                    <a:bodyPr/>
                    <a:lstStyle/>
                    <a:p>
                      <a:pPr>
                        <a:buClr>
                          <a:schemeClr val="bg1">
                            <a:lumMod val="50000"/>
                          </a:schemeClr>
                        </a:buClr>
                      </a:pPr>
                      <a:r>
                        <a:rPr lang="en-US" sz="1400" b="1" dirty="0"/>
                        <a:t>Action Implication</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400" dirty="0"/>
                        <a:t>Inform, recommend, coordinate, act</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991780848"/>
                  </a:ext>
                </a:extLst>
              </a:tr>
              <a:tr h="522401">
                <a:tc>
                  <a:txBody>
                    <a:bodyPr/>
                    <a:lstStyle/>
                    <a:p>
                      <a:pPr>
                        <a:buClr>
                          <a:schemeClr val="bg1">
                            <a:lumMod val="50000"/>
                          </a:schemeClr>
                        </a:buClr>
                      </a:pPr>
                      <a:r>
                        <a:rPr lang="en-US" sz="1400" b="1" dirty="0"/>
                        <a:t>Priority Signal</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400" dirty="0"/>
                        <a:t>Why this opportunity was selected from the matrix.</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012176639"/>
                  </a:ext>
                </a:extLst>
              </a:tr>
              <a:tr h="522401">
                <a:tc>
                  <a:txBody>
                    <a:bodyPr/>
                    <a:lstStyle/>
                    <a:p>
                      <a:pPr>
                        <a:buClr>
                          <a:schemeClr val="bg1">
                            <a:lumMod val="50000"/>
                          </a:schemeClr>
                        </a:buClr>
                      </a:pPr>
                      <a:r>
                        <a:rPr lang="en-US" sz="1400" b="1" dirty="0">
                          <a:solidFill>
                            <a:srgbClr val="021836"/>
                          </a:solidFill>
                        </a:rPr>
                        <a:t>Success Hypothesis</a:t>
                      </a:r>
                      <a:endParaRPr lang="en-US" sz="1400" dirty="0"/>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tcPr>
                </a:tc>
                <a:tc>
                  <a:txBody>
                    <a:bodyPr/>
                    <a:lstStyle/>
                    <a:p>
                      <a:r>
                        <a:rPr lang="en-US" sz="1400" dirty="0"/>
                        <a:t>What we believe will improve if this opportunity is pursued.</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tcPr>
                </a:tc>
                <a:extLst>
                  <a:ext uri="{0D108BD9-81ED-4DB2-BD59-A6C34878D82A}">
                    <a16:rowId xmlns:a16="http://schemas.microsoft.com/office/drawing/2014/main" val="3567521445"/>
                  </a:ext>
                </a:extLst>
              </a:tr>
            </a:tbl>
          </a:graphicData>
        </a:graphic>
      </p:graphicFrame>
      <p:grpSp>
        <p:nvGrpSpPr>
          <p:cNvPr id="3" name="Group 2">
            <a:extLst>
              <a:ext uri="{FF2B5EF4-FFF2-40B4-BE49-F238E27FC236}">
                <a16:creationId xmlns:a16="http://schemas.microsoft.com/office/drawing/2014/main" id="{CD45A916-16AD-ACEF-6518-8F161584F910}"/>
              </a:ext>
            </a:extLst>
          </p:cNvPr>
          <p:cNvGrpSpPr/>
          <p:nvPr/>
        </p:nvGrpSpPr>
        <p:grpSpPr>
          <a:xfrm>
            <a:off x="542925" y="5319892"/>
            <a:ext cx="7886700" cy="820961"/>
            <a:chOff x="628650" y="4778376"/>
            <a:chExt cx="7886700" cy="820961"/>
          </a:xfrm>
        </p:grpSpPr>
        <p:sp>
          <p:nvSpPr>
            <p:cNvPr id="4" name="Content Placeholder 2">
              <a:extLst>
                <a:ext uri="{FF2B5EF4-FFF2-40B4-BE49-F238E27FC236}">
                  <a16:creationId xmlns:a16="http://schemas.microsoft.com/office/drawing/2014/main" id="{1F6D5240-9343-F4AE-2955-D27C7BFE36EA}"/>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Opportunity Signals</a:t>
              </a:r>
            </a:p>
          </p:txBody>
        </p:sp>
        <p:sp>
          <p:nvSpPr>
            <p:cNvPr id="14" name="Content Placeholder 2">
              <a:extLst>
                <a:ext uri="{FF2B5EF4-FFF2-40B4-BE49-F238E27FC236}">
                  <a16:creationId xmlns:a16="http://schemas.microsoft.com/office/drawing/2014/main" id="{57401E1A-5A8F-DBCC-5047-24856FE89468}"/>
                </a:ext>
              </a:extLst>
            </p:cNvPr>
            <p:cNvSpPr txBox="1">
              <a:spLocks/>
            </p:cNvSpPr>
            <p:nvPr/>
          </p:nvSpPr>
          <p:spPr>
            <a:xfrm>
              <a:off x="628650" y="5032600"/>
              <a:ext cx="7660853" cy="566737"/>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Clr>
                  <a:srgbClr val="021836"/>
                </a:buClr>
                <a:buNone/>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Repetition • Search burden • Review burden • Manual coordination • </a:t>
              </a:r>
              <a:r>
                <a:rPr lang="en-US" sz="1200" i="1" dirty="0">
                  <a:solidFill>
                    <a:prstClr val="white">
                      <a:lumMod val="50000"/>
                    </a:prstClr>
                  </a:solidFill>
                </a:rPr>
                <a:t>Handoffs • Drafting</a:t>
              </a: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 • Summarization</a:t>
              </a:r>
              <a:r>
                <a:rPr lang="en-US" sz="1200" i="1" dirty="0">
                  <a:solidFill>
                    <a:prstClr val="white">
                      <a:lumMod val="50000"/>
                    </a:prstClr>
                  </a:solidFill>
                </a:rPr>
                <a:t> • Decision support • Faster access to knowledge • Reduced rework</a:t>
              </a:r>
              <a:endPar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endParaRPr>
            </a:p>
          </p:txBody>
        </p:sp>
      </p:grpSp>
      <p:grpSp>
        <p:nvGrpSpPr>
          <p:cNvPr id="15" name="Group 14">
            <a:extLst>
              <a:ext uri="{FF2B5EF4-FFF2-40B4-BE49-F238E27FC236}">
                <a16:creationId xmlns:a16="http://schemas.microsoft.com/office/drawing/2014/main" id="{41DBD257-9BCB-6EF5-D203-0383DD51DA63}"/>
              </a:ext>
            </a:extLst>
          </p:cNvPr>
          <p:cNvGrpSpPr/>
          <p:nvPr/>
        </p:nvGrpSpPr>
        <p:grpSpPr>
          <a:xfrm>
            <a:off x="542925" y="6068163"/>
            <a:ext cx="7886700" cy="820961"/>
            <a:chOff x="628650" y="4778376"/>
            <a:chExt cx="7886700" cy="820961"/>
          </a:xfrm>
        </p:grpSpPr>
        <p:sp>
          <p:nvSpPr>
            <p:cNvPr id="16" name="Content Placeholder 2">
              <a:extLst>
                <a:ext uri="{FF2B5EF4-FFF2-40B4-BE49-F238E27FC236}">
                  <a16:creationId xmlns:a16="http://schemas.microsoft.com/office/drawing/2014/main" id="{A97303B5-EC29-834D-A025-02D5B2645279}"/>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Why This Matters</a:t>
              </a:r>
            </a:p>
          </p:txBody>
        </p:sp>
        <p:sp>
          <p:nvSpPr>
            <p:cNvPr id="17" name="Content Placeholder 2">
              <a:extLst>
                <a:ext uri="{FF2B5EF4-FFF2-40B4-BE49-F238E27FC236}">
                  <a16:creationId xmlns:a16="http://schemas.microsoft.com/office/drawing/2014/main" id="{5F397516-CF34-9BA0-6EFA-BF7B477C7478}"/>
                </a:ext>
              </a:extLst>
            </p:cNvPr>
            <p:cNvSpPr txBox="1">
              <a:spLocks/>
            </p:cNvSpPr>
            <p:nvPr/>
          </p:nvSpPr>
          <p:spPr>
            <a:xfrm>
              <a:off x="628650" y="5032600"/>
              <a:ext cx="7886700" cy="566737"/>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lang="en-US" sz="1200" dirty="0">
                  <a:solidFill>
                    <a:srgbClr val="021836"/>
                  </a:solidFill>
                  <a:latin typeface="Aptos" panose="02110004020202020204"/>
                </a:rPr>
                <a:t>AI opportunities should be defined around value creation, not tool capability.</a:t>
              </a:r>
              <a:endPar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endParaRPr>
            </a:p>
          </p:txBody>
        </p:sp>
      </p:grpSp>
      <p:sp>
        <p:nvSpPr>
          <p:cNvPr id="7" name="TextBox 6">
            <a:extLst>
              <a:ext uri="{FF2B5EF4-FFF2-40B4-BE49-F238E27FC236}">
                <a16:creationId xmlns:a16="http://schemas.microsoft.com/office/drawing/2014/main" id="{71C60364-6EFD-A224-6380-5612989DF470}"/>
              </a:ext>
            </a:extLst>
          </p:cNvPr>
          <p:cNvSpPr txBox="1"/>
          <p:nvPr/>
        </p:nvSpPr>
        <p:spPr>
          <a:xfrm>
            <a:off x="4408714" y="64309"/>
            <a:ext cx="4628748" cy="276999"/>
          </a:xfrm>
          <a:prstGeom prst="rect">
            <a:avLst/>
          </a:prstGeom>
          <a:noFill/>
        </p:spPr>
        <p:txBody>
          <a:bodyPr wrap="square" rtlCol="0">
            <a:spAutoFit/>
          </a:bodyPr>
          <a:lstStyle/>
          <a:p>
            <a:pPr algn="r"/>
            <a:r>
              <a:rPr lang="en-US" sz="1200" dirty="0">
                <a:solidFill>
                  <a:schemeClr val="bg1">
                    <a:lumMod val="50000"/>
                  </a:schemeClr>
                </a:solidFill>
              </a:rPr>
              <a:t>AI Operational Readiness • Current-State – Future-State Framework</a:t>
            </a:r>
          </a:p>
        </p:txBody>
      </p:sp>
    </p:spTree>
    <p:extLst>
      <p:ext uri="{BB962C8B-B14F-4D97-AF65-F5344CB8AC3E}">
        <p14:creationId xmlns:p14="http://schemas.microsoft.com/office/powerpoint/2010/main" val="24448535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7DB763-CE25-9972-BD1D-6AFC64AEDA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538B8A-2BB5-086F-B9C4-585C8E4DEAD7}"/>
              </a:ext>
            </a:extLst>
          </p:cNvPr>
          <p:cNvSpPr>
            <a:spLocks noGrp="1"/>
          </p:cNvSpPr>
          <p:nvPr>
            <p:ph type="title"/>
          </p:nvPr>
        </p:nvSpPr>
        <p:spPr>
          <a:xfrm>
            <a:off x="273534" y="-86630"/>
            <a:ext cx="7886700" cy="1325563"/>
          </a:xfrm>
        </p:spPr>
        <p:txBody>
          <a:bodyPr/>
          <a:lstStyle/>
          <a:p>
            <a:r>
              <a:rPr lang="en-US" dirty="0"/>
              <a:t>AI Assistance</a:t>
            </a:r>
          </a:p>
        </p:txBody>
      </p:sp>
      <p:cxnSp>
        <p:nvCxnSpPr>
          <p:cNvPr id="5" name="Straight Connector 4">
            <a:extLst>
              <a:ext uri="{FF2B5EF4-FFF2-40B4-BE49-F238E27FC236}">
                <a16:creationId xmlns:a16="http://schemas.microsoft.com/office/drawing/2014/main" id="{3D22FAC2-F45D-F2EF-0760-876EB5210FA8}"/>
              </a:ext>
            </a:extLst>
          </p:cNvPr>
          <p:cNvCxnSpPr>
            <a:cxnSpLocks/>
          </p:cNvCxnSpPr>
          <p:nvPr/>
        </p:nvCxnSpPr>
        <p:spPr>
          <a:xfrm>
            <a:off x="171450" y="4808307"/>
            <a:ext cx="8801100" cy="0"/>
          </a:xfrm>
          <a:prstGeom prst="line">
            <a:avLst/>
          </a:prstGeom>
          <a:ln w="9525">
            <a:solidFill>
              <a:srgbClr val="0396A6"/>
            </a:solidFill>
          </a:ln>
        </p:spPr>
        <p:style>
          <a:lnRef idx="2">
            <a:schemeClr val="accent1"/>
          </a:lnRef>
          <a:fillRef idx="0">
            <a:schemeClr val="accent1"/>
          </a:fillRef>
          <a:effectRef idx="1">
            <a:schemeClr val="accent1"/>
          </a:effectRef>
          <a:fontRef idx="minor">
            <a:schemeClr val="tx1"/>
          </a:fontRef>
        </p:style>
      </p:cxnSp>
      <p:grpSp>
        <p:nvGrpSpPr>
          <p:cNvPr id="6" name="Group 5">
            <a:extLst>
              <a:ext uri="{FF2B5EF4-FFF2-40B4-BE49-F238E27FC236}">
                <a16:creationId xmlns:a16="http://schemas.microsoft.com/office/drawing/2014/main" id="{804BD045-28E2-8569-60A5-3906CE28BF0D}"/>
              </a:ext>
            </a:extLst>
          </p:cNvPr>
          <p:cNvGrpSpPr/>
          <p:nvPr/>
        </p:nvGrpSpPr>
        <p:grpSpPr>
          <a:xfrm>
            <a:off x="357867" y="4900384"/>
            <a:ext cx="7886700" cy="820961"/>
            <a:chOff x="628650" y="4778376"/>
            <a:chExt cx="7886700" cy="820961"/>
          </a:xfrm>
        </p:grpSpPr>
        <p:sp>
          <p:nvSpPr>
            <p:cNvPr id="7" name="Content Placeholder 2">
              <a:extLst>
                <a:ext uri="{FF2B5EF4-FFF2-40B4-BE49-F238E27FC236}">
                  <a16:creationId xmlns:a16="http://schemas.microsoft.com/office/drawing/2014/main" id="{23DF648D-49C3-302D-0FFC-170ADE07FF17}"/>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Opportunity Signals</a:t>
              </a:r>
            </a:p>
          </p:txBody>
        </p:sp>
        <p:sp>
          <p:nvSpPr>
            <p:cNvPr id="8" name="Content Placeholder 2">
              <a:extLst>
                <a:ext uri="{FF2B5EF4-FFF2-40B4-BE49-F238E27FC236}">
                  <a16:creationId xmlns:a16="http://schemas.microsoft.com/office/drawing/2014/main" id="{550F3D95-02D5-DD85-961A-A56AD98A7C0C}"/>
                </a:ext>
              </a:extLst>
            </p:cNvPr>
            <p:cNvSpPr txBox="1">
              <a:spLocks/>
            </p:cNvSpPr>
            <p:nvPr/>
          </p:nvSpPr>
          <p:spPr>
            <a:xfrm>
              <a:off x="628650" y="5032600"/>
              <a:ext cx="7886700" cy="566737"/>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Clr>
                  <a:srgbClr val="021836"/>
                </a:buClr>
                <a:buNone/>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Search • Summarization • Drafting • Classification • </a:t>
              </a:r>
              <a:r>
                <a:rPr lang="en-US" sz="1200" i="1" dirty="0">
                  <a:solidFill>
                    <a:prstClr val="white">
                      <a:lumMod val="50000"/>
                    </a:prstClr>
                  </a:solidFill>
                </a:rPr>
                <a:t>Extraction • Analysis</a:t>
              </a: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 • Recommendations</a:t>
              </a:r>
              <a:r>
                <a:rPr lang="en-US" sz="1200" i="1" dirty="0">
                  <a:solidFill>
                    <a:prstClr val="white">
                      <a:lumMod val="50000"/>
                    </a:prstClr>
                  </a:solidFill>
                </a:rPr>
                <a:t> • Workflow routing • Reporting • Monitoring • Repeated language or knowledge work</a:t>
              </a:r>
              <a:endPar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endParaRPr>
            </a:p>
          </p:txBody>
        </p:sp>
      </p:grpSp>
      <p:sp>
        <p:nvSpPr>
          <p:cNvPr id="9" name="Content Placeholder 2">
            <a:extLst>
              <a:ext uri="{FF2B5EF4-FFF2-40B4-BE49-F238E27FC236}">
                <a16:creationId xmlns:a16="http://schemas.microsoft.com/office/drawing/2014/main" id="{60A351E5-C4A8-927B-4DBD-D7704D1A47D0}"/>
              </a:ext>
            </a:extLst>
          </p:cNvPr>
          <p:cNvSpPr txBox="1">
            <a:spLocks/>
          </p:cNvSpPr>
          <p:nvPr/>
        </p:nvSpPr>
        <p:spPr>
          <a:xfrm>
            <a:off x="317078" y="844267"/>
            <a:ext cx="7886700" cy="299244"/>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Understanding how AI supports the work</a:t>
            </a:r>
          </a:p>
        </p:txBody>
      </p:sp>
      <p:grpSp>
        <p:nvGrpSpPr>
          <p:cNvPr id="10" name="Group 9">
            <a:extLst>
              <a:ext uri="{FF2B5EF4-FFF2-40B4-BE49-F238E27FC236}">
                <a16:creationId xmlns:a16="http://schemas.microsoft.com/office/drawing/2014/main" id="{B944A6A6-ED87-A1CD-8226-C9DA478F076A}"/>
              </a:ext>
            </a:extLst>
          </p:cNvPr>
          <p:cNvGrpSpPr/>
          <p:nvPr/>
        </p:nvGrpSpPr>
        <p:grpSpPr>
          <a:xfrm>
            <a:off x="357867" y="5763360"/>
            <a:ext cx="7886700" cy="820961"/>
            <a:chOff x="628650" y="4778376"/>
            <a:chExt cx="7886700" cy="820961"/>
          </a:xfrm>
        </p:grpSpPr>
        <p:sp>
          <p:nvSpPr>
            <p:cNvPr id="11" name="Content Placeholder 2">
              <a:extLst>
                <a:ext uri="{FF2B5EF4-FFF2-40B4-BE49-F238E27FC236}">
                  <a16:creationId xmlns:a16="http://schemas.microsoft.com/office/drawing/2014/main" id="{A83945B3-7B5C-62AF-D854-7E982D5E7073}"/>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Why This Matters</a:t>
              </a:r>
            </a:p>
          </p:txBody>
        </p:sp>
        <p:sp>
          <p:nvSpPr>
            <p:cNvPr id="12" name="Content Placeholder 2">
              <a:extLst>
                <a:ext uri="{FF2B5EF4-FFF2-40B4-BE49-F238E27FC236}">
                  <a16:creationId xmlns:a16="http://schemas.microsoft.com/office/drawing/2014/main" id="{5159DB3A-B1C5-4D5A-9CFF-6EEC9D825268}"/>
                </a:ext>
              </a:extLst>
            </p:cNvPr>
            <p:cNvSpPr txBox="1">
              <a:spLocks/>
            </p:cNvSpPr>
            <p:nvPr/>
          </p:nvSpPr>
          <p:spPr>
            <a:xfrm>
              <a:off x="628650" y="5032600"/>
              <a:ext cx="7886700" cy="566737"/>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lang="en-US" sz="1200" dirty="0">
                  <a:solidFill>
                    <a:srgbClr val="021836"/>
                  </a:solidFill>
                  <a:latin typeface="Aptos" panose="02110004020202020204"/>
                </a:rPr>
                <a:t>AI should have a defined role in the workflow before it is introduced into the work.</a:t>
              </a:r>
              <a:endPar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endParaRPr>
            </a:p>
          </p:txBody>
        </p:sp>
      </p:grpSp>
      <p:graphicFrame>
        <p:nvGraphicFramePr>
          <p:cNvPr id="15" name="Table 14">
            <a:extLst>
              <a:ext uri="{FF2B5EF4-FFF2-40B4-BE49-F238E27FC236}">
                <a16:creationId xmlns:a16="http://schemas.microsoft.com/office/drawing/2014/main" id="{27F4AF0B-7E33-827D-9856-B04A60850F5A}"/>
              </a:ext>
            </a:extLst>
          </p:cNvPr>
          <p:cNvGraphicFramePr>
            <a:graphicFrameLocks noGrp="1"/>
          </p:cNvGraphicFramePr>
          <p:nvPr/>
        </p:nvGraphicFramePr>
        <p:xfrm>
          <a:off x="435427" y="1438308"/>
          <a:ext cx="8218714" cy="3170624"/>
        </p:xfrm>
        <a:graphic>
          <a:graphicData uri="http://schemas.openxmlformats.org/drawingml/2006/table">
            <a:tbl>
              <a:tblPr firstRow="1" bandRow="1">
                <a:tableStyleId>{2D5ABB26-0587-4C30-8999-92F81FD0307C}</a:tableStyleId>
              </a:tblPr>
              <a:tblGrid>
                <a:gridCol w="3058887">
                  <a:extLst>
                    <a:ext uri="{9D8B030D-6E8A-4147-A177-3AD203B41FA5}">
                      <a16:colId xmlns:a16="http://schemas.microsoft.com/office/drawing/2014/main" val="2470210094"/>
                    </a:ext>
                  </a:extLst>
                </a:gridCol>
                <a:gridCol w="5159827">
                  <a:extLst>
                    <a:ext uri="{9D8B030D-6E8A-4147-A177-3AD203B41FA5}">
                      <a16:colId xmlns:a16="http://schemas.microsoft.com/office/drawing/2014/main" val="72878264"/>
                    </a:ext>
                  </a:extLst>
                </a:gridCol>
              </a:tblGrid>
              <a:tr h="269551">
                <a:tc>
                  <a:txBody>
                    <a:bodyPr/>
                    <a:lstStyle/>
                    <a:p>
                      <a:r>
                        <a:rPr lang="en-US" sz="1600" b="1" dirty="0">
                          <a:solidFill>
                            <a:srgbClr val="021836"/>
                          </a:solidFill>
                        </a:rPr>
                        <a:t>AI Design Elements</a:t>
                      </a:r>
                    </a:p>
                  </a:txBody>
                  <a:tcPr>
                    <a:lnR w="12700" cap="flat" cmpd="sng" algn="ctr">
                      <a:solidFill>
                        <a:schemeClr val="bg1">
                          <a:lumMod val="75000"/>
                        </a:schemeClr>
                      </a:solidFill>
                      <a:prstDash val="solid"/>
                      <a:round/>
                      <a:headEnd type="none" w="med" len="med"/>
                      <a:tailEnd type="none" w="med" len="med"/>
                    </a:lnR>
                    <a:lnB w="12700" cap="flat" cmpd="sng" algn="ctr">
                      <a:solidFill>
                        <a:srgbClr val="0396A6"/>
                      </a:solidFill>
                      <a:prstDash val="solid"/>
                      <a:round/>
                      <a:headEnd type="none" w="med" len="med"/>
                      <a:tailEnd type="none" w="med" len="med"/>
                    </a:lnB>
                  </a:tcPr>
                </a:tc>
                <a:tc>
                  <a:txBody>
                    <a:bodyPr/>
                    <a:lstStyle/>
                    <a:p>
                      <a:r>
                        <a:rPr lang="en-US" sz="1600" b="1" dirty="0">
                          <a:solidFill>
                            <a:srgbClr val="021836"/>
                          </a:solidFill>
                        </a:rPr>
                        <a:t>Proposed Design</a:t>
                      </a:r>
                    </a:p>
                  </a:txBody>
                  <a:tcPr>
                    <a:lnL w="12700" cap="flat" cmpd="sng" algn="ctr">
                      <a:solidFill>
                        <a:schemeClr val="bg1">
                          <a:lumMod val="75000"/>
                        </a:schemeClr>
                      </a:solidFill>
                      <a:prstDash val="solid"/>
                      <a:round/>
                      <a:headEnd type="none" w="med" len="med"/>
                      <a:tailEnd type="none" w="med" len="med"/>
                    </a:lnL>
                    <a:lnB w="12700" cap="flat" cmpd="sng" algn="ctr">
                      <a:solidFill>
                        <a:srgbClr val="0396A6"/>
                      </a:solidFill>
                      <a:prstDash val="solid"/>
                      <a:round/>
                      <a:headEnd type="none" w="med" len="med"/>
                      <a:tailEnd type="none" w="med" len="med"/>
                    </a:lnB>
                  </a:tcPr>
                </a:tc>
                <a:extLst>
                  <a:ext uri="{0D108BD9-81ED-4DB2-BD59-A6C34878D82A}">
                    <a16:rowId xmlns:a16="http://schemas.microsoft.com/office/drawing/2014/main" val="2061593276"/>
                  </a:ext>
                </a:extLst>
              </a:tr>
              <a:tr h="386247">
                <a:tc>
                  <a:txBody>
                    <a:bodyPr/>
                    <a:lstStyle/>
                    <a:p>
                      <a:pPr>
                        <a:buClr>
                          <a:schemeClr val="bg1">
                            <a:lumMod val="50000"/>
                          </a:schemeClr>
                        </a:buClr>
                      </a:pPr>
                      <a:r>
                        <a:rPr lang="en-US" sz="1200" b="1" dirty="0">
                          <a:solidFill>
                            <a:srgbClr val="021836"/>
                          </a:solidFill>
                        </a:rPr>
                        <a:t>AI Role</a:t>
                      </a:r>
                      <a:endParaRPr lang="en-US" sz="1200" dirty="0"/>
                    </a:p>
                  </a:txBody>
                  <a:tcPr>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200" dirty="0"/>
                        <a:t>Search, summarization, drafting, etc.</a:t>
                      </a:r>
                    </a:p>
                  </a:txBody>
                  <a:tcPr>
                    <a:lnL w="12700" cap="flat" cmpd="sng" algn="ctr">
                      <a:solidFill>
                        <a:schemeClr val="bg1">
                          <a:lumMod val="75000"/>
                        </a:schemeClr>
                      </a:solidFill>
                      <a:prstDash val="solid"/>
                      <a:round/>
                      <a:headEnd type="none" w="med" len="med"/>
                      <a:tailEnd type="none" w="med" len="med"/>
                    </a:lnL>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493753442"/>
                  </a:ext>
                </a:extLst>
              </a:tr>
              <a:tr h="386247">
                <a:tc>
                  <a:txBody>
                    <a:bodyPr/>
                    <a:lstStyle/>
                    <a:p>
                      <a:pPr>
                        <a:buClr>
                          <a:schemeClr val="bg1">
                            <a:lumMod val="50000"/>
                          </a:schemeClr>
                        </a:buClr>
                      </a:pPr>
                      <a:r>
                        <a:rPr lang="en-US" sz="1200" b="1" dirty="0">
                          <a:solidFill>
                            <a:srgbClr val="021836"/>
                          </a:solidFill>
                        </a:rPr>
                        <a:t>Inputs Required</a:t>
                      </a:r>
                      <a:endParaRPr lang="en-US" sz="1200" dirty="0"/>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200" dirty="0"/>
                        <a:t>Information needed by AI</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23325965"/>
                  </a:ext>
                </a:extLst>
              </a:tr>
              <a:tr h="386247">
                <a:tc>
                  <a:txBody>
                    <a:bodyPr/>
                    <a:lstStyle/>
                    <a:p>
                      <a:pPr>
                        <a:buClr>
                          <a:schemeClr val="bg1">
                            <a:lumMod val="50000"/>
                          </a:schemeClr>
                        </a:buClr>
                      </a:pPr>
                      <a:r>
                        <a:rPr lang="en-US" sz="1200" b="1" dirty="0">
                          <a:solidFill>
                            <a:srgbClr val="021836"/>
                          </a:solidFill>
                        </a:rPr>
                        <a:t>Outputs Produced</a:t>
                      </a:r>
                      <a:endParaRPr lang="en-US" sz="1200" dirty="0"/>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200" dirty="0"/>
                        <a:t>Artifacts created by AI</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845834834"/>
                  </a:ext>
                </a:extLst>
              </a:tr>
              <a:tr h="416578">
                <a:tc>
                  <a:txBody>
                    <a:bodyPr/>
                    <a:lstStyle/>
                    <a:p>
                      <a:pPr>
                        <a:buClr>
                          <a:schemeClr val="bg1">
                            <a:lumMod val="50000"/>
                          </a:schemeClr>
                        </a:buClr>
                      </a:pPr>
                      <a:r>
                        <a:rPr lang="en-US" sz="1200" b="1" dirty="0"/>
                        <a:t>Boundaries &amp; Failure Conditions</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200" dirty="0"/>
                        <a:t>What AI should not do, where it may fail, and when the workflow should not rely on it</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012176639"/>
                  </a:ext>
                </a:extLst>
              </a:tr>
              <a:tr h="416578">
                <a:tc>
                  <a:txBody>
                    <a:bodyPr/>
                    <a:lstStyle/>
                    <a:p>
                      <a:pPr>
                        <a:buClr>
                          <a:schemeClr val="bg1">
                            <a:lumMod val="50000"/>
                          </a:schemeClr>
                        </a:buClr>
                      </a:pPr>
                      <a:r>
                        <a:rPr lang="en-US" sz="1200" b="1" dirty="0"/>
                        <a:t>Handoff</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200" dirty="0"/>
                        <a:t>Where AI output is passed to a person, system, or the next workflow step.</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567521445"/>
                  </a:ext>
                </a:extLst>
              </a:tr>
              <a:tr h="386247">
                <a:tc>
                  <a:txBody>
                    <a:bodyPr/>
                    <a:lstStyle/>
                    <a:p>
                      <a:pPr marL="0" marR="0" lvl="0" indent="0" algn="l" defTabSz="914400" rtl="0" eaLnBrk="1" fontAlgn="auto" latinLnBrk="0" hangingPunct="1">
                        <a:lnSpc>
                          <a:spcPct val="100000"/>
                        </a:lnSpc>
                        <a:spcBef>
                          <a:spcPts val="0"/>
                        </a:spcBef>
                        <a:spcAft>
                          <a:spcPts val="0"/>
                        </a:spcAft>
                        <a:buClr>
                          <a:schemeClr val="bg1">
                            <a:lumMod val="50000"/>
                          </a:schemeClr>
                        </a:buClr>
                        <a:buSzTx/>
                        <a:buFontTx/>
                        <a:buNone/>
                        <a:tabLst/>
                        <a:defRPr/>
                      </a:pPr>
                      <a:r>
                        <a:rPr lang="en-US" sz="1200" b="1" dirty="0">
                          <a:solidFill>
                            <a:srgbClr val="021836"/>
                          </a:solidFill>
                        </a:rPr>
                        <a:t>Human Interaction</a:t>
                      </a:r>
                      <a:endParaRPr lang="en-US" sz="1200" dirty="0"/>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200" dirty="0"/>
                        <a:t>Where people verify, modify, use, or respond to AI output.</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813624921"/>
                  </a:ext>
                </a:extLst>
              </a:tr>
              <a:tr h="416578">
                <a:tc>
                  <a:txBody>
                    <a:bodyPr/>
                    <a:lstStyle/>
                    <a:p>
                      <a:pPr marL="0" marR="0" lvl="0" indent="0" algn="l" defTabSz="914400" rtl="0" eaLnBrk="1" fontAlgn="auto" latinLnBrk="0" hangingPunct="1">
                        <a:lnSpc>
                          <a:spcPct val="100000"/>
                        </a:lnSpc>
                        <a:spcBef>
                          <a:spcPts val="0"/>
                        </a:spcBef>
                        <a:spcAft>
                          <a:spcPts val="0"/>
                        </a:spcAft>
                        <a:buClr>
                          <a:schemeClr val="bg1">
                            <a:lumMod val="50000"/>
                          </a:schemeClr>
                        </a:buClr>
                        <a:buSzTx/>
                        <a:buFontTx/>
                        <a:buNone/>
                        <a:tabLst/>
                        <a:defRPr/>
                      </a:pPr>
                      <a:r>
                        <a:rPr lang="en-US" sz="1200" b="1" dirty="0"/>
                        <a:t>Fallback Path</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tcPr>
                </a:tc>
                <a:tc>
                  <a:txBody>
                    <a:bodyPr/>
                    <a:lstStyle/>
                    <a:p>
                      <a:r>
                        <a:rPr lang="en-US" sz="1200" dirty="0"/>
                        <a:t>How does work continue if AI assistance is unavailable or unusable?</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tcPr>
                </a:tc>
                <a:extLst>
                  <a:ext uri="{0D108BD9-81ED-4DB2-BD59-A6C34878D82A}">
                    <a16:rowId xmlns:a16="http://schemas.microsoft.com/office/drawing/2014/main" val="1113723700"/>
                  </a:ext>
                </a:extLst>
              </a:tr>
            </a:tbl>
          </a:graphicData>
        </a:graphic>
      </p:graphicFrame>
      <p:sp>
        <p:nvSpPr>
          <p:cNvPr id="4" name="TextBox 3">
            <a:extLst>
              <a:ext uri="{FF2B5EF4-FFF2-40B4-BE49-F238E27FC236}">
                <a16:creationId xmlns:a16="http://schemas.microsoft.com/office/drawing/2014/main" id="{8E92E074-A19E-DC1F-040F-0F21CF588BD1}"/>
              </a:ext>
            </a:extLst>
          </p:cNvPr>
          <p:cNvSpPr txBox="1"/>
          <p:nvPr/>
        </p:nvSpPr>
        <p:spPr>
          <a:xfrm>
            <a:off x="4408714" y="64309"/>
            <a:ext cx="4628748" cy="276999"/>
          </a:xfrm>
          <a:prstGeom prst="rect">
            <a:avLst/>
          </a:prstGeom>
          <a:noFill/>
        </p:spPr>
        <p:txBody>
          <a:bodyPr wrap="square" rtlCol="0">
            <a:spAutoFit/>
          </a:bodyPr>
          <a:lstStyle/>
          <a:p>
            <a:pPr algn="r"/>
            <a:r>
              <a:rPr lang="en-US" sz="1200" dirty="0">
                <a:solidFill>
                  <a:schemeClr val="bg1">
                    <a:lumMod val="50000"/>
                  </a:schemeClr>
                </a:solidFill>
              </a:rPr>
              <a:t>AI Operational Readiness • Current-State – Future-State Framework</a:t>
            </a:r>
          </a:p>
        </p:txBody>
      </p:sp>
    </p:spTree>
    <p:extLst>
      <p:ext uri="{BB962C8B-B14F-4D97-AF65-F5344CB8AC3E}">
        <p14:creationId xmlns:p14="http://schemas.microsoft.com/office/powerpoint/2010/main" val="390914451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B69937-832F-9551-58B2-5670626C15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207E23-5B02-DD26-6F5B-F90BCAFD7403}"/>
              </a:ext>
            </a:extLst>
          </p:cNvPr>
          <p:cNvSpPr>
            <a:spLocks noGrp="1"/>
          </p:cNvSpPr>
          <p:nvPr>
            <p:ph type="title"/>
          </p:nvPr>
        </p:nvSpPr>
        <p:spPr>
          <a:xfrm>
            <a:off x="273534" y="0"/>
            <a:ext cx="7886700" cy="1238933"/>
          </a:xfrm>
        </p:spPr>
        <p:txBody>
          <a:bodyPr/>
          <a:lstStyle/>
          <a:p>
            <a:r>
              <a:rPr lang="en-US" dirty="0"/>
              <a:t>Human Oversight</a:t>
            </a:r>
          </a:p>
        </p:txBody>
      </p:sp>
      <p:cxnSp>
        <p:nvCxnSpPr>
          <p:cNvPr id="5" name="Straight Connector 4">
            <a:extLst>
              <a:ext uri="{FF2B5EF4-FFF2-40B4-BE49-F238E27FC236}">
                <a16:creationId xmlns:a16="http://schemas.microsoft.com/office/drawing/2014/main" id="{8ECDA388-C73C-0CC6-2EC4-619312E74B26}"/>
              </a:ext>
            </a:extLst>
          </p:cNvPr>
          <p:cNvCxnSpPr>
            <a:cxnSpLocks/>
          </p:cNvCxnSpPr>
          <p:nvPr/>
        </p:nvCxnSpPr>
        <p:spPr>
          <a:xfrm>
            <a:off x="171450" y="4938939"/>
            <a:ext cx="8801100" cy="0"/>
          </a:xfrm>
          <a:prstGeom prst="line">
            <a:avLst/>
          </a:prstGeom>
          <a:ln w="9525">
            <a:solidFill>
              <a:srgbClr val="0396A6"/>
            </a:solidFill>
          </a:ln>
        </p:spPr>
        <p:style>
          <a:lnRef idx="2">
            <a:schemeClr val="accent1"/>
          </a:lnRef>
          <a:fillRef idx="0">
            <a:schemeClr val="accent1"/>
          </a:fillRef>
          <a:effectRef idx="1">
            <a:schemeClr val="accent1"/>
          </a:effectRef>
          <a:fontRef idx="minor">
            <a:schemeClr val="tx1"/>
          </a:fontRef>
        </p:style>
      </p:cxnSp>
      <p:grpSp>
        <p:nvGrpSpPr>
          <p:cNvPr id="6" name="Group 5">
            <a:extLst>
              <a:ext uri="{FF2B5EF4-FFF2-40B4-BE49-F238E27FC236}">
                <a16:creationId xmlns:a16="http://schemas.microsoft.com/office/drawing/2014/main" id="{9E58D561-C962-7EEA-EF96-3A3F2DBEAC72}"/>
              </a:ext>
            </a:extLst>
          </p:cNvPr>
          <p:cNvGrpSpPr/>
          <p:nvPr/>
        </p:nvGrpSpPr>
        <p:grpSpPr>
          <a:xfrm>
            <a:off x="368754" y="5041902"/>
            <a:ext cx="7886700" cy="820961"/>
            <a:chOff x="628650" y="4778376"/>
            <a:chExt cx="7886700" cy="820961"/>
          </a:xfrm>
        </p:grpSpPr>
        <p:sp>
          <p:nvSpPr>
            <p:cNvPr id="7" name="Content Placeholder 2">
              <a:extLst>
                <a:ext uri="{FF2B5EF4-FFF2-40B4-BE49-F238E27FC236}">
                  <a16:creationId xmlns:a16="http://schemas.microsoft.com/office/drawing/2014/main" id="{BBB4DCA9-AE2F-7D54-224D-70CA4BC4052A}"/>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400" b="1" dirty="0">
                  <a:solidFill>
                    <a:srgbClr val="021836"/>
                  </a:solidFill>
                  <a:latin typeface="Aptos" panose="02110004020202020204"/>
                </a:rPr>
                <a:t>Opportunity</a:t>
              </a: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 Signals</a:t>
              </a:r>
            </a:p>
          </p:txBody>
        </p:sp>
        <p:sp>
          <p:nvSpPr>
            <p:cNvPr id="8" name="Content Placeholder 2">
              <a:extLst>
                <a:ext uri="{FF2B5EF4-FFF2-40B4-BE49-F238E27FC236}">
                  <a16:creationId xmlns:a16="http://schemas.microsoft.com/office/drawing/2014/main" id="{D734930E-F2AF-ACFF-4A63-3B94CE898608}"/>
                </a:ext>
              </a:extLst>
            </p:cNvPr>
            <p:cNvSpPr txBox="1">
              <a:spLocks/>
            </p:cNvSpPr>
            <p:nvPr/>
          </p:nvSpPr>
          <p:spPr>
            <a:xfrm>
              <a:off x="628650" y="5032600"/>
              <a:ext cx="7886700" cy="566737"/>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Clr>
                  <a:srgbClr val="021836"/>
                </a:buClr>
                <a:buNone/>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High-consequence decisions • </a:t>
              </a:r>
              <a:r>
                <a:rPr lang="en-US" sz="1200" i="1" dirty="0">
                  <a:solidFill>
                    <a:prstClr val="white">
                      <a:lumMod val="50000"/>
                    </a:prstClr>
                  </a:solidFill>
                </a:rPr>
                <a:t>Sensitive information • Customer impact • Legal or compliance exposure • External-facing outputs • Escalation triggers • Required approvals • Disagreement between AI and human judgment</a:t>
              </a:r>
              <a:endPar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endParaRPr>
            </a:p>
          </p:txBody>
        </p:sp>
      </p:grpSp>
      <p:sp>
        <p:nvSpPr>
          <p:cNvPr id="9" name="Content Placeholder 2">
            <a:extLst>
              <a:ext uri="{FF2B5EF4-FFF2-40B4-BE49-F238E27FC236}">
                <a16:creationId xmlns:a16="http://schemas.microsoft.com/office/drawing/2014/main" id="{FA627E1C-818B-7617-BA70-887120A5181B}"/>
              </a:ext>
            </a:extLst>
          </p:cNvPr>
          <p:cNvSpPr txBox="1">
            <a:spLocks/>
          </p:cNvSpPr>
          <p:nvPr/>
        </p:nvSpPr>
        <p:spPr>
          <a:xfrm>
            <a:off x="317078" y="844267"/>
            <a:ext cx="7886700" cy="299244"/>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Understanding where accountability remains</a:t>
            </a:r>
          </a:p>
        </p:txBody>
      </p:sp>
      <p:grpSp>
        <p:nvGrpSpPr>
          <p:cNvPr id="10" name="Group 9">
            <a:extLst>
              <a:ext uri="{FF2B5EF4-FFF2-40B4-BE49-F238E27FC236}">
                <a16:creationId xmlns:a16="http://schemas.microsoft.com/office/drawing/2014/main" id="{1D47F7DD-64F6-88FB-5E89-C2C0B5AA2EF4}"/>
              </a:ext>
            </a:extLst>
          </p:cNvPr>
          <p:cNvGrpSpPr/>
          <p:nvPr/>
        </p:nvGrpSpPr>
        <p:grpSpPr>
          <a:xfrm>
            <a:off x="368754" y="5763366"/>
            <a:ext cx="7617309" cy="820961"/>
            <a:chOff x="628650" y="4778376"/>
            <a:chExt cx="7886700" cy="820961"/>
          </a:xfrm>
        </p:grpSpPr>
        <p:sp>
          <p:nvSpPr>
            <p:cNvPr id="11" name="Content Placeholder 2">
              <a:extLst>
                <a:ext uri="{FF2B5EF4-FFF2-40B4-BE49-F238E27FC236}">
                  <a16:creationId xmlns:a16="http://schemas.microsoft.com/office/drawing/2014/main" id="{A11E8D8B-CD06-2C83-70F6-0F87521A7AD1}"/>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Why This Matters</a:t>
              </a:r>
            </a:p>
          </p:txBody>
        </p:sp>
        <p:sp>
          <p:nvSpPr>
            <p:cNvPr id="12" name="Content Placeholder 2">
              <a:extLst>
                <a:ext uri="{FF2B5EF4-FFF2-40B4-BE49-F238E27FC236}">
                  <a16:creationId xmlns:a16="http://schemas.microsoft.com/office/drawing/2014/main" id="{39DB15FF-9A9E-A981-2AC4-328913831356}"/>
                </a:ext>
              </a:extLst>
            </p:cNvPr>
            <p:cNvSpPr txBox="1">
              <a:spLocks/>
            </p:cNvSpPr>
            <p:nvPr/>
          </p:nvSpPr>
          <p:spPr>
            <a:xfrm>
              <a:off x="628650" y="5032600"/>
              <a:ext cx="7886700" cy="566737"/>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lang="en-US" sz="1200" dirty="0">
                  <a:solidFill>
                    <a:srgbClr val="021836"/>
                  </a:solidFill>
                  <a:latin typeface="Aptos" panose="02110004020202020204"/>
                </a:rPr>
                <a:t>Human-in-the-loop is not a governance model unless the loop defines who reviews, who approves, who escalates, who can intervene, and who remains accountable.</a:t>
              </a:r>
              <a:endPar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endParaRPr>
            </a:p>
          </p:txBody>
        </p:sp>
      </p:grpSp>
      <p:graphicFrame>
        <p:nvGraphicFramePr>
          <p:cNvPr id="15" name="Table 14">
            <a:extLst>
              <a:ext uri="{FF2B5EF4-FFF2-40B4-BE49-F238E27FC236}">
                <a16:creationId xmlns:a16="http://schemas.microsoft.com/office/drawing/2014/main" id="{F2B1FD6F-AC48-E340-F4B6-CB1CC29388C1}"/>
              </a:ext>
            </a:extLst>
          </p:cNvPr>
          <p:cNvGraphicFramePr>
            <a:graphicFrameLocks noGrp="1"/>
          </p:cNvGraphicFramePr>
          <p:nvPr/>
        </p:nvGraphicFramePr>
        <p:xfrm>
          <a:off x="435427" y="1272132"/>
          <a:ext cx="8218714" cy="3431098"/>
        </p:xfrm>
        <a:graphic>
          <a:graphicData uri="http://schemas.openxmlformats.org/drawingml/2006/table">
            <a:tbl>
              <a:tblPr firstRow="1" bandRow="1">
                <a:tableStyleId>{2D5ABB26-0587-4C30-8999-92F81FD0307C}</a:tableStyleId>
              </a:tblPr>
              <a:tblGrid>
                <a:gridCol w="3886202">
                  <a:extLst>
                    <a:ext uri="{9D8B030D-6E8A-4147-A177-3AD203B41FA5}">
                      <a16:colId xmlns:a16="http://schemas.microsoft.com/office/drawing/2014/main" val="2470210094"/>
                    </a:ext>
                  </a:extLst>
                </a:gridCol>
                <a:gridCol w="4332512">
                  <a:extLst>
                    <a:ext uri="{9D8B030D-6E8A-4147-A177-3AD203B41FA5}">
                      <a16:colId xmlns:a16="http://schemas.microsoft.com/office/drawing/2014/main" val="72878264"/>
                    </a:ext>
                  </a:extLst>
                </a:gridCol>
              </a:tblGrid>
              <a:tr h="372154">
                <a:tc>
                  <a:txBody>
                    <a:bodyPr/>
                    <a:lstStyle/>
                    <a:p>
                      <a:r>
                        <a:rPr lang="en-US" sz="1600" b="1" dirty="0">
                          <a:solidFill>
                            <a:srgbClr val="021836"/>
                          </a:solidFill>
                        </a:rPr>
                        <a:t>Human Oversight  Design Elements</a:t>
                      </a:r>
                    </a:p>
                  </a:txBody>
                  <a:tcPr>
                    <a:lnR w="12700" cap="flat" cmpd="sng" algn="ctr">
                      <a:solidFill>
                        <a:schemeClr val="bg1">
                          <a:lumMod val="75000"/>
                        </a:schemeClr>
                      </a:solidFill>
                      <a:prstDash val="solid"/>
                      <a:round/>
                      <a:headEnd type="none" w="med" len="med"/>
                      <a:tailEnd type="none" w="med" len="med"/>
                    </a:lnR>
                    <a:lnB w="12700" cap="flat" cmpd="sng" algn="ctr">
                      <a:solidFill>
                        <a:srgbClr val="0396A6"/>
                      </a:solidFill>
                      <a:prstDash val="solid"/>
                      <a:round/>
                      <a:headEnd type="none" w="med" len="med"/>
                      <a:tailEnd type="none" w="med" len="med"/>
                    </a:lnB>
                  </a:tcPr>
                </a:tc>
                <a:tc>
                  <a:txBody>
                    <a:bodyPr/>
                    <a:lstStyle/>
                    <a:p>
                      <a:r>
                        <a:rPr lang="en-US" sz="1600" b="1" dirty="0">
                          <a:solidFill>
                            <a:srgbClr val="021836"/>
                          </a:solidFill>
                        </a:rPr>
                        <a:t>Proposed Design</a:t>
                      </a:r>
                    </a:p>
                  </a:txBody>
                  <a:tcPr>
                    <a:lnL w="12700" cap="flat" cmpd="sng" algn="ctr">
                      <a:solidFill>
                        <a:schemeClr val="bg1">
                          <a:lumMod val="75000"/>
                        </a:schemeClr>
                      </a:solidFill>
                      <a:prstDash val="solid"/>
                      <a:round/>
                      <a:headEnd type="none" w="med" len="med"/>
                      <a:tailEnd type="none" w="med" len="med"/>
                    </a:lnL>
                    <a:lnB w="12700" cap="flat" cmpd="sng" algn="ctr">
                      <a:solidFill>
                        <a:srgbClr val="0396A6"/>
                      </a:solidFill>
                      <a:prstDash val="solid"/>
                      <a:round/>
                      <a:headEnd type="none" w="med" len="med"/>
                      <a:tailEnd type="none" w="med" len="med"/>
                    </a:lnB>
                  </a:tcPr>
                </a:tc>
                <a:extLst>
                  <a:ext uri="{0D108BD9-81ED-4DB2-BD59-A6C34878D82A}">
                    <a16:rowId xmlns:a16="http://schemas.microsoft.com/office/drawing/2014/main" val="2061593276"/>
                  </a:ext>
                </a:extLst>
              </a:tr>
              <a:tr h="581856">
                <a:tc>
                  <a:txBody>
                    <a:bodyPr/>
                    <a:lstStyle/>
                    <a:p>
                      <a:pPr>
                        <a:buClr>
                          <a:schemeClr val="bg1">
                            <a:lumMod val="50000"/>
                          </a:schemeClr>
                        </a:buClr>
                      </a:pPr>
                      <a:r>
                        <a:rPr lang="en-US" sz="1400" b="1" dirty="0">
                          <a:solidFill>
                            <a:srgbClr val="021836"/>
                          </a:solidFill>
                        </a:rPr>
                        <a:t>Review: </a:t>
                      </a:r>
                      <a:r>
                        <a:rPr lang="en-US" sz="1400" dirty="0"/>
                        <a:t>Where must AI output be examined?</a:t>
                      </a:r>
                    </a:p>
                  </a:txBody>
                  <a:tcPr>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400" dirty="0"/>
                    </a:p>
                  </a:txBody>
                  <a:tcPr>
                    <a:lnL w="12700" cap="flat" cmpd="sng" algn="ctr">
                      <a:solidFill>
                        <a:schemeClr val="bg1">
                          <a:lumMod val="75000"/>
                        </a:schemeClr>
                      </a:solidFill>
                      <a:prstDash val="solid"/>
                      <a:round/>
                      <a:headEnd type="none" w="med" len="med"/>
                      <a:tailEnd type="none" w="med" len="med"/>
                    </a:lnL>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493753442"/>
                  </a:ext>
                </a:extLst>
              </a:tr>
              <a:tr h="581856">
                <a:tc>
                  <a:txBody>
                    <a:bodyPr/>
                    <a:lstStyle/>
                    <a:p>
                      <a:pPr>
                        <a:buClr>
                          <a:schemeClr val="bg1">
                            <a:lumMod val="50000"/>
                          </a:schemeClr>
                        </a:buClr>
                      </a:pPr>
                      <a:r>
                        <a:rPr lang="en-US" sz="1400" b="1" dirty="0">
                          <a:solidFill>
                            <a:srgbClr val="021836"/>
                          </a:solidFill>
                        </a:rPr>
                        <a:t>Approval: </a:t>
                      </a:r>
                      <a:r>
                        <a:rPr lang="en-US" sz="1400" dirty="0"/>
                        <a:t>Where must human authorization occur before work proceeds?</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400" dirty="0"/>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23325965"/>
                  </a:ext>
                </a:extLst>
              </a:tr>
              <a:tr h="581856">
                <a:tc>
                  <a:txBody>
                    <a:bodyPr/>
                    <a:lstStyle/>
                    <a:p>
                      <a:pPr>
                        <a:buClr>
                          <a:schemeClr val="bg1">
                            <a:lumMod val="50000"/>
                          </a:schemeClr>
                        </a:buClr>
                      </a:pPr>
                      <a:r>
                        <a:rPr lang="en-US" sz="1400" b="1" dirty="0">
                          <a:solidFill>
                            <a:srgbClr val="021836"/>
                          </a:solidFill>
                        </a:rPr>
                        <a:t>Escalation: </a:t>
                      </a:r>
                      <a:r>
                        <a:rPr lang="en-US" sz="1400" dirty="0"/>
                        <a:t>What conditions require the workflow to leave its normal path?</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400" dirty="0"/>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845834834"/>
                  </a:ext>
                </a:extLst>
              </a:tr>
              <a:tr h="581856">
                <a:tc>
                  <a:txBody>
                    <a:bodyPr/>
                    <a:lstStyle/>
                    <a:p>
                      <a:pPr>
                        <a:buClr>
                          <a:schemeClr val="bg1">
                            <a:lumMod val="50000"/>
                          </a:schemeClr>
                        </a:buClr>
                      </a:pPr>
                      <a:r>
                        <a:rPr lang="en-US" sz="1400" b="1" dirty="0">
                          <a:solidFill>
                            <a:srgbClr val="021836"/>
                          </a:solidFill>
                        </a:rPr>
                        <a:t>Intervention Authority: </a:t>
                      </a:r>
                      <a:r>
                        <a:rPr lang="en-US" sz="1400" dirty="0"/>
                        <a:t>Where must the workflow be capable of pausing, overriding, or stopping?</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400" dirty="0"/>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012176639"/>
                  </a:ext>
                </a:extLst>
              </a:tr>
              <a:tr h="581856">
                <a:tc>
                  <a:txBody>
                    <a:bodyPr/>
                    <a:lstStyle/>
                    <a:p>
                      <a:pPr>
                        <a:buClr>
                          <a:schemeClr val="bg1">
                            <a:lumMod val="50000"/>
                          </a:schemeClr>
                        </a:buClr>
                      </a:pPr>
                      <a:r>
                        <a:rPr lang="en-US" sz="1400" b="1" dirty="0">
                          <a:solidFill>
                            <a:srgbClr val="021836"/>
                          </a:solidFill>
                        </a:rPr>
                        <a:t>Accountability: </a:t>
                      </a:r>
                      <a:r>
                        <a:rPr lang="en-US" sz="1400" dirty="0"/>
                        <a:t>Where does consequential responsibility remain human?</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tcPr>
                </a:tc>
                <a:tc>
                  <a:txBody>
                    <a:bodyPr/>
                    <a:lstStyle/>
                    <a:p>
                      <a:endParaRPr lang="en-US" sz="1400" dirty="0"/>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tcPr>
                </a:tc>
                <a:extLst>
                  <a:ext uri="{0D108BD9-81ED-4DB2-BD59-A6C34878D82A}">
                    <a16:rowId xmlns:a16="http://schemas.microsoft.com/office/drawing/2014/main" val="3567521445"/>
                  </a:ext>
                </a:extLst>
              </a:tr>
            </a:tbl>
          </a:graphicData>
        </a:graphic>
      </p:graphicFrame>
      <p:sp>
        <p:nvSpPr>
          <p:cNvPr id="4" name="TextBox 3">
            <a:extLst>
              <a:ext uri="{FF2B5EF4-FFF2-40B4-BE49-F238E27FC236}">
                <a16:creationId xmlns:a16="http://schemas.microsoft.com/office/drawing/2014/main" id="{E59307C0-2E78-07E4-D475-865957666053}"/>
              </a:ext>
            </a:extLst>
          </p:cNvPr>
          <p:cNvSpPr txBox="1"/>
          <p:nvPr/>
        </p:nvSpPr>
        <p:spPr>
          <a:xfrm>
            <a:off x="4408714" y="64309"/>
            <a:ext cx="4628748" cy="276999"/>
          </a:xfrm>
          <a:prstGeom prst="rect">
            <a:avLst/>
          </a:prstGeom>
          <a:noFill/>
        </p:spPr>
        <p:txBody>
          <a:bodyPr wrap="square" rtlCol="0">
            <a:spAutoFit/>
          </a:bodyPr>
          <a:lstStyle/>
          <a:p>
            <a:pPr algn="r"/>
            <a:r>
              <a:rPr lang="en-US" sz="1200" dirty="0">
                <a:solidFill>
                  <a:schemeClr val="bg1">
                    <a:lumMod val="50000"/>
                  </a:schemeClr>
                </a:solidFill>
              </a:rPr>
              <a:t>AI Operational Readiness • Current-State – Future-State Framework</a:t>
            </a:r>
          </a:p>
        </p:txBody>
      </p:sp>
    </p:spTree>
    <p:extLst>
      <p:ext uri="{BB962C8B-B14F-4D97-AF65-F5344CB8AC3E}">
        <p14:creationId xmlns:p14="http://schemas.microsoft.com/office/powerpoint/2010/main" val="401457945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2A23E-38D8-04F4-F8DB-D794890E9E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265EA3-20E2-EC8C-9C7B-C0FCDB5707BC}"/>
              </a:ext>
            </a:extLst>
          </p:cNvPr>
          <p:cNvSpPr>
            <a:spLocks noGrp="1"/>
          </p:cNvSpPr>
          <p:nvPr>
            <p:ph type="title"/>
          </p:nvPr>
        </p:nvSpPr>
        <p:spPr>
          <a:xfrm>
            <a:off x="273534" y="22230"/>
            <a:ext cx="7886700" cy="1325563"/>
          </a:xfrm>
        </p:spPr>
        <p:txBody>
          <a:bodyPr/>
          <a:lstStyle/>
          <a:p>
            <a:r>
              <a:rPr lang="en-US" dirty="0"/>
              <a:t>Business Outcome</a:t>
            </a:r>
          </a:p>
        </p:txBody>
      </p:sp>
      <p:cxnSp>
        <p:nvCxnSpPr>
          <p:cNvPr id="5" name="Straight Connector 4">
            <a:extLst>
              <a:ext uri="{FF2B5EF4-FFF2-40B4-BE49-F238E27FC236}">
                <a16:creationId xmlns:a16="http://schemas.microsoft.com/office/drawing/2014/main" id="{28E84A99-5257-C1CD-1886-8C042BC68E03}"/>
              </a:ext>
            </a:extLst>
          </p:cNvPr>
          <p:cNvCxnSpPr>
            <a:cxnSpLocks/>
          </p:cNvCxnSpPr>
          <p:nvPr/>
        </p:nvCxnSpPr>
        <p:spPr>
          <a:xfrm>
            <a:off x="171450" y="5026031"/>
            <a:ext cx="8801100" cy="0"/>
          </a:xfrm>
          <a:prstGeom prst="line">
            <a:avLst/>
          </a:prstGeom>
          <a:ln w="9525">
            <a:solidFill>
              <a:srgbClr val="0396A6"/>
            </a:solidFill>
          </a:ln>
        </p:spPr>
        <p:style>
          <a:lnRef idx="2">
            <a:schemeClr val="accent1"/>
          </a:lnRef>
          <a:fillRef idx="0">
            <a:schemeClr val="accent1"/>
          </a:fillRef>
          <a:effectRef idx="1">
            <a:schemeClr val="accent1"/>
          </a:effectRef>
          <a:fontRef idx="minor">
            <a:schemeClr val="tx1"/>
          </a:fontRef>
        </p:style>
      </p:cxnSp>
      <p:grpSp>
        <p:nvGrpSpPr>
          <p:cNvPr id="6" name="Group 5">
            <a:extLst>
              <a:ext uri="{FF2B5EF4-FFF2-40B4-BE49-F238E27FC236}">
                <a16:creationId xmlns:a16="http://schemas.microsoft.com/office/drawing/2014/main" id="{8703644F-11D8-A017-DF99-BC3C2E02B098}"/>
              </a:ext>
            </a:extLst>
          </p:cNvPr>
          <p:cNvGrpSpPr/>
          <p:nvPr/>
        </p:nvGrpSpPr>
        <p:grpSpPr>
          <a:xfrm>
            <a:off x="368752" y="5183417"/>
            <a:ext cx="8406496" cy="820961"/>
            <a:chOff x="628650" y="4778376"/>
            <a:chExt cx="7886700" cy="820961"/>
          </a:xfrm>
        </p:grpSpPr>
        <p:sp>
          <p:nvSpPr>
            <p:cNvPr id="7" name="Content Placeholder 2">
              <a:extLst>
                <a:ext uri="{FF2B5EF4-FFF2-40B4-BE49-F238E27FC236}">
                  <a16:creationId xmlns:a16="http://schemas.microsoft.com/office/drawing/2014/main" id="{3151B00C-F90C-2457-0AE8-41A31E72DF4E}"/>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Opportunity Signals</a:t>
              </a:r>
            </a:p>
          </p:txBody>
        </p:sp>
        <p:sp>
          <p:nvSpPr>
            <p:cNvPr id="8" name="Content Placeholder 2">
              <a:extLst>
                <a:ext uri="{FF2B5EF4-FFF2-40B4-BE49-F238E27FC236}">
                  <a16:creationId xmlns:a16="http://schemas.microsoft.com/office/drawing/2014/main" id="{A9A3D315-4C60-9E8F-1FB0-632648C36C15}"/>
                </a:ext>
              </a:extLst>
            </p:cNvPr>
            <p:cNvSpPr txBox="1">
              <a:spLocks/>
            </p:cNvSpPr>
            <p:nvPr/>
          </p:nvSpPr>
          <p:spPr>
            <a:xfrm>
              <a:off x="628650" y="5032600"/>
              <a:ext cx="7886700" cy="566737"/>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Clr>
                  <a:srgbClr val="021836"/>
                </a:buClr>
                <a:buNone/>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Cycle time • Quality • Cost • Throughput • Customer outcome • Rework</a:t>
              </a:r>
              <a:r>
                <a:rPr lang="en-US" sz="1200" i="1" dirty="0">
                  <a:solidFill>
                    <a:prstClr val="white">
                      <a:lumMod val="50000"/>
                    </a:prstClr>
                  </a:solidFill>
                </a:rPr>
                <a:t> • Review Burden • Risk reduction • Consistency</a:t>
              </a:r>
              <a:endPar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endParaRPr>
            </a:p>
          </p:txBody>
        </p:sp>
      </p:grpSp>
      <p:sp>
        <p:nvSpPr>
          <p:cNvPr id="9" name="Content Placeholder 2">
            <a:extLst>
              <a:ext uri="{FF2B5EF4-FFF2-40B4-BE49-F238E27FC236}">
                <a16:creationId xmlns:a16="http://schemas.microsoft.com/office/drawing/2014/main" id="{3BC50A5E-FC1D-DDF7-9940-4702796135D7}"/>
              </a:ext>
            </a:extLst>
          </p:cNvPr>
          <p:cNvSpPr txBox="1">
            <a:spLocks/>
          </p:cNvSpPr>
          <p:nvPr/>
        </p:nvSpPr>
        <p:spPr>
          <a:xfrm>
            <a:off x="317078" y="953127"/>
            <a:ext cx="7886700" cy="299244"/>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Understanding what value should improve</a:t>
            </a:r>
          </a:p>
        </p:txBody>
      </p:sp>
      <p:grpSp>
        <p:nvGrpSpPr>
          <p:cNvPr id="10" name="Group 9">
            <a:extLst>
              <a:ext uri="{FF2B5EF4-FFF2-40B4-BE49-F238E27FC236}">
                <a16:creationId xmlns:a16="http://schemas.microsoft.com/office/drawing/2014/main" id="{3F202CB5-D3F7-52CC-1957-F2E6485BC869}"/>
              </a:ext>
            </a:extLst>
          </p:cNvPr>
          <p:cNvGrpSpPr/>
          <p:nvPr/>
        </p:nvGrpSpPr>
        <p:grpSpPr>
          <a:xfrm>
            <a:off x="368752" y="5970195"/>
            <a:ext cx="7886700" cy="820961"/>
            <a:chOff x="628650" y="4778376"/>
            <a:chExt cx="7886700" cy="820961"/>
          </a:xfrm>
        </p:grpSpPr>
        <p:sp>
          <p:nvSpPr>
            <p:cNvPr id="11" name="Content Placeholder 2">
              <a:extLst>
                <a:ext uri="{FF2B5EF4-FFF2-40B4-BE49-F238E27FC236}">
                  <a16:creationId xmlns:a16="http://schemas.microsoft.com/office/drawing/2014/main" id="{CF7871B2-C1D4-1EE5-71BE-C1901DE9FABA}"/>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Why This Matters</a:t>
              </a:r>
            </a:p>
          </p:txBody>
        </p:sp>
        <p:sp>
          <p:nvSpPr>
            <p:cNvPr id="12" name="Content Placeholder 2">
              <a:extLst>
                <a:ext uri="{FF2B5EF4-FFF2-40B4-BE49-F238E27FC236}">
                  <a16:creationId xmlns:a16="http://schemas.microsoft.com/office/drawing/2014/main" id="{EFEBBF76-9B96-27B8-71B8-EDCAB3783966}"/>
                </a:ext>
              </a:extLst>
            </p:cNvPr>
            <p:cNvSpPr txBox="1">
              <a:spLocks/>
            </p:cNvSpPr>
            <p:nvPr/>
          </p:nvSpPr>
          <p:spPr>
            <a:xfrm>
              <a:off x="628650" y="5032600"/>
              <a:ext cx="7886700" cy="566737"/>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lang="en-US" sz="1200" dirty="0">
                  <a:solidFill>
                    <a:srgbClr val="021836"/>
                  </a:solidFill>
                  <a:latin typeface="Aptos" panose="02110004020202020204"/>
                </a:rPr>
                <a:t>Future-state design should define the outcome AI is expected to improve and how that improvement will be recognized.</a:t>
              </a:r>
              <a:endPar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endParaRPr>
            </a:p>
          </p:txBody>
        </p:sp>
      </p:grpSp>
      <p:graphicFrame>
        <p:nvGraphicFramePr>
          <p:cNvPr id="15" name="Table 14">
            <a:extLst>
              <a:ext uri="{FF2B5EF4-FFF2-40B4-BE49-F238E27FC236}">
                <a16:creationId xmlns:a16="http://schemas.microsoft.com/office/drawing/2014/main" id="{FCCA6CEB-CE6B-6A64-B2C3-4006761019A2}"/>
              </a:ext>
            </a:extLst>
          </p:cNvPr>
          <p:cNvGraphicFramePr>
            <a:graphicFrameLocks noGrp="1"/>
          </p:cNvGraphicFramePr>
          <p:nvPr/>
        </p:nvGraphicFramePr>
        <p:xfrm>
          <a:off x="435427" y="1272132"/>
          <a:ext cx="8218714" cy="3281434"/>
        </p:xfrm>
        <a:graphic>
          <a:graphicData uri="http://schemas.openxmlformats.org/drawingml/2006/table">
            <a:tbl>
              <a:tblPr firstRow="1" bandRow="1">
                <a:tableStyleId>{2D5ABB26-0587-4C30-8999-92F81FD0307C}</a:tableStyleId>
              </a:tblPr>
              <a:tblGrid>
                <a:gridCol w="3635830">
                  <a:extLst>
                    <a:ext uri="{9D8B030D-6E8A-4147-A177-3AD203B41FA5}">
                      <a16:colId xmlns:a16="http://schemas.microsoft.com/office/drawing/2014/main" val="2470210094"/>
                    </a:ext>
                  </a:extLst>
                </a:gridCol>
                <a:gridCol w="4582884">
                  <a:extLst>
                    <a:ext uri="{9D8B030D-6E8A-4147-A177-3AD203B41FA5}">
                      <a16:colId xmlns:a16="http://schemas.microsoft.com/office/drawing/2014/main" val="72878264"/>
                    </a:ext>
                  </a:extLst>
                </a:gridCol>
              </a:tblGrid>
              <a:tr h="372154">
                <a:tc>
                  <a:txBody>
                    <a:bodyPr/>
                    <a:lstStyle/>
                    <a:p>
                      <a:r>
                        <a:rPr lang="en-US" sz="1600" b="1" dirty="0">
                          <a:solidFill>
                            <a:srgbClr val="021836"/>
                          </a:solidFill>
                        </a:rPr>
                        <a:t>Business Outcome Design Elements</a:t>
                      </a:r>
                    </a:p>
                  </a:txBody>
                  <a:tcPr>
                    <a:lnR w="12700" cap="flat" cmpd="sng" algn="ctr">
                      <a:solidFill>
                        <a:schemeClr val="bg1">
                          <a:lumMod val="75000"/>
                        </a:schemeClr>
                      </a:solidFill>
                      <a:prstDash val="solid"/>
                      <a:round/>
                      <a:headEnd type="none" w="med" len="med"/>
                      <a:tailEnd type="none" w="med" len="med"/>
                    </a:lnR>
                    <a:lnB w="12700" cap="flat" cmpd="sng" algn="ctr">
                      <a:solidFill>
                        <a:srgbClr val="0396A6"/>
                      </a:solidFill>
                      <a:prstDash val="solid"/>
                      <a:round/>
                      <a:headEnd type="none" w="med" len="med"/>
                      <a:tailEnd type="none" w="med" len="med"/>
                    </a:lnB>
                  </a:tcPr>
                </a:tc>
                <a:tc>
                  <a:txBody>
                    <a:bodyPr/>
                    <a:lstStyle/>
                    <a:p>
                      <a:r>
                        <a:rPr lang="en-US" sz="1600" b="1" dirty="0">
                          <a:solidFill>
                            <a:srgbClr val="021836"/>
                          </a:solidFill>
                        </a:rPr>
                        <a:t>Proposed Design</a:t>
                      </a:r>
                    </a:p>
                  </a:txBody>
                  <a:tcPr>
                    <a:lnL w="12700" cap="flat" cmpd="sng" algn="ctr">
                      <a:solidFill>
                        <a:schemeClr val="bg1">
                          <a:lumMod val="75000"/>
                        </a:schemeClr>
                      </a:solidFill>
                      <a:prstDash val="solid"/>
                      <a:round/>
                      <a:headEnd type="none" w="med" len="med"/>
                      <a:tailEnd type="none" w="med" len="med"/>
                    </a:lnL>
                    <a:lnB w="12700" cap="flat" cmpd="sng" algn="ctr">
                      <a:solidFill>
                        <a:srgbClr val="0396A6"/>
                      </a:solidFill>
                      <a:prstDash val="solid"/>
                      <a:round/>
                      <a:headEnd type="none" w="med" len="med"/>
                      <a:tailEnd type="none" w="med" len="med"/>
                    </a:lnB>
                  </a:tcPr>
                </a:tc>
                <a:extLst>
                  <a:ext uri="{0D108BD9-81ED-4DB2-BD59-A6C34878D82A}">
                    <a16:rowId xmlns:a16="http://schemas.microsoft.com/office/drawing/2014/main" val="2061593276"/>
                  </a:ext>
                </a:extLst>
              </a:tr>
              <a:tr h="581856">
                <a:tc>
                  <a:txBody>
                    <a:bodyPr/>
                    <a:lstStyle/>
                    <a:p>
                      <a:pPr>
                        <a:buClr>
                          <a:schemeClr val="bg1">
                            <a:lumMod val="50000"/>
                          </a:schemeClr>
                        </a:buClr>
                      </a:pPr>
                      <a:r>
                        <a:rPr lang="en-US" sz="1400" b="1" dirty="0">
                          <a:solidFill>
                            <a:srgbClr val="021836"/>
                          </a:solidFill>
                        </a:rPr>
                        <a:t>Success Measure</a:t>
                      </a:r>
                      <a:endParaRPr lang="en-US" sz="1400" dirty="0"/>
                    </a:p>
                  </a:txBody>
                  <a:tcPr>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400" dirty="0"/>
                        <a:t>What metric will show whether the future state is working.</a:t>
                      </a:r>
                    </a:p>
                  </a:txBody>
                  <a:tcPr>
                    <a:lnL w="12700" cap="flat" cmpd="sng" algn="ctr">
                      <a:solidFill>
                        <a:schemeClr val="bg1">
                          <a:lumMod val="75000"/>
                        </a:schemeClr>
                      </a:solidFill>
                      <a:prstDash val="solid"/>
                      <a:round/>
                      <a:headEnd type="none" w="med" len="med"/>
                      <a:tailEnd type="none" w="med" len="med"/>
                    </a:lnL>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493753442"/>
                  </a:ext>
                </a:extLst>
              </a:tr>
              <a:tr h="581856">
                <a:tc>
                  <a:txBody>
                    <a:bodyPr/>
                    <a:lstStyle/>
                    <a:p>
                      <a:pPr>
                        <a:buClr>
                          <a:schemeClr val="bg1">
                            <a:lumMod val="50000"/>
                          </a:schemeClr>
                        </a:buClr>
                      </a:pPr>
                      <a:r>
                        <a:rPr lang="en-US" sz="1400" b="1" dirty="0">
                          <a:solidFill>
                            <a:srgbClr val="021836"/>
                          </a:solidFill>
                        </a:rPr>
                        <a:t>Expected Benefit</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400" dirty="0"/>
                        <a:t>The value the team, customer, or business should receive.</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23325965"/>
                  </a:ext>
                </a:extLst>
              </a:tr>
              <a:tr h="581856">
                <a:tc>
                  <a:txBody>
                    <a:bodyPr/>
                    <a:lstStyle/>
                    <a:p>
                      <a:pPr>
                        <a:buClr>
                          <a:schemeClr val="bg1">
                            <a:lumMod val="50000"/>
                          </a:schemeClr>
                        </a:buClr>
                      </a:pPr>
                      <a:r>
                        <a:rPr lang="en-US" sz="1400" b="1" dirty="0">
                          <a:solidFill>
                            <a:srgbClr val="021836"/>
                          </a:solidFill>
                        </a:rPr>
                        <a:t>Baseline</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400" dirty="0"/>
                        <a:t>How the work performs today before AI is introduced.</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845834834"/>
                  </a:ext>
                </a:extLst>
              </a:tr>
              <a:tr h="581856">
                <a:tc>
                  <a:txBody>
                    <a:bodyPr/>
                    <a:lstStyle/>
                    <a:p>
                      <a:pPr>
                        <a:buClr>
                          <a:schemeClr val="bg1">
                            <a:lumMod val="50000"/>
                          </a:schemeClr>
                        </a:buClr>
                      </a:pPr>
                      <a:r>
                        <a:rPr lang="en-US" sz="1400" b="1" dirty="0">
                          <a:solidFill>
                            <a:srgbClr val="021836"/>
                          </a:solidFill>
                        </a:rPr>
                        <a:t>Evidence Need</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400" dirty="0"/>
                        <a:t>What would we need to observe to know whether the intended improvement occurred?</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012176639"/>
                  </a:ext>
                </a:extLst>
              </a:tr>
              <a:tr h="581856">
                <a:tc>
                  <a:txBody>
                    <a:bodyPr/>
                    <a:lstStyle/>
                    <a:p>
                      <a:pPr>
                        <a:buClr>
                          <a:schemeClr val="bg1">
                            <a:lumMod val="50000"/>
                          </a:schemeClr>
                        </a:buClr>
                      </a:pPr>
                      <a:r>
                        <a:rPr lang="en-US" sz="1400" b="1" dirty="0">
                          <a:solidFill>
                            <a:srgbClr val="021836"/>
                          </a:solidFill>
                        </a:rPr>
                        <a:t>Success Condition</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tcPr>
                </a:tc>
                <a:tc>
                  <a:txBody>
                    <a:bodyPr/>
                    <a:lstStyle/>
                    <a:p>
                      <a:r>
                        <a:rPr lang="en-US" sz="1400" dirty="0"/>
                        <a:t>What would indicate that the future-state design is working as intended?</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tcPr>
                </a:tc>
                <a:extLst>
                  <a:ext uri="{0D108BD9-81ED-4DB2-BD59-A6C34878D82A}">
                    <a16:rowId xmlns:a16="http://schemas.microsoft.com/office/drawing/2014/main" val="3567521445"/>
                  </a:ext>
                </a:extLst>
              </a:tr>
            </a:tbl>
          </a:graphicData>
        </a:graphic>
      </p:graphicFrame>
      <p:sp>
        <p:nvSpPr>
          <p:cNvPr id="4" name="TextBox 3">
            <a:extLst>
              <a:ext uri="{FF2B5EF4-FFF2-40B4-BE49-F238E27FC236}">
                <a16:creationId xmlns:a16="http://schemas.microsoft.com/office/drawing/2014/main" id="{10255139-166A-24F5-B637-137C28065F33}"/>
              </a:ext>
            </a:extLst>
          </p:cNvPr>
          <p:cNvSpPr txBox="1"/>
          <p:nvPr/>
        </p:nvSpPr>
        <p:spPr>
          <a:xfrm>
            <a:off x="4408714" y="64309"/>
            <a:ext cx="4628748" cy="276999"/>
          </a:xfrm>
          <a:prstGeom prst="rect">
            <a:avLst/>
          </a:prstGeom>
          <a:noFill/>
        </p:spPr>
        <p:txBody>
          <a:bodyPr wrap="square" rtlCol="0">
            <a:spAutoFit/>
          </a:bodyPr>
          <a:lstStyle/>
          <a:p>
            <a:pPr algn="r"/>
            <a:r>
              <a:rPr lang="en-US" sz="1200" dirty="0">
                <a:solidFill>
                  <a:schemeClr val="bg1">
                    <a:lumMod val="50000"/>
                  </a:schemeClr>
                </a:solidFill>
              </a:rPr>
              <a:t>AI Operational Readiness • Current-State – Future-State Framework</a:t>
            </a:r>
          </a:p>
        </p:txBody>
      </p:sp>
    </p:spTree>
    <p:extLst>
      <p:ext uri="{BB962C8B-B14F-4D97-AF65-F5344CB8AC3E}">
        <p14:creationId xmlns:p14="http://schemas.microsoft.com/office/powerpoint/2010/main" val="265848016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B4DA7C-B000-1568-B381-A09C027740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6B42B7-1F74-FDD2-091B-94BD50B1B5A0}"/>
              </a:ext>
            </a:extLst>
          </p:cNvPr>
          <p:cNvSpPr>
            <a:spLocks noGrp="1"/>
          </p:cNvSpPr>
          <p:nvPr>
            <p:ph type="title"/>
          </p:nvPr>
        </p:nvSpPr>
        <p:spPr>
          <a:xfrm>
            <a:off x="273534" y="22230"/>
            <a:ext cx="7886700" cy="1325563"/>
          </a:xfrm>
        </p:spPr>
        <p:txBody>
          <a:bodyPr/>
          <a:lstStyle/>
          <a:p>
            <a:r>
              <a:rPr lang="en-US" dirty="0"/>
              <a:t>Future-State Blueprint</a:t>
            </a:r>
          </a:p>
        </p:txBody>
      </p:sp>
      <p:sp>
        <p:nvSpPr>
          <p:cNvPr id="15" name="Content Placeholder 2">
            <a:extLst>
              <a:ext uri="{FF2B5EF4-FFF2-40B4-BE49-F238E27FC236}">
                <a16:creationId xmlns:a16="http://schemas.microsoft.com/office/drawing/2014/main" id="{10E82DF4-8401-43D0-7041-6F2B71E71E39}"/>
              </a:ext>
            </a:extLst>
          </p:cNvPr>
          <p:cNvSpPr txBox="1">
            <a:spLocks/>
          </p:cNvSpPr>
          <p:nvPr/>
        </p:nvSpPr>
        <p:spPr>
          <a:xfrm>
            <a:off x="317078" y="953127"/>
            <a:ext cx="7886700" cy="299244"/>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Summarizing the proposed design</a:t>
            </a:r>
          </a:p>
        </p:txBody>
      </p:sp>
      <p:graphicFrame>
        <p:nvGraphicFramePr>
          <p:cNvPr id="16" name="Table 15">
            <a:extLst>
              <a:ext uri="{FF2B5EF4-FFF2-40B4-BE49-F238E27FC236}">
                <a16:creationId xmlns:a16="http://schemas.microsoft.com/office/drawing/2014/main" id="{09472812-9935-AF6A-88A0-6F49AC261BF7}"/>
              </a:ext>
            </a:extLst>
          </p:cNvPr>
          <p:cNvGraphicFramePr>
            <a:graphicFrameLocks noGrp="1"/>
          </p:cNvGraphicFramePr>
          <p:nvPr/>
        </p:nvGraphicFramePr>
        <p:xfrm>
          <a:off x="435427" y="1870307"/>
          <a:ext cx="8218714" cy="2773680"/>
        </p:xfrm>
        <a:graphic>
          <a:graphicData uri="http://schemas.openxmlformats.org/drawingml/2006/table">
            <a:tbl>
              <a:tblPr firstRow="1" bandRow="1">
                <a:tableStyleId>{2D5ABB26-0587-4C30-8999-92F81FD0307C}</a:tableStyleId>
              </a:tblPr>
              <a:tblGrid>
                <a:gridCol w="2122716">
                  <a:extLst>
                    <a:ext uri="{9D8B030D-6E8A-4147-A177-3AD203B41FA5}">
                      <a16:colId xmlns:a16="http://schemas.microsoft.com/office/drawing/2014/main" val="2470210094"/>
                    </a:ext>
                  </a:extLst>
                </a:gridCol>
                <a:gridCol w="6095998">
                  <a:extLst>
                    <a:ext uri="{9D8B030D-6E8A-4147-A177-3AD203B41FA5}">
                      <a16:colId xmlns:a16="http://schemas.microsoft.com/office/drawing/2014/main" val="72878264"/>
                    </a:ext>
                  </a:extLst>
                </a:gridCol>
              </a:tblGrid>
              <a:tr h="133588">
                <a:tc>
                  <a:txBody>
                    <a:bodyPr/>
                    <a:lstStyle/>
                    <a:p>
                      <a:r>
                        <a:rPr lang="en-US" sz="1600" b="1" dirty="0">
                          <a:solidFill>
                            <a:srgbClr val="021836"/>
                          </a:solidFill>
                        </a:rPr>
                        <a:t>Area</a:t>
                      </a:r>
                    </a:p>
                  </a:txBody>
                  <a:tcPr>
                    <a:lnR w="12700" cap="flat" cmpd="sng" algn="ctr">
                      <a:solidFill>
                        <a:schemeClr val="bg1">
                          <a:lumMod val="75000"/>
                        </a:schemeClr>
                      </a:solidFill>
                      <a:prstDash val="solid"/>
                      <a:round/>
                      <a:headEnd type="none" w="med" len="med"/>
                      <a:tailEnd type="none" w="med" len="med"/>
                    </a:lnR>
                    <a:lnB w="12700" cap="flat" cmpd="sng" algn="ctr">
                      <a:solidFill>
                        <a:srgbClr val="0396A6"/>
                      </a:solidFill>
                      <a:prstDash val="solid"/>
                      <a:round/>
                      <a:headEnd type="none" w="med" len="med"/>
                      <a:tailEnd type="none" w="med" len="med"/>
                    </a:lnB>
                  </a:tcPr>
                </a:tc>
                <a:tc>
                  <a:txBody>
                    <a:bodyPr/>
                    <a:lstStyle/>
                    <a:p>
                      <a:r>
                        <a:rPr lang="en-US" sz="1600" b="1" dirty="0">
                          <a:solidFill>
                            <a:srgbClr val="021836"/>
                          </a:solidFill>
                        </a:rPr>
                        <a:t>Proposed Design Summary</a:t>
                      </a:r>
                    </a:p>
                  </a:txBody>
                  <a:tcPr>
                    <a:lnL w="12700" cap="flat" cmpd="sng" algn="ctr">
                      <a:solidFill>
                        <a:schemeClr val="bg1">
                          <a:lumMod val="75000"/>
                        </a:schemeClr>
                      </a:solidFill>
                      <a:prstDash val="solid"/>
                      <a:round/>
                      <a:headEnd type="none" w="med" len="med"/>
                      <a:tailEnd type="none" w="med" len="med"/>
                    </a:lnL>
                    <a:lnB w="12700" cap="flat" cmpd="sng" algn="ctr">
                      <a:solidFill>
                        <a:srgbClr val="0396A6"/>
                      </a:solidFill>
                      <a:prstDash val="solid"/>
                      <a:round/>
                      <a:headEnd type="none" w="med" len="med"/>
                      <a:tailEnd type="none" w="med" len="med"/>
                    </a:lnB>
                  </a:tcPr>
                </a:tc>
                <a:extLst>
                  <a:ext uri="{0D108BD9-81ED-4DB2-BD59-A6C34878D82A}">
                    <a16:rowId xmlns:a16="http://schemas.microsoft.com/office/drawing/2014/main" val="2061593276"/>
                  </a:ext>
                </a:extLst>
              </a:tr>
              <a:tr h="186855">
                <a:tc>
                  <a:txBody>
                    <a:bodyPr/>
                    <a:lstStyle/>
                    <a:p>
                      <a:pPr>
                        <a:buClr>
                          <a:schemeClr val="bg1">
                            <a:lumMod val="50000"/>
                          </a:schemeClr>
                        </a:buClr>
                      </a:pPr>
                      <a:r>
                        <a:rPr lang="en-US" sz="1400" b="1" dirty="0">
                          <a:solidFill>
                            <a:srgbClr val="021836"/>
                          </a:solidFill>
                        </a:rPr>
                        <a:t>Current State</a:t>
                      </a:r>
                      <a:endParaRPr lang="en-US" sz="1400" dirty="0"/>
                    </a:p>
                  </a:txBody>
                  <a:tcPr>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400" dirty="0"/>
                        <a:t>What work looks like today</a:t>
                      </a:r>
                    </a:p>
                  </a:txBody>
                  <a:tcPr>
                    <a:lnL w="12700" cap="flat" cmpd="sng" algn="ctr">
                      <a:solidFill>
                        <a:schemeClr val="bg1">
                          <a:lumMod val="75000"/>
                        </a:schemeClr>
                      </a:solidFill>
                      <a:prstDash val="solid"/>
                      <a:round/>
                      <a:headEnd type="none" w="med" len="med"/>
                      <a:tailEnd type="none" w="med" len="med"/>
                    </a:lnL>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493753442"/>
                  </a:ext>
                </a:extLst>
              </a:tr>
              <a:tr h="186855">
                <a:tc>
                  <a:txBody>
                    <a:bodyPr/>
                    <a:lstStyle/>
                    <a:p>
                      <a:pPr>
                        <a:buClr>
                          <a:schemeClr val="bg1">
                            <a:lumMod val="50000"/>
                          </a:schemeClr>
                        </a:buClr>
                      </a:pPr>
                      <a:r>
                        <a:rPr lang="en-US" sz="1400" b="1" dirty="0">
                          <a:solidFill>
                            <a:srgbClr val="021836"/>
                          </a:solidFill>
                        </a:rPr>
                        <a:t>Future-State Workflow</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400" dirty="0"/>
                        <a:t>How work will operate with AI</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356838059"/>
                  </a:ext>
                </a:extLst>
              </a:tr>
              <a:tr h="186855">
                <a:tc>
                  <a:txBody>
                    <a:bodyPr/>
                    <a:lstStyle/>
                    <a:p>
                      <a:pPr>
                        <a:buClr>
                          <a:schemeClr val="bg1">
                            <a:lumMod val="50000"/>
                          </a:schemeClr>
                        </a:buClr>
                      </a:pPr>
                      <a:r>
                        <a:rPr lang="en-US" sz="1400" b="1" dirty="0">
                          <a:solidFill>
                            <a:srgbClr val="021836"/>
                          </a:solidFill>
                        </a:rPr>
                        <a:t>AI Role</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400" dirty="0"/>
                        <a:t>What AI does</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086304957"/>
                  </a:ext>
                </a:extLst>
              </a:tr>
              <a:tr h="186855">
                <a:tc>
                  <a:txBody>
                    <a:bodyPr/>
                    <a:lstStyle/>
                    <a:p>
                      <a:pPr>
                        <a:buClr>
                          <a:schemeClr val="bg1">
                            <a:lumMod val="50000"/>
                          </a:schemeClr>
                        </a:buClr>
                      </a:pPr>
                      <a:r>
                        <a:rPr lang="en-US" sz="1400" b="1" dirty="0">
                          <a:solidFill>
                            <a:srgbClr val="021836"/>
                          </a:solidFill>
                        </a:rPr>
                        <a:t>Human Handoffs</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400" dirty="0"/>
                        <a:t>Where people enter/ re-enter the workflow</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74818427"/>
                  </a:ext>
                </a:extLst>
              </a:tr>
              <a:tr h="186855">
                <a:tc>
                  <a:txBody>
                    <a:bodyPr/>
                    <a:lstStyle/>
                    <a:p>
                      <a:pPr>
                        <a:buClr>
                          <a:schemeClr val="bg1">
                            <a:lumMod val="50000"/>
                          </a:schemeClr>
                        </a:buClr>
                      </a:pPr>
                      <a:r>
                        <a:rPr lang="en-US" sz="1400" b="1" dirty="0">
                          <a:solidFill>
                            <a:srgbClr val="021836"/>
                          </a:solidFill>
                        </a:rPr>
                        <a:t>Oversight Points</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400" dirty="0"/>
                        <a:t>Where review, approval, escalation, or intervention is required</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27437628"/>
                  </a:ext>
                </a:extLst>
              </a:tr>
              <a:tr h="186855">
                <a:tc>
                  <a:txBody>
                    <a:bodyPr/>
                    <a:lstStyle/>
                    <a:p>
                      <a:pPr>
                        <a:buClr>
                          <a:schemeClr val="bg1">
                            <a:lumMod val="50000"/>
                          </a:schemeClr>
                        </a:buClr>
                      </a:pPr>
                      <a:r>
                        <a:rPr lang="en-US" sz="1400" b="1" dirty="0">
                          <a:solidFill>
                            <a:srgbClr val="021836"/>
                          </a:solidFill>
                        </a:rPr>
                        <a:t>Dependencies</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400" dirty="0"/>
                        <a:t>What the future state relies upon</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23325965"/>
                  </a:ext>
                </a:extLst>
              </a:tr>
              <a:tr h="186855">
                <a:tc>
                  <a:txBody>
                    <a:bodyPr/>
                    <a:lstStyle/>
                    <a:p>
                      <a:pPr>
                        <a:buClr>
                          <a:schemeClr val="bg1">
                            <a:lumMod val="50000"/>
                          </a:schemeClr>
                        </a:buClr>
                      </a:pPr>
                      <a:r>
                        <a:rPr lang="en-US" sz="1400" b="1" dirty="0">
                          <a:solidFill>
                            <a:srgbClr val="021836"/>
                          </a:solidFill>
                        </a:rPr>
                        <a:t>Resilience / Fallback</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400" dirty="0"/>
                        <a:t>How work continues when AI cannot</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845834834"/>
                  </a:ext>
                </a:extLst>
              </a:tr>
              <a:tr h="239709">
                <a:tc>
                  <a:txBody>
                    <a:bodyPr/>
                    <a:lstStyle/>
                    <a:p>
                      <a:pPr>
                        <a:buClr>
                          <a:schemeClr val="bg1">
                            <a:lumMod val="50000"/>
                          </a:schemeClr>
                        </a:buClr>
                      </a:pPr>
                      <a:r>
                        <a:rPr lang="en-US" sz="1400" b="1" dirty="0">
                          <a:solidFill>
                            <a:srgbClr val="021836"/>
                          </a:solidFill>
                        </a:rPr>
                        <a:t>Business Outcome</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400" dirty="0"/>
                        <a:t>What should improve</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567521445"/>
                  </a:ext>
                </a:extLst>
              </a:tr>
            </a:tbl>
          </a:graphicData>
        </a:graphic>
      </p:graphicFrame>
      <p:cxnSp>
        <p:nvCxnSpPr>
          <p:cNvPr id="19" name="Straight Connector 18">
            <a:extLst>
              <a:ext uri="{FF2B5EF4-FFF2-40B4-BE49-F238E27FC236}">
                <a16:creationId xmlns:a16="http://schemas.microsoft.com/office/drawing/2014/main" id="{29963EB0-CB1A-C1CE-9045-D0640BD97209}"/>
              </a:ext>
            </a:extLst>
          </p:cNvPr>
          <p:cNvCxnSpPr>
            <a:cxnSpLocks/>
          </p:cNvCxnSpPr>
          <p:nvPr/>
        </p:nvCxnSpPr>
        <p:spPr>
          <a:xfrm>
            <a:off x="172812" y="5214251"/>
            <a:ext cx="8801100" cy="0"/>
          </a:xfrm>
          <a:prstGeom prst="line">
            <a:avLst/>
          </a:prstGeom>
          <a:ln w="9525">
            <a:solidFill>
              <a:srgbClr val="0396A6"/>
            </a:solidFill>
          </a:ln>
        </p:spPr>
        <p:style>
          <a:lnRef idx="2">
            <a:schemeClr val="accent1"/>
          </a:lnRef>
          <a:fillRef idx="0">
            <a:schemeClr val="accent1"/>
          </a:fillRef>
          <a:effectRef idx="1">
            <a:schemeClr val="accent1"/>
          </a:effectRef>
          <a:fontRef idx="minor">
            <a:schemeClr val="tx1"/>
          </a:fontRef>
        </p:style>
      </p:cxnSp>
      <p:grpSp>
        <p:nvGrpSpPr>
          <p:cNvPr id="20" name="Group 19">
            <a:extLst>
              <a:ext uri="{FF2B5EF4-FFF2-40B4-BE49-F238E27FC236}">
                <a16:creationId xmlns:a16="http://schemas.microsoft.com/office/drawing/2014/main" id="{7E2128DC-8FFF-3648-7F14-FD5F4F58EBEC}"/>
              </a:ext>
            </a:extLst>
          </p:cNvPr>
          <p:cNvGrpSpPr/>
          <p:nvPr/>
        </p:nvGrpSpPr>
        <p:grpSpPr>
          <a:xfrm>
            <a:off x="435427" y="5494392"/>
            <a:ext cx="7886700" cy="820961"/>
            <a:chOff x="628650" y="4778376"/>
            <a:chExt cx="7886700" cy="820961"/>
          </a:xfrm>
        </p:grpSpPr>
        <p:sp>
          <p:nvSpPr>
            <p:cNvPr id="21" name="Content Placeholder 2">
              <a:extLst>
                <a:ext uri="{FF2B5EF4-FFF2-40B4-BE49-F238E27FC236}">
                  <a16:creationId xmlns:a16="http://schemas.microsoft.com/office/drawing/2014/main" id="{34EDFB83-8BAE-E980-ADC4-389C4CCE0DCD}"/>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Next Steps</a:t>
              </a:r>
            </a:p>
          </p:txBody>
        </p:sp>
        <p:sp>
          <p:nvSpPr>
            <p:cNvPr id="22" name="Content Placeholder 2">
              <a:extLst>
                <a:ext uri="{FF2B5EF4-FFF2-40B4-BE49-F238E27FC236}">
                  <a16:creationId xmlns:a16="http://schemas.microsoft.com/office/drawing/2014/main" id="{A687E136-CC0D-41A0-DAF6-A2A14D099E2F}"/>
                </a:ext>
              </a:extLst>
            </p:cNvPr>
            <p:cNvSpPr txBox="1">
              <a:spLocks/>
            </p:cNvSpPr>
            <p:nvPr/>
          </p:nvSpPr>
          <p:spPr>
            <a:xfrm>
              <a:off x="628650" y="5032600"/>
              <a:ext cx="7886700" cy="566737"/>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lang="en-US" sz="1200" dirty="0">
                  <a:solidFill>
                    <a:srgbClr val="021836"/>
                  </a:solidFill>
                  <a:latin typeface="Aptos" panose="02110004020202020204"/>
                </a:rPr>
                <a:t>Define decision rights, evidence requirements, pilot readiness, and governance operating rhythm.</a:t>
              </a:r>
              <a:endPar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endParaRPr>
            </a:p>
          </p:txBody>
        </p:sp>
      </p:grpSp>
      <p:sp>
        <p:nvSpPr>
          <p:cNvPr id="4" name="TextBox 3">
            <a:extLst>
              <a:ext uri="{FF2B5EF4-FFF2-40B4-BE49-F238E27FC236}">
                <a16:creationId xmlns:a16="http://schemas.microsoft.com/office/drawing/2014/main" id="{19C30B90-6C7C-9457-AC4F-C35F601FE3D1}"/>
              </a:ext>
            </a:extLst>
          </p:cNvPr>
          <p:cNvSpPr txBox="1"/>
          <p:nvPr/>
        </p:nvSpPr>
        <p:spPr>
          <a:xfrm>
            <a:off x="4408714" y="64309"/>
            <a:ext cx="4628748" cy="276999"/>
          </a:xfrm>
          <a:prstGeom prst="rect">
            <a:avLst/>
          </a:prstGeom>
          <a:noFill/>
        </p:spPr>
        <p:txBody>
          <a:bodyPr wrap="square" rtlCol="0">
            <a:spAutoFit/>
          </a:bodyPr>
          <a:lstStyle/>
          <a:p>
            <a:pPr algn="r"/>
            <a:r>
              <a:rPr lang="en-US" sz="1200" dirty="0">
                <a:solidFill>
                  <a:schemeClr val="bg1">
                    <a:lumMod val="50000"/>
                  </a:schemeClr>
                </a:solidFill>
              </a:rPr>
              <a:t>AI Operational Readiness • Current-State – Future-State Framework</a:t>
            </a:r>
          </a:p>
        </p:txBody>
      </p:sp>
    </p:spTree>
    <p:extLst>
      <p:ext uri="{BB962C8B-B14F-4D97-AF65-F5344CB8AC3E}">
        <p14:creationId xmlns:p14="http://schemas.microsoft.com/office/powerpoint/2010/main" val="186110737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BC152-D77E-272F-50F0-DA8BC4AE31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201440-84C8-24CD-E259-2451F8074DD4}"/>
              </a:ext>
            </a:extLst>
          </p:cNvPr>
          <p:cNvSpPr>
            <a:spLocks noGrp="1"/>
          </p:cNvSpPr>
          <p:nvPr>
            <p:ph type="title"/>
          </p:nvPr>
        </p:nvSpPr>
        <p:spPr>
          <a:xfrm>
            <a:off x="273534" y="22230"/>
            <a:ext cx="7886700" cy="1325563"/>
          </a:xfrm>
        </p:spPr>
        <p:txBody>
          <a:bodyPr/>
          <a:lstStyle/>
          <a:p>
            <a:r>
              <a:rPr lang="en-US" dirty="0"/>
              <a:t>Example Future-State Profile</a:t>
            </a:r>
          </a:p>
        </p:txBody>
      </p:sp>
      <p:cxnSp>
        <p:nvCxnSpPr>
          <p:cNvPr id="5" name="Straight Connector 4">
            <a:extLst>
              <a:ext uri="{FF2B5EF4-FFF2-40B4-BE49-F238E27FC236}">
                <a16:creationId xmlns:a16="http://schemas.microsoft.com/office/drawing/2014/main" id="{D1A06905-9353-59D1-13AC-903935D705AF}"/>
              </a:ext>
            </a:extLst>
          </p:cNvPr>
          <p:cNvCxnSpPr>
            <a:cxnSpLocks/>
          </p:cNvCxnSpPr>
          <p:nvPr/>
        </p:nvCxnSpPr>
        <p:spPr>
          <a:xfrm>
            <a:off x="171450" y="3787597"/>
            <a:ext cx="8801100" cy="0"/>
          </a:xfrm>
          <a:prstGeom prst="line">
            <a:avLst/>
          </a:prstGeom>
          <a:ln w="9525">
            <a:solidFill>
              <a:srgbClr val="0396A6"/>
            </a:solidFill>
          </a:ln>
        </p:spPr>
        <p:style>
          <a:lnRef idx="2">
            <a:schemeClr val="accent1"/>
          </a:lnRef>
          <a:fillRef idx="0">
            <a:schemeClr val="accent1"/>
          </a:fillRef>
          <a:effectRef idx="1">
            <a:schemeClr val="accent1"/>
          </a:effectRef>
          <a:fontRef idx="minor">
            <a:schemeClr val="tx1"/>
          </a:fontRef>
        </p:style>
      </p:cxnSp>
      <p:sp>
        <p:nvSpPr>
          <p:cNvPr id="7" name="Content Placeholder 2">
            <a:extLst>
              <a:ext uri="{FF2B5EF4-FFF2-40B4-BE49-F238E27FC236}">
                <a16:creationId xmlns:a16="http://schemas.microsoft.com/office/drawing/2014/main" id="{BBDE7A69-6D30-8031-5547-6F874C40BF8C}"/>
              </a:ext>
            </a:extLst>
          </p:cNvPr>
          <p:cNvSpPr txBox="1">
            <a:spLocks/>
          </p:cNvSpPr>
          <p:nvPr/>
        </p:nvSpPr>
        <p:spPr>
          <a:xfrm>
            <a:off x="295306" y="1276000"/>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600" b="1" i="0" u="none" strike="noStrike" kern="1200" cap="none" spc="0" normalizeH="0" baseline="0" noProof="0" dirty="0">
                <a:ln>
                  <a:noFill/>
                </a:ln>
                <a:solidFill>
                  <a:srgbClr val="021836"/>
                </a:solidFill>
                <a:effectLst/>
                <a:uLnTx/>
                <a:uFillTx/>
                <a:latin typeface="Aptos" panose="02110004020202020204"/>
                <a:ea typeface="+mn-ea"/>
                <a:cs typeface="+mn-cs"/>
              </a:rPr>
              <a:t>Opportunity: </a:t>
            </a:r>
            <a:r>
              <a:rPr kumimoji="0" lang="en-US" sz="1600" i="0" u="none" strike="noStrike" kern="1200" cap="none" spc="0" normalizeH="0" baseline="0" noProof="0" dirty="0">
                <a:ln>
                  <a:noFill/>
                </a:ln>
                <a:solidFill>
                  <a:srgbClr val="021836"/>
                </a:solidFill>
                <a:effectLst/>
                <a:uLnTx/>
                <a:uFillTx/>
                <a:latin typeface="Aptos" panose="02110004020202020204"/>
                <a:ea typeface="+mn-ea"/>
                <a:cs typeface="+mn-cs"/>
              </a:rPr>
              <a:t>Meeting Summary Assistant</a:t>
            </a:r>
          </a:p>
        </p:txBody>
      </p:sp>
      <p:sp>
        <p:nvSpPr>
          <p:cNvPr id="9" name="Content Placeholder 2">
            <a:extLst>
              <a:ext uri="{FF2B5EF4-FFF2-40B4-BE49-F238E27FC236}">
                <a16:creationId xmlns:a16="http://schemas.microsoft.com/office/drawing/2014/main" id="{E275B4CB-735A-C66D-9392-D29DD89C603E}"/>
              </a:ext>
            </a:extLst>
          </p:cNvPr>
          <p:cNvSpPr txBox="1">
            <a:spLocks/>
          </p:cNvSpPr>
          <p:nvPr/>
        </p:nvSpPr>
        <p:spPr>
          <a:xfrm>
            <a:off x="317078" y="953127"/>
            <a:ext cx="7886700" cy="299244"/>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lang="en-US" sz="1200" i="1" dirty="0">
                <a:solidFill>
                  <a:prstClr val="white">
                    <a:lumMod val="50000"/>
                  </a:prstClr>
                </a:solidFill>
                <a:latin typeface="Aptos" panose="02110004020202020204"/>
              </a:rPr>
              <a:t>Illustrating the framework in practice</a:t>
            </a:r>
            <a:endPar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endParaRPr>
          </a:p>
        </p:txBody>
      </p:sp>
      <p:graphicFrame>
        <p:nvGraphicFramePr>
          <p:cNvPr id="15" name="Table 14">
            <a:extLst>
              <a:ext uri="{FF2B5EF4-FFF2-40B4-BE49-F238E27FC236}">
                <a16:creationId xmlns:a16="http://schemas.microsoft.com/office/drawing/2014/main" id="{9B1EA67E-F289-87C1-F433-FA009AA5D3F5}"/>
              </a:ext>
            </a:extLst>
          </p:cNvPr>
          <p:cNvGraphicFramePr>
            <a:graphicFrameLocks noGrp="1"/>
          </p:cNvGraphicFramePr>
          <p:nvPr/>
        </p:nvGraphicFramePr>
        <p:xfrm>
          <a:off x="317078" y="1564739"/>
          <a:ext cx="8218714" cy="2188464"/>
        </p:xfrm>
        <a:graphic>
          <a:graphicData uri="http://schemas.openxmlformats.org/drawingml/2006/table">
            <a:tbl>
              <a:tblPr firstRow="1" bandRow="1">
                <a:tableStyleId>{2D5ABB26-0587-4C30-8999-92F81FD0307C}</a:tableStyleId>
              </a:tblPr>
              <a:tblGrid>
                <a:gridCol w="2262836">
                  <a:extLst>
                    <a:ext uri="{9D8B030D-6E8A-4147-A177-3AD203B41FA5}">
                      <a16:colId xmlns:a16="http://schemas.microsoft.com/office/drawing/2014/main" val="2470210094"/>
                    </a:ext>
                  </a:extLst>
                </a:gridCol>
                <a:gridCol w="5955878">
                  <a:extLst>
                    <a:ext uri="{9D8B030D-6E8A-4147-A177-3AD203B41FA5}">
                      <a16:colId xmlns:a16="http://schemas.microsoft.com/office/drawing/2014/main" val="72878264"/>
                    </a:ext>
                  </a:extLst>
                </a:gridCol>
              </a:tblGrid>
              <a:tr h="198779">
                <a:tc>
                  <a:txBody>
                    <a:bodyPr/>
                    <a:lstStyle/>
                    <a:p>
                      <a:r>
                        <a:rPr lang="en-US" sz="1400" b="1" dirty="0">
                          <a:solidFill>
                            <a:srgbClr val="021836"/>
                          </a:solidFill>
                        </a:rPr>
                        <a:t>Area</a:t>
                      </a:r>
                    </a:p>
                  </a:txBody>
                  <a:tcPr marT="27432" marB="27432">
                    <a:lnR w="12700" cap="flat" cmpd="sng" algn="ctr">
                      <a:solidFill>
                        <a:schemeClr val="bg1">
                          <a:lumMod val="75000"/>
                        </a:schemeClr>
                      </a:solidFill>
                      <a:prstDash val="solid"/>
                      <a:round/>
                      <a:headEnd type="none" w="med" len="med"/>
                      <a:tailEnd type="none" w="med" len="med"/>
                    </a:lnR>
                    <a:lnB w="12700" cap="flat" cmpd="sng" algn="ctr">
                      <a:solidFill>
                        <a:srgbClr val="0396A6"/>
                      </a:solidFill>
                      <a:prstDash val="solid"/>
                      <a:round/>
                      <a:headEnd type="none" w="med" len="med"/>
                      <a:tailEnd type="none" w="med" len="med"/>
                    </a:lnB>
                  </a:tcPr>
                </a:tc>
                <a:tc>
                  <a:txBody>
                    <a:bodyPr/>
                    <a:lstStyle/>
                    <a:p>
                      <a:r>
                        <a:rPr lang="en-US" sz="1400" b="1" dirty="0">
                          <a:solidFill>
                            <a:srgbClr val="021836"/>
                          </a:solidFill>
                        </a:rPr>
                        <a:t>Proposed Design Summary</a:t>
                      </a:r>
                    </a:p>
                  </a:txBody>
                  <a:tcPr marT="27432" marB="27432">
                    <a:lnL w="12700" cap="flat" cmpd="sng" algn="ctr">
                      <a:solidFill>
                        <a:schemeClr val="bg1">
                          <a:lumMod val="75000"/>
                        </a:schemeClr>
                      </a:solidFill>
                      <a:prstDash val="solid"/>
                      <a:round/>
                      <a:headEnd type="none" w="med" len="med"/>
                      <a:tailEnd type="none" w="med" len="med"/>
                    </a:lnL>
                    <a:lnB w="12700" cap="flat" cmpd="sng" algn="ctr">
                      <a:solidFill>
                        <a:srgbClr val="0396A6"/>
                      </a:solidFill>
                      <a:prstDash val="solid"/>
                      <a:round/>
                      <a:headEnd type="none" w="med" len="med"/>
                      <a:tailEnd type="none" w="med" len="med"/>
                    </a:lnB>
                  </a:tcPr>
                </a:tc>
                <a:extLst>
                  <a:ext uri="{0D108BD9-81ED-4DB2-BD59-A6C34878D82A}">
                    <a16:rowId xmlns:a16="http://schemas.microsoft.com/office/drawing/2014/main" val="2061593276"/>
                  </a:ext>
                </a:extLst>
              </a:tr>
              <a:tr h="198779">
                <a:tc>
                  <a:txBody>
                    <a:bodyPr/>
                    <a:lstStyle/>
                    <a:p>
                      <a:pPr>
                        <a:buClr>
                          <a:schemeClr val="bg1">
                            <a:lumMod val="50000"/>
                          </a:schemeClr>
                        </a:buClr>
                      </a:pPr>
                      <a:r>
                        <a:rPr lang="en-US" sz="1200" b="1" dirty="0">
                          <a:solidFill>
                            <a:srgbClr val="021836"/>
                          </a:solidFill>
                        </a:rPr>
                        <a:t>Current State</a:t>
                      </a:r>
                      <a:endParaRPr lang="en-US" sz="1200" dirty="0"/>
                    </a:p>
                  </a:txBody>
                  <a:tcPr marT="27432" marB="27432">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200" dirty="0"/>
                        <a:t>Managers manually create meeting summaries and action items.</a:t>
                      </a:r>
                    </a:p>
                  </a:txBody>
                  <a:tcPr marT="27432" marB="27432">
                    <a:lnL w="12700" cap="flat" cmpd="sng" algn="ctr">
                      <a:solidFill>
                        <a:schemeClr val="bg1">
                          <a:lumMod val="75000"/>
                        </a:schemeClr>
                      </a:solidFill>
                      <a:prstDash val="solid"/>
                      <a:round/>
                      <a:headEnd type="none" w="med" len="med"/>
                      <a:tailEnd type="none" w="med" len="med"/>
                    </a:lnL>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493753442"/>
                  </a:ext>
                </a:extLst>
              </a:tr>
              <a:tr h="198779">
                <a:tc>
                  <a:txBody>
                    <a:bodyPr/>
                    <a:lstStyle/>
                    <a:p>
                      <a:pPr>
                        <a:buClr>
                          <a:schemeClr val="bg1">
                            <a:lumMod val="50000"/>
                          </a:schemeClr>
                        </a:buClr>
                      </a:pPr>
                      <a:r>
                        <a:rPr lang="en-US" sz="1200" b="1" dirty="0">
                          <a:solidFill>
                            <a:srgbClr val="021836"/>
                          </a:solidFill>
                        </a:rPr>
                        <a:t>Opportunity</a:t>
                      </a:r>
                    </a:p>
                  </a:txBody>
                  <a:tcPr marT="27432" marB="27432">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200" dirty="0"/>
                        <a:t>Reduce review burden and improve consistency.</a:t>
                      </a:r>
                    </a:p>
                  </a:txBody>
                  <a:tcPr marT="27432" marB="27432">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23325965"/>
                  </a:ext>
                </a:extLst>
              </a:tr>
              <a:tr h="198779">
                <a:tc>
                  <a:txBody>
                    <a:bodyPr/>
                    <a:lstStyle/>
                    <a:p>
                      <a:pPr>
                        <a:buClr>
                          <a:schemeClr val="bg1">
                            <a:lumMod val="50000"/>
                          </a:schemeClr>
                        </a:buClr>
                      </a:pPr>
                      <a:r>
                        <a:rPr lang="en-US" sz="1200" b="1" dirty="0">
                          <a:solidFill>
                            <a:srgbClr val="021836"/>
                          </a:solidFill>
                        </a:rPr>
                        <a:t>AI Assistance</a:t>
                      </a:r>
                    </a:p>
                  </a:txBody>
                  <a:tcPr marT="27432" marB="27432">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200" dirty="0"/>
                        <a:t>AI drafts summaries and extracts action items from meeting notes.</a:t>
                      </a:r>
                    </a:p>
                  </a:txBody>
                  <a:tcPr marT="27432" marB="27432">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845834834"/>
                  </a:ext>
                </a:extLst>
              </a:tr>
              <a:tr h="463817">
                <a:tc>
                  <a:txBody>
                    <a:bodyPr/>
                    <a:lstStyle/>
                    <a:p>
                      <a:pPr>
                        <a:buClr>
                          <a:schemeClr val="bg1">
                            <a:lumMod val="50000"/>
                          </a:schemeClr>
                        </a:buClr>
                      </a:pPr>
                      <a:r>
                        <a:rPr lang="en-US" sz="1200" b="1" dirty="0">
                          <a:solidFill>
                            <a:srgbClr val="021836"/>
                          </a:solidFill>
                        </a:rPr>
                        <a:t>Human Oversight</a:t>
                      </a:r>
                    </a:p>
                  </a:txBody>
                  <a:tcPr marT="27432" marB="27432">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200" dirty="0"/>
                        <a:t>Managers review and approve summaries before distribution.</a:t>
                      </a:r>
                    </a:p>
                    <a:p>
                      <a:r>
                        <a:rPr lang="en-US" sz="1200" dirty="0"/>
                        <a:t>Escalation occurs for sensitive discussions.</a:t>
                      </a:r>
                    </a:p>
                    <a:p>
                      <a:r>
                        <a:rPr lang="en-US" sz="1200" dirty="0"/>
                        <a:t>Managers remain accountable for communication.</a:t>
                      </a:r>
                    </a:p>
                  </a:txBody>
                  <a:tcPr marT="27432" marB="27432">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012176639"/>
                  </a:ext>
                </a:extLst>
              </a:tr>
              <a:tr h="463817">
                <a:tc>
                  <a:txBody>
                    <a:bodyPr/>
                    <a:lstStyle/>
                    <a:p>
                      <a:pPr>
                        <a:buClr>
                          <a:schemeClr val="bg1">
                            <a:lumMod val="50000"/>
                          </a:schemeClr>
                        </a:buClr>
                      </a:pPr>
                      <a:r>
                        <a:rPr lang="en-US" sz="1200" b="1" dirty="0">
                          <a:solidFill>
                            <a:srgbClr val="021836"/>
                          </a:solidFill>
                        </a:rPr>
                        <a:t>Business Outcome</a:t>
                      </a:r>
                    </a:p>
                  </a:txBody>
                  <a:tcPr marT="27432" marB="27432">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tcPr>
                </a:tc>
                <a:tc>
                  <a:txBody>
                    <a:bodyPr/>
                    <a:lstStyle/>
                    <a:p>
                      <a:r>
                        <a:rPr lang="en-US" sz="1200" dirty="0"/>
                        <a:t>Reduce summary preparation time by 50%</a:t>
                      </a:r>
                    </a:p>
                    <a:p>
                      <a:r>
                        <a:rPr lang="en-US" sz="1200" dirty="0"/>
                        <a:t>Increase follow-up consistency.</a:t>
                      </a:r>
                    </a:p>
                    <a:p>
                      <a:r>
                        <a:rPr lang="en-US" sz="1200" dirty="0"/>
                        <a:t>Maintain quality through human review.</a:t>
                      </a:r>
                    </a:p>
                  </a:txBody>
                  <a:tcPr marT="27432" marB="27432">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tcPr>
                </a:tc>
                <a:extLst>
                  <a:ext uri="{0D108BD9-81ED-4DB2-BD59-A6C34878D82A}">
                    <a16:rowId xmlns:a16="http://schemas.microsoft.com/office/drawing/2014/main" val="3567521445"/>
                  </a:ext>
                </a:extLst>
              </a:tr>
            </a:tbl>
          </a:graphicData>
        </a:graphic>
      </p:graphicFrame>
      <p:graphicFrame>
        <p:nvGraphicFramePr>
          <p:cNvPr id="17" name="Table 16">
            <a:extLst>
              <a:ext uri="{FF2B5EF4-FFF2-40B4-BE49-F238E27FC236}">
                <a16:creationId xmlns:a16="http://schemas.microsoft.com/office/drawing/2014/main" id="{1281DB43-8955-DCDA-42C5-8F6D4E80E06B}"/>
              </a:ext>
            </a:extLst>
          </p:cNvPr>
          <p:cNvGraphicFramePr>
            <a:graphicFrameLocks noGrp="1"/>
          </p:cNvGraphicFramePr>
          <p:nvPr/>
        </p:nvGraphicFramePr>
        <p:xfrm>
          <a:off x="317078" y="3842027"/>
          <a:ext cx="8218714" cy="2883408"/>
        </p:xfrm>
        <a:graphic>
          <a:graphicData uri="http://schemas.openxmlformats.org/drawingml/2006/table">
            <a:tbl>
              <a:tblPr firstRow="1" bandRow="1">
                <a:tableStyleId>{2D5ABB26-0587-4C30-8999-92F81FD0307C}</a:tableStyleId>
              </a:tblPr>
              <a:tblGrid>
                <a:gridCol w="2262836">
                  <a:extLst>
                    <a:ext uri="{9D8B030D-6E8A-4147-A177-3AD203B41FA5}">
                      <a16:colId xmlns:a16="http://schemas.microsoft.com/office/drawing/2014/main" val="2470210094"/>
                    </a:ext>
                  </a:extLst>
                </a:gridCol>
                <a:gridCol w="5955878">
                  <a:extLst>
                    <a:ext uri="{9D8B030D-6E8A-4147-A177-3AD203B41FA5}">
                      <a16:colId xmlns:a16="http://schemas.microsoft.com/office/drawing/2014/main" val="72878264"/>
                    </a:ext>
                  </a:extLst>
                </a:gridCol>
              </a:tblGrid>
              <a:tr h="0">
                <a:tc>
                  <a:txBody>
                    <a:bodyPr/>
                    <a:lstStyle/>
                    <a:p>
                      <a:r>
                        <a:rPr lang="en-US" sz="1400" b="1" dirty="0">
                          <a:solidFill>
                            <a:srgbClr val="021836"/>
                          </a:solidFill>
                        </a:rPr>
                        <a:t>Design Element</a:t>
                      </a:r>
                    </a:p>
                  </a:txBody>
                  <a:tcPr marT="27432" marB="27432">
                    <a:lnR w="12700" cap="flat" cmpd="sng" algn="ctr">
                      <a:solidFill>
                        <a:schemeClr val="bg1">
                          <a:lumMod val="75000"/>
                        </a:schemeClr>
                      </a:solidFill>
                      <a:prstDash val="solid"/>
                      <a:round/>
                      <a:headEnd type="none" w="med" len="med"/>
                      <a:tailEnd type="none" w="med" len="med"/>
                    </a:lnR>
                    <a:lnB w="12700" cap="flat" cmpd="sng" algn="ctr">
                      <a:solidFill>
                        <a:srgbClr val="0396A6"/>
                      </a:solidFill>
                      <a:prstDash val="solid"/>
                      <a:round/>
                      <a:headEnd type="none" w="med" len="med"/>
                      <a:tailEnd type="none" w="med" len="med"/>
                    </a:lnB>
                  </a:tcPr>
                </a:tc>
                <a:tc>
                  <a:txBody>
                    <a:bodyPr/>
                    <a:lstStyle/>
                    <a:p>
                      <a:r>
                        <a:rPr lang="en-US" sz="1400" b="1" dirty="0">
                          <a:solidFill>
                            <a:srgbClr val="021836"/>
                          </a:solidFill>
                        </a:rPr>
                        <a:t>Proposed Design</a:t>
                      </a:r>
                    </a:p>
                  </a:txBody>
                  <a:tcPr marT="27432" marB="27432">
                    <a:lnL w="12700" cap="flat" cmpd="sng" algn="ctr">
                      <a:solidFill>
                        <a:schemeClr val="bg1">
                          <a:lumMod val="75000"/>
                        </a:schemeClr>
                      </a:solidFill>
                      <a:prstDash val="solid"/>
                      <a:round/>
                      <a:headEnd type="none" w="med" len="med"/>
                      <a:tailEnd type="none" w="med" len="med"/>
                    </a:lnL>
                    <a:lnB w="12700" cap="flat" cmpd="sng" algn="ctr">
                      <a:solidFill>
                        <a:srgbClr val="0396A6"/>
                      </a:solidFill>
                      <a:prstDash val="solid"/>
                      <a:round/>
                      <a:headEnd type="none" w="med" len="med"/>
                      <a:tailEnd type="none" w="med" len="med"/>
                    </a:lnB>
                  </a:tcPr>
                </a:tc>
                <a:extLst>
                  <a:ext uri="{0D108BD9-81ED-4DB2-BD59-A6C34878D82A}">
                    <a16:rowId xmlns:a16="http://schemas.microsoft.com/office/drawing/2014/main" val="2061593276"/>
                  </a:ext>
                </a:extLst>
              </a:tr>
              <a:tr h="0">
                <a:tc>
                  <a:txBody>
                    <a:bodyPr/>
                    <a:lstStyle/>
                    <a:p>
                      <a:pPr>
                        <a:buClr>
                          <a:schemeClr val="bg1">
                            <a:lumMod val="50000"/>
                          </a:schemeClr>
                        </a:buClr>
                      </a:pPr>
                      <a:r>
                        <a:rPr lang="en-US" sz="1200" b="1" dirty="0">
                          <a:solidFill>
                            <a:srgbClr val="021836"/>
                          </a:solidFill>
                        </a:rPr>
                        <a:t>Future-state Workflow</a:t>
                      </a:r>
                      <a:endParaRPr lang="en-US" sz="1200" dirty="0"/>
                    </a:p>
                  </a:txBody>
                  <a:tcPr marT="27432" marB="27432">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200" dirty="0"/>
                        <a:t>AI drafts meeting summary and action items; manager reviews before distribution.</a:t>
                      </a:r>
                    </a:p>
                  </a:txBody>
                  <a:tcPr marT="27432" marB="27432">
                    <a:lnL w="12700" cap="flat" cmpd="sng" algn="ctr">
                      <a:solidFill>
                        <a:schemeClr val="bg1">
                          <a:lumMod val="75000"/>
                        </a:schemeClr>
                      </a:solidFill>
                      <a:prstDash val="solid"/>
                      <a:round/>
                      <a:headEnd type="none" w="med" len="med"/>
                      <a:tailEnd type="none" w="med" len="med"/>
                    </a:lnL>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493753442"/>
                  </a:ext>
                </a:extLst>
              </a:tr>
              <a:tr h="0">
                <a:tc>
                  <a:txBody>
                    <a:bodyPr/>
                    <a:lstStyle/>
                    <a:p>
                      <a:pPr>
                        <a:buClr>
                          <a:schemeClr val="bg1">
                            <a:lumMod val="50000"/>
                          </a:schemeClr>
                        </a:buClr>
                      </a:pPr>
                      <a:r>
                        <a:rPr lang="en-US" sz="1200" b="1" dirty="0">
                          <a:solidFill>
                            <a:srgbClr val="021836"/>
                          </a:solidFill>
                        </a:rPr>
                        <a:t>Primary Pattern</a:t>
                      </a:r>
                    </a:p>
                  </a:txBody>
                  <a:tcPr marT="27432" marB="27432">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200" dirty="0"/>
                        <a:t>Summarization</a:t>
                      </a:r>
                    </a:p>
                  </a:txBody>
                  <a:tcPr marT="27432" marB="27432">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23325965"/>
                  </a:ext>
                </a:extLst>
              </a:tr>
              <a:tr h="0">
                <a:tc>
                  <a:txBody>
                    <a:bodyPr/>
                    <a:lstStyle/>
                    <a:p>
                      <a:pPr>
                        <a:buClr>
                          <a:schemeClr val="bg1">
                            <a:lumMod val="50000"/>
                          </a:schemeClr>
                        </a:buClr>
                      </a:pPr>
                      <a:r>
                        <a:rPr lang="en-US" sz="1200" b="1" dirty="0">
                          <a:solidFill>
                            <a:srgbClr val="021836"/>
                          </a:solidFill>
                        </a:rPr>
                        <a:t>Supporting Pattern(s)</a:t>
                      </a:r>
                    </a:p>
                  </a:txBody>
                  <a:tcPr marT="27432" marB="27432">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200" dirty="0"/>
                        <a:t>Extraction</a:t>
                      </a:r>
                    </a:p>
                  </a:txBody>
                  <a:tcPr marT="27432" marB="27432">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661235489"/>
                  </a:ext>
                </a:extLst>
              </a:tr>
              <a:tr h="0">
                <a:tc>
                  <a:txBody>
                    <a:bodyPr/>
                    <a:lstStyle/>
                    <a:p>
                      <a:pPr>
                        <a:buClr>
                          <a:schemeClr val="bg1">
                            <a:lumMod val="50000"/>
                          </a:schemeClr>
                        </a:buClr>
                      </a:pPr>
                      <a:r>
                        <a:rPr lang="en-US" sz="1200" b="1" dirty="0">
                          <a:solidFill>
                            <a:srgbClr val="021836"/>
                          </a:solidFill>
                        </a:rPr>
                        <a:t>Action Implication</a:t>
                      </a:r>
                    </a:p>
                  </a:txBody>
                  <a:tcPr marT="27432" marB="27432">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200" dirty="0"/>
                        <a:t>Inform</a:t>
                      </a:r>
                    </a:p>
                  </a:txBody>
                  <a:tcPr marT="27432" marB="27432">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566623710"/>
                  </a:ext>
                </a:extLst>
              </a:tr>
              <a:tr h="0">
                <a:tc>
                  <a:txBody>
                    <a:bodyPr/>
                    <a:lstStyle/>
                    <a:p>
                      <a:pPr>
                        <a:buClr>
                          <a:schemeClr val="bg1">
                            <a:lumMod val="50000"/>
                          </a:schemeClr>
                        </a:buClr>
                      </a:pPr>
                      <a:r>
                        <a:rPr lang="en-US" sz="1200" b="1" dirty="0">
                          <a:solidFill>
                            <a:srgbClr val="021836"/>
                          </a:solidFill>
                        </a:rPr>
                        <a:t>Inputs</a:t>
                      </a:r>
                    </a:p>
                  </a:txBody>
                  <a:tcPr marT="27432" marB="27432">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200" dirty="0"/>
                        <a:t>Meeting transcript</a:t>
                      </a:r>
                    </a:p>
                  </a:txBody>
                  <a:tcPr marT="27432" marB="27432">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845834834"/>
                  </a:ext>
                </a:extLst>
              </a:tr>
              <a:tr h="0">
                <a:tc>
                  <a:txBody>
                    <a:bodyPr/>
                    <a:lstStyle/>
                    <a:p>
                      <a:pPr>
                        <a:buClr>
                          <a:schemeClr val="bg1">
                            <a:lumMod val="50000"/>
                          </a:schemeClr>
                        </a:buClr>
                      </a:pPr>
                      <a:r>
                        <a:rPr lang="en-US" sz="1200" b="1" dirty="0">
                          <a:solidFill>
                            <a:srgbClr val="021836"/>
                          </a:solidFill>
                        </a:rPr>
                        <a:t>Outputs</a:t>
                      </a:r>
                    </a:p>
                  </a:txBody>
                  <a:tcPr marT="27432" marB="27432">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200" dirty="0"/>
                        <a:t>Draft summary and action items</a:t>
                      </a:r>
                    </a:p>
                  </a:txBody>
                  <a:tcPr marT="27432" marB="27432">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136224503"/>
                  </a:ext>
                </a:extLst>
              </a:tr>
              <a:tr h="0">
                <a:tc>
                  <a:txBody>
                    <a:bodyPr/>
                    <a:lstStyle/>
                    <a:p>
                      <a:pPr>
                        <a:buClr>
                          <a:schemeClr val="bg1">
                            <a:lumMod val="50000"/>
                          </a:schemeClr>
                        </a:buClr>
                      </a:pPr>
                      <a:r>
                        <a:rPr lang="en-US" sz="1200" b="1" dirty="0">
                          <a:solidFill>
                            <a:srgbClr val="021836"/>
                          </a:solidFill>
                        </a:rPr>
                        <a:t>Human Handoff</a:t>
                      </a:r>
                    </a:p>
                  </a:txBody>
                  <a:tcPr marT="27432" marB="27432">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200" dirty="0"/>
                        <a:t>AI draft → Manager</a:t>
                      </a:r>
                    </a:p>
                  </a:txBody>
                  <a:tcPr marT="27432" marB="27432">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853920732"/>
                  </a:ext>
                </a:extLst>
              </a:tr>
              <a:tr h="0">
                <a:tc>
                  <a:txBody>
                    <a:bodyPr/>
                    <a:lstStyle/>
                    <a:p>
                      <a:pPr>
                        <a:buClr>
                          <a:schemeClr val="bg1">
                            <a:lumMod val="50000"/>
                          </a:schemeClr>
                        </a:buClr>
                      </a:pPr>
                      <a:r>
                        <a:rPr lang="en-US" sz="1200" b="1" dirty="0">
                          <a:solidFill>
                            <a:srgbClr val="021836"/>
                          </a:solidFill>
                        </a:rPr>
                        <a:t>Review Point</a:t>
                      </a:r>
                    </a:p>
                  </a:txBody>
                  <a:tcPr marT="27432" marB="27432">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200" dirty="0"/>
                        <a:t>The manager verifies before distribution</a:t>
                      </a:r>
                    </a:p>
                  </a:txBody>
                  <a:tcPr marT="27432" marB="27432">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012176639"/>
                  </a:ext>
                </a:extLst>
              </a:tr>
              <a:tr h="0">
                <a:tc>
                  <a:txBody>
                    <a:bodyPr/>
                    <a:lstStyle/>
                    <a:p>
                      <a:pPr>
                        <a:buClr>
                          <a:schemeClr val="bg1">
                            <a:lumMod val="50000"/>
                          </a:schemeClr>
                        </a:buClr>
                      </a:pPr>
                      <a:r>
                        <a:rPr lang="en-US" sz="1200" b="1" dirty="0">
                          <a:solidFill>
                            <a:srgbClr val="021836"/>
                          </a:solidFill>
                        </a:rPr>
                        <a:t>Escalation Point</a:t>
                      </a:r>
                    </a:p>
                  </a:txBody>
                  <a:tcPr marT="27432" marB="27432">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200" dirty="0"/>
                        <a:t>Sensitive topics leave the normal workflow for escalation</a:t>
                      </a:r>
                    </a:p>
                  </a:txBody>
                  <a:tcPr marT="27432" marB="27432">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567521445"/>
                  </a:ext>
                </a:extLst>
              </a:tr>
              <a:tr h="0">
                <a:tc>
                  <a:txBody>
                    <a:bodyPr/>
                    <a:lstStyle/>
                    <a:p>
                      <a:pPr>
                        <a:buClr>
                          <a:schemeClr val="bg1">
                            <a:lumMod val="50000"/>
                          </a:schemeClr>
                        </a:buClr>
                      </a:pPr>
                      <a:r>
                        <a:rPr lang="en-US" sz="1200" b="1" dirty="0">
                          <a:solidFill>
                            <a:srgbClr val="021836"/>
                          </a:solidFill>
                        </a:rPr>
                        <a:t>Fallback Path</a:t>
                      </a:r>
                    </a:p>
                  </a:txBody>
                  <a:tcPr marT="27432" marB="27432">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200" dirty="0"/>
                        <a:t>Manager creates summary manually if AI assistance is unavailable</a:t>
                      </a:r>
                    </a:p>
                  </a:txBody>
                  <a:tcPr marT="27432" marB="27432">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334549328"/>
                  </a:ext>
                </a:extLst>
              </a:tr>
              <a:tr h="0">
                <a:tc>
                  <a:txBody>
                    <a:bodyPr/>
                    <a:lstStyle/>
                    <a:p>
                      <a:pPr>
                        <a:buClr>
                          <a:schemeClr val="bg1">
                            <a:lumMod val="50000"/>
                          </a:schemeClr>
                        </a:buClr>
                      </a:pPr>
                      <a:r>
                        <a:rPr lang="en-US" sz="1200" b="1" dirty="0">
                          <a:solidFill>
                            <a:srgbClr val="021836"/>
                          </a:solidFill>
                        </a:rPr>
                        <a:t>Success Measure</a:t>
                      </a:r>
                    </a:p>
                  </a:txBody>
                  <a:tcPr marT="27432" marB="27432">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200" dirty="0"/>
                        <a:t>50% reduction in preparation effort, improved follow-up consistency</a:t>
                      </a:r>
                    </a:p>
                  </a:txBody>
                  <a:tcPr marT="27432" marB="27432">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600308172"/>
                  </a:ext>
                </a:extLst>
              </a:tr>
            </a:tbl>
          </a:graphicData>
        </a:graphic>
      </p:graphicFrame>
      <p:sp>
        <p:nvSpPr>
          <p:cNvPr id="4" name="TextBox 3">
            <a:extLst>
              <a:ext uri="{FF2B5EF4-FFF2-40B4-BE49-F238E27FC236}">
                <a16:creationId xmlns:a16="http://schemas.microsoft.com/office/drawing/2014/main" id="{4ABCCB5E-A8AA-C327-8849-8BC5188F4D74}"/>
              </a:ext>
            </a:extLst>
          </p:cNvPr>
          <p:cNvSpPr txBox="1"/>
          <p:nvPr/>
        </p:nvSpPr>
        <p:spPr>
          <a:xfrm>
            <a:off x="4408714" y="64309"/>
            <a:ext cx="4628748" cy="276999"/>
          </a:xfrm>
          <a:prstGeom prst="rect">
            <a:avLst/>
          </a:prstGeom>
          <a:noFill/>
        </p:spPr>
        <p:txBody>
          <a:bodyPr wrap="square" rtlCol="0">
            <a:spAutoFit/>
          </a:bodyPr>
          <a:lstStyle/>
          <a:p>
            <a:pPr algn="r"/>
            <a:r>
              <a:rPr lang="en-US" sz="1200" dirty="0">
                <a:solidFill>
                  <a:schemeClr val="bg1">
                    <a:lumMod val="50000"/>
                  </a:schemeClr>
                </a:solidFill>
              </a:rPr>
              <a:t>AI Operational Readiness • Current-State – Future-State Framework</a:t>
            </a:r>
          </a:p>
        </p:txBody>
      </p:sp>
    </p:spTree>
    <p:extLst>
      <p:ext uri="{BB962C8B-B14F-4D97-AF65-F5344CB8AC3E}">
        <p14:creationId xmlns:p14="http://schemas.microsoft.com/office/powerpoint/2010/main" val="17524193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32CE7F3-C558-D029-422E-1FDD3132694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9143999" cy="6857999"/>
          </a:xfrm>
          <a:prstGeom prst="rect">
            <a:avLst/>
          </a:prstGeom>
        </p:spPr>
      </p:pic>
    </p:spTree>
    <p:extLst>
      <p:ext uri="{BB962C8B-B14F-4D97-AF65-F5344CB8AC3E}">
        <p14:creationId xmlns:p14="http://schemas.microsoft.com/office/powerpoint/2010/main" val="37406053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F44F6-AAF9-F6E6-B3DC-C2D8FC3F68FB}"/>
              </a:ext>
            </a:extLst>
          </p:cNvPr>
          <p:cNvSpPr>
            <a:spLocks noGrp="1"/>
          </p:cNvSpPr>
          <p:nvPr>
            <p:ph type="title"/>
          </p:nvPr>
        </p:nvSpPr>
        <p:spPr>
          <a:xfrm>
            <a:off x="285750" y="434017"/>
            <a:ext cx="7886700" cy="362276"/>
          </a:xfrm>
        </p:spPr>
        <p:txBody>
          <a:bodyPr>
            <a:normAutofit fontScale="90000"/>
          </a:bodyPr>
          <a:lstStyle/>
          <a:p>
            <a:r>
              <a:rPr lang="en-US" dirty="0"/>
              <a:t>Framework Overview</a:t>
            </a:r>
          </a:p>
        </p:txBody>
      </p:sp>
      <p:cxnSp>
        <p:nvCxnSpPr>
          <p:cNvPr id="10" name="Straight Connector 9">
            <a:extLst>
              <a:ext uri="{FF2B5EF4-FFF2-40B4-BE49-F238E27FC236}">
                <a16:creationId xmlns:a16="http://schemas.microsoft.com/office/drawing/2014/main" id="{C0020D96-D985-F85D-9155-2AFC35B6AE59}"/>
              </a:ext>
            </a:extLst>
          </p:cNvPr>
          <p:cNvCxnSpPr>
            <a:cxnSpLocks/>
          </p:cNvCxnSpPr>
          <p:nvPr/>
        </p:nvCxnSpPr>
        <p:spPr>
          <a:xfrm>
            <a:off x="171450" y="5352304"/>
            <a:ext cx="8801100" cy="0"/>
          </a:xfrm>
          <a:prstGeom prst="line">
            <a:avLst/>
          </a:prstGeom>
          <a:ln w="9525">
            <a:solidFill>
              <a:srgbClr val="0396A6"/>
            </a:solidFill>
          </a:ln>
        </p:spPr>
        <p:style>
          <a:lnRef idx="2">
            <a:schemeClr val="accent1"/>
          </a:lnRef>
          <a:fillRef idx="0">
            <a:schemeClr val="accent1"/>
          </a:fillRef>
          <a:effectRef idx="1">
            <a:schemeClr val="accent1"/>
          </a:effectRef>
          <a:fontRef idx="minor">
            <a:schemeClr val="tx1"/>
          </a:fontRef>
        </p:style>
      </p:cxnSp>
      <p:grpSp>
        <p:nvGrpSpPr>
          <p:cNvPr id="37" name="Group 36">
            <a:extLst>
              <a:ext uri="{FF2B5EF4-FFF2-40B4-BE49-F238E27FC236}">
                <a16:creationId xmlns:a16="http://schemas.microsoft.com/office/drawing/2014/main" id="{07427C67-24F8-34E3-16AD-56FCB95CE120}"/>
              </a:ext>
            </a:extLst>
          </p:cNvPr>
          <p:cNvGrpSpPr/>
          <p:nvPr/>
        </p:nvGrpSpPr>
        <p:grpSpPr>
          <a:xfrm>
            <a:off x="381675" y="2167561"/>
            <a:ext cx="8583386" cy="464569"/>
            <a:chOff x="628650" y="4778376"/>
            <a:chExt cx="7886700" cy="464569"/>
          </a:xfrm>
        </p:grpSpPr>
        <p:sp>
          <p:nvSpPr>
            <p:cNvPr id="9" name="Content Placeholder 2">
              <a:extLst>
                <a:ext uri="{FF2B5EF4-FFF2-40B4-BE49-F238E27FC236}">
                  <a16:creationId xmlns:a16="http://schemas.microsoft.com/office/drawing/2014/main" id="{8C9AC330-2344-BEDA-9EC6-BFB62190E7E3}"/>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b="1" dirty="0">
                  <a:solidFill>
                    <a:srgbClr val="021836"/>
                  </a:solidFill>
                </a:rPr>
                <a:t>Core Decision Rights</a:t>
              </a:r>
            </a:p>
          </p:txBody>
        </p:sp>
        <p:sp>
          <p:nvSpPr>
            <p:cNvPr id="11" name="Content Placeholder 2">
              <a:extLst>
                <a:ext uri="{FF2B5EF4-FFF2-40B4-BE49-F238E27FC236}">
                  <a16:creationId xmlns:a16="http://schemas.microsoft.com/office/drawing/2014/main" id="{FD78CC86-2052-A718-2145-5489B68A5D91}"/>
                </a:ext>
              </a:extLst>
            </p:cNvPr>
            <p:cNvSpPr txBox="1">
              <a:spLocks/>
            </p:cNvSpPr>
            <p:nvPr/>
          </p:nvSpPr>
          <p:spPr>
            <a:xfrm>
              <a:off x="628650" y="5032601"/>
              <a:ext cx="7886700" cy="210344"/>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rgbClr val="021836"/>
                </a:buClr>
                <a:buNone/>
              </a:pPr>
              <a:r>
                <a:rPr lang="en-US" sz="1200" dirty="0"/>
                <a:t>Review • Approval • Escalation • Intervention Authority • Accountability • Lifecycle Decision Authority • </a:t>
              </a:r>
              <a:br>
                <a:rPr lang="en-US" sz="1200" dirty="0"/>
              </a:br>
              <a:r>
                <a:rPr lang="en-US" sz="1200" dirty="0"/>
                <a:t>Authority Modification/ Restoration</a:t>
              </a:r>
            </a:p>
          </p:txBody>
        </p:sp>
      </p:grpSp>
      <p:sp>
        <p:nvSpPr>
          <p:cNvPr id="32" name="Content Placeholder 2">
            <a:extLst>
              <a:ext uri="{FF2B5EF4-FFF2-40B4-BE49-F238E27FC236}">
                <a16:creationId xmlns:a16="http://schemas.microsoft.com/office/drawing/2014/main" id="{3100EC29-4DE1-0548-69CA-66C82A4659A2}"/>
              </a:ext>
            </a:extLst>
          </p:cNvPr>
          <p:cNvSpPr txBox="1">
            <a:spLocks/>
          </p:cNvSpPr>
          <p:nvPr/>
        </p:nvSpPr>
        <p:spPr>
          <a:xfrm>
            <a:off x="389164" y="1400015"/>
            <a:ext cx="7886700" cy="101235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b="1" dirty="0">
                <a:solidFill>
                  <a:srgbClr val="021836"/>
                </a:solidFill>
              </a:rPr>
              <a:t>Purpose</a:t>
            </a:r>
          </a:p>
          <a:p>
            <a:pPr marL="0" indent="0">
              <a:lnSpc>
                <a:spcPct val="110000"/>
              </a:lnSpc>
              <a:spcBef>
                <a:spcPts val="600"/>
              </a:spcBef>
              <a:buFont typeface="Arial" panose="020B0604020202020204" pitchFamily="34" charset="0"/>
              <a:buNone/>
            </a:pPr>
            <a:r>
              <a:rPr lang="en-US" sz="1200" dirty="0"/>
              <a:t>Human oversight only becomes governance when organizations define who reviews, approves, escalates, intervenes, and remains accountable.</a:t>
            </a:r>
            <a:endParaRPr lang="en-US" sz="1600" dirty="0"/>
          </a:p>
        </p:txBody>
      </p:sp>
      <p:sp>
        <p:nvSpPr>
          <p:cNvPr id="5" name="Content Placeholder 2">
            <a:extLst>
              <a:ext uri="{FF2B5EF4-FFF2-40B4-BE49-F238E27FC236}">
                <a16:creationId xmlns:a16="http://schemas.microsoft.com/office/drawing/2014/main" id="{292B2336-1FA0-A3C8-A2A8-5A573F50113B}"/>
              </a:ext>
            </a:extLst>
          </p:cNvPr>
          <p:cNvSpPr txBox="1">
            <a:spLocks/>
          </p:cNvSpPr>
          <p:nvPr/>
        </p:nvSpPr>
        <p:spPr>
          <a:xfrm>
            <a:off x="381675" y="868186"/>
            <a:ext cx="7886700" cy="299244"/>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rgbClr val="021836"/>
              </a:buClr>
              <a:buNone/>
            </a:pPr>
            <a:r>
              <a:rPr lang="en-US" sz="1200" i="1" dirty="0">
                <a:solidFill>
                  <a:schemeClr val="bg1">
                    <a:lumMod val="50000"/>
                  </a:schemeClr>
                </a:solidFill>
              </a:rPr>
              <a:t>Translating human oversight into operational controls</a:t>
            </a:r>
          </a:p>
        </p:txBody>
      </p:sp>
      <p:sp>
        <p:nvSpPr>
          <p:cNvPr id="15" name="Content Placeholder 2">
            <a:extLst>
              <a:ext uri="{FF2B5EF4-FFF2-40B4-BE49-F238E27FC236}">
                <a16:creationId xmlns:a16="http://schemas.microsoft.com/office/drawing/2014/main" id="{AFDCFB66-CE04-E353-63C3-854399711881}"/>
              </a:ext>
            </a:extLst>
          </p:cNvPr>
          <p:cNvSpPr txBox="1">
            <a:spLocks/>
          </p:cNvSpPr>
          <p:nvPr/>
        </p:nvSpPr>
        <p:spPr>
          <a:xfrm>
            <a:off x="381675" y="2888419"/>
            <a:ext cx="8583386"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b="1" dirty="0">
                <a:solidFill>
                  <a:srgbClr val="021836"/>
                </a:solidFill>
              </a:rPr>
              <a:t>What This Framework Helps Define</a:t>
            </a:r>
          </a:p>
        </p:txBody>
      </p:sp>
      <p:graphicFrame>
        <p:nvGraphicFramePr>
          <p:cNvPr id="18" name="Table 17">
            <a:extLst>
              <a:ext uri="{FF2B5EF4-FFF2-40B4-BE49-F238E27FC236}">
                <a16:creationId xmlns:a16="http://schemas.microsoft.com/office/drawing/2014/main" id="{E2F20037-47B8-8828-9FAB-CD803A7B47B2}"/>
              </a:ext>
            </a:extLst>
          </p:cNvPr>
          <p:cNvGraphicFramePr>
            <a:graphicFrameLocks noGrp="1"/>
          </p:cNvGraphicFramePr>
          <p:nvPr/>
        </p:nvGraphicFramePr>
        <p:xfrm>
          <a:off x="466638" y="3117220"/>
          <a:ext cx="8210723" cy="2072640"/>
        </p:xfrm>
        <a:graphic>
          <a:graphicData uri="http://schemas.openxmlformats.org/drawingml/2006/table">
            <a:tbl>
              <a:tblPr firstRow="1" bandRow="1">
                <a:effectLst/>
                <a:tableStyleId>{2D5ABB26-0587-4C30-8999-92F81FD0307C}</a:tableStyleId>
              </a:tblPr>
              <a:tblGrid>
                <a:gridCol w="3116867">
                  <a:extLst>
                    <a:ext uri="{9D8B030D-6E8A-4147-A177-3AD203B41FA5}">
                      <a16:colId xmlns:a16="http://schemas.microsoft.com/office/drawing/2014/main" val="2728554600"/>
                    </a:ext>
                  </a:extLst>
                </a:gridCol>
                <a:gridCol w="5093856">
                  <a:extLst>
                    <a:ext uri="{9D8B030D-6E8A-4147-A177-3AD203B41FA5}">
                      <a16:colId xmlns:a16="http://schemas.microsoft.com/office/drawing/2014/main" val="682756451"/>
                    </a:ext>
                  </a:extLst>
                </a:gridCol>
              </a:tblGrid>
              <a:tr h="220027">
                <a:tc>
                  <a:txBody>
                    <a:bodyPr/>
                    <a:lstStyle/>
                    <a:p>
                      <a:pPr algn="l"/>
                      <a:r>
                        <a:rPr lang="en-US" sz="1100" b="1" dirty="0">
                          <a:solidFill>
                            <a:srgbClr val="021836"/>
                          </a:solidFill>
                        </a:rPr>
                        <a:t>Component</a:t>
                      </a:r>
                    </a:p>
                  </a:txBody>
                  <a:tcPr marL="45720" marR="45720">
                    <a:lnR w="12700" cap="flat" cmpd="sng" algn="ctr">
                      <a:noFill/>
                      <a:prstDash val="solid"/>
                      <a:round/>
                      <a:headEnd type="none" w="med" len="med"/>
                      <a:tailEnd type="none" w="med" len="med"/>
                    </a:lnR>
                    <a:lnB w="12700" cap="flat" cmpd="sng" algn="ctr">
                      <a:solidFill>
                        <a:srgbClr val="0396A6"/>
                      </a:solidFill>
                      <a:prstDash val="solid"/>
                      <a:round/>
                      <a:headEnd type="none" w="med" len="med"/>
                      <a:tailEnd type="none" w="med" len="med"/>
                    </a:lnB>
                  </a:tcPr>
                </a:tc>
                <a:tc>
                  <a:txBody>
                    <a:bodyPr/>
                    <a:lstStyle/>
                    <a:p>
                      <a:r>
                        <a:rPr lang="en-US" sz="1100" b="1" dirty="0">
                          <a:solidFill>
                            <a:srgbClr val="021836"/>
                          </a:solidFill>
                        </a:rPr>
                        <a:t>Question It Answers</a:t>
                      </a:r>
                    </a:p>
                  </a:txBody>
                  <a:tcPr marL="45720" marR="45720">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rgbClr val="0396A6"/>
                      </a:solidFill>
                      <a:prstDash val="solid"/>
                      <a:round/>
                      <a:headEnd type="none" w="med" len="med"/>
                      <a:tailEnd type="none" w="med" len="med"/>
                    </a:lnB>
                  </a:tcPr>
                </a:tc>
                <a:extLst>
                  <a:ext uri="{0D108BD9-81ED-4DB2-BD59-A6C34878D82A}">
                    <a16:rowId xmlns:a16="http://schemas.microsoft.com/office/drawing/2014/main" val="3173400939"/>
                  </a:ext>
                </a:extLst>
              </a:tr>
              <a:tr h="220027">
                <a:tc>
                  <a:txBody>
                    <a:bodyPr/>
                    <a:lstStyle/>
                    <a:p>
                      <a:pPr algn="l"/>
                      <a:r>
                        <a:rPr lang="en-US" sz="1100" dirty="0"/>
                        <a:t>Review</a:t>
                      </a:r>
                    </a:p>
                  </a:txBody>
                  <a:tcPr marL="45720" marR="45720">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100" dirty="0"/>
                        <a:t>Who verifies AI outputs before they are used?</a:t>
                      </a:r>
                    </a:p>
                  </a:txBody>
                  <a:tcPr marL="45720" marR="45720">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185261034"/>
                  </a:ext>
                </a:extLst>
              </a:tr>
              <a:tr h="220027">
                <a:tc>
                  <a:txBody>
                    <a:bodyPr/>
                    <a:lstStyle/>
                    <a:p>
                      <a:pPr algn="l"/>
                      <a:r>
                        <a:rPr lang="en-US" sz="1100" dirty="0"/>
                        <a:t>Approval</a:t>
                      </a:r>
                    </a:p>
                  </a:txBody>
                  <a:tcPr marL="45720" marR="4572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100" dirty="0"/>
                        <a:t>Who authorizes actions or decisions?</a:t>
                      </a:r>
                    </a:p>
                  </a:txBody>
                  <a:tcPr marL="45720" marR="45720">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228643947"/>
                  </a:ext>
                </a:extLst>
              </a:tr>
              <a:tr h="220027">
                <a:tc>
                  <a:txBody>
                    <a:bodyPr/>
                    <a:lstStyle/>
                    <a:p>
                      <a:pPr algn="l"/>
                      <a:r>
                        <a:rPr lang="en-US" sz="1100" dirty="0"/>
                        <a:t>Escalation</a:t>
                      </a:r>
                    </a:p>
                  </a:txBody>
                  <a:tcPr marL="45720" marR="4572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100" dirty="0"/>
                        <a:t>What conditions require additional attention?</a:t>
                      </a:r>
                    </a:p>
                  </a:txBody>
                  <a:tcPr marL="45720" marR="45720">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781764621"/>
                  </a:ext>
                </a:extLst>
              </a:tr>
              <a:tr h="220027">
                <a:tc>
                  <a:txBody>
                    <a:bodyPr/>
                    <a:lstStyle/>
                    <a:p>
                      <a:pPr algn="l"/>
                      <a:r>
                        <a:rPr lang="en-US" sz="1100" dirty="0"/>
                        <a:t>Intervention Authority</a:t>
                      </a:r>
                    </a:p>
                  </a:txBody>
                  <a:tcPr marL="45720" marR="4572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100" dirty="0"/>
                        <a:t>Who can pause, override, or stop the process?</a:t>
                      </a:r>
                    </a:p>
                  </a:txBody>
                  <a:tcPr marL="45720" marR="45720">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532030300"/>
                  </a:ext>
                </a:extLst>
              </a:tr>
              <a:tr h="220027">
                <a:tc>
                  <a:txBody>
                    <a:bodyPr/>
                    <a:lstStyle/>
                    <a:p>
                      <a:pPr algn="l"/>
                      <a:r>
                        <a:rPr lang="en-US" sz="1100" dirty="0"/>
                        <a:t>Accountability</a:t>
                      </a:r>
                    </a:p>
                  </a:txBody>
                  <a:tcPr marL="45720" marR="4572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100" dirty="0"/>
                        <a:t>Who remains responsible for outcomes?</a:t>
                      </a:r>
                    </a:p>
                  </a:txBody>
                  <a:tcPr marL="45720" marR="45720">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79336270"/>
                  </a:ext>
                </a:extLst>
              </a:tr>
              <a:tr h="220027">
                <a:tc>
                  <a:txBody>
                    <a:bodyPr/>
                    <a:lstStyle/>
                    <a:p>
                      <a:pPr algn="l"/>
                      <a:r>
                        <a:rPr lang="en-US" sz="1100" dirty="0"/>
                        <a:t>Lifecycle Decision Authority</a:t>
                      </a:r>
                    </a:p>
                  </a:txBody>
                  <a:tcPr marL="45720" marR="4572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mn-lt"/>
                          <a:ea typeface="+mn-ea"/>
                          <a:cs typeface="+mn-cs"/>
                        </a:rPr>
                        <a:t>Who can authorize scale, redesign, pause, or retirement?</a:t>
                      </a:r>
                    </a:p>
                  </a:txBody>
                  <a:tcPr marL="45720" marR="45720">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940227144"/>
                  </a:ext>
                </a:extLst>
              </a:tr>
              <a:tr h="220027">
                <a:tc>
                  <a:txBody>
                    <a:bodyPr/>
                    <a:lstStyle/>
                    <a:p>
                      <a:pPr algn="l"/>
                      <a:r>
                        <a:rPr lang="en-US" sz="1100" dirty="0"/>
                        <a:t>Authority Modification / Restoration</a:t>
                      </a:r>
                    </a:p>
                  </a:txBody>
                  <a:tcPr marL="45720" marR="4572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prstClr val="black"/>
                          </a:solidFill>
                          <a:latin typeface="+mn-lt"/>
                        </a:rPr>
                        <a:t>Who can narrow, suspend, restore, or expand AI operating authority?</a:t>
                      </a:r>
                      <a:endParaRPr kumimoji="0" lang="en-US" sz="1100" b="0" i="0" u="none" strike="noStrike" kern="1200" cap="none" spc="0" normalizeH="0" baseline="0" noProof="0" dirty="0">
                        <a:ln>
                          <a:noFill/>
                        </a:ln>
                        <a:solidFill>
                          <a:prstClr val="black"/>
                        </a:solidFill>
                        <a:effectLst/>
                        <a:uLnTx/>
                        <a:uFillTx/>
                        <a:latin typeface="+mn-lt"/>
                        <a:ea typeface="+mn-ea"/>
                        <a:cs typeface="+mn-cs"/>
                      </a:endParaRPr>
                    </a:p>
                  </a:txBody>
                  <a:tcPr marL="45720" marR="45720">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846901953"/>
                  </a:ext>
                </a:extLst>
              </a:tr>
            </a:tbl>
          </a:graphicData>
        </a:graphic>
      </p:graphicFrame>
      <p:sp>
        <p:nvSpPr>
          <p:cNvPr id="21" name="Content Placeholder 2">
            <a:extLst>
              <a:ext uri="{FF2B5EF4-FFF2-40B4-BE49-F238E27FC236}">
                <a16:creationId xmlns:a16="http://schemas.microsoft.com/office/drawing/2014/main" id="{C3E6CD39-95FF-9E31-7FA7-E1A32D5D642E}"/>
              </a:ext>
            </a:extLst>
          </p:cNvPr>
          <p:cNvSpPr txBox="1">
            <a:spLocks/>
          </p:cNvSpPr>
          <p:nvPr/>
        </p:nvSpPr>
        <p:spPr>
          <a:xfrm>
            <a:off x="389164" y="5463976"/>
            <a:ext cx="8583386" cy="676720"/>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200" b="1" dirty="0">
                <a:solidFill>
                  <a:srgbClr val="021836"/>
                </a:solidFill>
              </a:rPr>
              <a:t>Guiding Philosophy</a:t>
            </a:r>
          </a:p>
          <a:p>
            <a:pPr marL="0" indent="0">
              <a:spcBef>
                <a:spcPts val="600"/>
              </a:spcBef>
              <a:buFont typeface="Arial" panose="020B0604020202020204" pitchFamily="34" charset="0"/>
              <a:buNone/>
            </a:pPr>
            <a:r>
              <a:rPr lang="en-US" sz="1200" i="1" dirty="0">
                <a:solidFill>
                  <a:schemeClr val="bg1">
                    <a:lumMod val="50000"/>
                  </a:schemeClr>
                </a:solidFill>
              </a:rPr>
              <a:t>Human involvement does not equal human accountability. </a:t>
            </a:r>
          </a:p>
        </p:txBody>
      </p:sp>
      <p:sp>
        <p:nvSpPr>
          <p:cNvPr id="4" name="Content Placeholder 2">
            <a:extLst>
              <a:ext uri="{FF2B5EF4-FFF2-40B4-BE49-F238E27FC236}">
                <a16:creationId xmlns:a16="http://schemas.microsoft.com/office/drawing/2014/main" id="{2D58E18A-F7B9-D871-7D50-1584C571260D}"/>
              </a:ext>
            </a:extLst>
          </p:cNvPr>
          <p:cNvSpPr txBox="1">
            <a:spLocks/>
          </p:cNvSpPr>
          <p:nvPr/>
        </p:nvSpPr>
        <p:spPr>
          <a:xfrm>
            <a:off x="381675" y="5968922"/>
            <a:ext cx="7064154" cy="946468"/>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200" b="1" dirty="0">
                <a:solidFill>
                  <a:srgbClr val="021836"/>
                </a:solidFill>
              </a:rPr>
              <a:t>Guiding Principle – Access ≠ Authority</a:t>
            </a:r>
          </a:p>
          <a:p>
            <a:pPr marL="0" indent="0">
              <a:spcBef>
                <a:spcPts val="600"/>
              </a:spcBef>
              <a:buFont typeface="Arial" panose="020B0604020202020204" pitchFamily="34" charset="0"/>
              <a:buNone/>
            </a:pPr>
            <a:r>
              <a:rPr lang="en-US" sz="1200" i="1" dirty="0">
                <a:solidFill>
                  <a:schemeClr val="bg1">
                    <a:lumMod val="50000"/>
                  </a:schemeClr>
                </a:solidFill>
              </a:rPr>
              <a:t>Access to information, tools, or systems does not, by itself, establish authority to act. Permission to change, commit, transfer, trigger, or execute must be explicitly defined. </a:t>
            </a:r>
          </a:p>
        </p:txBody>
      </p:sp>
      <p:sp>
        <p:nvSpPr>
          <p:cNvPr id="6" name="TextBox 5">
            <a:extLst>
              <a:ext uri="{FF2B5EF4-FFF2-40B4-BE49-F238E27FC236}">
                <a16:creationId xmlns:a16="http://schemas.microsoft.com/office/drawing/2014/main" id="{AE17F29B-533D-A968-3EDD-FCEFB1B76EC8}"/>
              </a:ext>
            </a:extLst>
          </p:cNvPr>
          <p:cNvSpPr txBox="1"/>
          <p:nvPr/>
        </p:nvSpPr>
        <p:spPr>
          <a:xfrm>
            <a:off x="4408714" y="64309"/>
            <a:ext cx="4628748" cy="276999"/>
          </a:xfrm>
          <a:prstGeom prst="rect">
            <a:avLst/>
          </a:prstGeom>
          <a:noFill/>
        </p:spPr>
        <p:txBody>
          <a:bodyPr wrap="square" rtlCol="0">
            <a:spAutoFit/>
          </a:bodyPr>
          <a:lstStyle/>
          <a:p>
            <a:pPr algn="r"/>
            <a:r>
              <a:rPr lang="en-US" sz="1200" dirty="0">
                <a:solidFill>
                  <a:schemeClr val="bg1">
                    <a:lumMod val="50000"/>
                  </a:schemeClr>
                </a:solidFill>
              </a:rPr>
              <a:t>AI Operational Readiness • Decision Rights Framework</a:t>
            </a:r>
          </a:p>
        </p:txBody>
      </p:sp>
    </p:spTree>
    <p:extLst>
      <p:ext uri="{BB962C8B-B14F-4D97-AF65-F5344CB8AC3E}">
        <p14:creationId xmlns:p14="http://schemas.microsoft.com/office/powerpoint/2010/main" val="310273822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671BA3-B71C-0F6C-5DCC-2BDE8C41B7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743337-A53D-43FB-1D3A-AFB5942472E9}"/>
              </a:ext>
            </a:extLst>
          </p:cNvPr>
          <p:cNvSpPr>
            <a:spLocks noGrp="1"/>
          </p:cNvSpPr>
          <p:nvPr>
            <p:ph type="title"/>
          </p:nvPr>
        </p:nvSpPr>
        <p:spPr>
          <a:xfrm>
            <a:off x="273534" y="87541"/>
            <a:ext cx="8957552" cy="1325563"/>
          </a:xfrm>
        </p:spPr>
        <p:txBody>
          <a:bodyPr/>
          <a:lstStyle/>
          <a:p>
            <a:r>
              <a:rPr lang="en-US" dirty="0"/>
              <a:t>Why Human-in-the-Loop Isn’t Enough</a:t>
            </a:r>
          </a:p>
        </p:txBody>
      </p:sp>
      <p:sp>
        <p:nvSpPr>
          <p:cNvPr id="4" name="Content Placeholder 2">
            <a:extLst>
              <a:ext uri="{FF2B5EF4-FFF2-40B4-BE49-F238E27FC236}">
                <a16:creationId xmlns:a16="http://schemas.microsoft.com/office/drawing/2014/main" id="{CF44140D-EC65-5A27-655D-229B2C295DC7}"/>
              </a:ext>
            </a:extLst>
          </p:cNvPr>
          <p:cNvSpPr txBox="1">
            <a:spLocks/>
          </p:cNvSpPr>
          <p:nvPr/>
        </p:nvSpPr>
        <p:spPr>
          <a:xfrm>
            <a:off x="381675" y="1042357"/>
            <a:ext cx="7886700" cy="299244"/>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rgbClr val="021836"/>
              </a:buClr>
              <a:buNone/>
            </a:pPr>
            <a:r>
              <a:rPr lang="en-US" sz="1200" i="1" dirty="0">
                <a:solidFill>
                  <a:schemeClr val="bg1">
                    <a:lumMod val="50000"/>
                  </a:schemeClr>
                </a:solidFill>
              </a:rPr>
              <a:t>Understanding the difference between participation and accountability</a:t>
            </a:r>
          </a:p>
        </p:txBody>
      </p:sp>
      <p:graphicFrame>
        <p:nvGraphicFramePr>
          <p:cNvPr id="5" name="Table 4">
            <a:extLst>
              <a:ext uri="{FF2B5EF4-FFF2-40B4-BE49-F238E27FC236}">
                <a16:creationId xmlns:a16="http://schemas.microsoft.com/office/drawing/2014/main" id="{F994AF61-6667-2BA4-09C4-B97277C8F078}"/>
              </a:ext>
            </a:extLst>
          </p:cNvPr>
          <p:cNvGraphicFramePr>
            <a:graphicFrameLocks noGrp="1"/>
          </p:cNvGraphicFramePr>
          <p:nvPr/>
        </p:nvGraphicFramePr>
        <p:xfrm>
          <a:off x="435427" y="1935617"/>
          <a:ext cx="8218714" cy="3281434"/>
        </p:xfrm>
        <a:graphic>
          <a:graphicData uri="http://schemas.openxmlformats.org/drawingml/2006/table">
            <a:tbl>
              <a:tblPr firstRow="1" bandRow="1">
                <a:tableStyleId>{2D5ABB26-0587-4C30-8999-92F81FD0307C}</a:tableStyleId>
              </a:tblPr>
              <a:tblGrid>
                <a:gridCol w="3287487">
                  <a:extLst>
                    <a:ext uri="{9D8B030D-6E8A-4147-A177-3AD203B41FA5}">
                      <a16:colId xmlns:a16="http://schemas.microsoft.com/office/drawing/2014/main" val="2470210094"/>
                    </a:ext>
                  </a:extLst>
                </a:gridCol>
                <a:gridCol w="4931227">
                  <a:extLst>
                    <a:ext uri="{9D8B030D-6E8A-4147-A177-3AD203B41FA5}">
                      <a16:colId xmlns:a16="http://schemas.microsoft.com/office/drawing/2014/main" val="72878264"/>
                    </a:ext>
                  </a:extLst>
                </a:gridCol>
              </a:tblGrid>
              <a:tr h="372154">
                <a:tc>
                  <a:txBody>
                    <a:bodyPr/>
                    <a:lstStyle/>
                    <a:p>
                      <a:r>
                        <a:rPr lang="en-US" sz="1600" b="1" dirty="0">
                          <a:solidFill>
                            <a:srgbClr val="021836"/>
                          </a:solidFill>
                        </a:rPr>
                        <a:t>Human  in the loop</a:t>
                      </a:r>
                    </a:p>
                  </a:txBody>
                  <a:tcPr>
                    <a:lnR w="12700" cap="flat" cmpd="sng" algn="ctr">
                      <a:solidFill>
                        <a:schemeClr val="bg1">
                          <a:lumMod val="75000"/>
                        </a:schemeClr>
                      </a:solidFill>
                      <a:prstDash val="solid"/>
                      <a:round/>
                      <a:headEnd type="none" w="med" len="med"/>
                      <a:tailEnd type="none" w="med" len="med"/>
                    </a:lnR>
                    <a:lnB w="12700" cap="flat" cmpd="sng" algn="ctr">
                      <a:solidFill>
                        <a:srgbClr val="0396A6"/>
                      </a:solidFill>
                      <a:prstDash val="solid"/>
                      <a:round/>
                      <a:headEnd type="none" w="med" len="med"/>
                      <a:tailEnd type="none" w="med" len="med"/>
                    </a:lnB>
                  </a:tcPr>
                </a:tc>
                <a:tc>
                  <a:txBody>
                    <a:bodyPr/>
                    <a:lstStyle/>
                    <a:p>
                      <a:r>
                        <a:rPr lang="en-US" sz="1600" b="1" dirty="0">
                          <a:solidFill>
                            <a:srgbClr val="021836"/>
                          </a:solidFill>
                        </a:rPr>
                        <a:t>Operational Governance</a:t>
                      </a:r>
                    </a:p>
                  </a:txBody>
                  <a:tcPr>
                    <a:lnL w="12700" cap="flat" cmpd="sng" algn="ctr">
                      <a:solidFill>
                        <a:schemeClr val="bg1">
                          <a:lumMod val="75000"/>
                        </a:schemeClr>
                      </a:solidFill>
                      <a:prstDash val="solid"/>
                      <a:round/>
                      <a:headEnd type="none" w="med" len="med"/>
                      <a:tailEnd type="none" w="med" len="med"/>
                    </a:lnL>
                    <a:lnB w="12700" cap="flat" cmpd="sng" algn="ctr">
                      <a:solidFill>
                        <a:srgbClr val="0396A6"/>
                      </a:solidFill>
                      <a:prstDash val="solid"/>
                      <a:round/>
                      <a:headEnd type="none" w="med" len="med"/>
                      <a:tailEnd type="none" w="med" len="med"/>
                    </a:lnB>
                  </a:tcPr>
                </a:tc>
                <a:extLst>
                  <a:ext uri="{0D108BD9-81ED-4DB2-BD59-A6C34878D82A}">
                    <a16:rowId xmlns:a16="http://schemas.microsoft.com/office/drawing/2014/main" val="2061593276"/>
                  </a:ext>
                </a:extLst>
              </a:tr>
              <a:tr h="581856">
                <a:tc>
                  <a:txBody>
                    <a:bodyPr/>
                    <a:lstStyle/>
                    <a:p>
                      <a:pPr>
                        <a:buClr>
                          <a:schemeClr val="bg1">
                            <a:lumMod val="50000"/>
                          </a:schemeClr>
                        </a:buClr>
                      </a:pPr>
                      <a:r>
                        <a:rPr lang="en-US" sz="1400" b="0" dirty="0">
                          <a:solidFill>
                            <a:srgbClr val="021836"/>
                          </a:solidFill>
                        </a:rPr>
                        <a:t>Human touches output</a:t>
                      </a:r>
                      <a:endParaRPr lang="en-US" sz="1400" b="0" dirty="0"/>
                    </a:p>
                  </a:txBody>
                  <a:tcPr>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400" b="0" kern="1200" dirty="0">
                          <a:solidFill>
                            <a:srgbClr val="021836"/>
                          </a:solidFill>
                          <a:latin typeface="+mn-lt"/>
                          <a:ea typeface="+mn-ea"/>
                          <a:cs typeface="+mn-cs"/>
                        </a:rPr>
                        <a:t>Review responsibilities defined</a:t>
                      </a:r>
                    </a:p>
                  </a:txBody>
                  <a:tcPr>
                    <a:lnL w="12700" cap="flat" cmpd="sng" algn="ctr">
                      <a:solidFill>
                        <a:schemeClr val="bg1">
                          <a:lumMod val="75000"/>
                        </a:schemeClr>
                      </a:solidFill>
                      <a:prstDash val="solid"/>
                      <a:round/>
                      <a:headEnd type="none" w="med" len="med"/>
                      <a:tailEnd type="none" w="med" len="med"/>
                    </a:lnL>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493753442"/>
                  </a:ext>
                </a:extLst>
              </a:tr>
              <a:tr h="581856">
                <a:tc>
                  <a:txBody>
                    <a:bodyPr/>
                    <a:lstStyle/>
                    <a:p>
                      <a:pPr>
                        <a:buClr>
                          <a:schemeClr val="bg1">
                            <a:lumMod val="50000"/>
                          </a:schemeClr>
                        </a:buClr>
                      </a:pPr>
                      <a:r>
                        <a:rPr lang="en-US" sz="1400" b="0" dirty="0">
                          <a:solidFill>
                            <a:srgbClr val="021836"/>
                          </a:solidFill>
                        </a:rPr>
                        <a:t>Human judgement is assumed</a:t>
                      </a:r>
                      <a:endParaRPr lang="en-US" sz="1400" b="0" dirty="0"/>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400" b="0" kern="1200" dirty="0">
                          <a:solidFill>
                            <a:srgbClr val="021836"/>
                          </a:solidFill>
                          <a:latin typeface="+mn-lt"/>
                          <a:ea typeface="+mn-ea"/>
                          <a:cs typeface="+mn-cs"/>
                        </a:rPr>
                        <a:t>Approval authority defined</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23325965"/>
                  </a:ext>
                </a:extLst>
              </a:tr>
              <a:tr h="581856">
                <a:tc>
                  <a:txBody>
                    <a:bodyPr/>
                    <a:lstStyle/>
                    <a:p>
                      <a:pPr>
                        <a:buClr>
                          <a:schemeClr val="bg1">
                            <a:lumMod val="50000"/>
                          </a:schemeClr>
                        </a:buClr>
                      </a:pPr>
                      <a:r>
                        <a:rPr lang="en-US" sz="1400" b="0" dirty="0">
                          <a:solidFill>
                            <a:srgbClr val="021836"/>
                          </a:solidFill>
                        </a:rPr>
                        <a:t>Exceptions handled ad hoc</a:t>
                      </a:r>
                      <a:endParaRPr lang="en-US" sz="1400" b="0" dirty="0"/>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400" b="0" kern="1200" dirty="0">
                          <a:solidFill>
                            <a:srgbClr val="021836"/>
                          </a:solidFill>
                          <a:latin typeface="+mn-lt"/>
                          <a:ea typeface="+mn-ea"/>
                          <a:cs typeface="+mn-cs"/>
                        </a:rPr>
                        <a:t>Escalation paths defined</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845834834"/>
                  </a:ext>
                </a:extLst>
              </a:tr>
              <a:tr h="581856">
                <a:tc>
                  <a:txBody>
                    <a:bodyPr/>
                    <a:lstStyle/>
                    <a:p>
                      <a:pPr>
                        <a:buClr>
                          <a:schemeClr val="bg1">
                            <a:lumMod val="50000"/>
                          </a:schemeClr>
                        </a:buClr>
                      </a:pPr>
                      <a:r>
                        <a:rPr lang="en-US" sz="1400" b="0" dirty="0">
                          <a:solidFill>
                            <a:srgbClr val="021836"/>
                          </a:solidFill>
                        </a:rPr>
                        <a:t>Individuals intervene informally</a:t>
                      </a:r>
                      <a:endParaRPr lang="en-US" sz="1400" b="0" dirty="0"/>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400" b="0" kern="1200" dirty="0">
                          <a:solidFill>
                            <a:srgbClr val="021836"/>
                          </a:solidFill>
                          <a:latin typeface="+mn-lt"/>
                          <a:ea typeface="+mn-ea"/>
                          <a:cs typeface="+mn-cs"/>
                        </a:rPr>
                        <a:t>Intervention authority defined</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012176639"/>
                  </a:ext>
                </a:extLst>
              </a:tr>
              <a:tr h="581856">
                <a:tc>
                  <a:txBody>
                    <a:bodyPr/>
                    <a:lstStyle/>
                    <a:p>
                      <a:pPr>
                        <a:buClr>
                          <a:schemeClr val="bg1">
                            <a:lumMod val="50000"/>
                          </a:schemeClr>
                        </a:buClr>
                      </a:pPr>
                      <a:r>
                        <a:rPr lang="en-US" sz="1400" b="0" dirty="0"/>
                        <a:t>Ownership is ambiguous</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400" b="0" kern="1200" dirty="0">
                          <a:solidFill>
                            <a:srgbClr val="021836"/>
                          </a:solidFill>
                          <a:latin typeface="+mn-lt"/>
                          <a:ea typeface="+mn-ea"/>
                          <a:cs typeface="+mn-cs"/>
                        </a:rPr>
                        <a:t>Accountability defined</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049069712"/>
                  </a:ext>
                </a:extLst>
              </a:tr>
            </a:tbl>
          </a:graphicData>
        </a:graphic>
      </p:graphicFrame>
      <p:sp>
        <p:nvSpPr>
          <p:cNvPr id="10" name="Content Placeholder 2">
            <a:extLst>
              <a:ext uri="{FF2B5EF4-FFF2-40B4-BE49-F238E27FC236}">
                <a16:creationId xmlns:a16="http://schemas.microsoft.com/office/drawing/2014/main" id="{DD73AB50-1ABD-C859-7C2D-C6282741CAFC}"/>
              </a:ext>
            </a:extLst>
          </p:cNvPr>
          <p:cNvSpPr txBox="1">
            <a:spLocks/>
          </p:cNvSpPr>
          <p:nvPr/>
        </p:nvSpPr>
        <p:spPr>
          <a:xfrm>
            <a:off x="303438" y="5876072"/>
            <a:ext cx="7886700" cy="566737"/>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lang="en-US" sz="1200" b="1" dirty="0">
                <a:solidFill>
                  <a:srgbClr val="021836"/>
                </a:solidFill>
                <a:latin typeface="Aptos" panose="02110004020202020204"/>
              </a:rPr>
              <a:t>Human involvement without decision rights is participation, not governance.</a:t>
            </a:r>
            <a:endParaRPr kumimoji="0" lang="en-US" sz="1200" b="1" i="1" u="none" strike="noStrike" kern="1200" cap="none" spc="0" normalizeH="0" baseline="0" noProof="0" dirty="0">
              <a:ln>
                <a:noFill/>
              </a:ln>
              <a:solidFill>
                <a:prstClr val="white">
                  <a:lumMod val="50000"/>
                </a:prstClr>
              </a:solidFill>
              <a:effectLst/>
              <a:uLnTx/>
              <a:uFillTx/>
              <a:latin typeface="Aptos" panose="02110004020202020204"/>
              <a:ea typeface="+mn-ea"/>
              <a:cs typeface="+mn-cs"/>
            </a:endParaRPr>
          </a:p>
        </p:txBody>
      </p:sp>
      <p:sp>
        <p:nvSpPr>
          <p:cNvPr id="6" name="TextBox 5">
            <a:extLst>
              <a:ext uri="{FF2B5EF4-FFF2-40B4-BE49-F238E27FC236}">
                <a16:creationId xmlns:a16="http://schemas.microsoft.com/office/drawing/2014/main" id="{02405B91-0319-2CCC-C5B1-B3644676B293}"/>
              </a:ext>
            </a:extLst>
          </p:cNvPr>
          <p:cNvSpPr txBox="1"/>
          <p:nvPr/>
        </p:nvSpPr>
        <p:spPr>
          <a:xfrm>
            <a:off x="4408714" y="64309"/>
            <a:ext cx="4628748" cy="276999"/>
          </a:xfrm>
          <a:prstGeom prst="rect">
            <a:avLst/>
          </a:prstGeom>
          <a:noFill/>
        </p:spPr>
        <p:txBody>
          <a:bodyPr wrap="square" rtlCol="0">
            <a:spAutoFit/>
          </a:bodyPr>
          <a:lstStyle/>
          <a:p>
            <a:pPr algn="r"/>
            <a:r>
              <a:rPr lang="en-US" sz="1200" dirty="0">
                <a:solidFill>
                  <a:schemeClr val="bg1">
                    <a:lumMod val="50000"/>
                  </a:schemeClr>
                </a:solidFill>
              </a:rPr>
              <a:t>AI Operational Readiness • Decision Rights Framework</a:t>
            </a:r>
          </a:p>
        </p:txBody>
      </p:sp>
    </p:spTree>
    <p:extLst>
      <p:ext uri="{BB962C8B-B14F-4D97-AF65-F5344CB8AC3E}">
        <p14:creationId xmlns:p14="http://schemas.microsoft.com/office/powerpoint/2010/main" val="305661988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4A20EB-F0F1-633E-A917-29CACC76D2DD}"/>
              </a:ext>
            </a:extLst>
          </p:cNvPr>
          <p:cNvSpPr>
            <a:spLocks noGrp="1"/>
          </p:cNvSpPr>
          <p:nvPr>
            <p:ph type="title"/>
          </p:nvPr>
        </p:nvSpPr>
        <p:spPr>
          <a:xfrm>
            <a:off x="273534" y="-86630"/>
            <a:ext cx="7886700" cy="1325563"/>
          </a:xfrm>
        </p:spPr>
        <p:txBody>
          <a:bodyPr/>
          <a:lstStyle/>
          <a:p>
            <a:r>
              <a:rPr lang="en-US" dirty="0"/>
              <a:t>Review</a:t>
            </a:r>
          </a:p>
        </p:txBody>
      </p:sp>
      <p:sp>
        <p:nvSpPr>
          <p:cNvPr id="9" name="Content Placeholder 2">
            <a:extLst>
              <a:ext uri="{FF2B5EF4-FFF2-40B4-BE49-F238E27FC236}">
                <a16:creationId xmlns:a16="http://schemas.microsoft.com/office/drawing/2014/main" id="{48E51978-00F1-B6E7-729C-1B8DF030C461}"/>
              </a:ext>
            </a:extLst>
          </p:cNvPr>
          <p:cNvSpPr txBox="1">
            <a:spLocks/>
          </p:cNvSpPr>
          <p:nvPr/>
        </p:nvSpPr>
        <p:spPr>
          <a:xfrm>
            <a:off x="317078" y="844267"/>
            <a:ext cx="7886700" cy="299244"/>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Understanding who examines outputs</a:t>
            </a:r>
          </a:p>
        </p:txBody>
      </p:sp>
      <p:graphicFrame>
        <p:nvGraphicFramePr>
          <p:cNvPr id="13" name="Table 12">
            <a:extLst>
              <a:ext uri="{FF2B5EF4-FFF2-40B4-BE49-F238E27FC236}">
                <a16:creationId xmlns:a16="http://schemas.microsoft.com/office/drawing/2014/main" id="{E1AF20BB-126A-AE2E-8229-2D75E4B88BD1}"/>
              </a:ext>
            </a:extLst>
          </p:cNvPr>
          <p:cNvGraphicFramePr>
            <a:graphicFrameLocks noGrp="1"/>
          </p:cNvGraphicFramePr>
          <p:nvPr/>
        </p:nvGraphicFramePr>
        <p:xfrm>
          <a:off x="360622" y="2992082"/>
          <a:ext cx="8218714" cy="2133600"/>
        </p:xfrm>
        <a:graphic>
          <a:graphicData uri="http://schemas.openxmlformats.org/drawingml/2006/table">
            <a:tbl>
              <a:tblPr firstRow="1" bandRow="1">
                <a:tableStyleId>{2D5ABB26-0587-4C30-8999-92F81FD0307C}</a:tableStyleId>
              </a:tblPr>
              <a:tblGrid>
                <a:gridCol w="3287487">
                  <a:extLst>
                    <a:ext uri="{9D8B030D-6E8A-4147-A177-3AD203B41FA5}">
                      <a16:colId xmlns:a16="http://schemas.microsoft.com/office/drawing/2014/main" val="2470210094"/>
                    </a:ext>
                  </a:extLst>
                </a:gridCol>
                <a:gridCol w="4931227">
                  <a:extLst>
                    <a:ext uri="{9D8B030D-6E8A-4147-A177-3AD203B41FA5}">
                      <a16:colId xmlns:a16="http://schemas.microsoft.com/office/drawing/2014/main" val="72878264"/>
                    </a:ext>
                  </a:extLst>
                </a:gridCol>
              </a:tblGrid>
              <a:tr h="229524">
                <a:tc>
                  <a:txBody>
                    <a:bodyPr/>
                    <a:lstStyle/>
                    <a:p>
                      <a:r>
                        <a:rPr lang="en-US" sz="1400" b="1" dirty="0">
                          <a:solidFill>
                            <a:srgbClr val="021836"/>
                          </a:solidFill>
                        </a:rPr>
                        <a:t>Review Elements</a:t>
                      </a:r>
                    </a:p>
                  </a:txBody>
                  <a:tcPr>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rgbClr val="0396A6"/>
                      </a:solidFill>
                      <a:prstDash val="solid"/>
                      <a:round/>
                      <a:headEnd type="none" w="med" len="med"/>
                      <a:tailEnd type="none" w="med" len="med"/>
                    </a:lnB>
                  </a:tcPr>
                </a:tc>
                <a:tc>
                  <a:txBody>
                    <a:bodyPr/>
                    <a:lstStyle/>
                    <a:p>
                      <a:r>
                        <a:rPr lang="en-US" sz="1400" b="1" dirty="0">
                          <a:solidFill>
                            <a:srgbClr val="021836"/>
                          </a:solidFill>
                        </a:rPr>
                        <a:t>Proposed Design</a:t>
                      </a:r>
                    </a:p>
                  </a:txBody>
                  <a:tcPr>
                    <a:lnL w="12700" cap="flat" cmpd="sng" algn="ctr">
                      <a:solidFill>
                        <a:schemeClr val="bg1">
                          <a:lumMod val="75000"/>
                        </a:schemeClr>
                      </a:solidFill>
                      <a:prstDash val="solid"/>
                      <a:round/>
                      <a:headEnd type="none" w="med" len="med"/>
                      <a:tailEnd type="none" w="med" len="med"/>
                    </a:lnL>
                    <a:lnT w="12700" cap="flat" cmpd="sng" algn="ctr">
                      <a:solidFill>
                        <a:srgbClr val="0396A6"/>
                      </a:solidFill>
                      <a:prstDash val="solid"/>
                      <a:round/>
                      <a:headEnd type="none" w="med" len="med"/>
                      <a:tailEnd type="none" w="med" len="med"/>
                    </a:lnT>
                    <a:lnB w="12700" cap="flat" cmpd="sng" algn="ctr">
                      <a:solidFill>
                        <a:srgbClr val="0396A6"/>
                      </a:solidFill>
                      <a:prstDash val="solid"/>
                      <a:round/>
                      <a:headEnd type="none" w="med" len="med"/>
                      <a:tailEnd type="none" w="med" len="med"/>
                    </a:lnB>
                  </a:tcPr>
                </a:tc>
                <a:extLst>
                  <a:ext uri="{0D108BD9-81ED-4DB2-BD59-A6C34878D82A}">
                    <a16:rowId xmlns:a16="http://schemas.microsoft.com/office/drawing/2014/main" val="2061593276"/>
                  </a:ext>
                </a:extLst>
              </a:tr>
              <a:tr h="311500">
                <a:tc>
                  <a:txBody>
                    <a:bodyPr/>
                    <a:lstStyle/>
                    <a:p>
                      <a:pPr>
                        <a:buClr>
                          <a:schemeClr val="bg1">
                            <a:lumMod val="50000"/>
                          </a:schemeClr>
                        </a:buClr>
                      </a:pPr>
                      <a:r>
                        <a:rPr lang="en-US" sz="1400" dirty="0"/>
                        <a:t>Review</a:t>
                      </a:r>
                    </a:p>
                  </a:txBody>
                  <a:tcPr>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75000"/>
                        </a:schemeClr>
                      </a:solidFill>
                      <a:prstDash val="solid"/>
                      <a:round/>
                      <a:headEnd type="none" w="med" len="med"/>
                      <a:tailEnd type="none" w="med" len="med"/>
                    </a:lnL>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493753442"/>
                  </a:ext>
                </a:extLst>
              </a:tr>
              <a:tr h="311500">
                <a:tc>
                  <a:txBody>
                    <a:bodyPr/>
                    <a:lstStyle/>
                    <a:p>
                      <a:pPr>
                        <a:buClr>
                          <a:schemeClr val="bg1">
                            <a:lumMod val="50000"/>
                          </a:schemeClr>
                        </a:buClr>
                      </a:pPr>
                      <a:r>
                        <a:rPr lang="en-US" sz="1400" dirty="0"/>
                        <a:t>Review Frequency</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23325965"/>
                  </a:ext>
                </a:extLst>
              </a:tr>
              <a:tr h="311500">
                <a:tc>
                  <a:txBody>
                    <a:bodyPr/>
                    <a:lstStyle/>
                    <a:p>
                      <a:pPr>
                        <a:buClr>
                          <a:schemeClr val="bg1">
                            <a:lumMod val="50000"/>
                          </a:schemeClr>
                        </a:buClr>
                      </a:pPr>
                      <a:r>
                        <a:rPr lang="en-US" sz="1400" dirty="0"/>
                        <a:t>Validation Criteria</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845834834"/>
                  </a:ext>
                </a:extLst>
              </a:tr>
              <a:tr h="311500">
                <a:tc>
                  <a:txBody>
                    <a:bodyPr/>
                    <a:lstStyle/>
                    <a:p>
                      <a:pPr>
                        <a:buClr>
                          <a:schemeClr val="bg1">
                            <a:lumMod val="50000"/>
                          </a:schemeClr>
                        </a:buClr>
                      </a:pPr>
                      <a:r>
                        <a:rPr lang="en-US" sz="1400" dirty="0"/>
                        <a:t>Evidence Retained</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012176639"/>
                  </a:ext>
                </a:extLst>
              </a:tr>
              <a:tr h="311500">
                <a:tc>
                  <a:txBody>
                    <a:bodyPr/>
                    <a:lstStyle/>
                    <a:p>
                      <a:pPr>
                        <a:buClr>
                          <a:schemeClr val="bg1">
                            <a:lumMod val="50000"/>
                          </a:schemeClr>
                        </a:buClr>
                      </a:pPr>
                      <a:r>
                        <a:rPr lang="en-US" sz="1400" dirty="0"/>
                        <a:t>Escalation Trigger</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181736068"/>
                  </a:ext>
                </a:extLst>
              </a:tr>
            </a:tbl>
          </a:graphicData>
        </a:graphic>
      </p:graphicFrame>
      <p:sp>
        <p:nvSpPr>
          <p:cNvPr id="3" name="Content Placeholder 2">
            <a:extLst>
              <a:ext uri="{FF2B5EF4-FFF2-40B4-BE49-F238E27FC236}">
                <a16:creationId xmlns:a16="http://schemas.microsoft.com/office/drawing/2014/main" id="{7F451F4A-CD24-A023-B23B-7052C7F0B573}"/>
              </a:ext>
            </a:extLst>
          </p:cNvPr>
          <p:cNvSpPr txBox="1">
            <a:spLocks/>
          </p:cNvSpPr>
          <p:nvPr/>
        </p:nvSpPr>
        <p:spPr>
          <a:xfrm>
            <a:off x="360622" y="1160017"/>
            <a:ext cx="7886700" cy="158267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b="1" dirty="0">
                <a:solidFill>
                  <a:srgbClr val="021836"/>
                </a:solidFill>
              </a:rPr>
              <a:t>Questions</a:t>
            </a:r>
          </a:p>
          <a:p>
            <a:pPr>
              <a:lnSpc>
                <a:spcPct val="110000"/>
              </a:lnSpc>
              <a:spcBef>
                <a:spcPts val="600"/>
              </a:spcBef>
            </a:pPr>
            <a:r>
              <a:rPr lang="en-US" sz="1200" b="1" dirty="0"/>
              <a:t>Review Owner</a:t>
            </a:r>
            <a:r>
              <a:rPr lang="en-US" sz="1200" dirty="0"/>
              <a:t> – Who performs the review?</a:t>
            </a:r>
          </a:p>
          <a:p>
            <a:pPr>
              <a:lnSpc>
                <a:spcPct val="110000"/>
              </a:lnSpc>
              <a:spcBef>
                <a:spcPts val="600"/>
              </a:spcBef>
            </a:pPr>
            <a:r>
              <a:rPr lang="en-US" sz="1200" b="1" dirty="0"/>
              <a:t>Verification Criteria – </a:t>
            </a:r>
            <a:r>
              <a:rPr lang="en-US" sz="1200" dirty="0"/>
              <a:t>What are they expected to check?</a:t>
            </a:r>
          </a:p>
          <a:p>
            <a:pPr>
              <a:lnSpc>
                <a:spcPct val="110000"/>
              </a:lnSpc>
              <a:spcBef>
                <a:spcPts val="600"/>
              </a:spcBef>
            </a:pPr>
            <a:r>
              <a:rPr lang="en-US" sz="1200" b="1" dirty="0"/>
              <a:t>Review Timing/ Frequency – </a:t>
            </a:r>
            <a:r>
              <a:rPr lang="en-US" sz="1200" dirty="0"/>
              <a:t>When/how often must review occur?</a:t>
            </a:r>
          </a:p>
          <a:p>
            <a:pPr>
              <a:lnSpc>
                <a:spcPct val="110000"/>
              </a:lnSpc>
              <a:spcBef>
                <a:spcPts val="600"/>
              </a:spcBef>
            </a:pPr>
            <a:r>
              <a:rPr lang="en-US" sz="1200" b="1" dirty="0"/>
              <a:t>Failure Response</a:t>
            </a:r>
            <a:r>
              <a:rPr lang="en-US" sz="1200" dirty="0"/>
              <a:t> </a:t>
            </a:r>
            <a:r>
              <a:rPr lang="en-US" sz="1200" b="1" dirty="0"/>
              <a:t>–</a:t>
            </a:r>
            <a:r>
              <a:rPr lang="en-US" sz="1200" dirty="0"/>
              <a:t> What happens when the output doesn’t meet criteria?</a:t>
            </a:r>
            <a:endParaRPr lang="en-US" sz="1600" dirty="0"/>
          </a:p>
        </p:txBody>
      </p:sp>
      <p:sp>
        <p:nvSpPr>
          <p:cNvPr id="4" name="Content Placeholder 2">
            <a:extLst>
              <a:ext uri="{FF2B5EF4-FFF2-40B4-BE49-F238E27FC236}">
                <a16:creationId xmlns:a16="http://schemas.microsoft.com/office/drawing/2014/main" id="{D17378A1-1CDB-6728-CDAC-CA0498D8339E}"/>
              </a:ext>
            </a:extLst>
          </p:cNvPr>
          <p:cNvSpPr txBox="1">
            <a:spLocks/>
          </p:cNvSpPr>
          <p:nvPr/>
        </p:nvSpPr>
        <p:spPr>
          <a:xfrm>
            <a:off x="360622" y="2692837"/>
            <a:ext cx="7886700" cy="29924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b="1" dirty="0">
                <a:solidFill>
                  <a:srgbClr val="021836"/>
                </a:solidFill>
              </a:rPr>
              <a:t>Design Elements</a:t>
            </a:r>
          </a:p>
        </p:txBody>
      </p:sp>
      <p:cxnSp>
        <p:nvCxnSpPr>
          <p:cNvPr id="14" name="Straight Connector 13">
            <a:extLst>
              <a:ext uri="{FF2B5EF4-FFF2-40B4-BE49-F238E27FC236}">
                <a16:creationId xmlns:a16="http://schemas.microsoft.com/office/drawing/2014/main" id="{861F1DC6-BFD0-4254-E129-009425AE63C6}"/>
              </a:ext>
            </a:extLst>
          </p:cNvPr>
          <p:cNvCxnSpPr>
            <a:cxnSpLocks/>
          </p:cNvCxnSpPr>
          <p:nvPr/>
        </p:nvCxnSpPr>
        <p:spPr>
          <a:xfrm>
            <a:off x="171450" y="5319971"/>
            <a:ext cx="8801100" cy="0"/>
          </a:xfrm>
          <a:prstGeom prst="line">
            <a:avLst/>
          </a:prstGeom>
          <a:ln w="9525">
            <a:solidFill>
              <a:srgbClr val="0396A6"/>
            </a:solidFill>
          </a:ln>
        </p:spPr>
        <p:style>
          <a:lnRef idx="2">
            <a:schemeClr val="accent1"/>
          </a:lnRef>
          <a:fillRef idx="0">
            <a:schemeClr val="accent1"/>
          </a:fillRef>
          <a:effectRef idx="1">
            <a:schemeClr val="accent1"/>
          </a:effectRef>
          <a:fontRef idx="minor">
            <a:schemeClr val="tx1"/>
          </a:fontRef>
        </p:style>
      </p:cxnSp>
      <p:grpSp>
        <p:nvGrpSpPr>
          <p:cNvPr id="21" name="Group 20">
            <a:extLst>
              <a:ext uri="{FF2B5EF4-FFF2-40B4-BE49-F238E27FC236}">
                <a16:creationId xmlns:a16="http://schemas.microsoft.com/office/drawing/2014/main" id="{EFA30D64-4CCC-FCF9-E09C-B8538552E0B8}"/>
              </a:ext>
            </a:extLst>
          </p:cNvPr>
          <p:cNvGrpSpPr/>
          <p:nvPr/>
        </p:nvGrpSpPr>
        <p:grpSpPr>
          <a:xfrm>
            <a:off x="317078" y="5422817"/>
            <a:ext cx="7902996" cy="1279640"/>
            <a:chOff x="526629" y="5769213"/>
            <a:chExt cx="7902996" cy="1279640"/>
          </a:xfrm>
        </p:grpSpPr>
        <p:grpSp>
          <p:nvGrpSpPr>
            <p:cNvPr id="15" name="Group 14">
              <a:extLst>
                <a:ext uri="{FF2B5EF4-FFF2-40B4-BE49-F238E27FC236}">
                  <a16:creationId xmlns:a16="http://schemas.microsoft.com/office/drawing/2014/main" id="{6D71D18B-7160-4714-4893-50707E6A2D47}"/>
                </a:ext>
              </a:extLst>
            </p:cNvPr>
            <p:cNvGrpSpPr/>
            <p:nvPr/>
          </p:nvGrpSpPr>
          <p:grpSpPr>
            <a:xfrm>
              <a:off x="542925" y="5769213"/>
              <a:ext cx="7886700" cy="820961"/>
              <a:chOff x="628650" y="4778376"/>
              <a:chExt cx="7886700" cy="820961"/>
            </a:xfrm>
          </p:grpSpPr>
          <p:sp>
            <p:nvSpPr>
              <p:cNvPr id="16" name="Content Placeholder 2">
                <a:extLst>
                  <a:ext uri="{FF2B5EF4-FFF2-40B4-BE49-F238E27FC236}">
                    <a16:creationId xmlns:a16="http://schemas.microsoft.com/office/drawing/2014/main" id="{F70C66AC-E3BF-16DC-2ECE-EC89A9DD3B51}"/>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400" b="1" dirty="0">
                    <a:solidFill>
                      <a:srgbClr val="021836"/>
                    </a:solidFill>
                    <a:latin typeface="Aptos" panose="02110004020202020204"/>
                  </a:rPr>
                  <a:t>Review</a:t>
                </a: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 Signals</a:t>
                </a:r>
              </a:p>
            </p:txBody>
          </p:sp>
          <p:sp>
            <p:nvSpPr>
              <p:cNvPr id="17" name="Content Placeholder 2">
                <a:extLst>
                  <a:ext uri="{FF2B5EF4-FFF2-40B4-BE49-F238E27FC236}">
                    <a16:creationId xmlns:a16="http://schemas.microsoft.com/office/drawing/2014/main" id="{63697B9B-9AE4-EE1E-5160-FB97A55DB4B5}"/>
                  </a:ext>
                </a:extLst>
              </p:cNvPr>
              <p:cNvSpPr txBox="1">
                <a:spLocks/>
              </p:cNvSpPr>
              <p:nvPr/>
            </p:nvSpPr>
            <p:spPr>
              <a:xfrm>
                <a:off x="628650" y="5032600"/>
                <a:ext cx="7660853" cy="566737"/>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Clr>
                    <a:srgbClr val="021836"/>
                  </a:buClr>
                  <a:buNone/>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Outputs with customer impact • Sensitive information • High-consequence decisions • External communications • </a:t>
                </a:r>
                <a:r>
                  <a:rPr lang="en-US" sz="1200" i="1" dirty="0">
                    <a:solidFill>
                      <a:prstClr val="white">
                        <a:lumMod val="50000"/>
                      </a:prstClr>
                    </a:solidFill>
                  </a:rPr>
                  <a:t>Compliance exposure</a:t>
                </a:r>
                <a:endPar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endParaRPr>
              </a:p>
            </p:txBody>
          </p:sp>
        </p:grpSp>
        <p:grpSp>
          <p:nvGrpSpPr>
            <p:cNvPr id="18" name="Group 17">
              <a:extLst>
                <a:ext uri="{FF2B5EF4-FFF2-40B4-BE49-F238E27FC236}">
                  <a16:creationId xmlns:a16="http://schemas.microsoft.com/office/drawing/2014/main" id="{F97B14ED-664B-E3A1-6C8D-A79E532C8005}"/>
                </a:ext>
              </a:extLst>
            </p:cNvPr>
            <p:cNvGrpSpPr/>
            <p:nvPr/>
          </p:nvGrpSpPr>
          <p:grpSpPr>
            <a:xfrm>
              <a:off x="526629" y="6453316"/>
              <a:ext cx="7886700" cy="595537"/>
              <a:chOff x="628650" y="4778376"/>
              <a:chExt cx="7886700" cy="595537"/>
            </a:xfrm>
          </p:grpSpPr>
          <p:sp>
            <p:nvSpPr>
              <p:cNvPr id="19" name="Content Placeholder 2">
                <a:extLst>
                  <a:ext uri="{FF2B5EF4-FFF2-40B4-BE49-F238E27FC236}">
                    <a16:creationId xmlns:a16="http://schemas.microsoft.com/office/drawing/2014/main" id="{67E4405E-1FA0-C75D-AFB7-A5E1B4C990CF}"/>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Guiding Principle</a:t>
                </a:r>
              </a:p>
            </p:txBody>
          </p:sp>
          <p:sp>
            <p:nvSpPr>
              <p:cNvPr id="20" name="Content Placeholder 2">
                <a:extLst>
                  <a:ext uri="{FF2B5EF4-FFF2-40B4-BE49-F238E27FC236}">
                    <a16:creationId xmlns:a16="http://schemas.microsoft.com/office/drawing/2014/main" id="{86C1A09B-CA75-40EF-43DD-BE2CEF663546}"/>
                  </a:ext>
                </a:extLst>
              </p:cNvPr>
              <p:cNvSpPr txBox="1">
                <a:spLocks/>
              </p:cNvSpPr>
              <p:nvPr/>
            </p:nvSpPr>
            <p:spPr>
              <a:xfrm>
                <a:off x="628650" y="5032601"/>
                <a:ext cx="7886700" cy="341312"/>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lang="en-US" sz="1200" dirty="0">
                    <a:solidFill>
                      <a:srgbClr val="021836"/>
                    </a:solidFill>
                    <a:latin typeface="Aptos" panose="02110004020202020204"/>
                  </a:rPr>
                  <a:t>Review defines how humans verify outputs before they become actions.</a:t>
                </a:r>
                <a:endPar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endParaRPr>
              </a:p>
            </p:txBody>
          </p:sp>
        </p:grpSp>
      </p:grpSp>
      <p:sp>
        <p:nvSpPr>
          <p:cNvPr id="6" name="TextBox 5">
            <a:extLst>
              <a:ext uri="{FF2B5EF4-FFF2-40B4-BE49-F238E27FC236}">
                <a16:creationId xmlns:a16="http://schemas.microsoft.com/office/drawing/2014/main" id="{AFC1F8AF-DC27-65AD-A9B1-FC0D0A04EB18}"/>
              </a:ext>
            </a:extLst>
          </p:cNvPr>
          <p:cNvSpPr txBox="1"/>
          <p:nvPr/>
        </p:nvSpPr>
        <p:spPr>
          <a:xfrm>
            <a:off x="4408714" y="64309"/>
            <a:ext cx="4628748" cy="276999"/>
          </a:xfrm>
          <a:prstGeom prst="rect">
            <a:avLst/>
          </a:prstGeom>
          <a:noFill/>
        </p:spPr>
        <p:txBody>
          <a:bodyPr wrap="square" rtlCol="0">
            <a:spAutoFit/>
          </a:bodyPr>
          <a:lstStyle/>
          <a:p>
            <a:pPr algn="r"/>
            <a:r>
              <a:rPr lang="en-US" sz="1200" dirty="0">
                <a:solidFill>
                  <a:schemeClr val="bg1">
                    <a:lumMod val="50000"/>
                  </a:schemeClr>
                </a:solidFill>
              </a:rPr>
              <a:t>AI Operational Readiness • Decision Rights Framework</a:t>
            </a:r>
          </a:p>
        </p:txBody>
      </p:sp>
    </p:spTree>
    <p:extLst>
      <p:ext uri="{BB962C8B-B14F-4D97-AF65-F5344CB8AC3E}">
        <p14:creationId xmlns:p14="http://schemas.microsoft.com/office/powerpoint/2010/main" val="206979969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59DFF-2554-80B4-C060-A07C4CA639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90D10B-DC03-F67B-A6F3-A103F1C84D25}"/>
              </a:ext>
            </a:extLst>
          </p:cNvPr>
          <p:cNvSpPr>
            <a:spLocks noGrp="1"/>
          </p:cNvSpPr>
          <p:nvPr>
            <p:ph type="title"/>
          </p:nvPr>
        </p:nvSpPr>
        <p:spPr>
          <a:xfrm>
            <a:off x="273534" y="-86630"/>
            <a:ext cx="7886700" cy="1325563"/>
          </a:xfrm>
        </p:spPr>
        <p:txBody>
          <a:bodyPr/>
          <a:lstStyle/>
          <a:p>
            <a:r>
              <a:rPr lang="en-US" dirty="0"/>
              <a:t>Approval</a:t>
            </a:r>
          </a:p>
        </p:txBody>
      </p:sp>
      <p:sp>
        <p:nvSpPr>
          <p:cNvPr id="9" name="Content Placeholder 2">
            <a:extLst>
              <a:ext uri="{FF2B5EF4-FFF2-40B4-BE49-F238E27FC236}">
                <a16:creationId xmlns:a16="http://schemas.microsoft.com/office/drawing/2014/main" id="{366E8A36-BBC6-E548-1FAF-93E48057BC17}"/>
              </a:ext>
            </a:extLst>
          </p:cNvPr>
          <p:cNvSpPr txBox="1">
            <a:spLocks/>
          </p:cNvSpPr>
          <p:nvPr/>
        </p:nvSpPr>
        <p:spPr>
          <a:xfrm>
            <a:off x="317078" y="844267"/>
            <a:ext cx="7886700" cy="299244"/>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Understanding who authorizes use, distribution, execution, or exception</a:t>
            </a:r>
          </a:p>
        </p:txBody>
      </p:sp>
      <p:graphicFrame>
        <p:nvGraphicFramePr>
          <p:cNvPr id="13" name="Table 12">
            <a:extLst>
              <a:ext uri="{FF2B5EF4-FFF2-40B4-BE49-F238E27FC236}">
                <a16:creationId xmlns:a16="http://schemas.microsoft.com/office/drawing/2014/main" id="{6C0A3636-3D17-FF18-2826-3D1002D0191E}"/>
              </a:ext>
            </a:extLst>
          </p:cNvPr>
          <p:cNvGraphicFramePr>
            <a:graphicFrameLocks noGrp="1"/>
          </p:cNvGraphicFramePr>
          <p:nvPr/>
        </p:nvGraphicFramePr>
        <p:xfrm>
          <a:off x="360622" y="2868951"/>
          <a:ext cx="8218714" cy="2559200"/>
        </p:xfrm>
        <a:graphic>
          <a:graphicData uri="http://schemas.openxmlformats.org/drawingml/2006/table">
            <a:tbl>
              <a:tblPr firstRow="1" bandRow="1">
                <a:tableStyleId>{2D5ABB26-0587-4C30-8999-92F81FD0307C}</a:tableStyleId>
              </a:tblPr>
              <a:tblGrid>
                <a:gridCol w="3993664">
                  <a:extLst>
                    <a:ext uri="{9D8B030D-6E8A-4147-A177-3AD203B41FA5}">
                      <a16:colId xmlns:a16="http://schemas.microsoft.com/office/drawing/2014/main" val="2470210094"/>
                    </a:ext>
                  </a:extLst>
                </a:gridCol>
                <a:gridCol w="4225050">
                  <a:extLst>
                    <a:ext uri="{9D8B030D-6E8A-4147-A177-3AD203B41FA5}">
                      <a16:colId xmlns:a16="http://schemas.microsoft.com/office/drawing/2014/main" val="72878264"/>
                    </a:ext>
                  </a:extLst>
                </a:gridCol>
              </a:tblGrid>
              <a:tr h="268282">
                <a:tc>
                  <a:txBody>
                    <a:bodyPr/>
                    <a:lstStyle/>
                    <a:p>
                      <a:r>
                        <a:rPr lang="en-US" sz="1400" b="1" dirty="0">
                          <a:solidFill>
                            <a:srgbClr val="021836"/>
                          </a:solidFill>
                        </a:rPr>
                        <a:t>Approval Elements</a:t>
                      </a:r>
                    </a:p>
                  </a:txBody>
                  <a:tcPr>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rgbClr val="0396A6"/>
                      </a:solidFill>
                      <a:prstDash val="solid"/>
                      <a:round/>
                      <a:headEnd type="none" w="med" len="med"/>
                      <a:tailEnd type="none" w="med" len="med"/>
                    </a:lnB>
                  </a:tcPr>
                </a:tc>
                <a:tc>
                  <a:txBody>
                    <a:bodyPr/>
                    <a:lstStyle/>
                    <a:p>
                      <a:r>
                        <a:rPr lang="en-US" sz="1400" b="1" dirty="0">
                          <a:solidFill>
                            <a:srgbClr val="021836"/>
                          </a:solidFill>
                        </a:rPr>
                        <a:t>Proposed Design</a:t>
                      </a:r>
                    </a:p>
                  </a:txBody>
                  <a:tcPr>
                    <a:lnL w="12700" cap="flat" cmpd="sng" algn="ctr">
                      <a:solidFill>
                        <a:schemeClr val="bg1">
                          <a:lumMod val="75000"/>
                        </a:schemeClr>
                      </a:solidFill>
                      <a:prstDash val="solid"/>
                      <a:round/>
                      <a:headEnd type="none" w="med" len="med"/>
                      <a:tailEnd type="none" w="med" len="med"/>
                    </a:lnL>
                    <a:lnT w="12700" cap="flat" cmpd="sng" algn="ctr">
                      <a:solidFill>
                        <a:srgbClr val="0396A6"/>
                      </a:solidFill>
                      <a:prstDash val="solid"/>
                      <a:round/>
                      <a:headEnd type="none" w="med" len="med"/>
                      <a:tailEnd type="none" w="med" len="med"/>
                    </a:lnT>
                    <a:lnB w="12700" cap="flat" cmpd="sng" algn="ctr">
                      <a:solidFill>
                        <a:srgbClr val="0396A6"/>
                      </a:solidFill>
                      <a:prstDash val="solid"/>
                      <a:round/>
                      <a:headEnd type="none" w="med" len="med"/>
                      <a:tailEnd type="none" w="med" len="med"/>
                    </a:lnB>
                  </a:tcPr>
                </a:tc>
                <a:extLst>
                  <a:ext uri="{0D108BD9-81ED-4DB2-BD59-A6C34878D82A}">
                    <a16:rowId xmlns:a16="http://schemas.microsoft.com/office/drawing/2014/main" val="2061593276"/>
                  </a:ext>
                </a:extLst>
              </a:tr>
              <a:tr h="321939">
                <a:tc>
                  <a:txBody>
                    <a:bodyPr/>
                    <a:lstStyle/>
                    <a:p>
                      <a:pPr>
                        <a:buClr>
                          <a:schemeClr val="bg1">
                            <a:lumMod val="50000"/>
                          </a:schemeClr>
                        </a:buClr>
                      </a:pPr>
                      <a:r>
                        <a:rPr lang="en-US" sz="1200" dirty="0"/>
                        <a:t>Approval Owner – Who has the authority</a:t>
                      </a:r>
                    </a:p>
                  </a:txBody>
                  <a:tcPr>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600" dirty="0"/>
                    </a:p>
                  </a:txBody>
                  <a:tcPr>
                    <a:lnL w="12700" cap="flat" cmpd="sng" algn="ctr">
                      <a:solidFill>
                        <a:schemeClr val="bg1">
                          <a:lumMod val="75000"/>
                        </a:schemeClr>
                      </a:solidFill>
                      <a:prstDash val="solid"/>
                      <a:round/>
                      <a:headEnd type="none" w="med" len="med"/>
                      <a:tailEnd type="none" w="med" len="med"/>
                    </a:lnL>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493753442"/>
                  </a:ext>
                </a:extLst>
              </a:tr>
              <a:tr h="456080">
                <a:tc>
                  <a:txBody>
                    <a:bodyPr/>
                    <a:lstStyle/>
                    <a:p>
                      <a:pPr>
                        <a:buClr>
                          <a:schemeClr val="bg1">
                            <a:lumMod val="50000"/>
                          </a:schemeClr>
                        </a:buClr>
                      </a:pPr>
                      <a:r>
                        <a:rPr lang="en-US" sz="1200" dirty="0"/>
                        <a:t>Approval Scope – Use/ Distribution/ Execution/ Exception</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600" dirty="0"/>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883953839"/>
                  </a:ext>
                </a:extLst>
              </a:tr>
              <a:tr h="456080">
                <a:tc>
                  <a:txBody>
                    <a:bodyPr/>
                    <a:lstStyle/>
                    <a:p>
                      <a:pPr>
                        <a:buClr>
                          <a:schemeClr val="bg1">
                            <a:lumMod val="50000"/>
                          </a:schemeClr>
                        </a:buClr>
                      </a:pPr>
                      <a:r>
                        <a:rPr lang="en-US" sz="1200" dirty="0"/>
                        <a:t>Approval Conditions – What must be true for the approval to apply</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600" dirty="0"/>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618366418"/>
                  </a:ext>
                </a:extLst>
              </a:tr>
              <a:tr h="321939">
                <a:tc>
                  <a:txBody>
                    <a:bodyPr/>
                    <a:lstStyle/>
                    <a:p>
                      <a:pPr>
                        <a:buClr>
                          <a:schemeClr val="bg1">
                            <a:lumMod val="50000"/>
                          </a:schemeClr>
                        </a:buClr>
                      </a:pPr>
                      <a:r>
                        <a:rPr lang="en-US" sz="1200" dirty="0"/>
                        <a:t>Threshold</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600" dirty="0"/>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23325965"/>
                  </a:ext>
                </a:extLst>
              </a:tr>
              <a:tr h="321939">
                <a:tc>
                  <a:txBody>
                    <a:bodyPr/>
                    <a:lstStyle/>
                    <a:p>
                      <a:pPr>
                        <a:buClr>
                          <a:schemeClr val="bg1">
                            <a:lumMod val="50000"/>
                          </a:schemeClr>
                        </a:buClr>
                      </a:pPr>
                      <a:r>
                        <a:rPr lang="en-US" sz="1200" dirty="0"/>
                        <a:t>Approval method</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600" dirty="0"/>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845834834"/>
                  </a:ext>
                </a:extLst>
              </a:tr>
              <a:tr h="321939">
                <a:tc>
                  <a:txBody>
                    <a:bodyPr/>
                    <a:lstStyle/>
                    <a:p>
                      <a:pPr>
                        <a:buClr>
                          <a:schemeClr val="bg1">
                            <a:lumMod val="50000"/>
                          </a:schemeClr>
                        </a:buClr>
                      </a:pPr>
                      <a:r>
                        <a:rPr lang="en-US" sz="1200" dirty="0"/>
                        <a:t>Exceptions</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600" dirty="0"/>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012176639"/>
                  </a:ext>
                </a:extLst>
              </a:tr>
            </a:tbl>
          </a:graphicData>
        </a:graphic>
      </p:graphicFrame>
      <p:sp>
        <p:nvSpPr>
          <p:cNvPr id="3" name="Content Placeholder 2">
            <a:extLst>
              <a:ext uri="{FF2B5EF4-FFF2-40B4-BE49-F238E27FC236}">
                <a16:creationId xmlns:a16="http://schemas.microsoft.com/office/drawing/2014/main" id="{2D73D34F-1815-8242-7405-0DDC95BD3421}"/>
              </a:ext>
            </a:extLst>
          </p:cNvPr>
          <p:cNvSpPr txBox="1">
            <a:spLocks/>
          </p:cNvSpPr>
          <p:nvPr/>
        </p:nvSpPr>
        <p:spPr>
          <a:xfrm>
            <a:off x="360622" y="1110347"/>
            <a:ext cx="7886700" cy="154592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Questions</a:t>
            </a:r>
          </a:p>
          <a:p>
            <a:pPr marL="228600" marR="0" lvl="0" indent="-228600" algn="l" defTabSz="914400" rtl="0" eaLnBrk="1" fontAlgn="auto" latinLnBrk="0" hangingPunct="1">
              <a:lnSpc>
                <a:spcPct val="110000"/>
              </a:lnSpc>
              <a:spcBef>
                <a:spcPts val="6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rPr>
              <a:t>What requires approval—use, distribution, execution, or exception?</a:t>
            </a:r>
          </a:p>
          <a:p>
            <a:pPr marL="228600" marR="0" lvl="0" indent="-228600" algn="l" defTabSz="914400" rtl="0" eaLnBrk="1" fontAlgn="auto" latinLnBrk="0" hangingPunct="1">
              <a:lnSpc>
                <a:spcPct val="110000"/>
              </a:lnSpc>
              <a:spcBef>
                <a:spcPts val="6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rPr>
              <a:t>Who has authority to grant that approval?</a:t>
            </a:r>
          </a:p>
          <a:p>
            <a:pPr marL="228600" marR="0" lvl="0" indent="-228600" algn="l" defTabSz="914400" rtl="0" eaLnBrk="1" fontAlgn="auto" latinLnBrk="0" hangingPunct="1">
              <a:lnSpc>
                <a:spcPct val="110000"/>
              </a:lnSpc>
              <a:spcBef>
                <a:spcPts val="6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rPr>
              <a:t>What conditions must be true for the approval to apply?</a:t>
            </a:r>
          </a:p>
          <a:p>
            <a:pPr marL="228600" marR="0" lvl="0" indent="-228600" algn="l" defTabSz="914400" rtl="0" eaLnBrk="1" fontAlgn="auto" latinLnBrk="0" hangingPunct="1">
              <a:lnSpc>
                <a:spcPct val="110000"/>
              </a:lnSpc>
              <a:spcBef>
                <a:spcPts val="6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rPr>
              <a:t>What decisions must remain human?</a:t>
            </a:r>
            <a:endParaRPr kumimoji="0" lang="en-US" sz="16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4" name="Content Placeholder 2">
            <a:extLst>
              <a:ext uri="{FF2B5EF4-FFF2-40B4-BE49-F238E27FC236}">
                <a16:creationId xmlns:a16="http://schemas.microsoft.com/office/drawing/2014/main" id="{87D3226B-E33A-4214-59A2-21DA34A1C4BD}"/>
              </a:ext>
            </a:extLst>
          </p:cNvPr>
          <p:cNvSpPr txBox="1">
            <a:spLocks/>
          </p:cNvSpPr>
          <p:nvPr/>
        </p:nvSpPr>
        <p:spPr>
          <a:xfrm>
            <a:off x="360622" y="2569706"/>
            <a:ext cx="7886700" cy="24356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Design Elements</a:t>
            </a:r>
          </a:p>
        </p:txBody>
      </p:sp>
      <p:cxnSp>
        <p:nvCxnSpPr>
          <p:cNvPr id="14" name="Straight Connector 13">
            <a:extLst>
              <a:ext uri="{FF2B5EF4-FFF2-40B4-BE49-F238E27FC236}">
                <a16:creationId xmlns:a16="http://schemas.microsoft.com/office/drawing/2014/main" id="{ECD6FAAF-892C-DB64-E679-87E8E5B697E7}"/>
              </a:ext>
            </a:extLst>
          </p:cNvPr>
          <p:cNvCxnSpPr>
            <a:cxnSpLocks/>
          </p:cNvCxnSpPr>
          <p:nvPr/>
        </p:nvCxnSpPr>
        <p:spPr>
          <a:xfrm>
            <a:off x="171450" y="5515914"/>
            <a:ext cx="8801100" cy="0"/>
          </a:xfrm>
          <a:prstGeom prst="line">
            <a:avLst/>
          </a:prstGeom>
          <a:ln w="9525">
            <a:solidFill>
              <a:srgbClr val="0396A6"/>
            </a:solidFill>
          </a:ln>
        </p:spPr>
        <p:style>
          <a:lnRef idx="2">
            <a:schemeClr val="accent1"/>
          </a:lnRef>
          <a:fillRef idx="0">
            <a:schemeClr val="accent1"/>
          </a:fillRef>
          <a:effectRef idx="1">
            <a:schemeClr val="accent1"/>
          </a:effectRef>
          <a:fontRef idx="minor">
            <a:schemeClr val="tx1"/>
          </a:fontRef>
        </p:style>
      </p:cxnSp>
      <p:grpSp>
        <p:nvGrpSpPr>
          <p:cNvPr id="21" name="Group 20">
            <a:extLst>
              <a:ext uri="{FF2B5EF4-FFF2-40B4-BE49-F238E27FC236}">
                <a16:creationId xmlns:a16="http://schemas.microsoft.com/office/drawing/2014/main" id="{6F1F9E3E-44A8-137A-1F18-57BFD8DF225E}"/>
              </a:ext>
            </a:extLst>
          </p:cNvPr>
          <p:cNvGrpSpPr/>
          <p:nvPr/>
        </p:nvGrpSpPr>
        <p:grpSpPr>
          <a:xfrm>
            <a:off x="317078" y="5596993"/>
            <a:ext cx="7902996" cy="1105464"/>
            <a:chOff x="526629" y="5943389"/>
            <a:chExt cx="7902996" cy="1105464"/>
          </a:xfrm>
        </p:grpSpPr>
        <p:grpSp>
          <p:nvGrpSpPr>
            <p:cNvPr id="15" name="Group 14">
              <a:extLst>
                <a:ext uri="{FF2B5EF4-FFF2-40B4-BE49-F238E27FC236}">
                  <a16:creationId xmlns:a16="http://schemas.microsoft.com/office/drawing/2014/main" id="{38EB98EB-DBD1-7A11-AE91-17EF7709D7B0}"/>
                </a:ext>
              </a:extLst>
            </p:cNvPr>
            <p:cNvGrpSpPr/>
            <p:nvPr/>
          </p:nvGrpSpPr>
          <p:grpSpPr>
            <a:xfrm>
              <a:off x="542925" y="5943389"/>
              <a:ext cx="7886700" cy="820961"/>
              <a:chOff x="628650" y="4952552"/>
              <a:chExt cx="7886700" cy="820961"/>
            </a:xfrm>
          </p:grpSpPr>
          <p:sp>
            <p:nvSpPr>
              <p:cNvPr id="16" name="Content Placeholder 2">
                <a:extLst>
                  <a:ext uri="{FF2B5EF4-FFF2-40B4-BE49-F238E27FC236}">
                    <a16:creationId xmlns:a16="http://schemas.microsoft.com/office/drawing/2014/main" id="{E1904C43-888C-896D-65EE-5A448D4EFD76}"/>
                  </a:ext>
                </a:extLst>
              </p:cNvPr>
              <p:cNvSpPr txBox="1">
                <a:spLocks/>
              </p:cNvSpPr>
              <p:nvPr/>
            </p:nvSpPr>
            <p:spPr>
              <a:xfrm>
                <a:off x="628650" y="4952552"/>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Approval Signals</a:t>
                </a:r>
              </a:p>
            </p:txBody>
          </p:sp>
          <p:sp>
            <p:nvSpPr>
              <p:cNvPr id="17" name="Content Placeholder 2">
                <a:extLst>
                  <a:ext uri="{FF2B5EF4-FFF2-40B4-BE49-F238E27FC236}">
                    <a16:creationId xmlns:a16="http://schemas.microsoft.com/office/drawing/2014/main" id="{05675418-5838-7DCB-8502-09890B82088A}"/>
                  </a:ext>
                </a:extLst>
              </p:cNvPr>
              <p:cNvSpPr txBox="1">
                <a:spLocks/>
              </p:cNvSpPr>
              <p:nvPr/>
            </p:nvSpPr>
            <p:spPr>
              <a:xfrm>
                <a:off x="628650" y="5206776"/>
                <a:ext cx="7660853" cy="566737"/>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Irreversible actions • External commitments • Financial impact • Policy exceptions • Customer-facing outputs</a:t>
                </a:r>
              </a:p>
            </p:txBody>
          </p:sp>
        </p:grpSp>
        <p:grpSp>
          <p:nvGrpSpPr>
            <p:cNvPr id="18" name="Group 17">
              <a:extLst>
                <a:ext uri="{FF2B5EF4-FFF2-40B4-BE49-F238E27FC236}">
                  <a16:creationId xmlns:a16="http://schemas.microsoft.com/office/drawing/2014/main" id="{F53ACE5F-EBF8-A95A-B927-F92F8CF13352}"/>
                </a:ext>
              </a:extLst>
            </p:cNvPr>
            <p:cNvGrpSpPr/>
            <p:nvPr/>
          </p:nvGrpSpPr>
          <p:grpSpPr>
            <a:xfrm>
              <a:off x="526629" y="6453316"/>
              <a:ext cx="7886700" cy="595537"/>
              <a:chOff x="628650" y="4778376"/>
              <a:chExt cx="7886700" cy="595537"/>
            </a:xfrm>
          </p:grpSpPr>
          <p:sp>
            <p:nvSpPr>
              <p:cNvPr id="19" name="Content Placeholder 2">
                <a:extLst>
                  <a:ext uri="{FF2B5EF4-FFF2-40B4-BE49-F238E27FC236}">
                    <a16:creationId xmlns:a16="http://schemas.microsoft.com/office/drawing/2014/main" id="{355FBD61-2475-5606-8676-65C968EFB569}"/>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Guiding Principle</a:t>
                </a:r>
              </a:p>
            </p:txBody>
          </p:sp>
          <p:sp>
            <p:nvSpPr>
              <p:cNvPr id="20" name="Content Placeholder 2">
                <a:extLst>
                  <a:ext uri="{FF2B5EF4-FFF2-40B4-BE49-F238E27FC236}">
                    <a16:creationId xmlns:a16="http://schemas.microsoft.com/office/drawing/2014/main" id="{45C57B34-1EAE-00C5-66F1-551571FD85DA}"/>
                  </a:ext>
                </a:extLst>
              </p:cNvPr>
              <p:cNvSpPr txBox="1">
                <a:spLocks/>
              </p:cNvSpPr>
              <p:nvPr/>
            </p:nvSpPr>
            <p:spPr>
              <a:xfrm>
                <a:off x="628650" y="5032601"/>
                <a:ext cx="7886700" cy="341312"/>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kumimoji="0" lang="en-US" sz="1200" b="0" i="0" u="none" strike="noStrike" kern="1200" cap="none" spc="0" normalizeH="0" baseline="0" noProof="0" dirty="0">
                    <a:ln>
                      <a:noFill/>
                    </a:ln>
                    <a:solidFill>
                      <a:srgbClr val="021836"/>
                    </a:solidFill>
                    <a:effectLst/>
                    <a:uLnTx/>
                    <a:uFillTx/>
                    <a:latin typeface="Aptos" panose="02110004020202020204"/>
                    <a:ea typeface="+mn-ea"/>
                    <a:cs typeface="+mn-cs"/>
                  </a:rPr>
                  <a:t>Approval defines who authorizes actions before they occur.</a:t>
                </a:r>
                <a:endPar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endParaRPr>
              </a:p>
            </p:txBody>
          </p:sp>
        </p:grpSp>
      </p:grpSp>
      <p:sp>
        <p:nvSpPr>
          <p:cNvPr id="6" name="TextBox 5">
            <a:extLst>
              <a:ext uri="{FF2B5EF4-FFF2-40B4-BE49-F238E27FC236}">
                <a16:creationId xmlns:a16="http://schemas.microsoft.com/office/drawing/2014/main" id="{74C62811-69AC-8A5B-2A27-0DC184D2175E}"/>
              </a:ext>
            </a:extLst>
          </p:cNvPr>
          <p:cNvSpPr txBox="1"/>
          <p:nvPr/>
        </p:nvSpPr>
        <p:spPr>
          <a:xfrm>
            <a:off x="4408714" y="64309"/>
            <a:ext cx="4628748" cy="276999"/>
          </a:xfrm>
          <a:prstGeom prst="rect">
            <a:avLst/>
          </a:prstGeom>
          <a:noFill/>
        </p:spPr>
        <p:txBody>
          <a:bodyPr wrap="square" rtlCol="0">
            <a:spAutoFit/>
          </a:bodyPr>
          <a:lstStyle/>
          <a:p>
            <a:pPr algn="r"/>
            <a:r>
              <a:rPr lang="en-US" sz="1200" dirty="0">
                <a:solidFill>
                  <a:schemeClr val="bg1">
                    <a:lumMod val="50000"/>
                  </a:schemeClr>
                </a:solidFill>
              </a:rPr>
              <a:t>AI Operational Readiness • Decision Rights Framework</a:t>
            </a:r>
          </a:p>
        </p:txBody>
      </p:sp>
    </p:spTree>
    <p:extLst>
      <p:ext uri="{BB962C8B-B14F-4D97-AF65-F5344CB8AC3E}">
        <p14:creationId xmlns:p14="http://schemas.microsoft.com/office/powerpoint/2010/main" val="63691086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566683-2927-A8F1-FDC1-5F295E3632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6BD141-BF55-1BB6-1E48-1F78556581A1}"/>
              </a:ext>
            </a:extLst>
          </p:cNvPr>
          <p:cNvSpPr>
            <a:spLocks noGrp="1"/>
          </p:cNvSpPr>
          <p:nvPr>
            <p:ph type="title"/>
          </p:nvPr>
        </p:nvSpPr>
        <p:spPr>
          <a:xfrm>
            <a:off x="273534" y="-86630"/>
            <a:ext cx="7886700" cy="1325563"/>
          </a:xfrm>
        </p:spPr>
        <p:txBody>
          <a:bodyPr/>
          <a:lstStyle/>
          <a:p>
            <a:r>
              <a:rPr lang="en-US" dirty="0"/>
              <a:t>Escalation</a:t>
            </a:r>
          </a:p>
        </p:txBody>
      </p:sp>
      <p:sp>
        <p:nvSpPr>
          <p:cNvPr id="9" name="Content Placeholder 2">
            <a:extLst>
              <a:ext uri="{FF2B5EF4-FFF2-40B4-BE49-F238E27FC236}">
                <a16:creationId xmlns:a16="http://schemas.microsoft.com/office/drawing/2014/main" id="{B84C08A4-E2CF-BD8A-CB7C-13224398ABDE}"/>
              </a:ext>
            </a:extLst>
          </p:cNvPr>
          <p:cNvSpPr txBox="1">
            <a:spLocks/>
          </p:cNvSpPr>
          <p:nvPr/>
        </p:nvSpPr>
        <p:spPr>
          <a:xfrm>
            <a:off x="317078" y="844267"/>
            <a:ext cx="7886700" cy="299244"/>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Understanding what triggers escalation,</a:t>
            </a:r>
            <a:r>
              <a:rPr lang="en-US" sz="1200" i="1" dirty="0">
                <a:solidFill>
                  <a:prstClr val="white">
                    <a:lumMod val="50000"/>
                  </a:prstClr>
                </a:solidFill>
                <a:latin typeface="Aptos" panose="02110004020202020204"/>
              </a:rPr>
              <a:t> who receives it, and what response time applies</a:t>
            </a:r>
            <a:endPar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endParaRPr>
          </a:p>
        </p:txBody>
      </p:sp>
      <p:graphicFrame>
        <p:nvGraphicFramePr>
          <p:cNvPr id="13" name="Table 12">
            <a:extLst>
              <a:ext uri="{FF2B5EF4-FFF2-40B4-BE49-F238E27FC236}">
                <a16:creationId xmlns:a16="http://schemas.microsoft.com/office/drawing/2014/main" id="{8A80A944-12F2-12BF-0840-02F8D09ECB63}"/>
              </a:ext>
            </a:extLst>
          </p:cNvPr>
          <p:cNvGraphicFramePr>
            <a:graphicFrameLocks noGrp="1"/>
          </p:cNvGraphicFramePr>
          <p:nvPr/>
        </p:nvGraphicFramePr>
        <p:xfrm>
          <a:off x="360622" y="3054004"/>
          <a:ext cx="8218714" cy="2133600"/>
        </p:xfrm>
        <a:graphic>
          <a:graphicData uri="http://schemas.openxmlformats.org/drawingml/2006/table">
            <a:tbl>
              <a:tblPr firstRow="1" bandRow="1">
                <a:tableStyleId>{2D5ABB26-0587-4C30-8999-92F81FD0307C}</a:tableStyleId>
              </a:tblPr>
              <a:tblGrid>
                <a:gridCol w="3287487">
                  <a:extLst>
                    <a:ext uri="{9D8B030D-6E8A-4147-A177-3AD203B41FA5}">
                      <a16:colId xmlns:a16="http://schemas.microsoft.com/office/drawing/2014/main" val="2470210094"/>
                    </a:ext>
                  </a:extLst>
                </a:gridCol>
                <a:gridCol w="4931227">
                  <a:extLst>
                    <a:ext uri="{9D8B030D-6E8A-4147-A177-3AD203B41FA5}">
                      <a16:colId xmlns:a16="http://schemas.microsoft.com/office/drawing/2014/main" val="72878264"/>
                    </a:ext>
                  </a:extLst>
                </a:gridCol>
              </a:tblGrid>
              <a:tr h="229524">
                <a:tc>
                  <a:txBody>
                    <a:bodyPr/>
                    <a:lstStyle/>
                    <a:p>
                      <a:r>
                        <a:rPr lang="en-US" sz="1400" b="1" dirty="0">
                          <a:solidFill>
                            <a:srgbClr val="021836"/>
                          </a:solidFill>
                        </a:rPr>
                        <a:t>Escalation Elements</a:t>
                      </a:r>
                    </a:p>
                  </a:txBody>
                  <a:tcPr>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rgbClr val="0396A6"/>
                      </a:solidFill>
                      <a:prstDash val="solid"/>
                      <a:round/>
                      <a:headEnd type="none" w="med" len="med"/>
                      <a:tailEnd type="none" w="med" len="med"/>
                    </a:lnB>
                  </a:tcPr>
                </a:tc>
                <a:tc>
                  <a:txBody>
                    <a:bodyPr/>
                    <a:lstStyle/>
                    <a:p>
                      <a:r>
                        <a:rPr lang="en-US" sz="1400" b="1" dirty="0">
                          <a:solidFill>
                            <a:srgbClr val="021836"/>
                          </a:solidFill>
                        </a:rPr>
                        <a:t>Proposed Design</a:t>
                      </a:r>
                    </a:p>
                  </a:txBody>
                  <a:tcPr>
                    <a:lnL w="12700" cap="flat" cmpd="sng" algn="ctr">
                      <a:solidFill>
                        <a:schemeClr val="bg1">
                          <a:lumMod val="75000"/>
                        </a:schemeClr>
                      </a:solidFill>
                      <a:prstDash val="solid"/>
                      <a:round/>
                      <a:headEnd type="none" w="med" len="med"/>
                      <a:tailEnd type="none" w="med" len="med"/>
                    </a:lnL>
                    <a:lnT w="12700" cap="flat" cmpd="sng" algn="ctr">
                      <a:solidFill>
                        <a:srgbClr val="0396A6"/>
                      </a:solidFill>
                      <a:prstDash val="solid"/>
                      <a:round/>
                      <a:headEnd type="none" w="med" len="med"/>
                      <a:tailEnd type="none" w="med" len="med"/>
                    </a:lnT>
                    <a:lnB w="12700" cap="flat" cmpd="sng" algn="ctr">
                      <a:solidFill>
                        <a:srgbClr val="0396A6"/>
                      </a:solidFill>
                      <a:prstDash val="solid"/>
                      <a:round/>
                      <a:headEnd type="none" w="med" len="med"/>
                      <a:tailEnd type="none" w="med" len="med"/>
                    </a:lnB>
                  </a:tcPr>
                </a:tc>
                <a:extLst>
                  <a:ext uri="{0D108BD9-81ED-4DB2-BD59-A6C34878D82A}">
                    <a16:rowId xmlns:a16="http://schemas.microsoft.com/office/drawing/2014/main" val="2061593276"/>
                  </a:ext>
                </a:extLst>
              </a:tr>
              <a:tr h="311500">
                <a:tc>
                  <a:txBody>
                    <a:bodyPr/>
                    <a:lstStyle/>
                    <a:p>
                      <a:pPr>
                        <a:buClr>
                          <a:schemeClr val="bg1">
                            <a:lumMod val="50000"/>
                          </a:schemeClr>
                        </a:buClr>
                      </a:pPr>
                      <a:r>
                        <a:rPr lang="en-US" sz="1400" dirty="0"/>
                        <a:t>Escalation Trigger</a:t>
                      </a:r>
                    </a:p>
                  </a:txBody>
                  <a:tcPr>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75000"/>
                        </a:schemeClr>
                      </a:solidFill>
                      <a:prstDash val="solid"/>
                      <a:round/>
                      <a:headEnd type="none" w="med" len="med"/>
                      <a:tailEnd type="none" w="med" len="med"/>
                    </a:lnL>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493753442"/>
                  </a:ext>
                </a:extLst>
              </a:tr>
              <a:tr h="311500">
                <a:tc>
                  <a:txBody>
                    <a:bodyPr/>
                    <a:lstStyle/>
                    <a:p>
                      <a:pPr>
                        <a:buClr>
                          <a:schemeClr val="bg1">
                            <a:lumMod val="50000"/>
                          </a:schemeClr>
                        </a:buClr>
                      </a:pPr>
                      <a:r>
                        <a:rPr lang="en-US" sz="1400" dirty="0"/>
                        <a:t>Escalation Recipient</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23325965"/>
                  </a:ext>
                </a:extLst>
              </a:tr>
              <a:tr h="311500">
                <a:tc>
                  <a:txBody>
                    <a:bodyPr/>
                    <a:lstStyle/>
                    <a:p>
                      <a:pPr>
                        <a:buClr>
                          <a:schemeClr val="bg1">
                            <a:lumMod val="50000"/>
                          </a:schemeClr>
                        </a:buClr>
                      </a:pPr>
                      <a:r>
                        <a:rPr lang="en-US" sz="1400" dirty="0"/>
                        <a:t>Response Time</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845834834"/>
                  </a:ext>
                </a:extLst>
              </a:tr>
              <a:tr h="311500">
                <a:tc>
                  <a:txBody>
                    <a:bodyPr/>
                    <a:lstStyle/>
                    <a:p>
                      <a:pPr>
                        <a:buClr>
                          <a:schemeClr val="bg1">
                            <a:lumMod val="50000"/>
                          </a:schemeClr>
                        </a:buClr>
                      </a:pPr>
                      <a:r>
                        <a:rPr lang="en-US" sz="1400" dirty="0"/>
                        <a:t>Escalation Method</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012176639"/>
                  </a:ext>
                </a:extLst>
              </a:tr>
              <a:tr h="311500">
                <a:tc>
                  <a:txBody>
                    <a:bodyPr/>
                    <a:lstStyle/>
                    <a:p>
                      <a:pPr>
                        <a:buClr>
                          <a:schemeClr val="bg1">
                            <a:lumMod val="50000"/>
                          </a:schemeClr>
                        </a:buClr>
                      </a:pPr>
                      <a:r>
                        <a:rPr lang="en-US" sz="1400" dirty="0"/>
                        <a:t>Resolution Path</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854945902"/>
                  </a:ext>
                </a:extLst>
              </a:tr>
            </a:tbl>
          </a:graphicData>
        </a:graphic>
      </p:graphicFrame>
      <p:sp>
        <p:nvSpPr>
          <p:cNvPr id="4" name="Content Placeholder 2">
            <a:extLst>
              <a:ext uri="{FF2B5EF4-FFF2-40B4-BE49-F238E27FC236}">
                <a16:creationId xmlns:a16="http://schemas.microsoft.com/office/drawing/2014/main" id="{AB6A42FB-32E4-E946-0850-974E15B5F201}"/>
              </a:ext>
            </a:extLst>
          </p:cNvPr>
          <p:cNvSpPr txBox="1">
            <a:spLocks/>
          </p:cNvSpPr>
          <p:nvPr/>
        </p:nvSpPr>
        <p:spPr>
          <a:xfrm>
            <a:off x="360622" y="2754760"/>
            <a:ext cx="7886700" cy="29924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Design Elements</a:t>
            </a:r>
          </a:p>
        </p:txBody>
      </p:sp>
      <p:cxnSp>
        <p:nvCxnSpPr>
          <p:cNvPr id="14" name="Straight Connector 13">
            <a:extLst>
              <a:ext uri="{FF2B5EF4-FFF2-40B4-BE49-F238E27FC236}">
                <a16:creationId xmlns:a16="http://schemas.microsoft.com/office/drawing/2014/main" id="{14BB890B-BCB9-A232-B775-23A905835CE4}"/>
              </a:ext>
            </a:extLst>
          </p:cNvPr>
          <p:cNvCxnSpPr>
            <a:cxnSpLocks/>
          </p:cNvCxnSpPr>
          <p:nvPr/>
        </p:nvCxnSpPr>
        <p:spPr>
          <a:xfrm>
            <a:off x="171450" y="5341743"/>
            <a:ext cx="8801100" cy="0"/>
          </a:xfrm>
          <a:prstGeom prst="line">
            <a:avLst/>
          </a:prstGeom>
          <a:ln w="9525">
            <a:solidFill>
              <a:srgbClr val="0396A6"/>
            </a:solidFill>
          </a:ln>
        </p:spPr>
        <p:style>
          <a:lnRef idx="2">
            <a:schemeClr val="accent1"/>
          </a:lnRef>
          <a:fillRef idx="0">
            <a:schemeClr val="accent1"/>
          </a:fillRef>
          <a:effectRef idx="1">
            <a:schemeClr val="accent1"/>
          </a:effectRef>
          <a:fontRef idx="minor">
            <a:schemeClr val="tx1"/>
          </a:fontRef>
        </p:style>
      </p:cxnSp>
      <p:grpSp>
        <p:nvGrpSpPr>
          <p:cNvPr id="21" name="Group 20">
            <a:extLst>
              <a:ext uri="{FF2B5EF4-FFF2-40B4-BE49-F238E27FC236}">
                <a16:creationId xmlns:a16="http://schemas.microsoft.com/office/drawing/2014/main" id="{E1C2ADFD-403C-59E9-2055-B2DD5FC39EEC}"/>
              </a:ext>
            </a:extLst>
          </p:cNvPr>
          <p:cNvGrpSpPr/>
          <p:nvPr/>
        </p:nvGrpSpPr>
        <p:grpSpPr>
          <a:xfrm>
            <a:off x="317078" y="5422817"/>
            <a:ext cx="7902996" cy="1279640"/>
            <a:chOff x="526629" y="5769213"/>
            <a:chExt cx="7902996" cy="1279640"/>
          </a:xfrm>
        </p:grpSpPr>
        <p:grpSp>
          <p:nvGrpSpPr>
            <p:cNvPr id="15" name="Group 14">
              <a:extLst>
                <a:ext uri="{FF2B5EF4-FFF2-40B4-BE49-F238E27FC236}">
                  <a16:creationId xmlns:a16="http://schemas.microsoft.com/office/drawing/2014/main" id="{DEBD223F-7046-3E1E-3B4E-8031D7CF780C}"/>
                </a:ext>
              </a:extLst>
            </p:cNvPr>
            <p:cNvGrpSpPr/>
            <p:nvPr/>
          </p:nvGrpSpPr>
          <p:grpSpPr>
            <a:xfrm>
              <a:off x="542925" y="5769213"/>
              <a:ext cx="7886700" cy="820961"/>
              <a:chOff x="628650" y="4778376"/>
              <a:chExt cx="7886700" cy="820961"/>
            </a:xfrm>
          </p:grpSpPr>
          <p:sp>
            <p:nvSpPr>
              <p:cNvPr id="16" name="Content Placeholder 2">
                <a:extLst>
                  <a:ext uri="{FF2B5EF4-FFF2-40B4-BE49-F238E27FC236}">
                    <a16:creationId xmlns:a16="http://schemas.microsoft.com/office/drawing/2014/main" id="{6D06D692-DC74-6792-0A1B-146C31736E62}"/>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Escalation Signals</a:t>
                </a:r>
              </a:p>
            </p:txBody>
          </p:sp>
          <p:sp>
            <p:nvSpPr>
              <p:cNvPr id="17" name="Content Placeholder 2">
                <a:extLst>
                  <a:ext uri="{FF2B5EF4-FFF2-40B4-BE49-F238E27FC236}">
                    <a16:creationId xmlns:a16="http://schemas.microsoft.com/office/drawing/2014/main" id="{D702B0C7-E48B-D5B9-3B61-3DBF08D02441}"/>
                  </a:ext>
                </a:extLst>
              </p:cNvPr>
              <p:cNvSpPr txBox="1">
                <a:spLocks/>
              </p:cNvSpPr>
              <p:nvPr/>
            </p:nvSpPr>
            <p:spPr>
              <a:xfrm>
                <a:off x="628650" y="5032600"/>
                <a:ext cx="7660853" cy="566737"/>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Unexpected outputs • Human disagreement • Confidence thresholds • Regulatory concerns • Customer complaints</a:t>
                </a:r>
              </a:p>
            </p:txBody>
          </p:sp>
        </p:grpSp>
        <p:grpSp>
          <p:nvGrpSpPr>
            <p:cNvPr id="18" name="Group 17">
              <a:extLst>
                <a:ext uri="{FF2B5EF4-FFF2-40B4-BE49-F238E27FC236}">
                  <a16:creationId xmlns:a16="http://schemas.microsoft.com/office/drawing/2014/main" id="{21F38550-0394-5D22-B14C-F9C88068C5FF}"/>
                </a:ext>
              </a:extLst>
            </p:cNvPr>
            <p:cNvGrpSpPr/>
            <p:nvPr/>
          </p:nvGrpSpPr>
          <p:grpSpPr>
            <a:xfrm>
              <a:off x="526629" y="6453316"/>
              <a:ext cx="7886700" cy="595537"/>
              <a:chOff x="628650" y="4778376"/>
              <a:chExt cx="7886700" cy="595537"/>
            </a:xfrm>
          </p:grpSpPr>
          <p:sp>
            <p:nvSpPr>
              <p:cNvPr id="19" name="Content Placeholder 2">
                <a:extLst>
                  <a:ext uri="{FF2B5EF4-FFF2-40B4-BE49-F238E27FC236}">
                    <a16:creationId xmlns:a16="http://schemas.microsoft.com/office/drawing/2014/main" id="{55A312A8-A50E-D253-703F-EE64FCF26F7C}"/>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Guiding Principle</a:t>
                </a:r>
              </a:p>
            </p:txBody>
          </p:sp>
          <p:sp>
            <p:nvSpPr>
              <p:cNvPr id="20" name="Content Placeholder 2">
                <a:extLst>
                  <a:ext uri="{FF2B5EF4-FFF2-40B4-BE49-F238E27FC236}">
                    <a16:creationId xmlns:a16="http://schemas.microsoft.com/office/drawing/2014/main" id="{AD17222E-1471-3942-0678-6D3F50478F7B}"/>
                  </a:ext>
                </a:extLst>
              </p:cNvPr>
              <p:cNvSpPr txBox="1">
                <a:spLocks/>
              </p:cNvSpPr>
              <p:nvPr/>
            </p:nvSpPr>
            <p:spPr>
              <a:xfrm>
                <a:off x="628650" y="5032601"/>
                <a:ext cx="7886700" cy="341312"/>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kumimoji="0" lang="en-US" sz="1200" b="0" i="0" u="none" strike="noStrike" kern="1200" cap="none" spc="0" normalizeH="0" baseline="0" noProof="0" dirty="0">
                    <a:ln>
                      <a:noFill/>
                    </a:ln>
                    <a:solidFill>
                      <a:srgbClr val="021836"/>
                    </a:solidFill>
                    <a:effectLst/>
                    <a:uLnTx/>
                    <a:uFillTx/>
                    <a:latin typeface="Aptos" panose="02110004020202020204"/>
                    <a:ea typeface="+mn-ea"/>
                    <a:cs typeface="+mn-cs"/>
                  </a:rPr>
                  <a:t>Exceptions should have predefined paths before they occur.</a:t>
                </a:r>
                <a:endPar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endParaRPr>
              </a:p>
            </p:txBody>
          </p:sp>
        </p:grpSp>
      </p:grpSp>
      <p:sp>
        <p:nvSpPr>
          <p:cNvPr id="3" name="Content Placeholder 2">
            <a:extLst>
              <a:ext uri="{FF2B5EF4-FFF2-40B4-BE49-F238E27FC236}">
                <a16:creationId xmlns:a16="http://schemas.microsoft.com/office/drawing/2014/main" id="{F41B1FD2-2C19-69D8-31E0-8F0CEE4F55FC}"/>
              </a:ext>
            </a:extLst>
          </p:cNvPr>
          <p:cNvSpPr txBox="1">
            <a:spLocks/>
          </p:cNvSpPr>
          <p:nvPr/>
        </p:nvSpPr>
        <p:spPr>
          <a:xfrm>
            <a:off x="360622" y="1269333"/>
            <a:ext cx="7886700" cy="146047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Questions</a:t>
            </a:r>
          </a:p>
          <a:p>
            <a:pPr marL="228600" marR="0" lvl="0" indent="-228600" algn="l" defTabSz="914400" rtl="0" eaLnBrk="1" fontAlgn="auto" latinLnBrk="0" hangingPunct="1">
              <a:lnSpc>
                <a:spcPct val="110000"/>
              </a:lnSpc>
              <a:spcBef>
                <a:spcPts val="6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rPr>
              <a:t>What triggers escalation?</a:t>
            </a:r>
          </a:p>
          <a:p>
            <a:pPr marL="228600" marR="0" lvl="0" indent="-228600" algn="l" defTabSz="914400" rtl="0" eaLnBrk="1" fontAlgn="auto" latinLnBrk="0" hangingPunct="1">
              <a:lnSpc>
                <a:spcPct val="110000"/>
              </a:lnSpc>
              <a:spcBef>
                <a:spcPts val="600"/>
              </a:spcBef>
              <a:spcAft>
                <a:spcPts val="0"/>
              </a:spcAft>
              <a:buClrTx/>
              <a:buSzTx/>
              <a:buFont typeface="Arial" panose="020B0604020202020204" pitchFamily="34" charset="0"/>
              <a:buChar char="•"/>
              <a:tabLst/>
              <a:defRPr/>
            </a:pPr>
            <a:r>
              <a:rPr lang="en-US" sz="1200" dirty="0">
                <a:solidFill>
                  <a:prstClr val="black"/>
                </a:solidFill>
                <a:latin typeface="Aptos" panose="02110004020202020204"/>
              </a:rPr>
              <a:t>Who receives escalations?</a:t>
            </a:r>
          </a:p>
          <a:p>
            <a:pPr marL="228600" marR="0" lvl="0" indent="-228600" algn="l" defTabSz="914400" rtl="0" eaLnBrk="1" fontAlgn="auto" latinLnBrk="0" hangingPunct="1">
              <a:lnSpc>
                <a:spcPct val="110000"/>
              </a:lnSpc>
              <a:spcBef>
                <a:spcPts val="6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rPr>
              <a:t>How quickly should issues be addressed?</a:t>
            </a:r>
          </a:p>
          <a:p>
            <a:pPr>
              <a:lnSpc>
                <a:spcPct val="110000"/>
              </a:lnSpc>
              <a:spcBef>
                <a:spcPts val="600"/>
              </a:spcBef>
            </a:pPr>
            <a:r>
              <a:rPr lang="en-US" sz="1200" dirty="0">
                <a:solidFill>
                  <a:prstClr val="black"/>
                </a:solidFill>
                <a:latin typeface="Aptos" panose="02110004020202020204"/>
              </a:rPr>
              <a:t>What happens if escalation is unresolved?</a:t>
            </a:r>
          </a:p>
        </p:txBody>
      </p:sp>
      <p:sp>
        <p:nvSpPr>
          <p:cNvPr id="6" name="TextBox 5">
            <a:extLst>
              <a:ext uri="{FF2B5EF4-FFF2-40B4-BE49-F238E27FC236}">
                <a16:creationId xmlns:a16="http://schemas.microsoft.com/office/drawing/2014/main" id="{96C58D9E-6275-5C7D-F6B3-29977A32EFB0}"/>
              </a:ext>
            </a:extLst>
          </p:cNvPr>
          <p:cNvSpPr txBox="1"/>
          <p:nvPr/>
        </p:nvSpPr>
        <p:spPr>
          <a:xfrm>
            <a:off x="4408714" y="64309"/>
            <a:ext cx="4628748" cy="276999"/>
          </a:xfrm>
          <a:prstGeom prst="rect">
            <a:avLst/>
          </a:prstGeom>
          <a:noFill/>
        </p:spPr>
        <p:txBody>
          <a:bodyPr wrap="square" rtlCol="0">
            <a:spAutoFit/>
          </a:bodyPr>
          <a:lstStyle/>
          <a:p>
            <a:pPr algn="r"/>
            <a:r>
              <a:rPr lang="en-US" sz="1200" dirty="0">
                <a:solidFill>
                  <a:schemeClr val="bg1">
                    <a:lumMod val="50000"/>
                  </a:schemeClr>
                </a:solidFill>
              </a:rPr>
              <a:t>AI Operational Readiness • Decision Rights Framework</a:t>
            </a:r>
          </a:p>
        </p:txBody>
      </p:sp>
    </p:spTree>
    <p:extLst>
      <p:ext uri="{BB962C8B-B14F-4D97-AF65-F5344CB8AC3E}">
        <p14:creationId xmlns:p14="http://schemas.microsoft.com/office/powerpoint/2010/main" val="313458121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5ACC30-EDE5-1DDE-2F66-AD713A4C1B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B6C30A-7B6A-E357-DCA1-153A7B3FC245}"/>
              </a:ext>
            </a:extLst>
          </p:cNvPr>
          <p:cNvSpPr>
            <a:spLocks noGrp="1"/>
          </p:cNvSpPr>
          <p:nvPr>
            <p:ph type="title"/>
          </p:nvPr>
        </p:nvSpPr>
        <p:spPr>
          <a:xfrm>
            <a:off x="273534" y="-86630"/>
            <a:ext cx="7886700" cy="1325563"/>
          </a:xfrm>
        </p:spPr>
        <p:txBody>
          <a:bodyPr/>
          <a:lstStyle/>
          <a:p>
            <a:r>
              <a:rPr lang="en-US" dirty="0"/>
              <a:t>Intervention Authority</a:t>
            </a:r>
          </a:p>
        </p:txBody>
      </p:sp>
      <p:sp>
        <p:nvSpPr>
          <p:cNvPr id="9" name="Content Placeholder 2">
            <a:extLst>
              <a:ext uri="{FF2B5EF4-FFF2-40B4-BE49-F238E27FC236}">
                <a16:creationId xmlns:a16="http://schemas.microsoft.com/office/drawing/2014/main" id="{573A7026-361D-8D5B-7281-414695B2CD24}"/>
              </a:ext>
            </a:extLst>
          </p:cNvPr>
          <p:cNvSpPr txBox="1">
            <a:spLocks/>
          </p:cNvSpPr>
          <p:nvPr/>
        </p:nvSpPr>
        <p:spPr>
          <a:xfrm>
            <a:off x="317078" y="844267"/>
            <a:ext cx="7886700" cy="299244"/>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Understanding who can pause, override, shut down, rollback and restart</a:t>
            </a:r>
          </a:p>
        </p:txBody>
      </p:sp>
      <p:graphicFrame>
        <p:nvGraphicFramePr>
          <p:cNvPr id="13" name="Table 12">
            <a:extLst>
              <a:ext uri="{FF2B5EF4-FFF2-40B4-BE49-F238E27FC236}">
                <a16:creationId xmlns:a16="http://schemas.microsoft.com/office/drawing/2014/main" id="{6C2771F6-C765-2AF8-B3D1-00069AD4D724}"/>
              </a:ext>
            </a:extLst>
          </p:cNvPr>
          <p:cNvGraphicFramePr>
            <a:graphicFrameLocks noGrp="1"/>
          </p:cNvGraphicFramePr>
          <p:nvPr/>
        </p:nvGraphicFramePr>
        <p:xfrm>
          <a:off x="360622" y="3127460"/>
          <a:ext cx="8218714" cy="2133600"/>
        </p:xfrm>
        <a:graphic>
          <a:graphicData uri="http://schemas.openxmlformats.org/drawingml/2006/table">
            <a:tbl>
              <a:tblPr firstRow="1" bandRow="1">
                <a:tableStyleId>{2D5ABB26-0587-4C30-8999-92F81FD0307C}</a:tableStyleId>
              </a:tblPr>
              <a:tblGrid>
                <a:gridCol w="3287487">
                  <a:extLst>
                    <a:ext uri="{9D8B030D-6E8A-4147-A177-3AD203B41FA5}">
                      <a16:colId xmlns:a16="http://schemas.microsoft.com/office/drawing/2014/main" val="2470210094"/>
                    </a:ext>
                  </a:extLst>
                </a:gridCol>
                <a:gridCol w="4931227">
                  <a:extLst>
                    <a:ext uri="{9D8B030D-6E8A-4147-A177-3AD203B41FA5}">
                      <a16:colId xmlns:a16="http://schemas.microsoft.com/office/drawing/2014/main" val="72878264"/>
                    </a:ext>
                  </a:extLst>
                </a:gridCol>
              </a:tblGrid>
              <a:tr h="229524">
                <a:tc>
                  <a:txBody>
                    <a:bodyPr/>
                    <a:lstStyle/>
                    <a:p>
                      <a:r>
                        <a:rPr lang="en-US" sz="1400" b="1" dirty="0">
                          <a:solidFill>
                            <a:srgbClr val="021836"/>
                          </a:solidFill>
                        </a:rPr>
                        <a:t>Intervention Elements</a:t>
                      </a:r>
                    </a:p>
                  </a:txBody>
                  <a:tcPr>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rgbClr val="0396A6"/>
                      </a:solidFill>
                      <a:prstDash val="solid"/>
                      <a:round/>
                      <a:headEnd type="none" w="med" len="med"/>
                      <a:tailEnd type="none" w="med" len="med"/>
                    </a:lnB>
                  </a:tcPr>
                </a:tc>
                <a:tc>
                  <a:txBody>
                    <a:bodyPr/>
                    <a:lstStyle/>
                    <a:p>
                      <a:r>
                        <a:rPr lang="en-US" sz="1400" b="1" dirty="0">
                          <a:solidFill>
                            <a:srgbClr val="021836"/>
                          </a:solidFill>
                        </a:rPr>
                        <a:t>Proposed Design</a:t>
                      </a:r>
                    </a:p>
                  </a:txBody>
                  <a:tcPr>
                    <a:lnL w="12700" cap="flat" cmpd="sng" algn="ctr">
                      <a:solidFill>
                        <a:schemeClr val="bg1">
                          <a:lumMod val="75000"/>
                        </a:schemeClr>
                      </a:solidFill>
                      <a:prstDash val="solid"/>
                      <a:round/>
                      <a:headEnd type="none" w="med" len="med"/>
                      <a:tailEnd type="none" w="med" len="med"/>
                    </a:lnL>
                    <a:lnT w="12700" cap="flat" cmpd="sng" algn="ctr">
                      <a:solidFill>
                        <a:srgbClr val="0396A6"/>
                      </a:solidFill>
                      <a:prstDash val="solid"/>
                      <a:round/>
                      <a:headEnd type="none" w="med" len="med"/>
                      <a:tailEnd type="none" w="med" len="med"/>
                    </a:lnT>
                    <a:lnB w="12700" cap="flat" cmpd="sng" algn="ctr">
                      <a:solidFill>
                        <a:srgbClr val="0396A6"/>
                      </a:solidFill>
                      <a:prstDash val="solid"/>
                      <a:round/>
                      <a:headEnd type="none" w="med" len="med"/>
                      <a:tailEnd type="none" w="med" len="med"/>
                    </a:lnB>
                  </a:tcPr>
                </a:tc>
                <a:extLst>
                  <a:ext uri="{0D108BD9-81ED-4DB2-BD59-A6C34878D82A}">
                    <a16:rowId xmlns:a16="http://schemas.microsoft.com/office/drawing/2014/main" val="2061593276"/>
                  </a:ext>
                </a:extLst>
              </a:tr>
              <a:tr h="311500">
                <a:tc>
                  <a:txBody>
                    <a:bodyPr/>
                    <a:lstStyle/>
                    <a:p>
                      <a:pPr>
                        <a:buClr>
                          <a:schemeClr val="bg1">
                            <a:lumMod val="50000"/>
                          </a:schemeClr>
                        </a:buClr>
                      </a:pPr>
                      <a:r>
                        <a:rPr lang="en-US" sz="1400" dirty="0"/>
                        <a:t>Pause Authority</a:t>
                      </a:r>
                    </a:p>
                  </a:txBody>
                  <a:tcPr>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75000"/>
                        </a:schemeClr>
                      </a:solidFill>
                      <a:prstDash val="solid"/>
                      <a:round/>
                      <a:headEnd type="none" w="med" len="med"/>
                      <a:tailEnd type="none" w="med" len="med"/>
                    </a:lnL>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493753442"/>
                  </a:ext>
                </a:extLst>
              </a:tr>
              <a:tr h="311500">
                <a:tc>
                  <a:txBody>
                    <a:bodyPr/>
                    <a:lstStyle/>
                    <a:p>
                      <a:pPr>
                        <a:buClr>
                          <a:schemeClr val="bg1">
                            <a:lumMod val="50000"/>
                          </a:schemeClr>
                        </a:buClr>
                      </a:pPr>
                      <a:r>
                        <a:rPr lang="en-US" sz="1400" dirty="0"/>
                        <a:t>Override Authority</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23325965"/>
                  </a:ext>
                </a:extLst>
              </a:tr>
              <a:tr h="311500">
                <a:tc>
                  <a:txBody>
                    <a:bodyPr/>
                    <a:lstStyle/>
                    <a:p>
                      <a:pPr>
                        <a:buClr>
                          <a:schemeClr val="bg1">
                            <a:lumMod val="50000"/>
                          </a:schemeClr>
                        </a:buClr>
                      </a:pPr>
                      <a:r>
                        <a:rPr lang="en-US" sz="1400" dirty="0"/>
                        <a:t>Shutdown / Disable Authority</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845834834"/>
                  </a:ext>
                </a:extLst>
              </a:tr>
              <a:tr h="311500">
                <a:tc>
                  <a:txBody>
                    <a:bodyPr/>
                    <a:lstStyle/>
                    <a:p>
                      <a:pPr>
                        <a:buClr>
                          <a:schemeClr val="bg1">
                            <a:lumMod val="50000"/>
                          </a:schemeClr>
                        </a:buClr>
                      </a:pPr>
                      <a:r>
                        <a:rPr lang="en-US" sz="1400" dirty="0"/>
                        <a:t>Rollback Procedure</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012176639"/>
                  </a:ext>
                </a:extLst>
              </a:tr>
              <a:tr h="311500">
                <a:tc>
                  <a:txBody>
                    <a:bodyPr/>
                    <a:lstStyle/>
                    <a:p>
                      <a:pPr>
                        <a:buClr>
                          <a:schemeClr val="bg1">
                            <a:lumMod val="50000"/>
                          </a:schemeClr>
                        </a:buClr>
                      </a:pPr>
                      <a:r>
                        <a:rPr lang="en-US" sz="1400" dirty="0"/>
                        <a:t>Restart / Restore Authority</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225863231"/>
                  </a:ext>
                </a:extLst>
              </a:tr>
            </a:tbl>
          </a:graphicData>
        </a:graphic>
      </p:graphicFrame>
      <p:sp>
        <p:nvSpPr>
          <p:cNvPr id="4" name="Content Placeholder 2">
            <a:extLst>
              <a:ext uri="{FF2B5EF4-FFF2-40B4-BE49-F238E27FC236}">
                <a16:creationId xmlns:a16="http://schemas.microsoft.com/office/drawing/2014/main" id="{88A23F6B-EDA5-3F47-1E02-2DCC194749D2}"/>
              </a:ext>
            </a:extLst>
          </p:cNvPr>
          <p:cNvSpPr txBox="1">
            <a:spLocks/>
          </p:cNvSpPr>
          <p:nvPr/>
        </p:nvSpPr>
        <p:spPr>
          <a:xfrm>
            <a:off x="360622" y="2828216"/>
            <a:ext cx="7886700" cy="29924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Design Elements</a:t>
            </a:r>
          </a:p>
        </p:txBody>
      </p:sp>
      <p:cxnSp>
        <p:nvCxnSpPr>
          <p:cNvPr id="14" name="Straight Connector 13">
            <a:extLst>
              <a:ext uri="{FF2B5EF4-FFF2-40B4-BE49-F238E27FC236}">
                <a16:creationId xmlns:a16="http://schemas.microsoft.com/office/drawing/2014/main" id="{1BA9A79E-5FEE-8A9A-3D72-851EF4ED8551}"/>
              </a:ext>
            </a:extLst>
          </p:cNvPr>
          <p:cNvCxnSpPr>
            <a:cxnSpLocks/>
          </p:cNvCxnSpPr>
          <p:nvPr/>
        </p:nvCxnSpPr>
        <p:spPr>
          <a:xfrm>
            <a:off x="171450" y="5283901"/>
            <a:ext cx="8801100" cy="0"/>
          </a:xfrm>
          <a:prstGeom prst="line">
            <a:avLst/>
          </a:prstGeom>
          <a:ln w="9525">
            <a:solidFill>
              <a:srgbClr val="0396A6"/>
            </a:solidFill>
          </a:ln>
        </p:spPr>
        <p:style>
          <a:lnRef idx="2">
            <a:schemeClr val="accent1"/>
          </a:lnRef>
          <a:fillRef idx="0">
            <a:schemeClr val="accent1"/>
          </a:fillRef>
          <a:effectRef idx="1">
            <a:schemeClr val="accent1"/>
          </a:effectRef>
          <a:fontRef idx="minor">
            <a:schemeClr val="tx1"/>
          </a:fontRef>
        </p:style>
      </p:cxnSp>
      <p:grpSp>
        <p:nvGrpSpPr>
          <p:cNvPr id="21" name="Group 20">
            <a:extLst>
              <a:ext uri="{FF2B5EF4-FFF2-40B4-BE49-F238E27FC236}">
                <a16:creationId xmlns:a16="http://schemas.microsoft.com/office/drawing/2014/main" id="{C37500E4-923B-F995-CB1C-EBA4E438016F}"/>
              </a:ext>
            </a:extLst>
          </p:cNvPr>
          <p:cNvGrpSpPr/>
          <p:nvPr/>
        </p:nvGrpSpPr>
        <p:grpSpPr>
          <a:xfrm>
            <a:off x="317078" y="5422817"/>
            <a:ext cx="7902996" cy="1170780"/>
            <a:chOff x="526629" y="5769213"/>
            <a:chExt cx="7902996" cy="1170780"/>
          </a:xfrm>
        </p:grpSpPr>
        <p:grpSp>
          <p:nvGrpSpPr>
            <p:cNvPr id="15" name="Group 14">
              <a:extLst>
                <a:ext uri="{FF2B5EF4-FFF2-40B4-BE49-F238E27FC236}">
                  <a16:creationId xmlns:a16="http://schemas.microsoft.com/office/drawing/2014/main" id="{CCBC80E5-C8E3-495E-01A6-1372F270C91C}"/>
                </a:ext>
              </a:extLst>
            </p:cNvPr>
            <p:cNvGrpSpPr/>
            <p:nvPr/>
          </p:nvGrpSpPr>
          <p:grpSpPr>
            <a:xfrm>
              <a:off x="542925" y="5769213"/>
              <a:ext cx="7886700" cy="820961"/>
              <a:chOff x="628650" y="4778376"/>
              <a:chExt cx="7886700" cy="820961"/>
            </a:xfrm>
          </p:grpSpPr>
          <p:sp>
            <p:nvSpPr>
              <p:cNvPr id="16" name="Content Placeholder 2">
                <a:extLst>
                  <a:ext uri="{FF2B5EF4-FFF2-40B4-BE49-F238E27FC236}">
                    <a16:creationId xmlns:a16="http://schemas.microsoft.com/office/drawing/2014/main" id="{D59D05A5-6BB9-2AE1-0FD2-4462F32E3110}"/>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Intervene Signals</a:t>
                </a:r>
              </a:p>
            </p:txBody>
          </p:sp>
          <p:sp>
            <p:nvSpPr>
              <p:cNvPr id="17" name="Content Placeholder 2">
                <a:extLst>
                  <a:ext uri="{FF2B5EF4-FFF2-40B4-BE49-F238E27FC236}">
                    <a16:creationId xmlns:a16="http://schemas.microsoft.com/office/drawing/2014/main" id="{17B7B7AB-5A10-85C2-A1DB-F68A23CA0754}"/>
                  </a:ext>
                </a:extLst>
              </p:cNvPr>
              <p:cNvSpPr txBox="1">
                <a:spLocks/>
              </p:cNvSpPr>
              <p:nvPr/>
            </p:nvSpPr>
            <p:spPr>
              <a:xfrm>
                <a:off x="628650" y="5032600"/>
                <a:ext cx="7660853" cy="566737"/>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Repeated failures • Unsafe behavior • Business disruption • Loss of trust • Escalation breakdown</a:t>
                </a:r>
              </a:p>
            </p:txBody>
          </p:sp>
        </p:grpSp>
        <p:grpSp>
          <p:nvGrpSpPr>
            <p:cNvPr id="18" name="Group 17">
              <a:extLst>
                <a:ext uri="{FF2B5EF4-FFF2-40B4-BE49-F238E27FC236}">
                  <a16:creationId xmlns:a16="http://schemas.microsoft.com/office/drawing/2014/main" id="{6913FA25-8E48-4374-483D-C277FE755FC7}"/>
                </a:ext>
              </a:extLst>
            </p:cNvPr>
            <p:cNvGrpSpPr/>
            <p:nvPr/>
          </p:nvGrpSpPr>
          <p:grpSpPr>
            <a:xfrm>
              <a:off x="526629" y="6344456"/>
              <a:ext cx="7886700" cy="595537"/>
              <a:chOff x="628650" y="4669516"/>
              <a:chExt cx="7886700" cy="595537"/>
            </a:xfrm>
          </p:grpSpPr>
          <p:sp>
            <p:nvSpPr>
              <p:cNvPr id="19" name="Content Placeholder 2">
                <a:extLst>
                  <a:ext uri="{FF2B5EF4-FFF2-40B4-BE49-F238E27FC236}">
                    <a16:creationId xmlns:a16="http://schemas.microsoft.com/office/drawing/2014/main" id="{ADFA418C-A5C8-2CBD-54A9-08A6BF85A70A}"/>
                  </a:ext>
                </a:extLst>
              </p:cNvPr>
              <p:cNvSpPr txBox="1">
                <a:spLocks/>
              </p:cNvSpPr>
              <p:nvPr/>
            </p:nvSpPr>
            <p:spPr>
              <a:xfrm>
                <a:off x="628650" y="466951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Guiding Principle</a:t>
                </a:r>
              </a:p>
            </p:txBody>
          </p:sp>
          <p:sp>
            <p:nvSpPr>
              <p:cNvPr id="20" name="Content Placeholder 2">
                <a:extLst>
                  <a:ext uri="{FF2B5EF4-FFF2-40B4-BE49-F238E27FC236}">
                    <a16:creationId xmlns:a16="http://schemas.microsoft.com/office/drawing/2014/main" id="{3CA245C6-02DF-2700-6941-4DE535E7014B}"/>
                  </a:ext>
                </a:extLst>
              </p:cNvPr>
              <p:cNvSpPr txBox="1">
                <a:spLocks/>
              </p:cNvSpPr>
              <p:nvPr/>
            </p:nvSpPr>
            <p:spPr>
              <a:xfrm>
                <a:off x="628650" y="4923741"/>
                <a:ext cx="7886700" cy="341312"/>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kumimoji="0" lang="en-US" sz="1200" b="0" i="0" u="none" strike="noStrike" kern="1200" cap="none" spc="0" normalizeH="0" baseline="0" noProof="0" dirty="0">
                    <a:ln>
                      <a:noFill/>
                    </a:ln>
                    <a:solidFill>
                      <a:srgbClr val="021836"/>
                    </a:solidFill>
                    <a:effectLst/>
                    <a:uLnTx/>
                    <a:uFillTx/>
                    <a:latin typeface="Aptos" panose="02110004020202020204"/>
                    <a:ea typeface="+mn-ea"/>
                    <a:cs typeface="+mn-cs"/>
                  </a:rPr>
                  <a:t>Authority should exist before it is needed. Stopping AI is only half the governance problem. Someone also has to possess legitimate authority to restore it.</a:t>
                </a:r>
                <a:endPar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endParaRPr>
              </a:p>
            </p:txBody>
          </p:sp>
        </p:grpSp>
      </p:grpSp>
      <p:sp>
        <p:nvSpPr>
          <p:cNvPr id="3" name="Content Placeholder 2">
            <a:extLst>
              <a:ext uri="{FF2B5EF4-FFF2-40B4-BE49-F238E27FC236}">
                <a16:creationId xmlns:a16="http://schemas.microsoft.com/office/drawing/2014/main" id="{B2A6F2F3-ECA8-28AA-B6B1-4267E7B4C92C}"/>
              </a:ext>
            </a:extLst>
          </p:cNvPr>
          <p:cNvSpPr txBox="1">
            <a:spLocks/>
          </p:cNvSpPr>
          <p:nvPr/>
        </p:nvSpPr>
        <p:spPr>
          <a:xfrm>
            <a:off x="360622" y="1171318"/>
            <a:ext cx="7886700" cy="1621282"/>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Questions</a:t>
            </a:r>
          </a:p>
          <a:p>
            <a:pPr marL="228600" marR="0" lvl="0" indent="-228600" algn="l" defTabSz="914400" rtl="0" eaLnBrk="1" fontAlgn="auto" latinLnBrk="0" hangingPunct="1">
              <a:lnSpc>
                <a:spcPct val="110000"/>
              </a:lnSpc>
              <a:spcBef>
                <a:spcPts val="6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rPr>
              <a:t>Who can pause?</a:t>
            </a:r>
          </a:p>
          <a:p>
            <a:pPr marL="228600" marR="0" lvl="0" indent="-228600" algn="l" defTabSz="914400" rtl="0" eaLnBrk="1" fontAlgn="auto" latinLnBrk="0" hangingPunct="1">
              <a:lnSpc>
                <a:spcPct val="110000"/>
              </a:lnSpc>
              <a:spcBef>
                <a:spcPts val="600"/>
              </a:spcBef>
              <a:spcAft>
                <a:spcPts val="0"/>
              </a:spcAft>
              <a:buClrTx/>
              <a:buSzTx/>
              <a:buFont typeface="Arial" panose="020B0604020202020204" pitchFamily="34" charset="0"/>
              <a:buChar char="•"/>
              <a:tabLst/>
              <a:defRPr/>
            </a:pPr>
            <a:r>
              <a:rPr lang="en-US" sz="1200" dirty="0">
                <a:solidFill>
                  <a:prstClr val="black"/>
                </a:solidFill>
                <a:latin typeface="Aptos" panose="02110004020202020204"/>
              </a:rPr>
              <a:t>Who can override?</a:t>
            </a:r>
          </a:p>
          <a:p>
            <a:pPr marL="228600" marR="0" lvl="0" indent="-228600" algn="l" defTabSz="914400" rtl="0" eaLnBrk="1" fontAlgn="auto" latinLnBrk="0" hangingPunct="1">
              <a:lnSpc>
                <a:spcPct val="110000"/>
              </a:lnSpc>
              <a:spcBef>
                <a:spcPts val="6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rPr>
              <a:t>Who can shut down the process?</a:t>
            </a:r>
          </a:p>
          <a:p>
            <a:pPr marL="228600" marR="0" lvl="0" indent="-228600" algn="l" defTabSz="914400" rtl="0" eaLnBrk="1" fontAlgn="auto" latinLnBrk="0" hangingPunct="1">
              <a:lnSpc>
                <a:spcPct val="110000"/>
              </a:lnSpc>
              <a:spcBef>
                <a:spcPts val="600"/>
              </a:spcBef>
              <a:spcAft>
                <a:spcPts val="0"/>
              </a:spcAft>
              <a:buClrTx/>
              <a:buSzTx/>
              <a:buFont typeface="Arial" panose="020B0604020202020204" pitchFamily="34" charset="0"/>
              <a:buChar char="•"/>
              <a:tabLst/>
              <a:defRPr/>
            </a:pPr>
            <a:r>
              <a:rPr lang="en-US" sz="1200" dirty="0">
                <a:solidFill>
                  <a:prstClr val="black"/>
                </a:solidFill>
                <a:latin typeface="Aptos" panose="02110004020202020204"/>
              </a:rPr>
              <a:t>Who decides to revert to manual work?</a:t>
            </a:r>
          </a:p>
          <a:p>
            <a:pPr marL="228600" marR="0" lvl="0" indent="-228600" algn="l" defTabSz="914400" rtl="0" eaLnBrk="1" fontAlgn="auto" latinLnBrk="0" hangingPunct="1">
              <a:lnSpc>
                <a:spcPct val="110000"/>
              </a:lnSpc>
              <a:spcBef>
                <a:spcPts val="6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rPr>
              <a:t>Who can authorize restart or restoration?</a:t>
            </a:r>
          </a:p>
        </p:txBody>
      </p:sp>
      <p:sp>
        <p:nvSpPr>
          <p:cNvPr id="6" name="TextBox 5">
            <a:extLst>
              <a:ext uri="{FF2B5EF4-FFF2-40B4-BE49-F238E27FC236}">
                <a16:creationId xmlns:a16="http://schemas.microsoft.com/office/drawing/2014/main" id="{1789CBC8-8A11-BE71-0D9A-5AEBE4D4DA97}"/>
              </a:ext>
            </a:extLst>
          </p:cNvPr>
          <p:cNvSpPr txBox="1"/>
          <p:nvPr/>
        </p:nvSpPr>
        <p:spPr>
          <a:xfrm>
            <a:off x="4408714" y="64309"/>
            <a:ext cx="4628748" cy="276999"/>
          </a:xfrm>
          <a:prstGeom prst="rect">
            <a:avLst/>
          </a:prstGeom>
          <a:noFill/>
        </p:spPr>
        <p:txBody>
          <a:bodyPr wrap="square" rtlCol="0">
            <a:spAutoFit/>
          </a:bodyPr>
          <a:lstStyle/>
          <a:p>
            <a:pPr algn="r"/>
            <a:r>
              <a:rPr lang="en-US" sz="1200" dirty="0">
                <a:solidFill>
                  <a:schemeClr val="bg1">
                    <a:lumMod val="50000"/>
                  </a:schemeClr>
                </a:solidFill>
              </a:rPr>
              <a:t>AI Operational Readiness • Decision Rights Framework</a:t>
            </a:r>
          </a:p>
        </p:txBody>
      </p:sp>
    </p:spTree>
    <p:extLst>
      <p:ext uri="{BB962C8B-B14F-4D97-AF65-F5344CB8AC3E}">
        <p14:creationId xmlns:p14="http://schemas.microsoft.com/office/powerpoint/2010/main" val="253071836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B5D6EB-207A-D489-11B1-EC9F68BAB5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9CD9ED-EE87-FF53-913F-A8AF87606A28}"/>
              </a:ext>
            </a:extLst>
          </p:cNvPr>
          <p:cNvSpPr>
            <a:spLocks noGrp="1"/>
          </p:cNvSpPr>
          <p:nvPr>
            <p:ph type="title"/>
          </p:nvPr>
        </p:nvSpPr>
        <p:spPr>
          <a:xfrm>
            <a:off x="273534" y="-86630"/>
            <a:ext cx="7886700" cy="1325563"/>
          </a:xfrm>
        </p:spPr>
        <p:txBody>
          <a:bodyPr/>
          <a:lstStyle/>
          <a:p>
            <a:r>
              <a:rPr lang="en-US" dirty="0"/>
              <a:t>Accountability</a:t>
            </a:r>
          </a:p>
        </p:txBody>
      </p:sp>
      <p:sp>
        <p:nvSpPr>
          <p:cNvPr id="9" name="Content Placeholder 2">
            <a:extLst>
              <a:ext uri="{FF2B5EF4-FFF2-40B4-BE49-F238E27FC236}">
                <a16:creationId xmlns:a16="http://schemas.microsoft.com/office/drawing/2014/main" id="{104ECF77-1299-CFF6-6157-22FB7E46AB62}"/>
              </a:ext>
            </a:extLst>
          </p:cNvPr>
          <p:cNvSpPr txBox="1">
            <a:spLocks/>
          </p:cNvSpPr>
          <p:nvPr/>
        </p:nvSpPr>
        <p:spPr>
          <a:xfrm>
            <a:off x="317078" y="844267"/>
            <a:ext cx="7886700" cy="299244"/>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Understanding who owns outcomes and consequences</a:t>
            </a:r>
          </a:p>
        </p:txBody>
      </p:sp>
      <p:graphicFrame>
        <p:nvGraphicFramePr>
          <p:cNvPr id="13" name="Table 12">
            <a:extLst>
              <a:ext uri="{FF2B5EF4-FFF2-40B4-BE49-F238E27FC236}">
                <a16:creationId xmlns:a16="http://schemas.microsoft.com/office/drawing/2014/main" id="{C1C3C6ED-6BC1-44E4-45FD-F97E40CBF219}"/>
              </a:ext>
            </a:extLst>
          </p:cNvPr>
          <p:cNvGraphicFramePr>
            <a:graphicFrameLocks noGrp="1"/>
          </p:cNvGraphicFramePr>
          <p:nvPr/>
        </p:nvGraphicFramePr>
        <p:xfrm>
          <a:off x="371508" y="3116577"/>
          <a:ext cx="8218714" cy="1402080"/>
        </p:xfrm>
        <a:graphic>
          <a:graphicData uri="http://schemas.openxmlformats.org/drawingml/2006/table">
            <a:tbl>
              <a:tblPr firstRow="1" bandRow="1">
                <a:tableStyleId>{2D5ABB26-0587-4C30-8999-92F81FD0307C}</a:tableStyleId>
              </a:tblPr>
              <a:tblGrid>
                <a:gridCol w="3287487">
                  <a:extLst>
                    <a:ext uri="{9D8B030D-6E8A-4147-A177-3AD203B41FA5}">
                      <a16:colId xmlns:a16="http://schemas.microsoft.com/office/drawing/2014/main" val="2470210094"/>
                    </a:ext>
                  </a:extLst>
                </a:gridCol>
                <a:gridCol w="4931227">
                  <a:extLst>
                    <a:ext uri="{9D8B030D-6E8A-4147-A177-3AD203B41FA5}">
                      <a16:colId xmlns:a16="http://schemas.microsoft.com/office/drawing/2014/main" val="72878264"/>
                    </a:ext>
                  </a:extLst>
                </a:gridCol>
              </a:tblGrid>
              <a:tr h="229524">
                <a:tc>
                  <a:txBody>
                    <a:bodyPr/>
                    <a:lstStyle/>
                    <a:p>
                      <a:r>
                        <a:rPr lang="en-US" sz="1400" b="1" dirty="0">
                          <a:solidFill>
                            <a:srgbClr val="021836"/>
                          </a:solidFill>
                        </a:rPr>
                        <a:t>Accountability Elements</a:t>
                      </a:r>
                    </a:p>
                  </a:txBody>
                  <a:tcPr>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rgbClr val="0396A6"/>
                      </a:solidFill>
                      <a:prstDash val="solid"/>
                      <a:round/>
                      <a:headEnd type="none" w="med" len="med"/>
                      <a:tailEnd type="none" w="med" len="med"/>
                    </a:lnB>
                  </a:tcPr>
                </a:tc>
                <a:tc>
                  <a:txBody>
                    <a:bodyPr/>
                    <a:lstStyle/>
                    <a:p>
                      <a:r>
                        <a:rPr lang="en-US" sz="1400" b="1" dirty="0">
                          <a:solidFill>
                            <a:srgbClr val="021836"/>
                          </a:solidFill>
                        </a:rPr>
                        <a:t>Proposed Design</a:t>
                      </a:r>
                    </a:p>
                  </a:txBody>
                  <a:tcPr>
                    <a:lnL w="12700" cap="flat" cmpd="sng" algn="ctr">
                      <a:solidFill>
                        <a:schemeClr val="bg1">
                          <a:lumMod val="75000"/>
                        </a:schemeClr>
                      </a:solidFill>
                      <a:prstDash val="solid"/>
                      <a:round/>
                      <a:headEnd type="none" w="med" len="med"/>
                      <a:tailEnd type="none" w="med" len="med"/>
                    </a:lnL>
                    <a:lnT w="12700" cap="flat" cmpd="sng" algn="ctr">
                      <a:solidFill>
                        <a:srgbClr val="0396A6"/>
                      </a:solidFill>
                      <a:prstDash val="solid"/>
                      <a:round/>
                      <a:headEnd type="none" w="med" len="med"/>
                      <a:tailEnd type="none" w="med" len="med"/>
                    </a:lnT>
                    <a:lnB w="12700" cap="flat" cmpd="sng" algn="ctr">
                      <a:solidFill>
                        <a:srgbClr val="0396A6"/>
                      </a:solidFill>
                      <a:prstDash val="solid"/>
                      <a:round/>
                      <a:headEnd type="none" w="med" len="med"/>
                      <a:tailEnd type="none" w="med" len="med"/>
                    </a:lnB>
                  </a:tcPr>
                </a:tc>
                <a:extLst>
                  <a:ext uri="{0D108BD9-81ED-4DB2-BD59-A6C34878D82A}">
                    <a16:rowId xmlns:a16="http://schemas.microsoft.com/office/drawing/2014/main" val="2061593276"/>
                  </a:ext>
                </a:extLst>
              </a:tr>
              <a:tr h="311500">
                <a:tc>
                  <a:txBody>
                    <a:bodyPr/>
                    <a:lstStyle/>
                    <a:p>
                      <a:pPr>
                        <a:buClr>
                          <a:schemeClr val="bg1">
                            <a:lumMod val="50000"/>
                          </a:schemeClr>
                        </a:buClr>
                      </a:pPr>
                      <a:r>
                        <a:rPr lang="en-US" sz="1400" dirty="0"/>
                        <a:t>Process Owner</a:t>
                      </a:r>
                    </a:p>
                  </a:txBody>
                  <a:tcPr>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75000"/>
                        </a:schemeClr>
                      </a:solidFill>
                      <a:prstDash val="solid"/>
                      <a:round/>
                      <a:headEnd type="none" w="med" len="med"/>
                      <a:tailEnd type="none" w="med" len="med"/>
                    </a:lnL>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493753442"/>
                  </a:ext>
                </a:extLst>
              </a:tr>
              <a:tr h="311500">
                <a:tc>
                  <a:txBody>
                    <a:bodyPr/>
                    <a:lstStyle/>
                    <a:p>
                      <a:pPr>
                        <a:buClr>
                          <a:schemeClr val="bg1">
                            <a:lumMod val="50000"/>
                          </a:schemeClr>
                        </a:buClr>
                      </a:pPr>
                      <a:r>
                        <a:rPr lang="en-US" sz="1400" dirty="0"/>
                        <a:t>Business Owner</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23325965"/>
                  </a:ext>
                </a:extLst>
              </a:tr>
              <a:tr h="311500">
                <a:tc>
                  <a:txBody>
                    <a:bodyPr/>
                    <a:lstStyle/>
                    <a:p>
                      <a:pPr>
                        <a:buClr>
                          <a:schemeClr val="bg1">
                            <a:lumMod val="50000"/>
                          </a:schemeClr>
                        </a:buClr>
                      </a:pPr>
                      <a:r>
                        <a:rPr lang="en-US" sz="1400" dirty="0"/>
                        <a:t>Risk &amp; Compliance Owner</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845834834"/>
                  </a:ext>
                </a:extLst>
              </a:tr>
            </a:tbl>
          </a:graphicData>
        </a:graphic>
      </p:graphicFrame>
      <p:sp>
        <p:nvSpPr>
          <p:cNvPr id="4" name="Content Placeholder 2">
            <a:extLst>
              <a:ext uri="{FF2B5EF4-FFF2-40B4-BE49-F238E27FC236}">
                <a16:creationId xmlns:a16="http://schemas.microsoft.com/office/drawing/2014/main" id="{67CFE277-5514-5048-D21D-989C244C80CC}"/>
              </a:ext>
            </a:extLst>
          </p:cNvPr>
          <p:cNvSpPr txBox="1">
            <a:spLocks/>
          </p:cNvSpPr>
          <p:nvPr/>
        </p:nvSpPr>
        <p:spPr>
          <a:xfrm>
            <a:off x="371508" y="2817333"/>
            <a:ext cx="7886700" cy="29924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Design Elements</a:t>
            </a:r>
          </a:p>
        </p:txBody>
      </p:sp>
      <p:cxnSp>
        <p:nvCxnSpPr>
          <p:cNvPr id="14" name="Straight Connector 13">
            <a:extLst>
              <a:ext uri="{FF2B5EF4-FFF2-40B4-BE49-F238E27FC236}">
                <a16:creationId xmlns:a16="http://schemas.microsoft.com/office/drawing/2014/main" id="{449E1938-1737-3564-5EEB-EBD950095A32}"/>
              </a:ext>
            </a:extLst>
          </p:cNvPr>
          <p:cNvCxnSpPr>
            <a:cxnSpLocks/>
          </p:cNvCxnSpPr>
          <p:nvPr/>
        </p:nvCxnSpPr>
        <p:spPr>
          <a:xfrm>
            <a:off x="171450" y="5283901"/>
            <a:ext cx="8801100" cy="0"/>
          </a:xfrm>
          <a:prstGeom prst="line">
            <a:avLst/>
          </a:prstGeom>
          <a:ln w="9525">
            <a:solidFill>
              <a:srgbClr val="0396A6"/>
            </a:solidFill>
          </a:ln>
        </p:spPr>
        <p:style>
          <a:lnRef idx="2">
            <a:schemeClr val="accent1"/>
          </a:lnRef>
          <a:fillRef idx="0">
            <a:schemeClr val="accent1"/>
          </a:fillRef>
          <a:effectRef idx="1">
            <a:schemeClr val="accent1"/>
          </a:effectRef>
          <a:fontRef idx="minor">
            <a:schemeClr val="tx1"/>
          </a:fontRef>
        </p:style>
      </p:cxnSp>
      <p:grpSp>
        <p:nvGrpSpPr>
          <p:cNvPr id="15" name="Group 14">
            <a:extLst>
              <a:ext uri="{FF2B5EF4-FFF2-40B4-BE49-F238E27FC236}">
                <a16:creationId xmlns:a16="http://schemas.microsoft.com/office/drawing/2014/main" id="{ABA89E5D-5C8B-F718-5D93-35F644D20348}"/>
              </a:ext>
            </a:extLst>
          </p:cNvPr>
          <p:cNvGrpSpPr/>
          <p:nvPr/>
        </p:nvGrpSpPr>
        <p:grpSpPr>
          <a:xfrm>
            <a:off x="333374" y="5422817"/>
            <a:ext cx="7913948" cy="820961"/>
            <a:chOff x="628650" y="4778376"/>
            <a:chExt cx="7913948" cy="820961"/>
          </a:xfrm>
        </p:grpSpPr>
        <p:sp>
          <p:nvSpPr>
            <p:cNvPr id="16" name="Content Placeholder 2">
              <a:extLst>
                <a:ext uri="{FF2B5EF4-FFF2-40B4-BE49-F238E27FC236}">
                  <a16:creationId xmlns:a16="http://schemas.microsoft.com/office/drawing/2014/main" id="{2A99AF3D-E4B0-38BD-FD92-4B91D94E6293}"/>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Accountability Signals</a:t>
              </a:r>
            </a:p>
          </p:txBody>
        </p:sp>
        <p:sp>
          <p:nvSpPr>
            <p:cNvPr id="17" name="Content Placeholder 2">
              <a:extLst>
                <a:ext uri="{FF2B5EF4-FFF2-40B4-BE49-F238E27FC236}">
                  <a16:creationId xmlns:a16="http://schemas.microsoft.com/office/drawing/2014/main" id="{23766EA0-3511-160E-C454-E770416BBFBE}"/>
                </a:ext>
              </a:extLst>
            </p:cNvPr>
            <p:cNvSpPr txBox="1">
              <a:spLocks/>
            </p:cNvSpPr>
            <p:nvPr/>
          </p:nvSpPr>
          <p:spPr>
            <a:xfrm>
              <a:off x="628650" y="5032600"/>
              <a:ext cx="7913948" cy="566737"/>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Customer impact • Process ownership • Regulatory obligations • Cross-functional dependencies</a:t>
              </a:r>
            </a:p>
          </p:txBody>
        </p:sp>
      </p:grpSp>
      <p:grpSp>
        <p:nvGrpSpPr>
          <p:cNvPr id="18" name="Group 17">
            <a:extLst>
              <a:ext uri="{FF2B5EF4-FFF2-40B4-BE49-F238E27FC236}">
                <a16:creationId xmlns:a16="http://schemas.microsoft.com/office/drawing/2014/main" id="{32B761AE-23B9-752B-1D04-928587AF77B6}"/>
              </a:ext>
            </a:extLst>
          </p:cNvPr>
          <p:cNvGrpSpPr/>
          <p:nvPr/>
        </p:nvGrpSpPr>
        <p:grpSpPr>
          <a:xfrm>
            <a:off x="317078" y="6030718"/>
            <a:ext cx="7886700" cy="595537"/>
            <a:chOff x="628650" y="4778376"/>
            <a:chExt cx="7886700" cy="595537"/>
          </a:xfrm>
        </p:grpSpPr>
        <p:sp>
          <p:nvSpPr>
            <p:cNvPr id="19" name="Content Placeholder 2">
              <a:extLst>
                <a:ext uri="{FF2B5EF4-FFF2-40B4-BE49-F238E27FC236}">
                  <a16:creationId xmlns:a16="http://schemas.microsoft.com/office/drawing/2014/main" id="{021EC05A-D62A-546D-1AE1-2C15A51A7256}"/>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Guiding Principle</a:t>
              </a:r>
            </a:p>
          </p:txBody>
        </p:sp>
        <p:sp>
          <p:nvSpPr>
            <p:cNvPr id="20" name="Content Placeholder 2">
              <a:extLst>
                <a:ext uri="{FF2B5EF4-FFF2-40B4-BE49-F238E27FC236}">
                  <a16:creationId xmlns:a16="http://schemas.microsoft.com/office/drawing/2014/main" id="{B89A9417-4DDD-EE94-BFB7-C63FBD09381E}"/>
                </a:ext>
              </a:extLst>
            </p:cNvPr>
            <p:cNvSpPr txBox="1">
              <a:spLocks/>
            </p:cNvSpPr>
            <p:nvPr/>
          </p:nvSpPr>
          <p:spPr>
            <a:xfrm>
              <a:off x="628650" y="5032601"/>
              <a:ext cx="7886700" cy="341312"/>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kumimoji="0" lang="en-US" sz="1200" b="0" i="0" u="none" strike="noStrike" kern="1200" cap="none" spc="0" normalizeH="0" baseline="0" noProof="0" dirty="0">
                  <a:ln>
                    <a:noFill/>
                  </a:ln>
                  <a:solidFill>
                    <a:srgbClr val="021836"/>
                  </a:solidFill>
                  <a:effectLst/>
                  <a:uLnTx/>
                  <a:uFillTx/>
                  <a:latin typeface="Aptos" panose="02110004020202020204"/>
                  <a:ea typeface="+mn-ea"/>
                  <a:cs typeface="+mn-cs"/>
                </a:rPr>
                <a:t>Accountability remains human, even when work is AI-assisted. Supporting roles can be many, but ultimately accountability should be explicit.	</a:t>
              </a:r>
              <a:endPar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endParaRPr>
            </a:p>
          </p:txBody>
        </p:sp>
      </p:grpSp>
      <p:sp>
        <p:nvSpPr>
          <p:cNvPr id="3" name="Content Placeholder 2">
            <a:extLst>
              <a:ext uri="{FF2B5EF4-FFF2-40B4-BE49-F238E27FC236}">
                <a16:creationId xmlns:a16="http://schemas.microsoft.com/office/drawing/2014/main" id="{1A66EF43-DA84-34C0-38D0-2E092899DDD5}"/>
              </a:ext>
            </a:extLst>
          </p:cNvPr>
          <p:cNvSpPr txBox="1">
            <a:spLocks/>
          </p:cNvSpPr>
          <p:nvPr/>
        </p:nvSpPr>
        <p:spPr>
          <a:xfrm>
            <a:off x="360622" y="1214862"/>
            <a:ext cx="7886700" cy="146047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Questions</a:t>
            </a:r>
          </a:p>
          <a:p>
            <a:pPr marL="228600" marR="0" lvl="0" indent="-228600" algn="l" defTabSz="914400" rtl="0" eaLnBrk="1" fontAlgn="auto" latinLnBrk="0" hangingPunct="1">
              <a:lnSpc>
                <a:spcPct val="110000"/>
              </a:lnSpc>
              <a:spcBef>
                <a:spcPts val="6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rPr>
              <a:t>Who owns the process?</a:t>
            </a:r>
          </a:p>
          <a:p>
            <a:pPr marL="228600" marR="0" lvl="0" indent="-228600" algn="l" defTabSz="914400" rtl="0" eaLnBrk="1" fontAlgn="auto" latinLnBrk="0" hangingPunct="1">
              <a:lnSpc>
                <a:spcPct val="110000"/>
              </a:lnSpc>
              <a:spcBef>
                <a:spcPts val="600"/>
              </a:spcBef>
              <a:spcAft>
                <a:spcPts val="0"/>
              </a:spcAft>
              <a:buClrTx/>
              <a:buSzTx/>
              <a:buFont typeface="Arial" panose="020B0604020202020204" pitchFamily="34" charset="0"/>
              <a:buChar char="•"/>
              <a:tabLst/>
              <a:defRPr/>
            </a:pPr>
            <a:r>
              <a:rPr lang="en-US" sz="1200" dirty="0">
                <a:solidFill>
                  <a:prstClr val="black"/>
                </a:solidFill>
                <a:latin typeface="Aptos" panose="02110004020202020204"/>
              </a:rPr>
              <a:t>Who owns customer impact?</a:t>
            </a:r>
          </a:p>
          <a:p>
            <a:pPr marL="228600" marR="0" lvl="0" indent="-228600" algn="l" defTabSz="914400" rtl="0" eaLnBrk="1" fontAlgn="auto" latinLnBrk="0" hangingPunct="1">
              <a:lnSpc>
                <a:spcPct val="110000"/>
              </a:lnSpc>
              <a:spcBef>
                <a:spcPts val="6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rPr>
              <a:t>Who owns errors?</a:t>
            </a:r>
          </a:p>
          <a:p>
            <a:pPr marL="228600" marR="0" lvl="0" indent="-228600" algn="l" defTabSz="914400" rtl="0" eaLnBrk="1" fontAlgn="auto" latinLnBrk="0" hangingPunct="1">
              <a:lnSpc>
                <a:spcPct val="110000"/>
              </a:lnSpc>
              <a:spcBef>
                <a:spcPts val="6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rPr>
              <a:t>Who owns the consequences if something goes wrong?</a:t>
            </a:r>
          </a:p>
        </p:txBody>
      </p:sp>
      <p:sp>
        <p:nvSpPr>
          <p:cNvPr id="6" name="TextBox 5">
            <a:extLst>
              <a:ext uri="{FF2B5EF4-FFF2-40B4-BE49-F238E27FC236}">
                <a16:creationId xmlns:a16="http://schemas.microsoft.com/office/drawing/2014/main" id="{402FC13F-FA2A-64DB-DD4E-A64E566880DF}"/>
              </a:ext>
            </a:extLst>
          </p:cNvPr>
          <p:cNvSpPr txBox="1"/>
          <p:nvPr/>
        </p:nvSpPr>
        <p:spPr>
          <a:xfrm>
            <a:off x="4408714" y="64309"/>
            <a:ext cx="4628748" cy="276999"/>
          </a:xfrm>
          <a:prstGeom prst="rect">
            <a:avLst/>
          </a:prstGeom>
          <a:noFill/>
        </p:spPr>
        <p:txBody>
          <a:bodyPr wrap="square" rtlCol="0">
            <a:spAutoFit/>
          </a:bodyPr>
          <a:lstStyle/>
          <a:p>
            <a:pPr algn="r"/>
            <a:r>
              <a:rPr lang="en-US" sz="1200" dirty="0">
                <a:solidFill>
                  <a:schemeClr val="bg1">
                    <a:lumMod val="50000"/>
                  </a:schemeClr>
                </a:solidFill>
              </a:rPr>
              <a:t>AI Operational Readiness • Decision Rights Framework</a:t>
            </a:r>
          </a:p>
        </p:txBody>
      </p:sp>
    </p:spTree>
    <p:extLst>
      <p:ext uri="{BB962C8B-B14F-4D97-AF65-F5344CB8AC3E}">
        <p14:creationId xmlns:p14="http://schemas.microsoft.com/office/powerpoint/2010/main" val="240994473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5DE41E-AC49-0A5F-965C-BE47A459D3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CBE440-47D8-2E6D-2E93-3DD4C3A66459}"/>
              </a:ext>
            </a:extLst>
          </p:cNvPr>
          <p:cNvSpPr>
            <a:spLocks noGrp="1"/>
          </p:cNvSpPr>
          <p:nvPr>
            <p:ph type="title"/>
          </p:nvPr>
        </p:nvSpPr>
        <p:spPr>
          <a:xfrm>
            <a:off x="273534" y="-86630"/>
            <a:ext cx="7886700" cy="1325563"/>
          </a:xfrm>
        </p:spPr>
        <p:txBody>
          <a:bodyPr/>
          <a:lstStyle/>
          <a:p>
            <a:r>
              <a:rPr lang="en-US" dirty="0"/>
              <a:t>Lifecycle &amp; Authority</a:t>
            </a:r>
            <a:r>
              <a:rPr lang="en-US" sz="1200" i="1" dirty="0">
                <a:solidFill>
                  <a:prstClr val="white">
                    <a:lumMod val="50000"/>
                  </a:prstClr>
                </a:solidFill>
                <a:latin typeface="Aptos" panose="02110004020202020204"/>
                <a:ea typeface="+mn-ea"/>
                <a:cs typeface="+mn-cs"/>
              </a:rPr>
              <a:t> </a:t>
            </a:r>
            <a:r>
              <a:rPr lang="en-US" dirty="0"/>
              <a:t>Decisions</a:t>
            </a:r>
          </a:p>
        </p:txBody>
      </p:sp>
      <p:sp>
        <p:nvSpPr>
          <p:cNvPr id="9" name="Content Placeholder 2">
            <a:extLst>
              <a:ext uri="{FF2B5EF4-FFF2-40B4-BE49-F238E27FC236}">
                <a16:creationId xmlns:a16="http://schemas.microsoft.com/office/drawing/2014/main" id="{3AFE6F70-02AB-31C4-1B52-68AA4DC32B0F}"/>
              </a:ext>
            </a:extLst>
          </p:cNvPr>
          <p:cNvSpPr txBox="1">
            <a:spLocks/>
          </p:cNvSpPr>
          <p:nvPr/>
        </p:nvSpPr>
        <p:spPr>
          <a:xfrm>
            <a:off x="317078" y="844267"/>
            <a:ext cx="7886700" cy="299244"/>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Clr>
                <a:srgbClr val="021836"/>
              </a:buClr>
              <a:buNone/>
              <a:defRPr/>
            </a:pPr>
            <a:r>
              <a:rPr lang="en-US" sz="1200" i="1" dirty="0">
                <a:solidFill>
                  <a:prstClr val="white">
                    <a:lumMod val="50000"/>
                  </a:prstClr>
                </a:solidFill>
                <a:latin typeface="Aptos" panose="02110004020202020204"/>
              </a:rPr>
              <a:t>Defining who can change whether and how AI-enabled work continues</a:t>
            </a:r>
          </a:p>
        </p:txBody>
      </p:sp>
      <p:graphicFrame>
        <p:nvGraphicFramePr>
          <p:cNvPr id="13" name="Table 12">
            <a:extLst>
              <a:ext uri="{FF2B5EF4-FFF2-40B4-BE49-F238E27FC236}">
                <a16:creationId xmlns:a16="http://schemas.microsoft.com/office/drawing/2014/main" id="{1D9B8A47-8A3E-FE35-33DB-AE8A69388169}"/>
              </a:ext>
            </a:extLst>
          </p:cNvPr>
          <p:cNvGraphicFramePr>
            <a:graphicFrameLocks noGrp="1"/>
          </p:cNvGraphicFramePr>
          <p:nvPr/>
        </p:nvGraphicFramePr>
        <p:xfrm>
          <a:off x="371508" y="2222860"/>
          <a:ext cx="8218714" cy="1402080"/>
        </p:xfrm>
        <a:graphic>
          <a:graphicData uri="http://schemas.openxmlformats.org/drawingml/2006/table">
            <a:tbl>
              <a:tblPr firstRow="1" bandRow="1">
                <a:tableStyleId>{2D5ABB26-0587-4C30-8999-92F81FD0307C}</a:tableStyleId>
              </a:tblPr>
              <a:tblGrid>
                <a:gridCol w="4418206">
                  <a:extLst>
                    <a:ext uri="{9D8B030D-6E8A-4147-A177-3AD203B41FA5}">
                      <a16:colId xmlns:a16="http://schemas.microsoft.com/office/drawing/2014/main" val="2470210094"/>
                    </a:ext>
                  </a:extLst>
                </a:gridCol>
                <a:gridCol w="3800508">
                  <a:extLst>
                    <a:ext uri="{9D8B030D-6E8A-4147-A177-3AD203B41FA5}">
                      <a16:colId xmlns:a16="http://schemas.microsoft.com/office/drawing/2014/main" val="72878264"/>
                    </a:ext>
                  </a:extLst>
                </a:gridCol>
              </a:tblGrid>
              <a:tr h="228232">
                <a:tc>
                  <a:txBody>
                    <a:bodyPr/>
                    <a:lstStyle/>
                    <a:p>
                      <a:r>
                        <a:rPr lang="en-US" sz="1200" b="1" dirty="0">
                          <a:solidFill>
                            <a:srgbClr val="021836"/>
                          </a:solidFill>
                        </a:rPr>
                        <a:t>Lifecycle Decision Elements</a:t>
                      </a:r>
                    </a:p>
                  </a:txBody>
                  <a:tcPr>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rgbClr val="0396A6"/>
                      </a:solidFill>
                      <a:prstDash val="solid"/>
                      <a:round/>
                      <a:headEnd type="none" w="med" len="med"/>
                      <a:tailEnd type="none" w="med" len="med"/>
                    </a:lnB>
                  </a:tcPr>
                </a:tc>
                <a:tc>
                  <a:txBody>
                    <a:bodyPr/>
                    <a:lstStyle/>
                    <a:p>
                      <a:r>
                        <a:rPr lang="en-US" sz="1200" b="1" dirty="0">
                          <a:solidFill>
                            <a:srgbClr val="021836"/>
                          </a:solidFill>
                        </a:rPr>
                        <a:t>Proposed Design</a:t>
                      </a:r>
                    </a:p>
                  </a:txBody>
                  <a:tcPr>
                    <a:lnL w="12700" cap="flat" cmpd="sng" algn="ctr">
                      <a:solidFill>
                        <a:schemeClr val="bg1">
                          <a:lumMod val="75000"/>
                        </a:schemeClr>
                      </a:solidFill>
                      <a:prstDash val="solid"/>
                      <a:round/>
                      <a:headEnd type="none" w="med" len="med"/>
                      <a:tailEnd type="none" w="med" len="med"/>
                    </a:lnL>
                    <a:lnT w="12700" cap="flat" cmpd="sng" algn="ctr">
                      <a:solidFill>
                        <a:srgbClr val="0396A6"/>
                      </a:solidFill>
                      <a:prstDash val="solid"/>
                      <a:round/>
                      <a:headEnd type="none" w="med" len="med"/>
                      <a:tailEnd type="none" w="med" len="med"/>
                    </a:lnT>
                    <a:lnB w="12700" cap="flat" cmpd="sng" algn="ctr">
                      <a:solidFill>
                        <a:srgbClr val="0396A6"/>
                      </a:solidFill>
                      <a:prstDash val="solid"/>
                      <a:round/>
                      <a:headEnd type="none" w="med" len="med"/>
                      <a:tailEnd type="none" w="med" len="med"/>
                    </a:lnB>
                  </a:tcPr>
                </a:tc>
                <a:extLst>
                  <a:ext uri="{0D108BD9-81ED-4DB2-BD59-A6C34878D82A}">
                    <a16:rowId xmlns:a16="http://schemas.microsoft.com/office/drawing/2014/main" val="2061593276"/>
                  </a:ext>
                </a:extLst>
              </a:tr>
              <a:tr h="273879">
                <a:tc>
                  <a:txBody>
                    <a:bodyPr/>
                    <a:lstStyle/>
                    <a:p>
                      <a:pPr>
                        <a:buClr>
                          <a:schemeClr val="bg1">
                            <a:lumMod val="50000"/>
                          </a:schemeClr>
                        </a:buClr>
                      </a:pPr>
                      <a:r>
                        <a:rPr lang="en-US" sz="1200" dirty="0"/>
                        <a:t>Decision Owner</a:t>
                      </a:r>
                    </a:p>
                  </a:txBody>
                  <a:tcPr>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600" dirty="0"/>
                    </a:p>
                  </a:txBody>
                  <a:tcPr>
                    <a:lnL w="12700" cap="flat" cmpd="sng" algn="ctr">
                      <a:solidFill>
                        <a:schemeClr val="bg1">
                          <a:lumMod val="75000"/>
                        </a:schemeClr>
                      </a:solidFill>
                      <a:prstDash val="solid"/>
                      <a:round/>
                      <a:headEnd type="none" w="med" len="med"/>
                      <a:tailEnd type="none" w="med" len="med"/>
                    </a:lnL>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493753442"/>
                  </a:ext>
                </a:extLst>
              </a:tr>
              <a:tr h="273879">
                <a:tc>
                  <a:txBody>
                    <a:bodyPr/>
                    <a:lstStyle/>
                    <a:p>
                      <a:pPr>
                        <a:buClr>
                          <a:schemeClr val="bg1">
                            <a:lumMod val="50000"/>
                          </a:schemeClr>
                        </a:buClr>
                      </a:pPr>
                      <a:r>
                        <a:rPr lang="en-US" sz="1200" dirty="0"/>
                        <a:t>Decision Scope – Scale / Redesign / Pause / Retire</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600" dirty="0"/>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23325965"/>
                  </a:ext>
                </a:extLst>
              </a:tr>
              <a:tr h="387995">
                <a:tc>
                  <a:txBody>
                    <a:bodyPr/>
                    <a:lstStyle/>
                    <a:p>
                      <a:pPr>
                        <a:buClr>
                          <a:schemeClr val="bg1">
                            <a:lumMod val="50000"/>
                          </a:schemeClr>
                        </a:buClr>
                      </a:pPr>
                      <a:r>
                        <a:rPr lang="en-US" sz="1200" dirty="0"/>
                        <a:t>Decision Basis – What evidence or conditions inform the decision?</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600" dirty="0"/>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845834834"/>
                  </a:ext>
                </a:extLst>
              </a:tr>
            </a:tbl>
          </a:graphicData>
        </a:graphic>
      </p:graphicFrame>
      <p:sp>
        <p:nvSpPr>
          <p:cNvPr id="3" name="Content Placeholder 2">
            <a:extLst>
              <a:ext uri="{FF2B5EF4-FFF2-40B4-BE49-F238E27FC236}">
                <a16:creationId xmlns:a16="http://schemas.microsoft.com/office/drawing/2014/main" id="{4F543E55-6D46-7363-94D5-BCC8758C6BF1}"/>
              </a:ext>
            </a:extLst>
          </p:cNvPr>
          <p:cNvSpPr txBox="1">
            <a:spLocks/>
          </p:cNvSpPr>
          <p:nvPr/>
        </p:nvSpPr>
        <p:spPr>
          <a:xfrm>
            <a:off x="333374" y="1309947"/>
            <a:ext cx="7886700" cy="128164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defRPr/>
            </a:pPr>
            <a:r>
              <a:rPr kumimoji="0" lang="en-US" sz="1600" b="1" i="0" u="none" strike="noStrike" kern="1200" cap="none" spc="0" normalizeH="0" baseline="0" noProof="0" dirty="0">
                <a:ln>
                  <a:noFill/>
                </a:ln>
                <a:solidFill>
                  <a:srgbClr val="021836"/>
                </a:solidFill>
                <a:effectLst/>
                <a:uLnTx/>
                <a:uFillTx/>
                <a:latin typeface="Aptos" panose="02110004020202020204"/>
                <a:ea typeface="+mn-ea"/>
                <a:cs typeface="+mn-cs"/>
              </a:rPr>
              <a:t>Lifecycle Decision Authority:</a:t>
            </a:r>
          </a:p>
          <a:p>
            <a:pPr marL="0" marR="0" lvl="0" indent="0" algn="l" defTabSz="914400" rtl="0" eaLnBrk="1" fontAlgn="auto" latinLnBrk="0" hangingPunct="1">
              <a:lnSpc>
                <a:spcPct val="90000"/>
              </a:lnSpc>
              <a:spcBef>
                <a:spcPts val="600"/>
              </a:spcBef>
              <a:spcAft>
                <a:spcPts val="0"/>
              </a:spcAft>
              <a:buClrTx/>
              <a:buSzTx/>
              <a:buFont typeface="Arial" panose="020B0604020202020204" pitchFamily="34" charset="0"/>
              <a:buNone/>
              <a:tabLst/>
              <a:defRPr/>
            </a:pPr>
            <a:r>
              <a:rPr kumimoji="0" lang="en-US" sz="1200" b="1" i="0" u="none" strike="noStrike" kern="1200" cap="none" spc="0" normalizeH="0" baseline="0" noProof="0" dirty="0">
                <a:ln>
                  <a:noFill/>
                </a:ln>
                <a:solidFill>
                  <a:srgbClr val="021836"/>
                </a:solidFill>
                <a:effectLst/>
                <a:uLnTx/>
                <a:uFillTx/>
                <a:latin typeface="Aptos" panose="02110004020202020204"/>
                <a:ea typeface="+mn-ea"/>
                <a:cs typeface="+mn-cs"/>
              </a:rPr>
              <a:t>Questions</a:t>
            </a:r>
          </a:p>
          <a:p>
            <a:pPr marL="228600" marR="0" lvl="0" indent="-228600" algn="l" defTabSz="914400" rtl="0" eaLnBrk="1" fontAlgn="auto" latinLnBrk="0" hangingPunct="1">
              <a:lnSpc>
                <a:spcPct val="110000"/>
              </a:lnSpc>
              <a:spcBef>
                <a:spcPts val="60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prstClr val="black"/>
                </a:solidFill>
                <a:effectLst/>
                <a:uLnTx/>
                <a:uFillTx/>
                <a:latin typeface="Aptos" panose="02110004020202020204"/>
                <a:ea typeface="+mn-ea"/>
                <a:cs typeface="+mn-cs"/>
              </a:rPr>
              <a:t>Who can authorize scale, redesign, pause, or retirement?</a:t>
            </a:r>
          </a:p>
        </p:txBody>
      </p:sp>
      <p:graphicFrame>
        <p:nvGraphicFramePr>
          <p:cNvPr id="6" name="Table 5">
            <a:extLst>
              <a:ext uri="{FF2B5EF4-FFF2-40B4-BE49-F238E27FC236}">
                <a16:creationId xmlns:a16="http://schemas.microsoft.com/office/drawing/2014/main" id="{75BB908C-92B2-B6BD-C9C3-59967E0659AB}"/>
              </a:ext>
            </a:extLst>
          </p:cNvPr>
          <p:cNvGraphicFramePr>
            <a:graphicFrameLocks noGrp="1"/>
          </p:cNvGraphicFramePr>
          <p:nvPr/>
        </p:nvGraphicFramePr>
        <p:xfrm>
          <a:off x="366098" y="5071589"/>
          <a:ext cx="8218714" cy="1280160"/>
        </p:xfrm>
        <a:graphic>
          <a:graphicData uri="http://schemas.openxmlformats.org/drawingml/2006/table">
            <a:tbl>
              <a:tblPr firstRow="1" bandRow="1">
                <a:tableStyleId>{2D5ABB26-0587-4C30-8999-92F81FD0307C}</a:tableStyleId>
              </a:tblPr>
              <a:tblGrid>
                <a:gridCol w="4423617">
                  <a:extLst>
                    <a:ext uri="{9D8B030D-6E8A-4147-A177-3AD203B41FA5}">
                      <a16:colId xmlns:a16="http://schemas.microsoft.com/office/drawing/2014/main" val="2470210094"/>
                    </a:ext>
                  </a:extLst>
                </a:gridCol>
                <a:gridCol w="3795097">
                  <a:extLst>
                    <a:ext uri="{9D8B030D-6E8A-4147-A177-3AD203B41FA5}">
                      <a16:colId xmlns:a16="http://schemas.microsoft.com/office/drawing/2014/main" val="72878264"/>
                    </a:ext>
                  </a:extLst>
                </a:gridCol>
              </a:tblGrid>
              <a:tr h="229524">
                <a:tc>
                  <a:txBody>
                    <a:bodyPr/>
                    <a:lstStyle/>
                    <a:p>
                      <a:r>
                        <a:rPr lang="en-US" sz="1200" b="1" dirty="0">
                          <a:solidFill>
                            <a:srgbClr val="021836"/>
                          </a:solidFill>
                        </a:rPr>
                        <a:t>Authority Modification Elements</a:t>
                      </a:r>
                    </a:p>
                  </a:txBody>
                  <a:tcPr>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rgbClr val="0396A6"/>
                      </a:solidFill>
                      <a:prstDash val="solid"/>
                      <a:round/>
                      <a:headEnd type="none" w="med" len="med"/>
                      <a:tailEnd type="none" w="med" len="med"/>
                    </a:lnB>
                  </a:tcPr>
                </a:tc>
                <a:tc>
                  <a:txBody>
                    <a:bodyPr/>
                    <a:lstStyle/>
                    <a:p>
                      <a:r>
                        <a:rPr lang="en-US" sz="1200" b="1" dirty="0">
                          <a:solidFill>
                            <a:srgbClr val="021836"/>
                          </a:solidFill>
                        </a:rPr>
                        <a:t>Proposed Design</a:t>
                      </a:r>
                    </a:p>
                  </a:txBody>
                  <a:tcPr>
                    <a:lnL w="12700" cap="flat" cmpd="sng" algn="ctr">
                      <a:solidFill>
                        <a:schemeClr val="bg1">
                          <a:lumMod val="75000"/>
                        </a:schemeClr>
                      </a:solidFill>
                      <a:prstDash val="solid"/>
                      <a:round/>
                      <a:headEnd type="none" w="med" len="med"/>
                      <a:tailEnd type="none" w="med" len="med"/>
                    </a:lnL>
                    <a:lnT w="12700" cap="flat" cmpd="sng" algn="ctr">
                      <a:solidFill>
                        <a:srgbClr val="0396A6"/>
                      </a:solidFill>
                      <a:prstDash val="solid"/>
                      <a:round/>
                      <a:headEnd type="none" w="med" len="med"/>
                      <a:tailEnd type="none" w="med" len="med"/>
                    </a:lnT>
                    <a:lnB w="12700" cap="flat" cmpd="sng" algn="ctr">
                      <a:solidFill>
                        <a:srgbClr val="0396A6"/>
                      </a:solidFill>
                      <a:prstDash val="solid"/>
                      <a:round/>
                      <a:headEnd type="none" w="med" len="med"/>
                      <a:tailEnd type="none" w="med" len="med"/>
                    </a:lnB>
                  </a:tcPr>
                </a:tc>
                <a:extLst>
                  <a:ext uri="{0D108BD9-81ED-4DB2-BD59-A6C34878D82A}">
                    <a16:rowId xmlns:a16="http://schemas.microsoft.com/office/drawing/2014/main" val="2061593276"/>
                  </a:ext>
                </a:extLst>
              </a:tr>
              <a:tr h="311500">
                <a:tc>
                  <a:txBody>
                    <a:bodyPr/>
                    <a:lstStyle/>
                    <a:p>
                      <a:pPr>
                        <a:buClr>
                          <a:schemeClr val="bg1">
                            <a:lumMod val="50000"/>
                          </a:schemeClr>
                        </a:buClr>
                      </a:pPr>
                      <a:r>
                        <a:rPr lang="en-US" sz="1200" dirty="0"/>
                        <a:t>Authority Owner</a:t>
                      </a:r>
                    </a:p>
                  </a:txBody>
                  <a:tcPr>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600" dirty="0"/>
                    </a:p>
                  </a:txBody>
                  <a:tcPr>
                    <a:lnL w="12700" cap="flat" cmpd="sng" algn="ctr">
                      <a:solidFill>
                        <a:schemeClr val="bg1">
                          <a:lumMod val="75000"/>
                        </a:schemeClr>
                      </a:solidFill>
                      <a:prstDash val="solid"/>
                      <a:round/>
                      <a:headEnd type="none" w="med" len="med"/>
                      <a:tailEnd type="none" w="med" len="med"/>
                    </a:lnL>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23325965"/>
                  </a:ext>
                </a:extLst>
              </a:tr>
              <a:tr h="311500">
                <a:tc>
                  <a:txBody>
                    <a:bodyPr/>
                    <a:lstStyle/>
                    <a:p>
                      <a:pPr>
                        <a:buClr>
                          <a:schemeClr val="bg1">
                            <a:lumMod val="50000"/>
                          </a:schemeClr>
                        </a:buClr>
                      </a:pPr>
                      <a:r>
                        <a:rPr lang="en-US" sz="1200" dirty="0"/>
                        <a:t>Modification Scope – Narrow / Suspend / Restore / Expand</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600" dirty="0"/>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845834834"/>
                  </a:ext>
                </a:extLst>
              </a:tr>
              <a:tr h="311500">
                <a:tc>
                  <a:txBody>
                    <a:bodyPr/>
                    <a:lstStyle/>
                    <a:p>
                      <a:pPr>
                        <a:buClr>
                          <a:schemeClr val="bg1">
                            <a:lumMod val="50000"/>
                          </a:schemeClr>
                        </a:buClr>
                      </a:pPr>
                      <a:r>
                        <a:rPr lang="en-US" sz="1200" dirty="0"/>
                        <a:t>Conditions / Evidence Required</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600" dirty="0"/>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363333930"/>
                  </a:ext>
                </a:extLst>
              </a:tr>
            </a:tbl>
          </a:graphicData>
        </a:graphic>
      </p:graphicFrame>
      <p:sp>
        <p:nvSpPr>
          <p:cNvPr id="11" name="Content Placeholder 2">
            <a:extLst>
              <a:ext uri="{FF2B5EF4-FFF2-40B4-BE49-F238E27FC236}">
                <a16:creationId xmlns:a16="http://schemas.microsoft.com/office/drawing/2014/main" id="{6D31FD3F-9DDD-70A3-01E0-EC0F4D5696AE}"/>
              </a:ext>
            </a:extLst>
          </p:cNvPr>
          <p:cNvSpPr txBox="1">
            <a:spLocks/>
          </p:cNvSpPr>
          <p:nvPr/>
        </p:nvSpPr>
        <p:spPr>
          <a:xfrm>
            <a:off x="327964" y="4141093"/>
            <a:ext cx="8119350" cy="128164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defRPr/>
            </a:pPr>
            <a:r>
              <a:rPr kumimoji="0" lang="en-US" sz="1600" b="1" i="0" u="none" strike="noStrike" kern="1200" cap="none" spc="0" normalizeH="0" baseline="0" noProof="0" dirty="0">
                <a:ln>
                  <a:noFill/>
                </a:ln>
                <a:solidFill>
                  <a:srgbClr val="021836"/>
                </a:solidFill>
                <a:effectLst/>
                <a:uLnTx/>
                <a:uFillTx/>
                <a:latin typeface="Aptos" panose="02110004020202020204"/>
                <a:ea typeface="+mn-ea"/>
                <a:cs typeface="+mn-cs"/>
              </a:rPr>
              <a:t>Authority Modification / Restoration:</a:t>
            </a:r>
          </a:p>
          <a:p>
            <a:pPr marL="0" marR="0" lvl="0" indent="0" algn="l" defTabSz="914400" rtl="0" eaLnBrk="1" fontAlgn="auto" latinLnBrk="0" hangingPunct="1">
              <a:lnSpc>
                <a:spcPct val="90000"/>
              </a:lnSpc>
              <a:spcBef>
                <a:spcPts val="600"/>
              </a:spcBef>
              <a:spcAft>
                <a:spcPts val="0"/>
              </a:spcAft>
              <a:buClrTx/>
              <a:buSzTx/>
              <a:buFont typeface="Arial" panose="020B0604020202020204" pitchFamily="34" charset="0"/>
              <a:buNone/>
              <a:tabLst/>
              <a:defRPr/>
            </a:pPr>
            <a:r>
              <a:rPr kumimoji="0" lang="en-US" sz="1200" b="1" i="0" u="none" strike="noStrike" kern="1200" cap="none" spc="0" normalizeH="0" baseline="0" noProof="0" dirty="0">
                <a:ln>
                  <a:noFill/>
                </a:ln>
                <a:solidFill>
                  <a:srgbClr val="021836"/>
                </a:solidFill>
                <a:effectLst/>
                <a:uLnTx/>
                <a:uFillTx/>
                <a:latin typeface="Aptos" panose="02110004020202020204"/>
                <a:ea typeface="+mn-ea"/>
                <a:cs typeface="+mn-cs"/>
              </a:rPr>
              <a:t>Questions</a:t>
            </a:r>
          </a:p>
          <a:p>
            <a:pPr lvl="0">
              <a:lnSpc>
                <a:spcPct val="110000"/>
              </a:lnSpc>
              <a:spcBef>
                <a:spcPts val="600"/>
              </a:spcBef>
              <a:defRPr/>
            </a:pPr>
            <a:r>
              <a:rPr lang="en-US" sz="1100" dirty="0">
                <a:solidFill>
                  <a:prstClr val="black"/>
                </a:solidFill>
                <a:latin typeface="Aptos" panose="02110004020202020204"/>
              </a:rPr>
              <a:t>Who</a:t>
            </a:r>
            <a:r>
              <a:rPr kumimoji="0" lang="en-US" sz="1100" b="0" i="0" u="none" strike="noStrike" kern="1200" cap="none" spc="0" normalizeH="0" baseline="0" noProof="0" dirty="0">
                <a:ln>
                  <a:noFill/>
                </a:ln>
                <a:solidFill>
                  <a:prstClr val="black"/>
                </a:solidFill>
                <a:effectLst/>
                <a:uLnTx/>
                <a:uFillTx/>
                <a:latin typeface="Aptos" panose="02110004020202020204"/>
                <a:ea typeface="+mn-ea"/>
                <a:cs typeface="+mn-cs"/>
              </a:rPr>
              <a:t> can authorize changes to the AI’s permitted operating authority, including narrowing, suspending, restoring, or expanding it?</a:t>
            </a:r>
          </a:p>
        </p:txBody>
      </p:sp>
      <p:cxnSp>
        <p:nvCxnSpPr>
          <p:cNvPr id="12" name="Straight Connector 11">
            <a:extLst>
              <a:ext uri="{FF2B5EF4-FFF2-40B4-BE49-F238E27FC236}">
                <a16:creationId xmlns:a16="http://schemas.microsoft.com/office/drawing/2014/main" id="{FC9F3F34-1638-DD81-B402-4F125E0AA9C3}"/>
              </a:ext>
            </a:extLst>
          </p:cNvPr>
          <p:cNvCxnSpPr>
            <a:cxnSpLocks/>
          </p:cNvCxnSpPr>
          <p:nvPr/>
        </p:nvCxnSpPr>
        <p:spPr>
          <a:xfrm>
            <a:off x="171450" y="3934073"/>
            <a:ext cx="8801100" cy="0"/>
          </a:xfrm>
          <a:prstGeom prst="line">
            <a:avLst/>
          </a:prstGeom>
          <a:ln w="9525">
            <a:solidFill>
              <a:srgbClr val="0396A6"/>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5CAB4808-3EBE-F9A3-2932-9C300CFEA7C4}"/>
              </a:ext>
            </a:extLst>
          </p:cNvPr>
          <p:cNvSpPr txBox="1"/>
          <p:nvPr/>
        </p:nvSpPr>
        <p:spPr>
          <a:xfrm>
            <a:off x="4408714" y="64309"/>
            <a:ext cx="4628748" cy="276999"/>
          </a:xfrm>
          <a:prstGeom prst="rect">
            <a:avLst/>
          </a:prstGeom>
          <a:noFill/>
        </p:spPr>
        <p:txBody>
          <a:bodyPr wrap="square" rtlCol="0">
            <a:spAutoFit/>
          </a:bodyPr>
          <a:lstStyle/>
          <a:p>
            <a:pPr algn="r"/>
            <a:r>
              <a:rPr lang="en-US" sz="1200" dirty="0">
                <a:solidFill>
                  <a:schemeClr val="bg1">
                    <a:lumMod val="50000"/>
                  </a:schemeClr>
                </a:solidFill>
              </a:rPr>
              <a:t>AI Operational Readiness • Decision Rights Framework</a:t>
            </a:r>
          </a:p>
        </p:txBody>
      </p:sp>
    </p:spTree>
    <p:extLst>
      <p:ext uri="{BB962C8B-B14F-4D97-AF65-F5344CB8AC3E}">
        <p14:creationId xmlns:p14="http://schemas.microsoft.com/office/powerpoint/2010/main" val="301218101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BC152-D77E-272F-50F0-DA8BC4AE31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201440-84C8-24CD-E259-2451F8074DD4}"/>
              </a:ext>
            </a:extLst>
          </p:cNvPr>
          <p:cNvSpPr>
            <a:spLocks noGrp="1"/>
          </p:cNvSpPr>
          <p:nvPr>
            <p:ph type="title"/>
          </p:nvPr>
        </p:nvSpPr>
        <p:spPr>
          <a:xfrm>
            <a:off x="273534" y="131090"/>
            <a:ext cx="7886700" cy="1325563"/>
          </a:xfrm>
        </p:spPr>
        <p:txBody>
          <a:bodyPr/>
          <a:lstStyle/>
          <a:p>
            <a:r>
              <a:rPr lang="en-US" dirty="0"/>
              <a:t>Example Decision Rights Profile</a:t>
            </a:r>
          </a:p>
        </p:txBody>
      </p:sp>
      <p:sp>
        <p:nvSpPr>
          <p:cNvPr id="7" name="Content Placeholder 2">
            <a:extLst>
              <a:ext uri="{FF2B5EF4-FFF2-40B4-BE49-F238E27FC236}">
                <a16:creationId xmlns:a16="http://schemas.microsoft.com/office/drawing/2014/main" id="{BBDE7A69-6D30-8031-5547-6F874C40BF8C}"/>
              </a:ext>
            </a:extLst>
          </p:cNvPr>
          <p:cNvSpPr txBox="1">
            <a:spLocks/>
          </p:cNvSpPr>
          <p:nvPr/>
        </p:nvSpPr>
        <p:spPr>
          <a:xfrm>
            <a:off x="295306" y="1456653"/>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600" b="1" i="0" u="none" strike="noStrike" kern="1200" cap="none" spc="0" normalizeH="0" baseline="0" noProof="0" dirty="0">
                <a:ln>
                  <a:noFill/>
                </a:ln>
                <a:solidFill>
                  <a:srgbClr val="021836"/>
                </a:solidFill>
                <a:effectLst/>
                <a:uLnTx/>
                <a:uFillTx/>
                <a:latin typeface="Aptos" panose="02110004020202020204"/>
                <a:ea typeface="+mn-ea"/>
                <a:cs typeface="+mn-cs"/>
              </a:rPr>
              <a:t>Opportunity: </a:t>
            </a:r>
            <a:r>
              <a:rPr kumimoji="0" lang="en-US" sz="1600" i="0" u="none" strike="noStrike" kern="1200" cap="none" spc="0" normalizeH="0" baseline="0" noProof="0" dirty="0">
                <a:ln>
                  <a:noFill/>
                </a:ln>
                <a:solidFill>
                  <a:srgbClr val="021836"/>
                </a:solidFill>
                <a:effectLst/>
                <a:uLnTx/>
                <a:uFillTx/>
                <a:latin typeface="Aptos" panose="02110004020202020204"/>
                <a:ea typeface="+mn-ea"/>
                <a:cs typeface="+mn-cs"/>
              </a:rPr>
              <a:t>Meeting Summary Assistant</a:t>
            </a:r>
          </a:p>
        </p:txBody>
      </p:sp>
      <p:sp>
        <p:nvSpPr>
          <p:cNvPr id="9" name="Content Placeholder 2">
            <a:extLst>
              <a:ext uri="{FF2B5EF4-FFF2-40B4-BE49-F238E27FC236}">
                <a16:creationId xmlns:a16="http://schemas.microsoft.com/office/drawing/2014/main" id="{E275B4CB-735A-C66D-9392-D29DD89C603E}"/>
              </a:ext>
            </a:extLst>
          </p:cNvPr>
          <p:cNvSpPr txBox="1">
            <a:spLocks/>
          </p:cNvSpPr>
          <p:nvPr/>
        </p:nvSpPr>
        <p:spPr>
          <a:xfrm>
            <a:off x="317078" y="1061987"/>
            <a:ext cx="7886700" cy="299244"/>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lang="en-US" sz="1200" i="1" dirty="0">
                <a:solidFill>
                  <a:prstClr val="white">
                    <a:lumMod val="50000"/>
                  </a:prstClr>
                </a:solidFill>
                <a:latin typeface="Aptos" panose="02110004020202020204"/>
              </a:rPr>
              <a:t>Illustrating the framework in practice</a:t>
            </a:r>
            <a:endPar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endParaRPr>
          </a:p>
        </p:txBody>
      </p:sp>
      <p:graphicFrame>
        <p:nvGraphicFramePr>
          <p:cNvPr id="15" name="Table 14">
            <a:extLst>
              <a:ext uri="{FF2B5EF4-FFF2-40B4-BE49-F238E27FC236}">
                <a16:creationId xmlns:a16="http://schemas.microsoft.com/office/drawing/2014/main" id="{9B1EA67E-F289-87C1-F433-FA009AA5D3F5}"/>
              </a:ext>
            </a:extLst>
          </p:cNvPr>
          <p:cNvGraphicFramePr>
            <a:graphicFrameLocks noGrp="1"/>
          </p:cNvGraphicFramePr>
          <p:nvPr/>
        </p:nvGraphicFramePr>
        <p:xfrm>
          <a:off x="317078" y="1804089"/>
          <a:ext cx="8218714" cy="2495565"/>
        </p:xfrm>
        <a:graphic>
          <a:graphicData uri="http://schemas.openxmlformats.org/drawingml/2006/table">
            <a:tbl>
              <a:tblPr firstRow="1" bandRow="1">
                <a:tableStyleId>{2D5ABB26-0587-4C30-8999-92F81FD0307C}</a:tableStyleId>
              </a:tblPr>
              <a:tblGrid>
                <a:gridCol w="3144579">
                  <a:extLst>
                    <a:ext uri="{9D8B030D-6E8A-4147-A177-3AD203B41FA5}">
                      <a16:colId xmlns:a16="http://schemas.microsoft.com/office/drawing/2014/main" val="2470210094"/>
                    </a:ext>
                  </a:extLst>
                </a:gridCol>
                <a:gridCol w="5074135">
                  <a:extLst>
                    <a:ext uri="{9D8B030D-6E8A-4147-A177-3AD203B41FA5}">
                      <a16:colId xmlns:a16="http://schemas.microsoft.com/office/drawing/2014/main" val="72878264"/>
                    </a:ext>
                  </a:extLst>
                </a:gridCol>
              </a:tblGrid>
              <a:tr h="295885">
                <a:tc>
                  <a:txBody>
                    <a:bodyPr/>
                    <a:lstStyle/>
                    <a:p>
                      <a:r>
                        <a:rPr lang="en-US" sz="1400" b="1" dirty="0">
                          <a:solidFill>
                            <a:srgbClr val="021836"/>
                          </a:solidFill>
                        </a:rPr>
                        <a:t>Decision Area</a:t>
                      </a:r>
                    </a:p>
                  </a:txBody>
                  <a:tcPr marT="27432" marB="27432">
                    <a:lnR w="12700" cap="flat" cmpd="sng" algn="ctr">
                      <a:solidFill>
                        <a:schemeClr val="bg1">
                          <a:lumMod val="75000"/>
                        </a:schemeClr>
                      </a:solidFill>
                      <a:prstDash val="solid"/>
                      <a:round/>
                      <a:headEnd type="none" w="med" len="med"/>
                      <a:tailEnd type="none" w="med" len="med"/>
                    </a:lnR>
                    <a:lnB w="12700" cap="flat" cmpd="sng" algn="ctr">
                      <a:solidFill>
                        <a:srgbClr val="0396A6"/>
                      </a:solidFill>
                      <a:prstDash val="solid"/>
                      <a:round/>
                      <a:headEnd type="none" w="med" len="med"/>
                      <a:tailEnd type="none" w="med" len="med"/>
                    </a:lnB>
                  </a:tcPr>
                </a:tc>
                <a:tc>
                  <a:txBody>
                    <a:bodyPr/>
                    <a:lstStyle/>
                    <a:p>
                      <a:r>
                        <a:rPr lang="en-US" sz="1400" b="1" dirty="0">
                          <a:solidFill>
                            <a:srgbClr val="021836"/>
                          </a:solidFill>
                        </a:rPr>
                        <a:t>Proposed Design Summary</a:t>
                      </a:r>
                    </a:p>
                  </a:txBody>
                  <a:tcPr marT="27432" marB="27432">
                    <a:lnL w="12700" cap="flat" cmpd="sng" algn="ctr">
                      <a:solidFill>
                        <a:schemeClr val="bg1">
                          <a:lumMod val="75000"/>
                        </a:schemeClr>
                      </a:solidFill>
                      <a:prstDash val="solid"/>
                      <a:round/>
                      <a:headEnd type="none" w="med" len="med"/>
                      <a:tailEnd type="none" w="med" len="med"/>
                    </a:lnL>
                    <a:lnB w="12700" cap="flat" cmpd="sng" algn="ctr">
                      <a:solidFill>
                        <a:srgbClr val="0396A6"/>
                      </a:solidFill>
                      <a:prstDash val="solid"/>
                      <a:round/>
                      <a:headEnd type="none" w="med" len="med"/>
                      <a:tailEnd type="none" w="med" len="med"/>
                    </a:lnB>
                  </a:tcPr>
                </a:tc>
                <a:extLst>
                  <a:ext uri="{0D108BD9-81ED-4DB2-BD59-A6C34878D82A}">
                    <a16:rowId xmlns:a16="http://schemas.microsoft.com/office/drawing/2014/main" val="2061593276"/>
                  </a:ext>
                </a:extLst>
              </a:tr>
              <a:tr h="314240">
                <a:tc>
                  <a:txBody>
                    <a:bodyPr/>
                    <a:lstStyle/>
                    <a:p>
                      <a:pPr>
                        <a:buClr>
                          <a:schemeClr val="bg1">
                            <a:lumMod val="50000"/>
                          </a:schemeClr>
                        </a:buClr>
                      </a:pPr>
                      <a:r>
                        <a:rPr lang="en-US" sz="1200" b="1" dirty="0">
                          <a:solidFill>
                            <a:srgbClr val="021836"/>
                          </a:solidFill>
                        </a:rPr>
                        <a:t>Review</a:t>
                      </a:r>
                      <a:endParaRPr lang="en-US" sz="1200" dirty="0"/>
                    </a:p>
                  </a:txBody>
                  <a:tcPr marT="27432" marB="27432">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200" dirty="0"/>
                        <a:t>Manager verifies summaries</a:t>
                      </a:r>
                    </a:p>
                  </a:txBody>
                  <a:tcPr marT="27432" marB="27432">
                    <a:lnL w="12700" cap="flat" cmpd="sng" algn="ctr">
                      <a:solidFill>
                        <a:schemeClr val="bg1">
                          <a:lumMod val="75000"/>
                        </a:schemeClr>
                      </a:solidFill>
                      <a:prstDash val="solid"/>
                      <a:round/>
                      <a:headEnd type="none" w="med" len="med"/>
                      <a:tailEnd type="none" w="med" len="med"/>
                    </a:lnL>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493753442"/>
                  </a:ext>
                </a:extLst>
              </a:tr>
              <a:tr h="314240">
                <a:tc>
                  <a:txBody>
                    <a:bodyPr/>
                    <a:lstStyle/>
                    <a:p>
                      <a:pPr>
                        <a:buClr>
                          <a:schemeClr val="bg1">
                            <a:lumMod val="50000"/>
                          </a:schemeClr>
                        </a:buClr>
                      </a:pPr>
                      <a:r>
                        <a:rPr lang="en-US" sz="1200" b="1" dirty="0">
                          <a:solidFill>
                            <a:srgbClr val="021836"/>
                          </a:solidFill>
                        </a:rPr>
                        <a:t>Approval</a:t>
                      </a:r>
                    </a:p>
                  </a:txBody>
                  <a:tcPr marT="27432" marB="27432">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200" dirty="0"/>
                        <a:t>Manager approves distribution</a:t>
                      </a:r>
                    </a:p>
                  </a:txBody>
                  <a:tcPr marT="27432" marB="27432">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23325965"/>
                  </a:ext>
                </a:extLst>
              </a:tr>
              <a:tr h="314240">
                <a:tc>
                  <a:txBody>
                    <a:bodyPr/>
                    <a:lstStyle/>
                    <a:p>
                      <a:pPr>
                        <a:buClr>
                          <a:schemeClr val="bg1">
                            <a:lumMod val="50000"/>
                          </a:schemeClr>
                        </a:buClr>
                      </a:pPr>
                      <a:r>
                        <a:rPr lang="en-US" sz="1200" b="1" dirty="0">
                          <a:solidFill>
                            <a:srgbClr val="021836"/>
                          </a:solidFill>
                        </a:rPr>
                        <a:t>Escalation</a:t>
                      </a:r>
                    </a:p>
                  </a:txBody>
                  <a:tcPr marT="27432" marB="27432">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200" dirty="0"/>
                        <a:t>Sensitive topics escalate to HR</a:t>
                      </a:r>
                    </a:p>
                  </a:txBody>
                  <a:tcPr marT="27432" marB="27432">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845834834"/>
                  </a:ext>
                </a:extLst>
              </a:tr>
              <a:tr h="314240">
                <a:tc>
                  <a:txBody>
                    <a:bodyPr/>
                    <a:lstStyle/>
                    <a:p>
                      <a:pPr>
                        <a:buClr>
                          <a:schemeClr val="bg1">
                            <a:lumMod val="50000"/>
                          </a:schemeClr>
                        </a:buClr>
                      </a:pPr>
                      <a:r>
                        <a:rPr lang="en-US" sz="1200" b="1" dirty="0">
                          <a:solidFill>
                            <a:srgbClr val="021836"/>
                          </a:solidFill>
                        </a:rPr>
                        <a:t>Intervention Authority</a:t>
                      </a:r>
                    </a:p>
                  </a:txBody>
                  <a:tcPr marT="27432" marB="27432">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200" dirty="0"/>
                        <a:t>Manager may disable AI assistance</a:t>
                      </a:r>
                    </a:p>
                  </a:txBody>
                  <a:tcPr marT="27432" marB="27432">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012176639"/>
                  </a:ext>
                </a:extLst>
              </a:tr>
              <a:tr h="314240">
                <a:tc>
                  <a:txBody>
                    <a:bodyPr/>
                    <a:lstStyle/>
                    <a:p>
                      <a:pPr>
                        <a:buClr>
                          <a:schemeClr val="bg1">
                            <a:lumMod val="50000"/>
                          </a:schemeClr>
                        </a:buClr>
                      </a:pPr>
                      <a:r>
                        <a:rPr lang="en-US" sz="1200" b="1" dirty="0">
                          <a:solidFill>
                            <a:srgbClr val="021836"/>
                          </a:solidFill>
                        </a:rPr>
                        <a:t>Accountability</a:t>
                      </a:r>
                    </a:p>
                  </a:txBody>
                  <a:tcPr marT="27432" marB="27432">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200" dirty="0"/>
                        <a:t>Manager remains accountable for communication quality</a:t>
                      </a:r>
                    </a:p>
                  </a:txBody>
                  <a:tcPr marT="27432" marB="27432">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567521445"/>
                  </a:ext>
                </a:extLst>
              </a:tr>
              <a:tr h="314240">
                <a:tc>
                  <a:txBody>
                    <a:bodyPr/>
                    <a:lstStyle/>
                    <a:p>
                      <a:pPr>
                        <a:buClr>
                          <a:schemeClr val="bg1">
                            <a:lumMod val="50000"/>
                          </a:schemeClr>
                        </a:buClr>
                      </a:pPr>
                      <a:r>
                        <a:rPr lang="en-US" sz="1200" b="1">
                          <a:solidFill>
                            <a:srgbClr val="021836"/>
                          </a:solidFill>
                        </a:rPr>
                        <a:t>Lifecycle Decision Authority</a:t>
                      </a:r>
                      <a:endParaRPr lang="en-US" sz="1200" b="1" dirty="0">
                        <a:solidFill>
                          <a:srgbClr val="021836"/>
                        </a:solidFill>
                      </a:endParaRPr>
                    </a:p>
                  </a:txBody>
                  <a:tcPr marT="27432" marB="27432">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200" dirty="0"/>
                        <a:t>Director determines expansion to additional teams</a:t>
                      </a:r>
                    </a:p>
                  </a:txBody>
                  <a:tcPr marT="27432" marB="27432">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16636000"/>
                  </a:ext>
                </a:extLst>
              </a:tr>
              <a:tr h="314240">
                <a:tc>
                  <a:txBody>
                    <a:bodyPr/>
                    <a:lstStyle/>
                    <a:p>
                      <a:pPr>
                        <a:buClr>
                          <a:schemeClr val="bg1">
                            <a:lumMod val="50000"/>
                          </a:schemeClr>
                        </a:buClr>
                      </a:pPr>
                      <a:r>
                        <a:rPr lang="en-US" sz="1200" b="1" dirty="0">
                          <a:solidFill>
                            <a:srgbClr val="021836"/>
                          </a:solidFill>
                        </a:rPr>
                        <a:t>Authority Modification / Restoration</a:t>
                      </a:r>
                    </a:p>
                  </a:txBody>
                  <a:tcPr marT="27432" marB="27432">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tcPr>
                </a:tc>
                <a:tc>
                  <a:txBody>
                    <a:bodyPr/>
                    <a:lstStyle/>
                    <a:p>
                      <a:r>
                        <a:rPr lang="en-US" sz="1200" dirty="0"/>
                        <a:t>System owner authorizes restoration or changes to AI operating authority.</a:t>
                      </a:r>
                    </a:p>
                  </a:txBody>
                  <a:tcPr marT="27432" marB="27432">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tcPr>
                </a:tc>
                <a:extLst>
                  <a:ext uri="{0D108BD9-81ED-4DB2-BD59-A6C34878D82A}">
                    <a16:rowId xmlns:a16="http://schemas.microsoft.com/office/drawing/2014/main" val="1987755915"/>
                  </a:ext>
                </a:extLst>
              </a:tr>
            </a:tbl>
          </a:graphicData>
        </a:graphic>
      </p:graphicFrame>
      <p:grpSp>
        <p:nvGrpSpPr>
          <p:cNvPr id="3" name="Group 2">
            <a:extLst>
              <a:ext uri="{FF2B5EF4-FFF2-40B4-BE49-F238E27FC236}">
                <a16:creationId xmlns:a16="http://schemas.microsoft.com/office/drawing/2014/main" id="{D9775A52-848F-D50F-A41D-5C37DFD3E67E}"/>
              </a:ext>
            </a:extLst>
          </p:cNvPr>
          <p:cNvGrpSpPr/>
          <p:nvPr/>
        </p:nvGrpSpPr>
        <p:grpSpPr>
          <a:xfrm>
            <a:off x="317078" y="5774207"/>
            <a:ext cx="7886700" cy="595537"/>
            <a:chOff x="628650" y="4778376"/>
            <a:chExt cx="7886700" cy="595537"/>
          </a:xfrm>
        </p:grpSpPr>
        <p:sp>
          <p:nvSpPr>
            <p:cNvPr id="4" name="Content Placeholder 2">
              <a:extLst>
                <a:ext uri="{FF2B5EF4-FFF2-40B4-BE49-F238E27FC236}">
                  <a16:creationId xmlns:a16="http://schemas.microsoft.com/office/drawing/2014/main" id="{A31EEF3A-C6D2-F8F2-8B70-5A055D8D26B0}"/>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Guiding Principle</a:t>
              </a:r>
            </a:p>
          </p:txBody>
        </p:sp>
        <p:sp>
          <p:nvSpPr>
            <p:cNvPr id="6" name="Content Placeholder 2">
              <a:extLst>
                <a:ext uri="{FF2B5EF4-FFF2-40B4-BE49-F238E27FC236}">
                  <a16:creationId xmlns:a16="http://schemas.microsoft.com/office/drawing/2014/main" id="{88385E0A-70DA-525E-6AFA-C0581A2D771C}"/>
                </a:ext>
              </a:extLst>
            </p:cNvPr>
            <p:cNvSpPr txBox="1">
              <a:spLocks/>
            </p:cNvSpPr>
            <p:nvPr/>
          </p:nvSpPr>
          <p:spPr>
            <a:xfrm>
              <a:off x="628650" y="5032601"/>
              <a:ext cx="7886700" cy="341312"/>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kumimoji="0" lang="en-US" sz="1200" b="0" i="0" u="none" strike="noStrike" kern="1200" cap="none" spc="0" normalizeH="0" baseline="0" noProof="0" dirty="0">
                  <a:ln>
                    <a:noFill/>
                  </a:ln>
                  <a:solidFill>
                    <a:srgbClr val="021836"/>
                  </a:solidFill>
                  <a:effectLst/>
                  <a:uLnTx/>
                  <a:uFillTx/>
                  <a:latin typeface="Aptos" panose="02110004020202020204"/>
                  <a:ea typeface="+mn-ea"/>
                  <a:cs typeface="+mn-cs"/>
                </a:rPr>
                <a:t>Decision rights should be defined before AI-enabled work begins.</a:t>
              </a:r>
              <a:endPar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endParaRPr>
            </a:p>
          </p:txBody>
        </p:sp>
      </p:grpSp>
      <p:cxnSp>
        <p:nvCxnSpPr>
          <p:cNvPr id="8" name="Straight Connector 7">
            <a:extLst>
              <a:ext uri="{FF2B5EF4-FFF2-40B4-BE49-F238E27FC236}">
                <a16:creationId xmlns:a16="http://schemas.microsoft.com/office/drawing/2014/main" id="{E8CD09B8-BA71-66E7-19DA-0D9FE5DA33C4}"/>
              </a:ext>
            </a:extLst>
          </p:cNvPr>
          <p:cNvCxnSpPr>
            <a:cxnSpLocks/>
          </p:cNvCxnSpPr>
          <p:nvPr/>
        </p:nvCxnSpPr>
        <p:spPr>
          <a:xfrm>
            <a:off x="273534" y="5621360"/>
            <a:ext cx="8699016" cy="0"/>
          </a:xfrm>
          <a:prstGeom prst="line">
            <a:avLst/>
          </a:prstGeom>
          <a:ln w="9525">
            <a:solidFill>
              <a:srgbClr val="0396A6"/>
            </a:solidFill>
          </a:ln>
        </p:spPr>
        <p:style>
          <a:lnRef idx="2">
            <a:schemeClr val="accent1"/>
          </a:lnRef>
          <a:fillRef idx="0">
            <a:schemeClr val="accent1"/>
          </a:fillRef>
          <a:effectRef idx="1">
            <a:schemeClr val="accent1"/>
          </a:effectRef>
          <a:fontRef idx="minor">
            <a:schemeClr val="tx1"/>
          </a:fontRef>
        </p:style>
      </p:cxnSp>
      <p:grpSp>
        <p:nvGrpSpPr>
          <p:cNvPr id="11" name="Group 10">
            <a:extLst>
              <a:ext uri="{FF2B5EF4-FFF2-40B4-BE49-F238E27FC236}">
                <a16:creationId xmlns:a16="http://schemas.microsoft.com/office/drawing/2014/main" id="{0CF66195-2D51-CCDB-4D55-CEAB9FE4617E}"/>
              </a:ext>
            </a:extLst>
          </p:cNvPr>
          <p:cNvGrpSpPr/>
          <p:nvPr/>
        </p:nvGrpSpPr>
        <p:grpSpPr>
          <a:xfrm>
            <a:off x="317078" y="4347045"/>
            <a:ext cx="7886700" cy="595537"/>
            <a:chOff x="628650" y="4778376"/>
            <a:chExt cx="7886700" cy="595537"/>
          </a:xfrm>
        </p:grpSpPr>
        <p:sp>
          <p:nvSpPr>
            <p:cNvPr id="12" name="Content Placeholder 2">
              <a:extLst>
                <a:ext uri="{FF2B5EF4-FFF2-40B4-BE49-F238E27FC236}">
                  <a16:creationId xmlns:a16="http://schemas.microsoft.com/office/drawing/2014/main" id="{D51BF9BE-C54D-5518-EE8C-6D7846CED27E}"/>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AI Action Boundary</a:t>
              </a:r>
            </a:p>
          </p:txBody>
        </p:sp>
        <p:sp>
          <p:nvSpPr>
            <p:cNvPr id="13" name="Content Placeholder 2">
              <a:extLst>
                <a:ext uri="{FF2B5EF4-FFF2-40B4-BE49-F238E27FC236}">
                  <a16:creationId xmlns:a16="http://schemas.microsoft.com/office/drawing/2014/main" id="{CFBD0AF1-DED0-66E9-8964-12F7201B5DD2}"/>
                </a:ext>
              </a:extLst>
            </p:cNvPr>
            <p:cNvSpPr txBox="1">
              <a:spLocks/>
            </p:cNvSpPr>
            <p:nvPr/>
          </p:nvSpPr>
          <p:spPr>
            <a:xfrm>
              <a:off x="628650" y="5032601"/>
              <a:ext cx="7886700" cy="341312"/>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kumimoji="0" lang="en-US" sz="1200" b="0" i="0" u="none" strike="noStrike" kern="1200" cap="none" spc="0" normalizeH="0" baseline="0" noProof="0" dirty="0">
                  <a:ln>
                    <a:noFill/>
                  </a:ln>
                  <a:solidFill>
                    <a:srgbClr val="021836"/>
                  </a:solidFill>
                  <a:effectLst/>
                  <a:uLnTx/>
                  <a:uFillTx/>
                  <a:latin typeface="Aptos" panose="02110004020202020204"/>
                  <a:ea typeface="+mn-ea"/>
                  <a:cs typeface="+mn-cs"/>
                </a:rPr>
                <a:t>What may AI do without additional authorization?</a:t>
              </a:r>
              <a:endParaRPr lang="en-US" sz="1200" dirty="0">
                <a:solidFill>
                  <a:srgbClr val="021836"/>
                </a:solidFill>
                <a:latin typeface="Aptos" panose="02110004020202020204"/>
              </a:endParaRPr>
            </a:p>
            <a:p>
              <a:pPr>
                <a:spcBef>
                  <a:spcPts val="600"/>
                </a:spcBef>
                <a:buClr>
                  <a:srgbClr val="021836"/>
                </a:buClr>
                <a:defRPr/>
              </a:pPr>
              <a:r>
                <a:rPr kumimoji="0" lang="en-US" sz="1200" b="1" u="none" strike="noStrike" kern="1200" cap="none" spc="0" normalizeH="0" baseline="0" noProof="0" dirty="0">
                  <a:ln>
                    <a:noFill/>
                  </a:ln>
                  <a:solidFill>
                    <a:srgbClr val="021836"/>
                  </a:solidFill>
                  <a:effectLst/>
                  <a:uLnTx/>
                  <a:uFillTx/>
                  <a:latin typeface="Aptos" panose="02110004020202020204"/>
                  <a:ea typeface="+mn-ea"/>
                  <a:cs typeface="+mn-cs"/>
                </a:rPr>
                <a:t>Action Level:</a:t>
              </a:r>
              <a:r>
                <a:rPr kumimoji="0" lang="en-US" sz="1200" b="0" u="none" strike="noStrike" kern="1200" cap="none" spc="0" normalizeH="0" baseline="0" noProof="0" dirty="0">
                  <a:ln>
                    <a:noFill/>
                  </a:ln>
                  <a:solidFill>
                    <a:srgbClr val="021836"/>
                  </a:solidFill>
                  <a:effectLst/>
                  <a:uLnTx/>
                  <a:uFillTx/>
                  <a:latin typeface="Aptos" panose="02110004020202020204"/>
                  <a:ea typeface="+mn-ea"/>
                  <a:cs typeface="+mn-cs"/>
                </a:rPr>
                <a:t> </a:t>
              </a:r>
              <a:r>
                <a:rPr lang="en-US" sz="1200" i="1" dirty="0"/>
                <a:t>Inform</a:t>
              </a:r>
              <a:endParaRPr kumimoji="0" lang="en-US" sz="1200" b="0" u="none" strike="noStrike" kern="1200" cap="none" spc="0" normalizeH="0" baseline="0" noProof="0" dirty="0">
                <a:ln>
                  <a:noFill/>
                </a:ln>
                <a:effectLst/>
                <a:uLnTx/>
                <a:uFillTx/>
                <a:latin typeface="Aptos" panose="02110004020202020204"/>
                <a:ea typeface="+mn-ea"/>
                <a:cs typeface="+mn-cs"/>
              </a:endParaRPr>
            </a:p>
            <a:p>
              <a:pPr>
                <a:spcBef>
                  <a:spcPts val="600"/>
                </a:spcBef>
                <a:buClr>
                  <a:srgbClr val="021836"/>
                </a:buClr>
                <a:defRPr/>
              </a:pPr>
              <a:r>
                <a:rPr kumimoji="0" lang="en-US" sz="1200" b="1" u="none" strike="noStrike" kern="1200" cap="none" spc="0" normalizeH="0" baseline="0" noProof="0" dirty="0">
                  <a:ln>
                    <a:noFill/>
                  </a:ln>
                  <a:solidFill>
                    <a:srgbClr val="021836"/>
                  </a:solidFill>
                  <a:effectLst/>
                  <a:uLnTx/>
                  <a:uFillTx/>
                  <a:latin typeface="Aptos" panose="02110004020202020204"/>
                  <a:ea typeface="+mn-ea"/>
                  <a:cs typeface="+mn-cs"/>
                </a:rPr>
                <a:t>Permitted Action Boundary: </a:t>
              </a:r>
              <a:r>
                <a:rPr kumimoji="0" lang="en-US" sz="1200" b="0" u="none" strike="noStrike" kern="1200" cap="none" spc="0" normalizeH="0" baseline="0" noProof="0" dirty="0">
                  <a:ln>
                    <a:noFill/>
                  </a:ln>
                  <a:solidFill>
                    <a:srgbClr val="021836"/>
                  </a:solidFill>
                  <a:effectLst/>
                  <a:uLnTx/>
                  <a:uFillTx/>
                  <a:latin typeface="Aptos" panose="02110004020202020204"/>
                  <a:ea typeface="+mn-ea"/>
                  <a:cs typeface="+mn-cs"/>
                </a:rPr>
                <a:t>AI may draft summaries and action items but may not distribute them without human authorization.</a:t>
              </a:r>
              <a:endParaRPr kumimoji="0" lang="en-US" sz="1200" b="0" i="1" u="none" strike="noStrike" kern="1200" cap="none" spc="0" normalizeH="0" baseline="0" noProof="0" dirty="0">
                <a:ln>
                  <a:noFill/>
                </a:ln>
                <a:solidFill>
                  <a:schemeClr val="bg1">
                    <a:lumMod val="65000"/>
                  </a:schemeClr>
                </a:solidFill>
                <a:effectLst/>
                <a:uLnTx/>
                <a:uFillTx/>
                <a:latin typeface="Aptos" panose="02110004020202020204"/>
                <a:ea typeface="+mn-ea"/>
                <a:cs typeface="+mn-cs"/>
              </a:endParaRPr>
            </a:p>
          </p:txBody>
        </p:sp>
      </p:grpSp>
      <p:sp>
        <p:nvSpPr>
          <p:cNvPr id="10" name="TextBox 9">
            <a:extLst>
              <a:ext uri="{FF2B5EF4-FFF2-40B4-BE49-F238E27FC236}">
                <a16:creationId xmlns:a16="http://schemas.microsoft.com/office/drawing/2014/main" id="{493EEA8F-DFF8-7B7C-A6A2-3BD3F1CD3E3F}"/>
              </a:ext>
            </a:extLst>
          </p:cNvPr>
          <p:cNvSpPr txBox="1"/>
          <p:nvPr/>
        </p:nvSpPr>
        <p:spPr>
          <a:xfrm>
            <a:off x="4408714" y="64309"/>
            <a:ext cx="4628748" cy="276999"/>
          </a:xfrm>
          <a:prstGeom prst="rect">
            <a:avLst/>
          </a:prstGeom>
          <a:noFill/>
        </p:spPr>
        <p:txBody>
          <a:bodyPr wrap="square" rtlCol="0">
            <a:spAutoFit/>
          </a:bodyPr>
          <a:lstStyle/>
          <a:p>
            <a:pPr algn="r"/>
            <a:r>
              <a:rPr lang="en-US" sz="1200" dirty="0">
                <a:solidFill>
                  <a:schemeClr val="bg1">
                    <a:lumMod val="50000"/>
                  </a:schemeClr>
                </a:solidFill>
              </a:rPr>
              <a:t>AI Operational Readiness • Decision Rights Framework</a:t>
            </a:r>
          </a:p>
        </p:txBody>
      </p:sp>
    </p:spTree>
    <p:extLst>
      <p:ext uri="{BB962C8B-B14F-4D97-AF65-F5344CB8AC3E}">
        <p14:creationId xmlns:p14="http://schemas.microsoft.com/office/powerpoint/2010/main" val="357492231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671BA3-B71C-0F6C-5DCC-2BDE8C41B7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743337-A53D-43FB-1D3A-AFB5942472E9}"/>
              </a:ext>
            </a:extLst>
          </p:cNvPr>
          <p:cNvSpPr>
            <a:spLocks noGrp="1"/>
          </p:cNvSpPr>
          <p:nvPr>
            <p:ph type="title"/>
          </p:nvPr>
        </p:nvSpPr>
        <p:spPr>
          <a:xfrm>
            <a:off x="273534" y="324739"/>
            <a:ext cx="7886700" cy="1325563"/>
          </a:xfrm>
        </p:spPr>
        <p:txBody>
          <a:bodyPr/>
          <a:lstStyle/>
          <a:p>
            <a:r>
              <a:rPr lang="en-US" dirty="0"/>
              <a:t>Decision Rights in the AI Operational Readiness Journey</a:t>
            </a:r>
          </a:p>
        </p:txBody>
      </p:sp>
      <p:graphicFrame>
        <p:nvGraphicFramePr>
          <p:cNvPr id="3" name="Table 2">
            <a:extLst>
              <a:ext uri="{FF2B5EF4-FFF2-40B4-BE49-F238E27FC236}">
                <a16:creationId xmlns:a16="http://schemas.microsoft.com/office/drawing/2014/main" id="{F077FEE6-14AC-D53C-ECBB-41DA8ED12E5B}"/>
              </a:ext>
            </a:extLst>
          </p:cNvPr>
          <p:cNvGraphicFramePr>
            <a:graphicFrameLocks noGrp="1"/>
          </p:cNvGraphicFramePr>
          <p:nvPr/>
        </p:nvGraphicFramePr>
        <p:xfrm>
          <a:off x="273534" y="1765718"/>
          <a:ext cx="3102428" cy="4747850"/>
        </p:xfrm>
        <a:graphic>
          <a:graphicData uri="http://schemas.openxmlformats.org/drawingml/2006/table">
            <a:tbl>
              <a:tblPr firstRow="1" bandRow="1">
                <a:tableStyleId>{2D5ABB26-0587-4C30-8999-92F81FD0307C}</a:tableStyleId>
              </a:tblPr>
              <a:tblGrid>
                <a:gridCol w="3102428">
                  <a:extLst>
                    <a:ext uri="{9D8B030D-6E8A-4147-A177-3AD203B41FA5}">
                      <a16:colId xmlns:a16="http://schemas.microsoft.com/office/drawing/2014/main" val="2240749041"/>
                    </a:ext>
                  </a:extLst>
                </a:gridCol>
              </a:tblGrid>
              <a:tr h="349817">
                <a:tc>
                  <a:txBody>
                    <a:bodyPr/>
                    <a:lstStyle/>
                    <a:p>
                      <a:pPr algn="ctr"/>
                      <a:r>
                        <a:rPr lang="en-US" sz="1400" b="1" dirty="0">
                          <a:solidFill>
                            <a:schemeClr val="tx1"/>
                          </a:solidFill>
                        </a:rPr>
                        <a:t>Discovery</a:t>
                      </a:r>
                      <a:endParaRPr lang="en-US" sz="1400" dirty="0">
                        <a:solidFill>
                          <a:schemeClr val="tx1"/>
                        </a:solidFill>
                      </a:endParaRPr>
                    </a:p>
                  </a:txBody>
                  <a:tcPr marT="18288" marB="18288"/>
                </a:tc>
                <a:extLst>
                  <a:ext uri="{0D108BD9-81ED-4DB2-BD59-A6C34878D82A}">
                    <a16:rowId xmlns:a16="http://schemas.microsoft.com/office/drawing/2014/main" val="2227360274"/>
                  </a:ext>
                </a:extLst>
              </a:tr>
              <a:tr h="187111">
                <a:tc>
                  <a:txBody>
                    <a:bodyPr/>
                    <a:lstStyle/>
                    <a:p>
                      <a:pPr algn="ctr"/>
                      <a:r>
                        <a:rPr lang="en-US" sz="1400" dirty="0">
                          <a:solidFill>
                            <a:schemeClr val="tx1"/>
                          </a:solidFill>
                        </a:rPr>
                        <a:t>↓</a:t>
                      </a:r>
                    </a:p>
                  </a:txBody>
                  <a:tcPr marT="18288" marB="18288"/>
                </a:tc>
                <a:extLst>
                  <a:ext uri="{0D108BD9-81ED-4DB2-BD59-A6C34878D82A}">
                    <a16:rowId xmlns:a16="http://schemas.microsoft.com/office/drawing/2014/main" val="3140674848"/>
                  </a:ext>
                </a:extLst>
              </a:tr>
              <a:tr h="349817">
                <a:tc>
                  <a:txBody>
                    <a:bodyPr/>
                    <a:lstStyle/>
                    <a:p>
                      <a:pPr algn="ctr"/>
                      <a:r>
                        <a:rPr lang="en-US" sz="1400" b="1" dirty="0">
                          <a:solidFill>
                            <a:schemeClr val="tx1"/>
                          </a:solidFill>
                        </a:rPr>
                        <a:t>Prioritize</a:t>
                      </a:r>
                      <a:endParaRPr lang="en-US" sz="1400" dirty="0">
                        <a:solidFill>
                          <a:schemeClr val="tx1"/>
                        </a:solidFill>
                      </a:endParaRPr>
                    </a:p>
                  </a:txBody>
                  <a:tcPr marT="18288" marB="18288"/>
                </a:tc>
                <a:extLst>
                  <a:ext uri="{0D108BD9-81ED-4DB2-BD59-A6C34878D82A}">
                    <a16:rowId xmlns:a16="http://schemas.microsoft.com/office/drawing/2014/main" val="1232233979"/>
                  </a:ext>
                </a:extLst>
              </a:tr>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a:t>
                      </a:r>
                    </a:p>
                  </a:txBody>
                  <a:tcPr marT="18288" marB="18288"/>
                </a:tc>
                <a:extLst>
                  <a:ext uri="{0D108BD9-81ED-4DB2-BD59-A6C34878D82A}">
                    <a16:rowId xmlns:a16="http://schemas.microsoft.com/office/drawing/2014/main" val="4196322439"/>
                  </a:ext>
                </a:extLst>
              </a:tr>
              <a:tr h="349817">
                <a:tc>
                  <a:txBody>
                    <a:bodyPr/>
                    <a:lstStyle/>
                    <a:p>
                      <a:pPr algn="ctr"/>
                      <a:r>
                        <a:rPr lang="en-US" sz="1400" b="1" dirty="0">
                          <a:solidFill>
                            <a:schemeClr val="tx1"/>
                          </a:solidFill>
                        </a:rPr>
                        <a:t>Classify</a:t>
                      </a:r>
                      <a:endParaRPr lang="en-US" sz="1400" dirty="0">
                        <a:solidFill>
                          <a:schemeClr val="tx1"/>
                        </a:solidFill>
                      </a:endParaRPr>
                    </a:p>
                  </a:txBody>
                  <a:tcPr marT="18288" marB="18288"/>
                </a:tc>
                <a:extLst>
                  <a:ext uri="{0D108BD9-81ED-4DB2-BD59-A6C34878D82A}">
                    <a16:rowId xmlns:a16="http://schemas.microsoft.com/office/drawing/2014/main" val="2021164355"/>
                  </a:ext>
                </a:extLst>
              </a:tr>
              <a:tr h="18711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a:t>
                      </a:r>
                    </a:p>
                  </a:txBody>
                  <a:tcPr marT="18288" marB="18288"/>
                </a:tc>
                <a:extLst>
                  <a:ext uri="{0D108BD9-81ED-4DB2-BD59-A6C34878D82A}">
                    <a16:rowId xmlns:a16="http://schemas.microsoft.com/office/drawing/2014/main" val="3482703872"/>
                  </a:ext>
                </a:extLst>
              </a:tr>
              <a:tr h="34981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chemeClr val="tx1"/>
                          </a:solidFill>
                        </a:rPr>
                        <a:t>Design</a:t>
                      </a:r>
                      <a:endParaRPr lang="en-US" sz="1400" dirty="0">
                        <a:solidFill>
                          <a:schemeClr val="tx1"/>
                        </a:solidFill>
                      </a:endParaRPr>
                    </a:p>
                  </a:txBody>
                  <a:tcPr marT="18288" marB="18288"/>
                </a:tc>
                <a:extLst>
                  <a:ext uri="{0D108BD9-81ED-4DB2-BD59-A6C34878D82A}">
                    <a16:rowId xmlns:a16="http://schemas.microsoft.com/office/drawing/2014/main" val="3132301756"/>
                  </a:ext>
                </a:extLst>
              </a:tr>
              <a:tr h="18711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a:t>
                      </a:r>
                    </a:p>
                  </a:txBody>
                  <a:tcPr marT="18288" marB="18288"/>
                </a:tc>
                <a:extLst>
                  <a:ext uri="{0D108BD9-81ED-4DB2-BD59-A6C34878D82A}">
                    <a16:rowId xmlns:a16="http://schemas.microsoft.com/office/drawing/2014/main" val="2523848684"/>
                  </a:ext>
                </a:extLst>
              </a:tr>
              <a:tr h="34981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rgbClr val="0070C0"/>
                          </a:solidFill>
                        </a:rPr>
                        <a:t>Govern</a:t>
                      </a:r>
                      <a:endParaRPr lang="en-US" sz="1400" dirty="0">
                        <a:solidFill>
                          <a:srgbClr val="0070C0"/>
                        </a:solidFill>
                      </a:endParaRPr>
                    </a:p>
                  </a:txBody>
                  <a:tcPr marT="18288" marB="18288"/>
                </a:tc>
                <a:extLst>
                  <a:ext uri="{0D108BD9-81ED-4DB2-BD59-A6C34878D82A}">
                    <a16:rowId xmlns:a16="http://schemas.microsoft.com/office/drawing/2014/main" val="1271560361"/>
                  </a:ext>
                </a:extLst>
              </a:tr>
              <a:tr h="18711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a:t>
                      </a:r>
                    </a:p>
                  </a:txBody>
                  <a:tcPr marT="18288" marB="18288"/>
                </a:tc>
                <a:extLst>
                  <a:ext uri="{0D108BD9-81ED-4DB2-BD59-A6C34878D82A}">
                    <a16:rowId xmlns:a16="http://schemas.microsoft.com/office/drawing/2014/main" val="3840834462"/>
                  </a:ext>
                </a:extLst>
              </a:tr>
              <a:tr h="34981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chemeClr val="tx1"/>
                          </a:solidFill>
                        </a:rPr>
                        <a:t>Evidence</a:t>
                      </a:r>
                      <a:endParaRPr lang="en-US" sz="1400" dirty="0">
                        <a:solidFill>
                          <a:schemeClr val="tx1"/>
                        </a:solidFill>
                      </a:endParaRPr>
                    </a:p>
                  </a:txBody>
                  <a:tcPr marT="18288" marB="18288"/>
                </a:tc>
                <a:extLst>
                  <a:ext uri="{0D108BD9-81ED-4DB2-BD59-A6C34878D82A}">
                    <a16:rowId xmlns:a16="http://schemas.microsoft.com/office/drawing/2014/main" val="3977405499"/>
                  </a:ext>
                </a:extLst>
              </a:tr>
              <a:tr h="34981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a:t>
                      </a:r>
                    </a:p>
                  </a:txBody>
                  <a:tcPr marT="18288" marB="18288"/>
                </a:tc>
                <a:extLst>
                  <a:ext uri="{0D108BD9-81ED-4DB2-BD59-A6C34878D82A}">
                    <a16:rowId xmlns:a16="http://schemas.microsoft.com/office/drawing/2014/main" val="4024254032"/>
                  </a:ext>
                </a:extLst>
              </a:tr>
              <a:tr h="34981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chemeClr val="tx1"/>
                          </a:solidFill>
                        </a:rPr>
                        <a:t>Prepare</a:t>
                      </a:r>
                    </a:p>
                  </a:txBody>
                  <a:tcPr marT="18288" marB="18288"/>
                </a:tc>
                <a:extLst>
                  <a:ext uri="{0D108BD9-81ED-4DB2-BD59-A6C34878D82A}">
                    <a16:rowId xmlns:a16="http://schemas.microsoft.com/office/drawing/2014/main" val="1841148710"/>
                  </a:ext>
                </a:extLst>
              </a:tr>
              <a:tr h="34981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chemeClr val="tx1"/>
                          </a:solidFill>
                        </a:rPr>
                        <a:t>↓</a:t>
                      </a:r>
                    </a:p>
                  </a:txBody>
                  <a:tcPr marT="18288" marB="18288"/>
                </a:tc>
                <a:extLst>
                  <a:ext uri="{0D108BD9-81ED-4DB2-BD59-A6C34878D82A}">
                    <a16:rowId xmlns:a16="http://schemas.microsoft.com/office/drawing/2014/main" val="2281468039"/>
                  </a:ext>
                </a:extLst>
              </a:tr>
              <a:tr h="34981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chemeClr val="tx1"/>
                          </a:solidFill>
                        </a:rPr>
                        <a:t>Operate</a:t>
                      </a:r>
                    </a:p>
                  </a:txBody>
                  <a:tcPr marT="18288" marB="18288"/>
                </a:tc>
                <a:extLst>
                  <a:ext uri="{0D108BD9-81ED-4DB2-BD59-A6C34878D82A}">
                    <a16:rowId xmlns:a16="http://schemas.microsoft.com/office/drawing/2014/main" val="1860986635"/>
                  </a:ext>
                </a:extLst>
              </a:tr>
            </a:tbl>
          </a:graphicData>
        </a:graphic>
      </p:graphicFrame>
      <p:sp>
        <p:nvSpPr>
          <p:cNvPr id="6" name="Content Placeholder 2">
            <a:extLst>
              <a:ext uri="{FF2B5EF4-FFF2-40B4-BE49-F238E27FC236}">
                <a16:creationId xmlns:a16="http://schemas.microsoft.com/office/drawing/2014/main" id="{42374ECB-0E6B-6C2C-B8D6-372F53C130C9}"/>
              </a:ext>
            </a:extLst>
          </p:cNvPr>
          <p:cNvSpPr txBox="1">
            <a:spLocks/>
          </p:cNvSpPr>
          <p:nvPr/>
        </p:nvSpPr>
        <p:spPr>
          <a:xfrm>
            <a:off x="5027305" y="3788232"/>
            <a:ext cx="3522204" cy="685800"/>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prstClr val="white">
                  <a:lumMod val="50000"/>
                </a:prstClr>
              </a:buClr>
              <a:buSzTx/>
              <a:buNone/>
              <a:tabLst/>
              <a:defRPr/>
            </a:pPr>
            <a:r>
              <a:rPr kumimoji="0" lang="en-US" sz="1400" b="0" i="0" u="none" strike="noStrike" kern="1200" cap="none" spc="0" normalizeH="0" baseline="0" noProof="0" dirty="0">
                <a:ln>
                  <a:noFill/>
                </a:ln>
                <a:solidFill>
                  <a:prstClr val="black"/>
                </a:solidFill>
                <a:effectLst/>
                <a:uLnTx/>
                <a:uFillTx/>
                <a:latin typeface="Aptos" panose="02110004020202020204"/>
                <a:ea typeface="+mn-ea"/>
                <a:cs typeface="+mn-cs"/>
              </a:rPr>
              <a:t>Define what evidence should be retained to support accountability and operational governance.</a:t>
            </a:r>
            <a:endParaRPr kumimoji="0" lang="en-US" sz="1400" b="0" i="0" u="none" strike="noStrike" kern="1200" cap="none" spc="0" normalizeH="0" baseline="0" noProof="0" dirty="0">
              <a:ln>
                <a:noFill/>
              </a:ln>
              <a:solidFill>
                <a:srgbClr val="FFC000"/>
              </a:solidFill>
              <a:effectLst/>
              <a:uLnTx/>
              <a:uFillTx/>
              <a:latin typeface="Aptos" panose="02110004020202020204"/>
              <a:ea typeface="+mn-ea"/>
              <a:cs typeface="+mn-cs"/>
            </a:endParaRPr>
          </a:p>
        </p:txBody>
      </p:sp>
      <p:sp>
        <p:nvSpPr>
          <p:cNvPr id="9" name="Right Brace 8">
            <a:extLst>
              <a:ext uri="{FF2B5EF4-FFF2-40B4-BE49-F238E27FC236}">
                <a16:creationId xmlns:a16="http://schemas.microsoft.com/office/drawing/2014/main" id="{EB78B006-DB1F-B12A-1C6D-3BB3CC738E65}"/>
              </a:ext>
            </a:extLst>
          </p:cNvPr>
          <p:cNvSpPr/>
          <p:nvPr/>
        </p:nvSpPr>
        <p:spPr>
          <a:xfrm>
            <a:off x="2560918" y="1802705"/>
            <a:ext cx="822791" cy="4630751"/>
          </a:xfrm>
          <a:prstGeom prst="rightBrace">
            <a:avLst>
              <a:gd name="adj1" fmla="val 8333"/>
              <a:gd name="adj2" fmla="val 48354"/>
            </a:avLst>
          </a:prstGeom>
          <a:ln>
            <a:solidFill>
              <a:srgbClr val="021836"/>
            </a:solidFill>
          </a:ln>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nvGrpSpPr>
          <p:cNvPr id="14" name="Group 13">
            <a:extLst>
              <a:ext uri="{FF2B5EF4-FFF2-40B4-BE49-F238E27FC236}">
                <a16:creationId xmlns:a16="http://schemas.microsoft.com/office/drawing/2014/main" id="{72E180E7-2C2B-6D24-0A00-B3F00B93A6A8}"/>
              </a:ext>
            </a:extLst>
          </p:cNvPr>
          <p:cNvGrpSpPr/>
          <p:nvPr/>
        </p:nvGrpSpPr>
        <p:grpSpPr>
          <a:xfrm>
            <a:off x="3166972" y="3902970"/>
            <a:ext cx="1813006" cy="321017"/>
            <a:chOff x="4642223" y="769428"/>
            <a:chExt cx="1813006" cy="321017"/>
          </a:xfrm>
        </p:grpSpPr>
        <p:sp>
          <p:nvSpPr>
            <p:cNvPr id="13" name="Rectangle: Rounded Corners 12">
              <a:extLst>
                <a:ext uri="{FF2B5EF4-FFF2-40B4-BE49-F238E27FC236}">
                  <a16:creationId xmlns:a16="http://schemas.microsoft.com/office/drawing/2014/main" id="{5C7DF212-DEC0-8FBE-D7A5-AFA48D559CB8}"/>
                </a:ext>
              </a:extLst>
            </p:cNvPr>
            <p:cNvSpPr/>
            <p:nvPr/>
          </p:nvSpPr>
          <p:spPr>
            <a:xfrm>
              <a:off x="4653109" y="769428"/>
              <a:ext cx="1802120" cy="299244"/>
            </a:xfrm>
            <a:prstGeom prst="roundRect">
              <a:avLst/>
            </a:prstGeom>
            <a:solidFill>
              <a:srgbClr val="02183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Content Placeholder 2">
              <a:extLst>
                <a:ext uri="{FF2B5EF4-FFF2-40B4-BE49-F238E27FC236}">
                  <a16:creationId xmlns:a16="http://schemas.microsoft.com/office/drawing/2014/main" id="{BFC291B0-C869-E92B-7664-841B9FB1318D}"/>
                </a:ext>
              </a:extLst>
            </p:cNvPr>
            <p:cNvSpPr txBox="1">
              <a:spLocks/>
            </p:cNvSpPr>
            <p:nvPr/>
          </p:nvSpPr>
          <p:spPr>
            <a:xfrm>
              <a:off x="4642223" y="791200"/>
              <a:ext cx="1802120" cy="299245"/>
            </a:xfrm>
            <a:prstGeom prst="rect">
              <a:avLst/>
            </a:prstGeom>
          </p:spPr>
          <p:txBody>
            <a:bodyPr vert="horz" lIns="45720" tIns="45720" rIns="45720" bIns="45720" numCol="1"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
                  <a:prstClr val="white">
                    <a:lumMod val="50000"/>
                  </a:prstClr>
                </a:buClr>
                <a:buSzTx/>
                <a:buFont typeface="Arial" panose="020B0604020202020204" pitchFamily="34" charset="0"/>
                <a:buNone/>
                <a:tabLst/>
                <a:defRPr/>
              </a:pPr>
              <a:r>
                <a:rPr kumimoji="0" lang="en-US" sz="1600" b="1" i="0" u="none" strike="noStrike" kern="1200" cap="none" spc="0" normalizeH="0" baseline="0" noProof="0" dirty="0">
                  <a:ln>
                    <a:noFill/>
                  </a:ln>
                  <a:solidFill>
                    <a:prstClr val="white"/>
                  </a:solidFill>
                  <a:effectLst/>
                  <a:uLnTx/>
                  <a:uFillTx/>
                  <a:latin typeface="Aptos" panose="02110004020202020204"/>
                  <a:ea typeface="+mn-ea"/>
                  <a:cs typeface="+mn-cs"/>
                </a:rPr>
                <a:t>Next Step</a:t>
              </a:r>
              <a:endParaRPr kumimoji="0" lang="en-US" sz="16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sp>
        <p:nvSpPr>
          <p:cNvPr id="5" name="TextBox 4">
            <a:extLst>
              <a:ext uri="{FF2B5EF4-FFF2-40B4-BE49-F238E27FC236}">
                <a16:creationId xmlns:a16="http://schemas.microsoft.com/office/drawing/2014/main" id="{941DA7BE-393D-4775-1721-F758A3D5F4E4}"/>
              </a:ext>
            </a:extLst>
          </p:cNvPr>
          <p:cNvSpPr txBox="1"/>
          <p:nvPr/>
        </p:nvSpPr>
        <p:spPr>
          <a:xfrm>
            <a:off x="4408714" y="64309"/>
            <a:ext cx="4628748" cy="276999"/>
          </a:xfrm>
          <a:prstGeom prst="rect">
            <a:avLst/>
          </a:prstGeom>
          <a:noFill/>
        </p:spPr>
        <p:txBody>
          <a:bodyPr wrap="square" rtlCol="0">
            <a:spAutoFit/>
          </a:bodyPr>
          <a:lstStyle/>
          <a:p>
            <a:pPr algn="r"/>
            <a:r>
              <a:rPr lang="en-US" sz="1200" dirty="0">
                <a:solidFill>
                  <a:schemeClr val="bg1">
                    <a:lumMod val="50000"/>
                  </a:schemeClr>
                </a:solidFill>
              </a:rPr>
              <a:t>AI Operational Readiness • Decision Rights Framework</a:t>
            </a:r>
          </a:p>
        </p:txBody>
      </p:sp>
    </p:spTree>
    <p:extLst>
      <p:ext uri="{BB962C8B-B14F-4D97-AF65-F5344CB8AC3E}">
        <p14:creationId xmlns:p14="http://schemas.microsoft.com/office/powerpoint/2010/main" val="273151528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7A67DBD-BFEF-149E-802F-6E38F9DBC7D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9143999" cy="6858000"/>
          </a:xfrm>
          <a:prstGeom prst="rect">
            <a:avLst/>
          </a:prstGeom>
        </p:spPr>
      </p:pic>
    </p:spTree>
    <p:extLst>
      <p:ext uri="{BB962C8B-B14F-4D97-AF65-F5344CB8AC3E}">
        <p14:creationId xmlns:p14="http://schemas.microsoft.com/office/powerpoint/2010/main" val="289050920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F44F6-AAF9-F6E6-B3DC-C2D8FC3F68FB}"/>
              </a:ext>
            </a:extLst>
          </p:cNvPr>
          <p:cNvSpPr>
            <a:spLocks noGrp="1"/>
          </p:cNvSpPr>
          <p:nvPr>
            <p:ph type="title"/>
          </p:nvPr>
        </p:nvSpPr>
        <p:spPr>
          <a:xfrm>
            <a:off x="285750" y="434017"/>
            <a:ext cx="7886700" cy="362276"/>
          </a:xfrm>
        </p:spPr>
        <p:txBody>
          <a:bodyPr>
            <a:normAutofit fontScale="90000"/>
          </a:bodyPr>
          <a:lstStyle/>
          <a:p>
            <a:r>
              <a:rPr lang="en-US" dirty="0"/>
              <a:t>Framework Overview</a:t>
            </a:r>
          </a:p>
        </p:txBody>
      </p:sp>
      <p:cxnSp>
        <p:nvCxnSpPr>
          <p:cNvPr id="10" name="Straight Connector 9">
            <a:extLst>
              <a:ext uri="{FF2B5EF4-FFF2-40B4-BE49-F238E27FC236}">
                <a16:creationId xmlns:a16="http://schemas.microsoft.com/office/drawing/2014/main" id="{C0020D96-D985-F85D-9155-2AFC35B6AE59}"/>
              </a:ext>
            </a:extLst>
          </p:cNvPr>
          <p:cNvCxnSpPr>
            <a:cxnSpLocks/>
          </p:cNvCxnSpPr>
          <p:nvPr/>
        </p:nvCxnSpPr>
        <p:spPr>
          <a:xfrm>
            <a:off x="171450" y="5440055"/>
            <a:ext cx="8801100" cy="0"/>
          </a:xfrm>
          <a:prstGeom prst="line">
            <a:avLst/>
          </a:prstGeom>
          <a:ln w="9525">
            <a:solidFill>
              <a:srgbClr val="0396A6"/>
            </a:solidFill>
          </a:ln>
        </p:spPr>
        <p:style>
          <a:lnRef idx="2">
            <a:schemeClr val="accent1"/>
          </a:lnRef>
          <a:fillRef idx="0">
            <a:schemeClr val="accent1"/>
          </a:fillRef>
          <a:effectRef idx="1">
            <a:schemeClr val="accent1"/>
          </a:effectRef>
          <a:fontRef idx="minor">
            <a:schemeClr val="tx1"/>
          </a:fontRef>
        </p:style>
      </p:cxnSp>
      <p:grpSp>
        <p:nvGrpSpPr>
          <p:cNvPr id="37" name="Group 36">
            <a:extLst>
              <a:ext uri="{FF2B5EF4-FFF2-40B4-BE49-F238E27FC236}">
                <a16:creationId xmlns:a16="http://schemas.microsoft.com/office/drawing/2014/main" id="{07427C67-24F8-34E3-16AD-56FCB95CE120}"/>
              </a:ext>
            </a:extLst>
          </p:cNvPr>
          <p:cNvGrpSpPr/>
          <p:nvPr/>
        </p:nvGrpSpPr>
        <p:grpSpPr>
          <a:xfrm>
            <a:off x="381675" y="2221988"/>
            <a:ext cx="8583386" cy="464569"/>
            <a:chOff x="628650" y="4778376"/>
            <a:chExt cx="7886700" cy="464569"/>
          </a:xfrm>
        </p:grpSpPr>
        <p:sp>
          <p:nvSpPr>
            <p:cNvPr id="9" name="Content Placeholder 2">
              <a:extLst>
                <a:ext uri="{FF2B5EF4-FFF2-40B4-BE49-F238E27FC236}">
                  <a16:creationId xmlns:a16="http://schemas.microsoft.com/office/drawing/2014/main" id="{8C9AC330-2344-BEDA-9EC6-BFB62190E7E3}"/>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b="1" dirty="0">
                  <a:solidFill>
                    <a:srgbClr val="021836"/>
                  </a:solidFill>
                </a:rPr>
                <a:t>Core Evidence Areas</a:t>
              </a:r>
            </a:p>
          </p:txBody>
        </p:sp>
        <p:sp>
          <p:nvSpPr>
            <p:cNvPr id="11" name="Content Placeholder 2">
              <a:extLst>
                <a:ext uri="{FF2B5EF4-FFF2-40B4-BE49-F238E27FC236}">
                  <a16:creationId xmlns:a16="http://schemas.microsoft.com/office/drawing/2014/main" id="{FD78CC86-2052-A718-2145-5489B68A5D91}"/>
                </a:ext>
              </a:extLst>
            </p:cNvPr>
            <p:cNvSpPr txBox="1">
              <a:spLocks/>
            </p:cNvSpPr>
            <p:nvPr/>
          </p:nvSpPr>
          <p:spPr>
            <a:xfrm>
              <a:off x="628650" y="5032601"/>
              <a:ext cx="7886700" cy="210344"/>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rgbClr val="021836"/>
                </a:buClr>
                <a:buNone/>
              </a:pPr>
              <a:r>
                <a:rPr lang="en-US" sz="1200" dirty="0"/>
                <a:t>Value • Quality • Risk • Adoption • Decision • Governance Provenance • Decision Provenance</a:t>
              </a:r>
            </a:p>
          </p:txBody>
        </p:sp>
      </p:grpSp>
      <p:sp>
        <p:nvSpPr>
          <p:cNvPr id="32" name="Content Placeholder 2">
            <a:extLst>
              <a:ext uri="{FF2B5EF4-FFF2-40B4-BE49-F238E27FC236}">
                <a16:creationId xmlns:a16="http://schemas.microsoft.com/office/drawing/2014/main" id="{3100EC29-4DE1-0548-69CA-66C82A4659A2}"/>
              </a:ext>
            </a:extLst>
          </p:cNvPr>
          <p:cNvSpPr txBox="1">
            <a:spLocks/>
          </p:cNvSpPr>
          <p:nvPr/>
        </p:nvSpPr>
        <p:spPr>
          <a:xfrm>
            <a:off x="389164" y="1334696"/>
            <a:ext cx="7886700" cy="101235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b="1" dirty="0">
                <a:solidFill>
                  <a:srgbClr val="021836"/>
                </a:solidFill>
              </a:rPr>
              <a:t>Purpose</a:t>
            </a:r>
          </a:p>
          <a:p>
            <a:pPr marL="0" indent="0">
              <a:spcBef>
                <a:spcPts val="600"/>
              </a:spcBef>
              <a:buNone/>
            </a:pPr>
            <a:r>
              <a:rPr lang="en-US" sz="1200" dirty="0"/>
              <a:t>Governance becomes operational when evidence can support, reconstruct, and test decisions and actions. The framework defines what to observe, retain, and verify across value, quality, risk, adoption, decisions, and governance.</a:t>
            </a:r>
            <a:endParaRPr lang="en-US" sz="1600" dirty="0"/>
          </a:p>
        </p:txBody>
      </p:sp>
      <p:sp>
        <p:nvSpPr>
          <p:cNvPr id="5" name="Content Placeholder 2">
            <a:extLst>
              <a:ext uri="{FF2B5EF4-FFF2-40B4-BE49-F238E27FC236}">
                <a16:creationId xmlns:a16="http://schemas.microsoft.com/office/drawing/2014/main" id="{292B2336-1FA0-A3C8-A2A8-5A573F50113B}"/>
              </a:ext>
            </a:extLst>
          </p:cNvPr>
          <p:cNvSpPr txBox="1">
            <a:spLocks/>
          </p:cNvSpPr>
          <p:nvPr/>
        </p:nvSpPr>
        <p:spPr>
          <a:xfrm>
            <a:off x="381675" y="868186"/>
            <a:ext cx="7886700" cy="299244"/>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rgbClr val="021836"/>
              </a:buClr>
              <a:buNone/>
            </a:pPr>
            <a:r>
              <a:rPr lang="en-US" sz="1200" i="1" dirty="0">
                <a:solidFill>
                  <a:schemeClr val="bg1">
                    <a:lumMod val="50000"/>
                  </a:schemeClr>
                </a:solidFill>
              </a:rPr>
              <a:t>Translating accountability into observable evidence</a:t>
            </a:r>
          </a:p>
        </p:txBody>
      </p:sp>
      <p:sp>
        <p:nvSpPr>
          <p:cNvPr id="15" name="Content Placeholder 2">
            <a:extLst>
              <a:ext uri="{FF2B5EF4-FFF2-40B4-BE49-F238E27FC236}">
                <a16:creationId xmlns:a16="http://schemas.microsoft.com/office/drawing/2014/main" id="{AFDCFB66-CE04-E353-63C3-854399711881}"/>
              </a:ext>
            </a:extLst>
          </p:cNvPr>
          <p:cNvSpPr txBox="1">
            <a:spLocks/>
          </p:cNvSpPr>
          <p:nvPr/>
        </p:nvSpPr>
        <p:spPr>
          <a:xfrm>
            <a:off x="381675" y="2910188"/>
            <a:ext cx="8583386"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b="1" dirty="0">
                <a:solidFill>
                  <a:srgbClr val="021836"/>
                </a:solidFill>
              </a:rPr>
              <a:t>What This Framework Helps Define</a:t>
            </a:r>
          </a:p>
        </p:txBody>
      </p:sp>
      <p:graphicFrame>
        <p:nvGraphicFramePr>
          <p:cNvPr id="18" name="Table 17">
            <a:extLst>
              <a:ext uri="{FF2B5EF4-FFF2-40B4-BE49-F238E27FC236}">
                <a16:creationId xmlns:a16="http://schemas.microsoft.com/office/drawing/2014/main" id="{E2F20037-47B8-8828-9FAB-CD803A7B47B2}"/>
              </a:ext>
            </a:extLst>
          </p:cNvPr>
          <p:cNvGraphicFramePr>
            <a:graphicFrameLocks noGrp="1"/>
          </p:cNvGraphicFramePr>
          <p:nvPr/>
        </p:nvGraphicFramePr>
        <p:xfrm>
          <a:off x="466638" y="3138989"/>
          <a:ext cx="8210723" cy="2072640"/>
        </p:xfrm>
        <a:graphic>
          <a:graphicData uri="http://schemas.openxmlformats.org/drawingml/2006/table">
            <a:tbl>
              <a:tblPr firstRow="1" bandRow="1">
                <a:effectLst/>
                <a:tableStyleId>{2D5ABB26-0587-4C30-8999-92F81FD0307C}</a:tableStyleId>
              </a:tblPr>
              <a:tblGrid>
                <a:gridCol w="2200362">
                  <a:extLst>
                    <a:ext uri="{9D8B030D-6E8A-4147-A177-3AD203B41FA5}">
                      <a16:colId xmlns:a16="http://schemas.microsoft.com/office/drawing/2014/main" val="2728554600"/>
                    </a:ext>
                  </a:extLst>
                </a:gridCol>
                <a:gridCol w="6010361">
                  <a:extLst>
                    <a:ext uri="{9D8B030D-6E8A-4147-A177-3AD203B41FA5}">
                      <a16:colId xmlns:a16="http://schemas.microsoft.com/office/drawing/2014/main" val="682756451"/>
                    </a:ext>
                  </a:extLst>
                </a:gridCol>
              </a:tblGrid>
              <a:tr h="220027">
                <a:tc>
                  <a:txBody>
                    <a:bodyPr/>
                    <a:lstStyle/>
                    <a:p>
                      <a:pPr algn="l"/>
                      <a:r>
                        <a:rPr lang="en-US" sz="1100" b="1" dirty="0">
                          <a:solidFill>
                            <a:srgbClr val="021836"/>
                          </a:solidFill>
                        </a:rPr>
                        <a:t>Component</a:t>
                      </a:r>
                    </a:p>
                  </a:txBody>
                  <a:tcPr marL="45720" marR="45720">
                    <a:lnR w="12700" cap="flat" cmpd="sng" algn="ctr">
                      <a:noFill/>
                      <a:prstDash val="solid"/>
                      <a:round/>
                      <a:headEnd type="none" w="med" len="med"/>
                      <a:tailEnd type="none" w="med" len="med"/>
                    </a:lnR>
                    <a:lnB w="12700" cap="flat" cmpd="sng" algn="ctr">
                      <a:solidFill>
                        <a:srgbClr val="0396A6"/>
                      </a:solidFill>
                      <a:prstDash val="solid"/>
                      <a:round/>
                      <a:headEnd type="none" w="med" len="med"/>
                      <a:tailEnd type="none" w="med" len="med"/>
                    </a:lnB>
                  </a:tcPr>
                </a:tc>
                <a:tc>
                  <a:txBody>
                    <a:bodyPr/>
                    <a:lstStyle/>
                    <a:p>
                      <a:r>
                        <a:rPr lang="en-US" sz="1100" b="1" dirty="0">
                          <a:solidFill>
                            <a:srgbClr val="021836"/>
                          </a:solidFill>
                        </a:rPr>
                        <a:t>Question It Answers</a:t>
                      </a:r>
                    </a:p>
                  </a:txBody>
                  <a:tcPr marL="45720" marR="45720">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rgbClr val="0396A6"/>
                      </a:solidFill>
                      <a:prstDash val="solid"/>
                      <a:round/>
                      <a:headEnd type="none" w="med" len="med"/>
                      <a:tailEnd type="none" w="med" len="med"/>
                    </a:lnB>
                  </a:tcPr>
                </a:tc>
                <a:extLst>
                  <a:ext uri="{0D108BD9-81ED-4DB2-BD59-A6C34878D82A}">
                    <a16:rowId xmlns:a16="http://schemas.microsoft.com/office/drawing/2014/main" val="3173400939"/>
                  </a:ext>
                </a:extLst>
              </a:tr>
              <a:tr h="220027">
                <a:tc>
                  <a:txBody>
                    <a:bodyPr/>
                    <a:lstStyle/>
                    <a:p>
                      <a:pPr algn="l"/>
                      <a:r>
                        <a:rPr lang="en-US" sz="1100" dirty="0"/>
                        <a:t>Value Evidence</a:t>
                      </a:r>
                    </a:p>
                  </a:txBody>
                  <a:tcPr marL="45720" marR="45720">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100" dirty="0"/>
                        <a:t>Are we creating measurable value?</a:t>
                      </a:r>
                    </a:p>
                  </a:txBody>
                  <a:tcPr marL="45720" marR="45720">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185261034"/>
                  </a:ext>
                </a:extLst>
              </a:tr>
              <a:tr h="220027">
                <a:tc>
                  <a:txBody>
                    <a:bodyPr/>
                    <a:lstStyle/>
                    <a:p>
                      <a:pPr algn="l"/>
                      <a:r>
                        <a:rPr lang="en-US" sz="1100" dirty="0"/>
                        <a:t>Quality Evidence</a:t>
                      </a:r>
                    </a:p>
                  </a:txBody>
                  <a:tcPr marL="45720" marR="4572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100" dirty="0"/>
                        <a:t>Are outputs meeting expectations?</a:t>
                      </a:r>
                    </a:p>
                  </a:txBody>
                  <a:tcPr marL="45720" marR="45720">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228643947"/>
                  </a:ext>
                </a:extLst>
              </a:tr>
              <a:tr h="220027">
                <a:tc>
                  <a:txBody>
                    <a:bodyPr/>
                    <a:lstStyle/>
                    <a:p>
                      <a:pPr algn="l"/>
                      <a:r>
                        <a:rPr lang="en-US" sz="1100" dirty="0"/>
                        <a:t>Risk Evidence</a:t>
                      </a:r>
                    </a:p>
                  </a:txBody>
                  <a:tcPr marL="45720" marR="4572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100" dirty="0"/>
                        <a:t>Are issues or failures occurring?</a:t>
                      </a:r>
                    </a:p>
                  </a:txBody>
                  <a:tcPr marL="45720" marR="45720">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781764621"/>
                  </a:ext>
                </a:extLst>
              </a:tr>
              <a:tr h="220027">
                <a:tc>
                  <a:txBody>
                    <a:bodyPr/>
                    <a:lstStyle/>
                    <a:p>
                      <a:pPr algn="l"/>
                      <a:r>
                        <a:rPr lang="en-US" sz="1100" dirty="0"/>
                        <a:t>Adoption Evidence</a:t>
                      </a:r>
                    </a:p>
                  </a:txBody>
                  <a:tcPr marL="45720" marR="4572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100" dirty="0"/>
                        <a:t>Is the solution being used effectively?</a:t>
                      </a:r>
                    </a:p>
                  </a:txBody>
                  <a:tcPr marL="45720" marR="45720">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532030300"/>
                  </a:ext>
                </a:extLst>
              </a:tr>
              <a:tr h="220027">
                <a:tc>
                  <a:txBody>
                    <a:bodyPr/>
                    <a:lstStyle/>
                    <a:p>
                      <a:pPr algn="l"/>
                      <a:r>
                        <a:rPr lang="en-US" sz="1100" dirty="0"/>
                        <a:t>Decision</a:t>
                      </a:r>
                    </a:p>
                  </a:txBody>
                  <a:tcPr marL="45720" marR="4572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100" dirty="0"/>
                        <a:t>What information supports governance decisions?</a:t>
                      </a:r>
                    </a:p>
                  </a:txBody>
                  <a:tcPr marL="45720" marR="45720">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79336270"/>
                  </a:ext>
                </a:extLst>
              </a:tr>
              <a:tr h="220027">
                <a:tc>
                  <a:txBody>
                    <a:bodyPr/>
                    <a:lstStyle/>
                    <a:p>
                      <a:pPr algn="l"/>
                      <a:r>
                        <a:rPr lang="en-US" sz="1100" dirty="0"/>
                        <a:t>Governance Provenance</a:t>
                      </a:r>
                    </a:p>
                  </a:txBody>
                  <a:tcPr marL="45720" marR="4572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100" dirty="0"/>
                        <a:t>What evidence establishes what was reviewed, approved, conditioned, mitigated, and owned?</a:t>
                      </a:r>
                    </a:p>
                  </a:txBody>
                  <a:tcPr marL="45720" marR="45720">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163605879"/>
                  </a:ext>
                </a:extLst>
              </a:tr>
              <a:tr h="220027">
                <a:tc>
                  <a:txBody>
                    <a:bodyPr/>
                    <a:lstStyle/>
                    <a:p>
                      <a:pPr algn="l"/>
                      <a:r>
                        <a:rPr lang="en-US" sz="1100" dirty="0"/>
                        <a:t>Decision Provenance</a:t>
                      </a:r>
                    </a:p>
                  </a:txBody>
                  <a:tcPr marL="45720" marR="4572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100" dirty="0"/>
                        <a:t>Can we reconstruct why a consequential action or decision was considered legitimate?</a:t>
                      </a:r>
                    </a:p>
                  </a:txBody>
                  <a:tcPr marL="45720" marR="45720">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732588030"/>
                  </a:ext>
                </a:extLst>
              </a:tr>
            </a:tbl>
          </a:graphicData>
        </a:graphic>
      </p:graphicFrame>
      <p:sp>
        <p:nvSpPr>
          <p:cNvPr id="21" name="Content Placeholder 2">
            <a:extLst>
              <a:ext uri="{FF2B5EF4-FFF2-40B4-BE49-F238E27FC236}">
                <a16:creationId xmlns:a16="http://schemas.microsoft.com/office/drawing/2014/main" id="{C3E6CD39-95FF-9E31-7FA7-E1A32D5D642E}"/>
              </a:ext>
            </a:extLst>
          </p:cNvPr>
          <p:cNvSpPr txBox="1">
            <a:spLocks/>
          </p:cNvSpPr>
          <p:nvPr/>
        </p:nvSpPr>
        <p:spPr>
          <a:xfrm>
            <a:off x="389164" y="5561950"/>
            <a:ext cx="8583386" cy="676720"/>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b="1" dirty="0">
                <a:solidFill>
                  <a:srgbClr val="021836"/>
                </a:solidFill>
              </a:rPr>
              <a:t>Guiding Philosophy</a:t>
            </a:r>
          </a:p>
          <a:p>
            <a:pPr marL="0" indent="0">
              <a:buFont typeface="Arial" panose="020B0604020202020204" pitchFamily="34" charset="0"/>
              <a:buNone/>
            </a:pPr>
            <a:r>
              <a:rPr lang="en-US" sz="1400" i="1" dirty="0">
                <a:solidFill>
                  <a:schemeClr val="bg1">
                    <a:lumMod val="50000"/>
                  </a:schemeClr>
                </a:solidFill>
              </a:rPr>
              <a:t>Governance becomes operational when decisions are supported by evidence.</a:t>
            </a:r>
          </a:p>
        </p:txBody>
      </p:sp>
      <p:sp>
        <p:nvSpPr>
          <p:cNvPr id="4" name="TextBox 3">
            <a:extLst>
              <a:ext uri="{FF2B5EF4-FFF2-40B4-BE49-F238E27FC236}">
                <a16:creationId xmlns:a16="http://schemas.microsoft.com/office/drawing/2014/main" id="{027C964F-090A-7803-81EB-5F429A8077A4}"/>
              </a:ext>
            </a:extLst>
          </p:cNvPr>
          <p:cNvSpPr txBox="1"/>
          <p:nvPr/>
        </p:nvSpPr>
        <p:spPr>
          <a:xfrm>
            <a:off x="4408714" y="64309"/>
            <a:ext cx="4628748" cy="276999"/>
          </a:xfrm>
          <a:prstGeom prst="rect">
            <a:avLst/>
          </a:prstGeom>
          <a:noFill/>
        </p:spPr>
        <p:txBody>
          <a:bodyPr wrap="square" rtlCol="0">
            <a:spAutoFit/>
          </a:bodyPr>
          <a:lstStyle/>
          <a:p>
            <a:pPr algn="r"/>
            <a:r>
              <a:rPr lang="en-US" sz="1200" dirty="0">
                <a:solidFill>
                  <a:schemeClr val="bg1">
                    <a:lumMod val="50000"/>
                  </a:schemeClr>
                </a:solidFill>
              </a:rPr>
              <a:t>AI Operational Readiness • Evidence Framework</a:t>
            </a:r>
          </a:p>
        </p:txBody>
      </p:sp>
    </p:spTree>
    <p:extLst>
      <p:ext uri="{BB962C8B-B14F-4D97-AF65-F5344CB8AC3E}">
        <p14:creationId xmlns:p14="http://schemas.microsoft.com/office/powerpoint/2010/main" val="71314339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671BA3-B71C-0F6C-5DCC-2BDE8C41B7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743337-A53D-43FB-1D3A-AFB5942472E9}"/>
              </a:ext>
            </a:extLst>
          </p:cNvPr>
          <p:cNvSpPr>
            <a:spLocks noGrp="1"/>
          </p:cNvSpPr>
          <p:nvPr>
            <p:ph type="title"/>
          </p:nvPr>
        </p:nvSpPr>
        <p:spPr>
          <a:xfrm>
            <a:off x="273534" y="87541"/>
            <a:ext cx="8957552" cy="1325563"/>
          </a:xfrm>
        </p:spPr>
        <p:txBody>
          <a:bodyPr/>
          <a:lstStyle/>
          <a:p>
            <a:r>
              <a:rPr lang="en-US" dirty="0"/>
              <a:t>Why Evidence Isn’t Optional</a:t>
            </a:r>
          </a:p>
        </p:txBody>
      </p:sp>
      <p:sp>
        <p:nvSpPr>
          <p:cNvPr id="4" name="Content Placeholder 2">
            <a:extLst>
              <a:ext uri="{FF2B5EF4-FFF2-40B4-BE49-F238E27FC236}">
                <a16:creationId xmlns:a16="http://schemas.microsoft.com/office/drawing/2014/main" id="{CF44140D-EC65-5A27-655D-229B2C295DC7}"/>
              </a:ext>
            </a:extLst>
          </p:cNvPr>
          <p:cNvSpPr txBox="1">
            <a:spLocks/>
          </p:cNvSpPr>
          <p:nvPr/>
        </p:nvSpPr>
        <p:spPr>
          <a:xfrm>
            <a:off x="381675" y="1042357"/>
            <a:ext cx="7886700" cy="299244"/>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rgbClr val="021836"/>
              </a:buClr>
              <a:buNone/>
            </a:pPr>
            <a:r>
              <a:rPr lang="en-US" sz="1200" i="1" dirty="0">
                <a:solidFill>
                  <a:schemeClr val="bg1">
                    <a:lumMod val="50000"/>
                  </a:schemeClr>
                </a:solidFill>
              </a:rPr>
              <a:t>Understanding the difference between assumptions and observability</a:t>
            </a:r>
          </a:p>
        </p:txBody>
      </p:sp>
      <p:graphicFrame>
        <p:nvGraphicFramePr>
          <p:cNvPr id="5" name="Table 4">
            <a:extLst>
              <a:ext uri="{FF2B5EF4-FFF2-40B4-BE49-F238E27FC236}">
                <a16:creationId xmlns:a16="http://schemas.microsoft.com/office/drawing/2014/main" id="{F994AF61-6667-2BA4-09C4-B97277C8F078}"/>
              </a:ext>
            </a:extLst>
          </p:cNvPr>
          <p:cNvGraphicFramePr>
            <a:graphicFrameLocks noGrp="1"/>
          </p:cNvGraphicFramePr>
          <p:nvPr/>
        </p:nvGraphicFramePr>
        <p:xfrm>
          <a:off x="435427" y="1413104"/>
          <a:ext cx="8218714" cy="2164080"/>
        </p:xfrm>
        <a:graphic>
          <a:graphicData uri="http://schemas.openxmlformats.org/drawingml/2006/table">
            <a:tbl>
              <a:tblPr firstRow="1" bandRow="1">
                <a:tableStyleId>{2D5ABB26-0587-4C30-8999-92F81FD0307C}</a:tableStyleId>
              </a:tblPr>
              <a:tblGrid>
                <a:gridCol w="2939144">
                  <a:extLst>
                    <a:ext uri="{9D8B030D-6E8A-4147-A177-3AD203B41FA5}">
                      <a16:colId xmlns:a16="http://schemas.microsoft.com/office/drawing/2014/main" val="2470210094"/>
                    </a:ext>
                  </a:extLst>
                </a:gridCol>
                <a:gridCol w="5279570">
                  <a:extLst>
                    <a:ext uri="{9D8B030D-6E8A-4147-A177-3AD203B41FA5}">
                      <a16:colId xmlns:a16="http://schemas.microsoft.com/office/drawing/2014/main" val="72878264"/>
                    </a:ext>
                  </a:extLst>
                </a:gridCol>
              </a:tblGrid>
              <a:tr h="145176">
                <a:tc>
                  <a:txBody>
                    <a:bodyPr/>
                    <a:lstStyle/>
                    <a:p>
                      <a:r>
                        <a:rPr lang="en-US" sz="1600" b="1" dirty="0">
                          <a:solidFill>
                            <a:srgbClr val="021836"/>
                          </a:solidFill>
                        </a:rPr>
                        <a:t>Assumption</a:t>
                      </a:r>
                    </a:p>
                  </a:txBody>
                  <a:tcPr>
                    <a:lnR w="12700" cap="flat" cmpd="sng" algn="ctr">
                      <a:solidFill>
                        <a:schemeClr val="bg1">
                          <a:lumMod val="75000"/>
                        </a:schemeClr>
                      </a:solidFill>
                      <a:prstDash val="solid"/>
                      <a:round/>
                      <a:headEnd type="none" w="med" len="med"/>
                      <a:tailEnd type="none" w="med" len="med"/>
                    </a:lnR>
                    <a:lnB w="12700" cap="flat" cmpd="sng" algn="ctr">
                      <a:solidFill>
                        <a:srgbClr val="0396A6"/>
                      </a:solidFill>
                      <a:prstDash val="solid"/>
                      <a:round/>
                      <a:headEnd type="none" w="med" len="med"/>
                      <a:tailEnd type="none" w="med" len="med"/>
                    </a:lnB>
                  </a:tcPr>
                </a:tc>
                <a:tc>
                  <a:txBody>
                    <a:bodyPr/>
                    <a:lstStyle/>
                    <a:p>
                      <a:r>
                        <a:rPr lang="en-US" sz="1600" b="1" dirty="0">
                          <a:solidFill>
                            <a:srgbClr val="021836"/>
                          </a:solidFill>
                        </a:rPr>
                        <a:t>Operational Evidence</a:t>
                      </a:r>
                    </a:p>
                  </a:txBody>
                  <a:tcPr>
                    <a:lnL w="12700" cap="flat" cmpd="sng" algn="ctr">
                      <a:solidFill>
                        <a:schemeClr val="bg1">
                          <a:lumMod val="75000"/>
                        </a:schemeClr>
                      </a:solidFill>
                      <a:prstDash val="solid"/>
                      <a:round/>
                      <a:headEnd type="none" w="med" len="med"/>
                      <a:tailEnd type="none" w="med" len="med"/>
                    </a:lnL>
                    <a:lnB w="12700" cap="flat" cmpd="sng" algn="ctr">
                      <a:solidFill>
                        <a:srgbClr val="0396A6"/>
                      </a:solidFill>
                      <a:prstDash val="solid"/>
                      <a:round/>
                      <a:headEnd type="none" w="med" len="med"/>
                      <a:tailEnd type="none" w="med" len="med"/>
                    </a:lnB>
                  </a:tcPr>
                </a:tc>
                <a:extLst>
                  <a:ext uri="{0D108BD9-81ED-4DB2-BD59-A6C34878D82A}">
                    <a16:rowId xmlns:a16="http://schemas.microsoft.com/office/drawing/2014/main" val="2061593276"/>
                  </a:ext>
                </a:extLst>
              </a:tr>
              <a:tr h="213815">
                <a:tc>
                  <a:txBody>
                    <a:bodyPr/>
                    <a:lstStyle/>
                    <a:p>
                      <a:pPr>
                        <a:buClr>
                          <a:schemeClr val="bg1">
                            <a:lumMod val="50000"/>
                          </a:schemeClr>
                        </a:buClr>
                      </a:pPr>
                      <a:r>
                        <a:rPr lang="en-US" sz="1400" b="0" dirty="0"/>
                        <a:t>AI seems useful</a:t>
                      </a:r>
                    </a:p>
                  </a:txBody>
                  <a:tcPr>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400" b="0" kern="1200" dirty="0">
                          <a:solidFill>
                            <a:srgbClr val="021836"/>
                          </a:solidFill>
                          <a:latin typeface="+mn-lt"/>
                          <a:ea typeface="+mn-ea"/>
                          <a:cs typeface="+mn-cs"/>
                        </a:rPr>
                        <a:t>Value is measured</a:t>
                      </a:r>
                    </a:p>
                  </a:txBody>
                  <a:tcPr>
                    <a:lnL w="12700" cap="flat" cmpd="sng" algn="ctr">
                      <a:solidFill>
                        <a:schemeClr val="bg1">
                          <a:lumMod val="75000"/>
                        </a:schemeClr>
                      </a:solidFill>
                      <a:prstDash val="solid"/>
                      <a:round/>
                      <a:headEnd type="none" w="med" len="med"/>
                      <a:tailEnd type="none" w="med" len="med"/>
                    </a:lnL>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493753442"/>
                  </a:ext>
                </a:extLst>
              </a:tr>
              <a:tr h="213815">
                <a:tc>
                  <a:txBody>
                    <a:bodyPr/>
                    <a:lstStyle/>
                    <a:p>
                      <a:pPr>
                        <a:buClr>
                          <a:schemeClr val="bg1">
                            <a:lumMod val="50000"/>
                          </a:schemeClr>
                        </a:buClr>
                      </a:pPr>
                      <a:r>
                        <a:rPr lang="en-US" sz="1400" b="0" dirty="0"/>
                        <a:t>Quality is assumed</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400" b="0" kern="1200" dirty="0">
                          <a:solidFill>
                            <a:srgbClr val="021836"/>
                          </a:solidFill>
                          <a:latin typeface="+mn-lt"/>
                          <a:ea typeface="+mn-ea"/>
                          <a:cs typeface="+mn-cs"/>
                        </a:rPr>
                        <a:t>Quality is evaluated</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23325965"/>
                  </a:ext>
                </a:extLst>
              </a:tr>
              <a:tr h="213815">
                <a:tc>
                  <a:txBody>
                    <a:bodyPr/>
                    <a:lstStyle/>
                    <a:p>
                      <a:pPr>
                        <a:buClr>
                          <a:schemeClr val="bg1">
                            <a:lumMod val="50000"/>
                          </a:schemeClr>
                        </a:buClr>
                      </a:pPr>
                      <a:r>
                        <a:rPr lang="en-US" sz="1400" b="0" dirty="0"/>
                        <a:t>Risk is unknown</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400" b="0" kern="1200" dirty="0">
                          <a:solidFill>
                            <a:srgbClr val="021836"/>
                          </a:solidFill>
                          <a:latin typeface="+mn-lt"/>
                          <a:ea typeface="+mn-ea"/>
                          <a:cs typeface="+mn-cs"/>
                        </a:rPr>
                        <a:t>Risks are monitored</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845834834"/>
                  </a:ext>
                </a:extLst>
              </a:tr>
              <a:tr h="213815">
                <a:tc>
                  <a:txBody>
                    <a:bodyPr/>
                    <a:lstStyle/>
                    <a:p>
                      <a:pPr>
                        <a:buClr>
                          <a:schemeClr val="bg1">
                            <a:lumMod val="50000"/>
                          </a:schemeClr>
                        </a:buClr>
                      </a:pPr>
                      <a:r>
                        <a:rPr lang="en-US" sz="1400" b="0" dirty="0"/>
                        <a:t>Usage is uncertain</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400" b="0" kern="1200" dirty="0">
                          <a:solidFill>
                            <a:srgbClr val="021836"/>
                          </a:solidFill>
                          <a:latin typeface="+mn-lt"/>
                          <a:ea typeface="+mn-ea"/>
                          <a:cs typeface="+mn-cs"/>
                        </a:rPr>
                        <a:t>Adoption is measured</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012176639"/>
                  </a:ext>
                </a:extLst>
              </a:tr>
              <a:tr h="213815">
                <a:tc>
                  <a:txBody>
                    <a:bodyPr/>
                    <a:lstStyle/>
                    <a:p>
                      <a:pPr>
                        <a:buClr>
                          <a:schemeClr val="bg1">
                            <a:lumMod val="50000"/>
                          </a:schemeClr>
                        </a:buClr>
                      </a:pPr>
                      <a:r>
                        <a:rPr lang="en-US" sz="1400" b="0" dirty="0"/>
                        <a:t>Decisions rely on opinion</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400" b="0" kern="1200" dirty="0">
                          <a:solidFill>
                            <a:srgbClr val="021836"/>
                          </a:solidFill>
                          <a:latin typeface="+mn-lt"/>
                          <a:ea typeface="+mn-ea"/>
                          <a:cs typeface="+mn-cs"/>
                        </a:rPr>
                        <a:t>Decisions rely on evidence</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049069712"/>
                  </a:ext>
                </a:extLst>
              </a:tr>
              <a:tr h="213815">
                <a:tc>
                  <a:txBody>
                    <a:bodyPr/>
                    <a:lstStyle/>
                    <a:p>
                      <a:pPr>
                        <a:buClr>
                          <a:schemeClr val="bg1">
                            <a:lumMod val="50000"/>
                          </a:schemeClr>
                        </a:buClr>
                      </a:pPr>
                      <a:r>
                        <a:rPr lang="en-US" sz="1400" b="0" dirty="0"/>
                        <a:t>“We have logs”</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400" b="0" kern="1200" dirty="0">
                          <a:solidFill>
                            <a:srgbClr val="021836"/>
                          </a:solidFill>
                          <a:latin typeface="+mn-lt"/>
                          <a:ea typeface="+mn-ea"/>
                          <a:cs typeface="+mn-cs"/>
                        </a:rPr>
                        <a:t>Evidence can reconstruct the relevant decision and system state</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764644261"/>
                  </a:ext>
                </a:extLst>
              </a:tr>
            </a:tbl>
          </a:graphicData>
        </a:graphic>
      </p:graphicFrame>
      <p:cxnSp>
        <p:nvCxnSpPr>
          <p:cNvPr id="3" name="Straight Connector 2">
            <a:extLst>
              <a:ext uri="{FF2B5EF4-FFF2-40B4-BE49-F238E27FC236}">
                <a16:creationId xmlns:a16="http://schemas.microsoft.com/office/drawing/2014/main" id="{31844D60-7277-099F-0D05-D9DA54CBB950}"/>
              </a:ext>
            </a:extLst>
          </p:cNvPr>
          <p:cNvCxnSpPr>
            <a:cxnSpLocks/>
          </p:cNvCxnSpPr>
          <p:nvPr/>
        </p:nvCxnSpPr>
        <p:spPr>
          <a:xfrm>
            <a:off x="171450" y="5461827"/>
            <a:ext cx="8801100" cy="0"/>
          </a:xfrm>
          <a:prstGeom prst="line">
            <a:avLst/>
          </a:prstGeom>
          <a:ln w="9525">
            <a:solidFill>
              <a:srgbClr val="0396A6"/>
            </a:solidFill>
          </a:ln>
        </p:spPr>
        <p:style>
          <a:lnRef idx="2">
            <a:schemeClr val="accent1"/>
          </a:lnRef>
          <a:fillRef idx="0">
            <a:schemeClr val="accent1"/>
          </a:fillRef>
          <a:effectRef idx="1">
            <a:schemeClr val="accent1"/>
          </a:effectRef>
          <a:fontRef idx="minor">
            <a:schemeClr val="tx1"/>
          </a:fontRef>
        </p:style>
      </p:cxnSp>
      <p:sp>
        <p:nvSpPr>
          <p:cNvPr id="6" name="Content Placeholder 2">
            <a:extLst>
              <a:ext uri="{FF2B5EF4-FFF2-40B4-BE49-F238E27FC236}">
                <a16:creationId xmlns:a16="http://schemas.microsoft.com/office/drawing/2014/main" id="{7CCF1B01-C70B-AC5C-93D1-79A28445C75F}"/>
              </a:ext>
            </a:extLst>
          </p:cNvPr>
          <p:cNvSpPr txBox="1">
            <a:spLocks/>
          </p:cNvSpPr>
          <p:nvPr/>
        </p:nvSpPr>
        <p:spPr>
          <a:xfrm>
            <a:off x="389164" y="5627266"/>
            <a:ext cx="8583386" cy="676720"/>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b="1" dirty="0">
                <a:solidFill>
                  <a:srgbClr val="021836"/>
                </a:solidFill>
              </a:rPr>
              <a:t>Guiding Philosophy</a:t>
            </a:r>
          </a:p>
          <a:p>
            <a:pPr marL="0" indent="0">
              <a:buFont typeface="Arial" panose="020B0604020202020204" pitchFamily="34" charset="0"/>
              <a:buNone/>
            </a:pPr>
            <a:r>
              <a:rPr lang="en-US" sz="1400" i="1" dirty="0">
                <a:solidFill>
                  <a:schemeClr val="bg1">
                    <a:lumMod val="50000"/>
                  </a:schemeClr>
                </a:solidFill>
              </a:rPr>
              <a:t>Evidence makes operational decisions observable, supportable, and </a:t>
            </a:r>
            <a:r>
              <a:rPr lang="en-US" sz="1400" i="1" dirty="0" err="1">
                <a:solidFill>
                  <a:schemeClr val="bg1">
                    <a:lumMod val="50000"/>
                  </a:schemeClr>
                </a:solidFill>
              </a:rPr>
              <a:t>reconstructable</a:t>
            </a:r>
            <a:r>
              <a:rPr lang="en-US" sz="1400" i="1" dirty="0">
                <a:solidFill>
                  <a:schemeClr val="bg1">
                    <a:lumMod val="50000"/>
                  </a:schemeClr>
                </a:solidFill>
              </a:rPr>
              <a:t>.</a:t>
            </a:r>
          </a:p>
        </p:txBody>
      </p:sp>
      <p:sp>
        <p:nvSpPr>
          <p:cNvPr id="8" name="Content Placeholder 2">
            <a:extLst>
              <a:ext uri="{FF2B5EF4-FFF2-40B4-BE49-F238E27FC236}">
                <a16:creationId xmlns:a16="http://schemas.microsoft.com/office/drawing/2014/main" id="{0716D9A6-53FA-B46A-9973-72B4BAEB43CD}"/>
              </a:ext>
            </a:extLst>
          </p:cNvPr>
          <p:cNvSpPr txBox="1">
            <a:spLocks/>
          </p:cNvSpPr>
          <p:nvPr/>
        </p:nvSpPr>
        <p:spPr>
          <a:xfrm>
            <a:off x="460617" y="3779319"/>
            <a:ext cx="8583386" cy="1682508"/>
          </a:xfrm>
          <a:prstGeom prst="rect">
            <a:avLst/>
          </a:prstGeom>
        </p:spPr>
        <p:txBody>
          <a:bodyPr vert="horz" lIns="91440" tIns="45720" rIns="91440" bIns="45720" numCol="1"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500" b="1" dirty="0">
                <a:solidFill>
                  <a:srgbClr val="021836"/>
                </a:solidFill>
              </a:rPr>
              <a:t>Evidence Quality Check</a:t>
            </a:r>
          </a:p>
          <a:p>
            <a:r>
              <a:rPr lang="en-US" sz="1400" b="1" dirty="0"/>
              <a:t>Integrity</a:t>
            </a:r>
            <a:r>
              <a:rPr lang="en-US" sz="1400" dirty="0"/>
              <a:t> – Can alteration be detected?</a:t>
            </a:r>
          </a:p>
          <a:p>
            <a:r>
              <a:rPr lang="en-US" sz="1400" b="1" dirty="0"/>
              <a:t>Provenance </a:t>
            </a:r>
            <a:r>
              <a:rPr lang="en-US" sz="1400" dirty="0"/>
              <a:t>– Where did the evidence come from?</a:t>
            </a:r>
          </a:p>
          <a:p>
            <a:r>
              <a:rPr lang="en-US" sz="1400" b="1" dirty="0"/>
              <a:t>Traceability</a:t>
            </a:r>
            <a:r>
              <a:rPr lang="en-US" sz="1400" dirty="0"/>
              <a:t> – Can it be connected to the relevant decision?</a:t>
            </a:r>
          </a:p>
          <a:p>
            <a:r>
              <a:rPr lang="en-US" sz="1400" b="1" dirty="0"/>
              <a:t>Version Alignment </a:t>
            </a:r>
            <a:r>
              <a:rPr lang="en-US" sz="1400" dirty="0"/>
              <a:t>– Does it describe what was operating?</a:t>
            </a:r>
          </a:p>
          <a:p>
            <a:r>
              <a:rPr lang="en-US" sz="1400" b="1" dirty="0"/>
              <a:t>Continued Relevance / Freshness </a:t>
            </a:r>
            <a:r>
              <a:rPr lang="en-US" sz="1400" dirty="0"/>
              <a:t>– Does it still support the decision now?</a:t>
            </a:r>
          </a:p>
        </p:txBody>
      </p:sp>
      <p:sp>
        <p:nvSpPr>
          <p:cNvPr id="9" name="TextBox 8">
            <a:extLst>
              <a:ext uri="{FF2B5EF4-FFF2-40B4-BE49-F238E27FC236}">
                <a16:creationId xmlns:a16="http://schemas.microsoft.com/office/drawing/2014/main" id="{DC1D0798-9450-F37A-1BD3-299804A40A0D}"/>
              </a:ext>
            </a:extLst>
          </p:cNvPr>
          <p:cNvSpPr txBox="1"/>
          <p:nvPr/>
        </p:nvSpPr>
        <p:spPr>
          <a:xfrm>
            <a:off x="4408714" y="64309"/>
            <a:ext cx="4628748" cy="276999"/>
          </a:xfrm>
          <a:prstGeom prst="rect">
            <a:avLst/>
          </a:prstGeom>
          <a:noFill/>
        </p:spPr>
        <p:txBody>
          <a:bodyPr wrap="square" rtlCol="0">
            <a:spAutoFit/>
          </a:bodyPr>
          <a:lstStyle/>
          <a:p>
            <a:pPr algn="r"/>
            <a:r>
              <a:rPr lang="en-US" sz="1200" dirty="0">
                <a:solidFill>
                  <a:schemeClr val="bg1">
                    <a:lumMod val="50000"/>
                  </a:schemeClr>
                </a:solidFill>
              </a:rPr>
              <a:t>AI Operational Readiness • Evidence Framework</a:t>
            </a:r>
          </a:p>
        </p:txBody>
      </p:sp>
    </p:spTree>
    <p:extLst>
      <p:ext uri="{BB962C8B-B14F-4D97-AF65-F5344CB8AC3E}">
        <p14:creationId xmlns:p14="http://schemas.microsoft.com/office/powerpoint/2010/main" val="214166782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4A20EB-F0F1-633E-A917-29CACC76D2DD}"/>
              </a:ext>
            </a:extLst>
          </p:cNvPr>
          <p:cNvSpPr>
            <a:spLocks noGrp="1"/>
          </p:cNvSpPr>
          <p:nvPr>
            <p:ph type="title"/>
          </p:nvPr>
        </p:nvSpPr>
        <p:spPr>
          <a:xfrm>
            <a:off x="273534" y="-86630"/>
            <a:ext cx="7886700" cy="1325563"/>
          </a:xfrm>
        </p:spPr>
        <p:txBody>
          <a:bodyPr/>
          <a:lstStyle/>
          <a:p>
            <a:r>
              <a:rPr lang="en-US" dirty="0"/>
              <a:t>Value Evidence</a:t>
            </a:r>
          </a:p>
        </p:txBody>
      </p:sp>
      <p:sp>
        <p:nvSpPr>
          <p:cNvPr id="9" name="Content Placeholder 2">
            <a:extLst>
              <a:ext uri="{FF2B5EF4-FFF2-40B4-BE49-F238E27FC236}">
                <a16:creationId xmlns:a16="http://schemas.microsoft.com/office/drawing/2014/main" id="{48E51978-00F1-B6E7-729C-1B8DF030C461}"/>
              </a:ext>
            </a:extLst>
          </p:cNvPr>
          <p:cNvSpPr txBox="1">
            <a:spLocks/>
          </p:cNvSpPr>
          <p:nvPr/>
        </p:nvSpPr>
        <p:spPr>
          <a:xfrm>
            <a:off x="317078" y="844267"/>
            <a:ext cx="7886700" cy="299244"/>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Understanding what business value is created</a:t>
            </a:r>
          </a:p>
        </p:txBody>
      </p:sp>
      <p:graphicFrame>
        <p:nvGraphicFramePr>
          <p:cNvPr id="13" name="Table 12">
            <a:extLst>
              <a:ext uri="{FF2B5EF4-FFF2-40B4-BE49-F238E27FC236}">
                <a16:creationId xmlns:a16="http://schemas.microsoft.com/office/drawing/2014/main" id="{E1AF20BB-126A-AE2E-8229-2D75E4B88BD1}"/>
              </a:ext>
            </a:extLst>
          </p:cNvPr>
          <p:cNvGraphicFramePr>
            <a:graphicFrameLocks noGrp="1"/>
          </p:cNvGraphicFramePr>
          <p:nvPr/>
        </p:nvGraphicFramePr>
        <p:xfrm>
          <a:off x="360622" y="2992082"/>
          <a:ext cx="8218714" cy="2133600"/>
        </p:xfrm>
        <a:graphic>
          <a:graphicData uri="http://schemas.openxmlformats.org/drawingml/2006/table">
            <a:tbl>
              <a:tblPr firstRow="1" bandRow="1">
                <a:tableStyleId>{2D5ABB26-0587-4C30-8999-92F81FD0307C}</a:tableStyleId>
              </a:tblPr>
              <a:tblGrid>
                <a:gridCol w="3287487">
                  <a:extLst>
                    <a:ext uri="{9D8B030D-6E8A-4147-A177-3AD203B41FA5}">
                      <a16:colId xmlns:a16="http://schemas.microsoft.com/office/drawing/2014/main" val="2470210094"/>
                    </a:ext>
                  </a:extLst>
                </a:gridCol>
                <a:gridCol w="4931227">
                  <a:extLst>
                    <a:ext uri="{9D8B030D-6E8A-4147-A177-3AD203B41FA5}">
                      <a16:colId xmlns:a16="http://schemas.microsoft.com/office/drawing/2014/main" val="72878264"/>
                    </a:ext>
                  </a:extLst>
                </a:gridCol>
              </a:tblGrid>
              <a:tr h="229524">
                <a:tc>
                  <a:txBody>
                    <a:bodyPr/>
                    <a:lstStyle/>
                    <a:p>
                      <a:r>
                        <a:rPr lang="en-US" sz="1400" b="1" dirty="0">
                          <a:solidFill>
                            <a:srgbClr val="021836"/>
                          </a:solidFill>
                        </a:rPr>
                        <a:t>Value Elements</a:t>
                      </a:r>
                    </a:p>
                  </a:txBody>
                  <a:tcPr>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rgbClr val="0396A6"/>
                      </a:solidFill>
                      <a:prstDash val="solid"/>
                      <a:round/>
                      <a:headEnd type="none" w="med" len="med"/>
                      <a:tailEnd type="none" w="med" len="med"/>
                    </a:lnB>
                  </a:tcPr>
                </a:tc>
                <a:tc>
                  <a:txBody>
                    <a:bodyPr/>
                    <a:lstStyle/>
                    <a:p>
                      <a:r>
                        <a:rPr lang="en-US" sz="1400" b="1" dirty="0">
                          <a:solidFill>
                            <a:srgbClr val="021836"/>
                          </a:solidFill>
                        </a:rPr>
                        <a:t>Proposed Design</a:t>
                      </a:r>
                    </a:p>
                  </a:txBody>
                  <a:tcPr>
                    <a:lnL w="12700" cap="flat" cmpd="sng" algn="ctr">
                      <a:solidFill>
                        <a:schemeClr val="bg1">
                          <a:lumMod val="75000"/>
                        </a:schemeClr>
                      </a:solidFill>
                      <a:prstDash val="solid"/>
                      <a:round/>
                      <a:headEnd type="none" w="med" len="med"/>
                      <a:tailEnd type="none" w="med" len="med"/>
                    </a:lnL>
                    <a:lnT w="12700" cap="flat" cmpd="sng" algn="ctr">
                      <a:solidFill>
                        <a:srgbClr val="0396A6"/>
                      </a:solidFill>
                      <a:prstDash val="solid"/>
                      <a:round/>
                      <a:headEnd type="none" w="med" len="med"/>
                      <a:tailEnd type="none" w="med" len="med"/>
                    </a:lnT>
                    <a:lnB w="12700" cap="flat" cmpd="sng" algn="ctr">
                      <a:solidFill>
                        <a:srgbClr val="0396A6"/>
                      </a:solidFill>
                      <a:prstDash val="solid"/>
                      <a:round/>
                      <a:headEnd type="none" w="med" len="med"/>
                      <a:tailEnd type="none" w="med" len="med"/>
                    </a:lnB>
                  </a:tcPr>
                </a:tc>
                <a:extLst>
                  <a:ext uri="{0D108BD9-81ED-4DB2-BD59-A6C34878D82A}">
                    <a16:rowId xmlns:a16="http://schemas.microsoft.com/office/drawing/2014/main" val="2061593276"/>
                  </a:ext>
                </a:extLst>
              </a:tr>
              <a:tr h="311500">
                <a:tc>
                  <a:txBody>
                    <a:bodyPr/>
                    <a:lstStyle/>
                    <a:p>
                      <a:pPr>
                        <a:buClr>
                          <a:schemeClr val="bg1">
                            <a:lumMod val="50000"/>
                          </a:schemeClr>
                        </a:buClr>
                      </a:pPr>
                      <a:r>
                        <a:rPr lang="en-US" sz="1400" dirty="0"/>
                        <a:t>Success Measure</a:t>
                      </a:r>
                    </a:p>
                  </a:txBody>
                  <a:tcPr>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75000"/>
                        </a:schemeClr>
                      </a:solidFill>
                      <a:prstDash val="solid"/>
                      <a:round/>
                      <a:headEnd type="none" w="med" len="med"/>
                      <a:tailEnd type="none" w="med" len="med"/>
                    </a:lnL>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493753442"/>
                  </a:ext>
                </a:extLst>
              </a:tr>
              <a:tr h="311500">
                <a:tc>
                  <a:txBody>
                    <a:bodyPr/>
                    <a:lstStyle/>
                    <a:p>
                      <a:pPr>
                        <a:buClr>
                          <a:schemeClr val="bg1">
                            <a:lumMod val="50000"/>
                          </a:schemeClr>
                        </a:buClr>
                      </a:pPr>
                      <a:r>
                        <a:rPr lang="en-US" sz="1400" dirty="0"/>
                        <a:t>Baseline</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23325965"/>
                  </a:ext>
                </a:extLst>
              </a:tr>
              <a:tr h="311500">
                <a:tc>
                  <a:txBody>
                    <a:bodyPr/>
                    <a:lstStyle/>
                    <a:p>
                      <a:pPr>
                        <a:buClr>
                          <a:schemeClr val="bg1">
                            <a:lumMod val="50000"/>
                          </a:schemeClr>
                        </a:buClr>
                      </a:pPr>
                      <a:r>
                        <a:rPr lang="en-US" sz="1400" dirty="0"/>
                        <a:t>Target Improvement</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845834834"/>
                  </a:ext>
                </a:extLst>
              </a:tr>
              <a:tr h="311500">
                <a:tc>
                  <a:txBody>
                    <a:bodyPr/>
                    <a:lstStyle/>
                    <a:p>
                      <a:pPr>
                        <a:buClr>
                          <a:schemeClr val="bg1">
                            <a:lumMod val="50000"/>
                          </a:schemeClr>
                        </a:buClr>
                      </a:pPr>
                      <a:r>
                        <a:rPr lang="en-US" sz="1400" dirty="0"/>
                        <a:t>Measurement Frequency</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012176639"/>
                  </a:ext>
                </a:extLst>
              </a:tr>
              <a:tr h="311500">
                <a:tc>
                  <a:txBody>
                    <a:bodyPr/>
                    <a:lstStyle/>
                    <a:p>
                      <a:pPr>
                        <a:buClr>
                          <a:schemeClr val="bg1">
                            <a:lumMod val="50000"/>
                          </a:schemeClr>
                        </a:buClr>
                      </a:pPr>
                      <a:r>
                        <a:rPr lang="en-US" sz="1400" dirty="0"/>
                        <a:t>Reporting Owner</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181736068"/>
                  </a:ext>
                </a:extLst>
              </a:tr>
            </a:tbl>
          </a:graphicData>
        </a:graphic>
      </p:graphicFrame>
      <p:sp>
        <p:nvSpPr>
          <p:cNvPr id="3" name="Content Placeholder 2">
            <a:extLst>
              <a:ext uri="{FF2B5EF4-FFF2-40B4-BE49-F238E27FC236}">
                <a16:creationId xmlns:a16="http://schemas.microsoft.com/office/drawing/2014/main" id="{7F451F4A-CD24-A023-B23B-7052C7F0B573}"/>
              </a:ext>
            </a:extLst>
          </p:cNvPr>
          <p:cNvSpPr txBox="1">
            <a:spLocks/>
          </p:cNvSpPr>
          <p:nvPr/>
        </p:nvSpPr>
        <p:spPr>
          <a:xfrm>
            <a:off x="360622" y="1160017"/>
            <a:ext cx="7886700" cy="158267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b="1" dirty="0">
                <a:solidFill>
                  <a:srgbClr val="021836"/>
                </a:solidFill>
              </a:rPr>
              <a:t>Questions</a:t>
            </a:r>
          </a:p>
          <a:p>
            <a:pPr>
              <a:lnSpc>
                <a:spcPct val="110000"/>
              </a:lnSpc>
              <a:spcBef>
                <a:spcPts val="600"/>
              </a:spcBef>
            </a:pPr>
            <a:r>
              <a:rPr lang="en-US" sz="1200" dirty="0"/>
              <a:t>What outcome should be improved?</a:t>
            </a:r>
          </a:p>
          <a:p>
            <a:pPr>
              <a:lnSpc>
                <a:spcPct val="110000"/>
              </a:lnSpc>
              <a:spcBef>
                <a:spcPts val="600"/>
              </a:spcBef>
            </a:pPr>
            <a:r>
              <a:rPr lang="en-US" sz="1200" dirty="0"/>
              <a:t>What baseline exists?</a:t>
            </a:r>
          </a:p>
          <a:p>
            <a:pPr>
              <a:lnSpc>
                <a:spcPct val="110000"/>
              </a:lnSpc>
              <a:spcBef>
                <a:spcPts val="600"/>
              </a:spcBef>
            </a:pPr>
            <a:r>
              <a:rPr lang="en-US" sz="1200" dirty="0"/>
              <a:t>How will value be measured?</a:t>
            </a:r>
          </a:p>
          <a:p>
            <a:pPr>
              <a:lnSpc>
                <a:spcPct val="110000"/>
              </a:lnSpc>
              <a:spcBef>
                <a:spcPts val="600"/>
              </a:spcBef>
            </a:pPr>
            <a:r>
              <a:rPr lang="en-US" sz="1200" dirty="0"/>
              <a:t>What constitutes success?</a:t>
            </a:r>
            <a:endParaRPr lang="en-US" sz="1600" dirty="0"/>
          </a:p>
        </p:txBody>
      </p:sp>
      <p:sp>
        <p:nvSpPr>
          <p:cNvPr id="4" name="Content Placeholder 2">
            <a:extLst>
              <a:ext uri="{FF2B5EF4-FFF2-40B4-BE49-F238E27FC236}">
                <a16:creationId xmlns:a16="http://schemas.microsoft.com/office/drawing/2014/main" id="{D17378A1-1CDB-6728-CDAC-CA0498D8339E}"/>
              </a:ext>
            </a:extLst>
          </p:cNvPr>
          <p:cNvSpPr txBox="1">
            <a:spLocks/>
          </p:cNvSpPr>
          <p:nvPr/>
        </p:nvSpPr>
        <p:spPr>
          <a:xfrm>
            <a:off x="360622" y="2692837"/>
            <a:ext cx="7886700" cy="29924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b="1" dirty="0">
                <a:solidFill>
                  <a:srgbClr val="021836"/>
                </a:solidFill>
              </a:rPr>
              <a:t>Design Elements</a:t>
            </a:r>
          </a:p>
        </p:txBody>
      </p:sp>
      <p:cxnSp>
        <p:nvCxnSpPr>
          <p:cNvPr id="14" name="Straight Connector 13">
            <a:extLst>
              <a:ext uri="{FF2B5EF4-FFF2-40B4-BE49-F238E27FC236}">
                <a16:creationId xmlns:a16="http://schemas.microsoft.com/office/drawing/2014/main" id="{861F1DC6-BFD0-4254-E129-009425AE63C6}"/>
              </a:ext>
            </a:extLst>
          </p:cNvPr>
          <p:cNvCxnSpPr>
            <a:cxnSpLocks/>
          </p:cNvCxnSpPr>
          <p:nvPr/>
        </p:nvCxnSpPr>
        <p:spPr>
          <a:xfrm>
            <a:off x="171450" y="5319971"/>
            <a:ext cx="8801100" cy="0"/>
          </a:xfrm>
          <a:prstGeom prst="line">
            <a:avLst/>
          </a:prstGeom>
          <a:ln w="9525">
            <a:solidFill>
              <a:srgbClr val="0396A6"/>
            </a:solidFill>
          </a:ln>
        </p:spPr>
        <p:style>
          <a:lnRef idx="2">
            <a:schemeClr val="accent1"/>
          </a:lnRef>
          <a:fillRef idx="0">
            <a:schemeClr val="accent1"/>
          </a:fillRef>
          <a:effectRef idx="1">
            <a:schemeClr val="accent1"/>
          </a:effectRef>
          <a:fontRef idx="minor">
            <a:schemeClr val="tx1"/>
          </a:fontRef>
        </p:style>
      </p:cxnSp>
      <p:grpSp>
        <p:nvGrpSpPr>
          <p:cNvPr id="21" name="Group 20">
            <a:extLst>
              <a:ext uri="{FF2B5EF4-FFF2-40B4-BE49-F238E27FC236}">
                <a16:creationId xmlns:a16="http://schemas.microsoft.com/office/drawing/2014/main" id="{EFA30D64-4CCC-FCF9-E09C-B8538552E0B8}"/>
              </a:ext>
            </a:extLst>
          </p:cNvPr>
          <p:cNvGrpSpPr/>
          <p:nvPr/>
        </p:nvGrpSpPr>
        <p:grpSpPr>
          <a:xfrm>
            <a:off x="317078" y="5422817"/>
            <a:ext cx="7902996" cy="1279640"/>
            <a:chOff x="526629" y="5769213"/>
            <a:chExt cx="7902996" cy="1279640"/>
          </a:xfrm>
        </p:grpSpPr>
        <p:grpSp>
          <p:nvGrpSpPr>
            <p:cNvPr id="15" name="Group 14">
              <a:extLst>
                <a:ext uri="{FF2B5EF4-FFF2-40B4-BE49-F238E27FC236}">
                  <a16:creationId xmlns:a16="http://schemas.microsoft.com/office/drawing/2014/main" id="{6D71D18B-7160-4714-4893-50707E6A2D47}"/>
                </a:ext>
              </a:extLst>
            </p:cNvPr>
            <p:cNvGrpSpPr/>
            <p:nvPr/>
          </p:nvGrpSpPr>
          <p:grpSpPr>
            <a:xfrm>
              <a:off x="542925" y="5769213"/>
              <a:ext cx="7886700" cy="820961"/>
              <a:chOff x="628650" y="4778376"/>
              <a:chExt cx="7886700" cy="820961"/>
            </a:xfrm>
          </p:grpSpPr>
          <p:sp>
            <p:nvSpPr>
              <p:cNvPr id="16" name="Content Placeholder 2">
                <a:extLst>
                  <a:ext uri="{FF2B5EF4-FFF2-40B4-BE49-F238E27FC236}">
                    <a16:creationId xmlns:a16="http://schemas.microsoft.com/office/drawing/2014/main" id="{F70C66AC-E3BF-16DC-2ECE-EC89A9DD3B51}"/>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400" b="1" dirty="0">
                    <a:solidFill>
                      <a:srgbClr val="021836"/>
                    </a:solidFill>
                    <a:latin typeface="Aptos" panose="02110004020202020204"/>
                  </a:rPr>
                  <a:t>Value</a:t>
                </a: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 Signals</a:t>
                </a:r>
              </a:p>
            </p:txBody>
          </p:sp>
          <p:sp>
            <p:nvSpPr>
              <p:cNvPr id="17" name="Content Placeholder 2">
                <a:extLst>
                  <a:ext uri="{FF2B5EF4-FFF2-40B4-BE49-F238E27FC236}">
                    <a16:creationId xmlns:a16="http://schemas.microsoft.com/office/drawing/2014/main" id="{63697B9B-9AE4-EE1E-5160-FB97A55DB4B5}"/>
                  </a:ext>
                </a:extLst>
              </p:cNvPr>
              <p:cNvSpPr txBox="1">
                <a:spLocks/>
              </p:cNvSpPr>
              <p:nvPr/>
            </p:nvSpPr>
            <p:spPr>
              <a:xfrm>
                <a:off x="628650" y="5032600"/>
                <a:ext cx="7660853" cy="566737"/>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Clr>
                    <a:srgbClr val="021836"/>
                  </a:buClr>
                  <a:buNone/>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Cycle time • Reduced effort • Cost reduction • Increased throughput • </a:t>
                </a:r>
                <a:r>
                  <a:rPr lang="en-US" sz="1200" i="1" dirty="0">
                    <a:solidFill>
                      <a:prstClr val="white">
                        <a:lumMod val="50000"/>
                      </a:prstClr>
                    </a:solidFill>
                  </a:rPr>
                  <a:t>Customer satisfaction • Quality improvements</a:t>
                </a:r>
                <a:endPar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endParaRPr>
              </a:p>
            </p:txBody>
          </p:sp>
        </p:grpSp>
        <p:grpSp>
          <p:nvGrpSpPr>
            <p:cNvPr id="18" name="Group 17">
              <a:extLst>
                <a:ext uri="{FF2B5EF4-FFF2-40B4-BE49-F238E27FC236}">
                  <a16:creationId xmlns:a16="http://schemas.microsoft.com/office/drawing/2014/main" id="{F97B14ED-664B-E3A1-6C8D-A79E532C8005}"/>
                </a:ext>
              </a:extLst>
            </p:cNvPr>
            <p:cNvGrpSpPr/>
            <p:nvPr/>
          </p:nvGrpSpPr>
          <p:grpSpPr>
            <a:xfrm>
              <a:off x="526629" y="6453316"/>
              <a:ext cx="7886700" cy="595537"/>
              <a:chOff x="628650" y="4778376"/>
              <a:chExt cx="7886700" cy="595537"/>
            </a:xfrm>
          </p:grpSpPr>
          <p:sp>
            <p:nvSpPr>
              <p:cNvPr id="19" name="Content Placeholder 2">
                <a:extLst>
                  <a:ext uri="{FF2B5EF4-FFF2-40B4-BE49-F238E27FC236}">
                    <a16:creationId xmlns:a16="http://schemas.microsoft.com/office/drawing/2014/main" id="{67E4405E-1FA0-C75D-AFB7-A5E1B4C990CF}"/>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Guiding Principle</a:t>
                </a:r>
              </a:p>
            </p:txBody>
          </p:sp>
          <p:sp>
            <p:nvSpPr>
              <p:cNvPr id="20" name="Content Placeholder 2">
                <a:extLst>
                  <a:ext uri="{FF2B5EF4-FFF2-40B4-BE49-F238E27FC236}">
                    <a16:creationId xmlns:a16="http://schemas.microsoft.com/office/drawing/2014/main" id="{86C1A09B-CA75-40EF-43DD-BE2CEF663546}"/>
                  </a:ext>
                </a:extLst>
              </p:cNvPr>
              <p:cNvSpPr txBox="1">
                <a:spLocks/>
              </p:cNvSpPr>
              <p:nvPr/>
            </p:nvSpPr>
            <p:spPr>
              <a:xfrm>
                <a:off x="628650" y="5032601"/>
                <a:ext cx="7886700" cy="341312"/>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lang="en-US" sz="1200" dirty="0">
                    <a:solidFill>
                      <a:srgbClr val="021836"/>
                    </a:solidFill>
                    <a:latin typeface="Aptos" panose="02110004020202020204"/>
                  </a:rPr>
                  <a:t>Value should be measurable before it is celebrated.</a:t>
                </a:r>
                <a:endPar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endParaRPr>
              </a:p>
            </p:txBody>
          </p:sp>
        </p:grpSp>
      </p:grpSp>
      <p:sp>
        <p:nvSpPr>
          <p:cNvPr id="6" name="TextBox 5">
            <a:extLst>
              <a:ext uri="{FF2B5EF4-FFF2-40B4-BE49-F238E27FC236}">
                <a16:creationId xmlns:a16="http://schemas.microsoft.com/office/drawing/2014/main" id="{9ECC4603-4A87-6A41-36D2-0434C4BCCCE2}"/>
              </a:ext>
            </a:extLst>
          </p:cNvPr>
          <p:cNvSpPr txBox="1"/>
          <p:nvPr/>
        </p:nvSpPr>
        <p:spPr>
          <a:xfrm>
            <a:off x="4408714" y="64309"/>
            <a:ext cx="4628748" cy="276999"/>
          </a:xfrm>
          <a:prstGeom prst="rect">
            <a:avLst/>
          </a:prstGeom>
          <a:noFill/>
        </p:spPr>
        <p:txBody>
          <a:bodyPr wrap="square" rtlCol="0">
            <a:spAutoFit/>
          </a:bodyPr>
          <a:lstStyle/>
          <a:p>
            <a:pPr algn="r"/>
            <a:r>
              <a:rPr lang="en-US" sz="1200" dirty="0">
                <a:solidFill>
                  <a:schemeClr val="bg1">
                    <a:lumMod val="50000"/>
                  </a:schemeClr>
                </a:solidFill>
              </a:rPr>
              <a:t>AI Operational Readiness • Evidence Framework</a:t>
            </a:r>
          </a:p>
        </p:txBody>
      </p:sp>
    </p:spTree>
    <p:extLst>
      <p:ext uri="{BB962C8B-B14F-4D97-AF65-F5344CB8AC3E}">
        <p14:creationId xmlns:p14="http://schemas.microsoft.com/office/powerpoint/2010/main" val="128784379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59DFF-2554-80B4-C060-A07C4CA639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90D10B-DC03-F67B-A6F3-A103F1C84D25}"/>
              </a:ext>
            </a:extLst>
          </p:cNvPr>
          <p:cNvSpPr>
            <a:spLocks noGrp="1"/>
          </p:cNvSpPr>
          <p:nvPr>
            <p:ph type="title"/>
          </p:nvPr>
        </p:nvSpPr>
        <p:spPr>
          <a:xfrm>
            <a:off x="273534" y="-86630"/>
            <a:ext cx="7886700" cy="1325563"/>
          </a:xfrm>
        </p:spPr>
        <p:txBody>
          <a:bodyPr/>
          <a:lstStyle/>
          <a:p>
            <a:r>
              <a:rPr lang="en-US" dirty="0"/>
              <a:t>Quality Evidence</a:t>
            </a:r>
          </a:p>
        </p:txBody>
      </p:sp>
      <p:sp>
        <p:nvSpPr>
          <p:cNvPr id="9" name="Content Placeholder 2">
            <a:extLst>
              <a:ext uri="{FF2B5EF4-FFF2-40B4-BE49-F238E27FC236}">
                <a16:creationId xmlns:a16="http://schemas.microsoft.com/office/drawing/2014/main" id="{366E8A36-BBC6-E548-1FAF-93E48057BC17}"/>
              </a:ext>
            </a:extLst>
          </p:cNvPr>
          <p:cNvSpPr txBox="1">
            <a:spLocks/>
          </p:cNvSpPr>
          <p:nvPr/>
        </p:nvSpPr>
        <p:spPr>
          <a:xfrm>
            <a:off x="317078" y="844267"/>
            <a:ext cx="7886700" cy="299244"/>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Understanding whether outputs meet expectations</a:t>
            </a:r>
          </a:p>
        </p:txBody>
      </p:sp>
      <p:graphicFrame>
        <p:nvGraphicFramePr>
          <p:cNvPr id="13" name="Table 12">
            <a:extLst>
              <a:ext uri="{FF2B5EF4-FFF2-40B4-BE49-F238E27FC236}">
                <a16:creationId xmlns:a16="http://schemas.microsoft.com/office/drawing/2014/main" id="{6C0A3636-3D17-FF18-2826-3D1002D0191E}"/>
              </a:ext>
            </a:extLst>
          </p:cNvPr>
          <p:cNvGraphicFramePr>
            <a:graphicFrameLocks noGrp="1"/>
          </p:cNvGraphicFramePr>
          <p:nvPr/>
        </p:nvGraphicFramePr>
        <p:xfrm>
          <a:off x="360622" y="2977804"/>
          <a:ext cx="8218714" cy="2133600"/>
        </p:xfrm>
        <a:graphic>
          <a:graphicData uri="http://schemas.openxmlformats.org/drawingml/2006/table">
            <a:tbl>
              <a:tblPr firstRow="1" bandRow="1">
                <a:tableStyleId>{2D5ABB26-0587-4C30-8999-92F81FD0307C}</a:tableStyleId>
              </a:tblPr>
              <a:tblGrid>
                <a:gridCol w="3287487">
                  <a:extLst>
                    <a:ext uri="{9D8B030D-6E8A-4147-A177-3AD203B41FA5}">
                      <a16:colId xmlns:a16="http://schemas.microsoft.com/office/drawing/2014/main" val="2470210094"/>
                    </a:ext>
                  </a:extLst>
                </a:gridCol>
                <a:gridCol w="4931227">
                  <a:extLst>
                    <a:ext uri="{9D8B030D-6E8A-4147-A177-3AD203B41FA5}">
                      <a16:colId xmlns:a16="http://schemas.microsoft.com/office/drawing/2014/main" val="72878264"/>
                    </a:ext>
                  </a:extLst>
                </a:gridCol>
              </a:tblGrid>
              <a:tr h="229524">
                <a:tc>
                  <a:txBody>
                    <a:bodyPr/>
                    <a:lstStyle/>
                    <a:p>
                      <a:r>
                        <a:rPr lang="en-US" sz="1400" b="1" dirty="0">
                          <a:solidFill>
                            <a:srgbClr val="021836"/>
                          </a:solidFill>
                        </a:rPr>
                        <a:t>Quality Elements</a:t>
                      </a:r>
                    </a:p>
                  </a:txBody>
                  <a:tcPr>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rgbClr val="0396A6"/>
                      </a:solidFill>
                      <a:prstDash val="solid"/>
                      <a:round/>
                      <a:headEnd type="none" w="med" len="med"/>
                      <a:tailEnd type="none" w="med" len="med"/>
                    </a:lnB>
                  </a:tcPr>
                </a:tc>
                <a:tc>
                  <a:txBody>
                    <a:bodyPr/>
                    <a:lstStyle/>
                    <a:p>
                      <a:r>
                        <a:rPr lang="en-US" sz="1400" b="1" dirty="0">
                          <a:solidFill>
                            <a:srgbClr val="021836"/>
                          </a:solidFill>
                        </a:rPr>
                        <a:t>Proposed Design</a:t>
                      </a:r>
                    </a:p>
                  </a:txBody>
                  <a:tcPr>
                    <a:lnL w="12700" cap="flat" cmpd="sng" algn="ctr">
                      <a:solidFill>
                        <a:schemeClr val="bg1">
                          <a:lumMod val="75000"/>
                        </a:schemeClr>
                      </a:solidFill>
                      <a:prstDash val="solid"/>
                      <a:round/>
                      <a:headEnd type="none" w="med" len="med"/>
                      <a:tailEnd type="none" w="med" len="med"/>
                    </a:lnL>
                    <a:lnT w="12700" cap="flat" cmpd="sng" algn="ctr">
                      <a:solidFill>
                        <a:srgbClr val="0396A6"/>
                      </a:solidFill>
                      <a:prstDash val="solid"/>
                      <a:round/>
                      <a:headEnd type="none" w="med" len="med"/>
                      <a:tailEnd type="none" w="med" len="med"/>
                    </a:lnT>
                    <a:lnB w="12700" cap="flat" cmpd="sng" algn="ctr">
                      <a:solidFill>
                        <a:srgbClr val="0396A6"/>
                      </a:solidFill>
                      <a:prstDash val="solid"/>
                      <a:round/>
                      <a:headEnd type="none" w="med" len="med"/>
                      <a:tailEnd type="none" w="med" len="med"/>
                    </a:lnB>
                  </a:tcPr>
                </a:tc>
                <a:extLst>
                  <a:ext uri="{0D108BD9-81ED-4DB2-BD59-A6C34878D82A}">
                    <a16:rowId xmlns:a16="http://schemas.microsoft.com/office/drawing/2014/main" val="2061593276"/>
                  </a:ext>
                </a:extLst>
              </a:tr>
              <a:tr h="311500">
                <a:tc>
                  <a:txBody>
                    <a:bodyPr/>
                    <a:lstStyle/>
                    <a:p>
                      <a:pPr>
                        <a:buClr>
                          <a:schemeClr val="bg1">
                            <a:lumMod val="50000"/>
                          </a:schemeClr>
                        </a:buClr>
                      </a:pPr>
                      <a:r>
                        <a:rPr lang="en-US" sz="1400" dirty="0"/>
                        <a:t>Quality Metric</a:t>
                      </a:r>
                    </a:p>
                  </a:txBody>
                  <a:tcPr>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75000"/>
                        </a:schemeClr>
                      </a:solidFill>
                      <a:prstDash val="solid"/>
                      <a:round/>
                      <a:headEnd type="none" w="med" len="med"/>
                      <a:tailEnd type="none" w="med" len="med"/>
                    </a:lnL>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493753442"/>
                  </a:ext>
                </a:extLst>
              </a:tr>
              <a:tr h="311500">
                <a:tc>
                  <a:txBody>
                    <a:bodyPr/>
                    <a:lstStyle/>
                    <a:p>
                      <a:pPr>
                        <a:buClr>
                          <a:schemeClr val="bg1">
                            <a:lumMod val="50000"/>
                          </a:schemeClr>
                        </a:buClr>
                      </a:pPr>
                      <a:r>
                        <a:rPr lang="en-US" sz="1400" dirty="0"/>
                        <a:t>Acceptance Criteria</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23325965"/>
                  </a:ext>
                </a:extLst>
              </a:tr>
              <a:tr h="311500">
                <a:tc>
                  <a:txBody>
                    <a:bodyPr/>
                    <a:lstStyle/>
                    <a:p>
                      <a:pPr>
                        <a:buClr>
                          <a:schemeClr val="bg1">
                            <a:lumMod val="50000"/>
                          </a:schemeClr>
                        </a:buClr>
                      </a:pPr>
                      <a:r>
                        <a:rPr lang="en-US" sz="1400" dirty="0"/>
                        <a:t>Review Frequency</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845834834"/>
                  </a:ext>
                </a:extLst>
              </a:tr>
              <a:tr h="311500">
                <a:tc>
                  <a:txBody>
                    <a:bodyPr/>
                    <a:lstStyle/>
                    <a:p>
                      <a:pPr>
                        <a:buClr>
                          <a:schemeClr val="bg1">
                            <a:lumMod val="50000"/>
                          </a:schemeClr>
                        </a:buClr>
                      </a:pPr>
                      <a:r>
                        <a:rPr lang="en-US" sz="1400" dirty="0"/>
                        <a:t>Error Threshold</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012176639"/>
                  </a:ext>
                </a:extLst>
              </a:tr>
              <a:tr h="311500">
                <a:tc>
                  <a:txBody>
                    <a:bodyPr/>
                    <a:lstStyle/>
                    <a:p>
                      <a:pPr>
                        <a:buClr>
                          <a:schemeClr val="bg1">
                            <a:lumMod val="50000"/>
                          </a:schemeClr>
                        </a:buClr>
                      </a:pPr>
                      <a:r>
                        <a:rPr lang="en-US" sz="1400" dirty="0"/>
                        <a:t>Verification Owner</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775192655"/>
                  </a:ext>
                </a:extLst>
              </a:tr>
            </a:tbl>
          </a:graphicData>
        </a:graphic>
      </p:graphicFrame>
      <p:sp>
        <p:nvSpPr>
          <p:cNvPr id="3" name="Content Placeholder 2">
            <a:extLst>
              <a:ext uri="{FF2B5EF4-FFF2-40B4-BE49-F238E27FC236}">
                <a16:creationId xmlns:a16="http://schemas.microsoft.com/office/drawing/2014/main" id="{2D73D34F-1815-8242-7405-0DDC95BD3421}"/>
              </a:ext>
            </a:extLst>
          </p:cNvPr>
          <p:cNvSpPr txBox="1">
            <a:spLocks/>
          </p:cNvSpPr>
          <p:nvPr/>
        </p:nvSpPr>
        <p:spPr>
          <a:xfrm>
            <a:off x="360622" y="1182245"/>
            <a:ext cx="7886700" cy="157784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Questions</a:t>
            </a:r>
          </a:p>
          <a:p>
            <a:pPr marL="228600" marR="0" lvl="0" indent="-228600" algn="l" defTabSz="914400" rtl="0" eaLnBrk="1" fontAlgn="auto" latinLnBrk="0" hangingPunct="1">
              <a:lnSpc>
                <a:spcPct val="110000"/>
              </a:lnSpc>
              <a:spcBef>
                <a:spcPts val="6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rPr>
              <a:t>How is quality verified?</a:t>
            </a:r>
          </a:p>
          <a:p>
            <a:pPr marL="228600" marR="0" lvl="0" indent="-228600" algn="l" defTabSz="914400" rtl="0" eaLnBrk="1" fontAlgn="auto" latinLnBrk="0" hangingPunct="1">
              <a:lnSpc>
                <a:spcPct val="110000"/>
              </a:lnSpc>
              <a:spcBef>
                <a:spcPts val="600"/>
              </a:spcBef>
              <a:spcAft>
                <a:spcPts val="0"/>
              </a:spcAft>
              <a:buClrTx/>
              <a:buSzTx/>
              <a:buFont typeface="Arial" panose="020B0604020202020204" pitchFamily="34" charset="0"/>
              <a:buChar char="•"/>
              <a:tabLst/>
              <a:defRPr/>
            </a:pPr>
            <a:r>
              <a:rPr lang="en-US" sz="1200" dirty="0">
                <a:solidFill>
                  <a:prstClr val="black"/>
                </a:solidFill>
                <a:latin typeface="Aptos" panose="02110004020202020204"/>
              </a:rPr>
              <a:t>What defects matter?</a:t>
            </a:r>
          </a:p>
          <a:p>
            <a:pPr marL="228600" marR="0" lvl="0" indent="-228600" algn="l" defTabSz="914400" rtl="0" eaLnBrk="1" fontAlgn="auto" latinLnBrk="0" hangingPunct="1">
              <a:lnSpc>
                <a:spcPct val="110000"/>
              </a:lnSpc>
              <a:spcBef>
                <a:spcPts val="6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rPr>
              <a:t>What thresholds exist?</a:t>
            </a:r>
          </a:p>
          <a:p>
            <a:pPr marL="228600" marR="0" lvl="0" indent="-228600" algn="l" defTabSz="914400" rtl="0" eaLnBrk="1" fontAlgn="auto" latinLnBrk="0" hangingPunct="1">
              <a:lnSpc>
                <a:spcPct val="110000"/>
              </a:lnSpc>
              <a:spcBef>
                <a:spcPts val="600"/>
              </a:spcBef>
              <a:spcAft>
                <a:spcPts val="0"/>
              </a:spcAft>
              <a:buClrTx/>
              <a:buSzTx/>
              <a:buFont typeface="Arial" panose="020B0604020202020204" pitchFamily="34" charset="0"/>
              <a:buChar char="•"/>
              <a:tabLst/>
              <a:defRPr/>
            </a:pPr>
            <a:r>
              <a:rPr lang="en-US" sz="1200" dirty="0">
                <a:solidFill>
                  <a:prstClr val="black"/>
                </a:solidFill>
                <a:latin typeface="Aptos" panose="02110004020202020204"/>
              </a:rPr>
              <a:t>How often is quality reviewed?</a:t>
            </a:r>
            <a:endParaRPr kumimoji="0" lang="en-US" sz="16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4" name="Content Placeholder 2">
            <a:extLst>
              <a:ext uri="{FF2B5EF4-FFF2-40B4-BE49-F238E27FC236}">
                <a16:creationId xmlns:a16="http://schemas.microsoft.com/office/drawing/2014/main" id="{87D3226B-E33A-4214-59A2-21DA34A1C4BD}"/>
              </a:ext>
            </a:extLst>
          </p:cNvPr>
          <p:cNvSpPr txBox="1">
            <a:spLocks/>
          </p:cNvSpPr>
          <p:nvPr/>
        </p:nvSpPr>
        <p:spPr>
          <a:xfrm>
            <a:off x="360622" y="2678559"/>
            <a:ext cx="7886700" cy="29924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Design Elements</a:t>
            </a:r>
          </a:p>
        </p:txBody>
      </p:sp>
      <p:cxnSp>
        <p:nvCxnSpPr>
          <p:cNvPr id="14" name="Straight Connector 13">
            <a:extLst>
              <a:ext uri="{FF2B5EF4-FFF2-40B4-BE49-F238E27FC236}">
                <a16:creationId xmlns:a16="http://schemas.microsoft.com/office/drawing/2014/main" id="{ECD6FAAF-892C-DB64-E679-87E8E5B697E7}"/>
              </a:ext>
            </a:extLst>
          </p:cNvPr>
          <p:cNvCxnSpPr>
            <a:cxnSpLocks/>
          </p:cNvCxnSpPr>
          <p:nvPr/>
        </p:nvCxnSpPr>
        <p:spPr>
          <a:xfrm>
            <a:off x="171450" y="5319971"/>
            <a:ext cx="8801100" cy="0"/>
          </a:xfrm>
          <a:prstGeom prst="line">
            <a:avLst/>
          </a:prstGeom>
          <a:ln w="9525">
            <a:solidFill>
              <a:srgbClr val="0396A6"/>
            </a:solidFill>
          </a:ln>
        </p:spPr>
        <p:style>
          <a:lnRef idx="2">
            <a:schemeClr val="accent1"/>
          </a:lnRef>
          <a:fillRef idx="0">
            <a:schemeClr val="accent1"/>
          </a:fillRef>
          <a:effectRef idx="1">
            <a:schemeClr val="accent1"/>
          </a:effectRef>
          <a:fontRef idx="minor">
            <a:schemeClr val="tx1"/>
          </a:fontRef>
        </p:style>
      </p:cxnSp>
      <p:grpSp>
        <p:nvGrpSpPr>
          <p:cNvPr id="21" name="Group 20">
            <a:extLst>
              <a:ext uri="{FF2B5EF4-FFF2-40B4-BE49-F238E27FC236}">
                <a16:creationId xmlns:a16="http://schemas.microsoft.com/office/drawing/2014/main" id="{6F1F9E3E-44A8-137A-1F18-57BFD8DF225E}"/>
              </a:ext>
            </a:extLst>
          </p:cNvPr>
          <p:cNvGrpSpPr/>
          <p:nvPr/>
        </p:nvGrpSpPr>
        <p:grpSpPr>
          <a:xfrm>
            <a:off x="317078" y="5422817"/>
            <a:ext cx="7902996" cy="1279640"/>
            <a:chOff x="526629" y="5769213"/>
            <a:chExt cx="7902996" cy="1279640"/>
          </a:xfrm>
        </p:grpSpPr>
        <p:grpSp>
          <p:nvGrpSpPr>
            <p:cNvPr id="15" name="Group 14">
              <a:extLst>
                <a:ext uri="{FF2B5EF4-FFF2-40B4-BE49-F238E27FC236}">
                  <a16:creationId xmlns:a16="http://schemas.microsoft.com/office/drawing/2014/main" id="{38EB98EB-DBD1-7A11-AE91-17EF7709D7B0}"/>
                </a:ext>
              </a:extLst>
            </p:cNvPr>
            <p:cNvGrpSpPr/>
            <p:nvPr/>
          </p:nvGrpSpPr>
          <p:grpSpPr>
            <a:xfrm>
              <a:off x="542925" y="5769213"/>
              <a:ext cx="7886700" cy="820961"/>
              <a:chOff x="628650" y="4778376"/>
              <a:chExt cx="7886700" cy="820961"/>
            </a:xfrm>
          </p:grpSpPr>
          <p:sp>
            <p:nvSpPr>
              <p:cNvPr id="16" name="Content Placeholder 2">
                <a:extLst>
                  <a:ext uri="{FF2B5EF4-FFF2-40B4-BE49-F238E27FC236}">
                    <a16:creationId xmlns:a16="http://schemas.microsoft.com/office/drawing/2014/main" id="{E1904C43-888C-896D-65EE-5A448D4EFD76}"/>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400" b="1" dirty="0">
                    <a:solidFill>
                      <a:srgbClr val="021836"/>
                    </a:solidFill>
                    <a:latin typeface="Aptos" panose="02110004020202020204"/>
                  </a:rPr>
                  <a:t>Quality</a:t>
                </a: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 Signals</a:t>
                </a:r>
              </a:p>
            </p:txBody>
          </p:sp>
          <p:sp>
            <p:nvSpPr>
              <p:cNvPr id="17" name="Content Placeholder 2">
                <a:extLst>
                  <a:ext uri="{FF2B5EF4-FFF2-40B4-BE49-F238E27FC236}">
                    <a16:creationId xmlns:a16="http://schemas.microsoft.com/office/drawing/2014/main" id="{05675418-5838-7DCB-8502-09890B82088A}"/>
                  </a:ext>
                </a:extLst>
              </p:cNvPr>
              <p:cNvSpPr txBox="1">
                <a:spLocks/>
              </p:cNvSpPr>
              <p:nvPr/>
            </p:nvSpPr>
            <p:spPr>
              <a:xfrm>
                <a:off x="628650" y="5032600"/>
                <a:ext cx="7660853" cy="566737"/>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Clr>
                    <a:srgbClr val="021836"/>
                  </a:buClr>
                  <a:buNone/>
                  <a:defRPr/>
                </a:pPr>
                <a:r>
                  <a:rPr lang="en-US" sz="1200" i="1" dirty="0">
                    <a:solidFill>
                      <a:prstClr val="white">
                        <a:lumMod val="50000"/>
                      </a:prstClr>
                    </a:solidFill>
                    <a:latin typeface="Aptos" panose="02110004020202020204"/>
                  </a:rPr>
                  <a:t>Corrections</a:t>
                </a: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 • Rework • Hallucinations • Inconsistent outputs • </a:t>
                </a:r>
                <a:r>
                  <a:rPr lang="en-US" sz="1200" i="1" dirty="0">
                    <a:solidFill>
                      <a:prstClr val="white">
                        <a:lumMod val="50000"/>
                      </a:prstClr>
                    </a:solidFill>
                  </a:rPr>
                  <a:t>Escalations • User complaints</a:t>
                </a:r>
                <a:endPar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endParaRPr>
              </a:p>
            </p:txBody>
          </p:sp>
        </p:grpSp>
        <p:grpSp>
          <p:nvGrpSpPr>
            <p:cNvPr id="18" name="Group 17">
              <a:extLst>
                <a:ext uri="{FF2B5EF4-FFF2-40B4-BE49-F238E27FC236}">
                  <a16:creationId xmlns:a16="http://schemas.microsoft.com/office/drawing/2014/main" id="{F53ACE5F-EBF8-A95A-B927-F92F8CF13352}"/>
                </a:ext>
              </a:extLst>
            </p:cNvPr>
            <p:cNvGrpSpPr/>
            <p:nvPr/>
          </p:nvGrpSpPr>
          <p:grpSpPr>
            <a:xfrm>
              <a:off x="526629" y="6453316"/>
              <a:ext cx="7886700" cy="595537"/>
              <a:chOff x="628650" y="4778376"/>
              <a:chExt cx="7886700" cy="595537"/>
            </a:xfrm>
          </p:grpSpPr>
          <p:sp>
            <p:nvSpPr>
              <p:cNvPr id="19" name="Content Placeholder 2">
                <a:extLst>
                  <a:ext uri="{FF2B5EF4-FFF2-40B4-BE49-F238E27FC236}">
                    <a16:creationId xmlns:a16="http://schemas.microsoft.com/office/drawing/2014/main" id="{355FBD61-2475-5606-8676-65C968EFB569}"/>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Guiding Principle</a:t>
                </a:r>
              </a:p>
            </p:txBody>
          </p:sp>
          <p:sp>
            <p:nvSpPr>
              <p:cNvPr id="20" name="Content Placeholder 2">
                <a:extLst>
                  <a:ext uri="{FF2B5EF4-FFF2-40B4-BE49-F238E27FC236}">
                    <a16:creationId xmlns:a16="http://schemas.microsoft.com/office/drawing/2014/main" id="{45C57B34-1EAE-00C5-66F1-551571FD85DA}"/>
                  </a:ext>
                </a:extLst>
              </p:cNvPr>
              <p:cNvSpPr txBox="1">
                <a:spLocks/>
              </p:cNvSpPr>
              <p:nvPr/>
            </p:nvSpPr>
            <p:spPr>
              <a:xfrm>
                <a:off x="628650" y="5032601"/>
                <a:ext cx="7886700" cy="341312"/>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kumimoji="0" lang="en-US" sz="1200" b="0" i="0" u="none" strike="noStrike" kern="1200" cap="none" spc="0" normalizeH="0" baseline="0" noProof="0" dirty="0">
                    <a:ln>
                      <a:noFill/>
                    </a:ln>
                    <a:solidFill>
                      <a:srgbClr val="021836"/>
                    </a:solidFill>
                    <a:effectLst/>
                    <a:uLnTx/>
                    <a:uFillTx/>
                    <a:latin typeface="Aptos" panose="02110004020202020204"/>
                    <a:ea typeface="+mn-ea"/>
                    <a:cs typeface="+mn-cs"/>
                  </a:rPr>
                  <a:t>Quality should be demonstrated, not assumed.</a:t>
                </a:r>
                <a:endPar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endParaRPr>
              </a:p>
            </p:txBody>
          </p:sp>
        </p:grpSp>
      </p:grpSp>
      <p:sp>
        <p:nvSpPr>
          <p:cNvPr id="6" name="TextBox 5">
            <a:extLst>
              <a:ext uri="{FF2B5EF4-FFF2-40B4-BE49-F238E27FC236}">
                <a16:creationId xmlns:a16="http://schemas.microsoft.com/office/drawing/2014/main" id="{C9619EDB-E809-8C65-7B7C-E798146C5CB9}"/>
              </a:ext>
            </a:extLst>
          </p:cNvPr>
          <p:cNvSpPr txBox="1"/>
          <p:nvPr/>
        </p:nvSpPr>
        <p:spPr>
          <a:xfrm>
            <a:off x="4408714" y="64309"/>
            <a:ext cx="4628748" cy="276999"/>
          </a:xfrm>
          <a:prstGeom prst="rect">
            <a:avLst/>
          </a:prstGeom>
          <a:noFill/>
        </p:spPr>
        <p:txBody>
          <a:bodyPr wrap="square" rtlCol="0">
            <a:spAutoFit/>
          </a:bodyPr>
          <a:lstStyle/>
          <a:p>
            <a:pPr algn="r"/>
            <a:r>
              <a:rPr lang="en-US" sz="1200" dirty="0">
                <a:solidFill>
                  <a:schemeClr val="bg1">
                    <a:lumMod val="50000"/>
                  </a:schemeClr>
                </a:solidFill>
              </a:rPr>
              <a:t>AI Operational Readiness • Evidence Framework</a:t>
            </a:r>
          </a:p>
        </p:txBody>
      </p:sp>
    </p:spTree>
    <p:extLst>
      <p:ext uri="{BB962C8B-B14F-4D97-AF65-F5344CB8AC3E}">
        <p14:creationId xmlns:p14="http://schemas.microsoft.com/office/powerpoint/2010/main" val="162613264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566683-2927-A8F1-FDC1-5F295E3632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6BD141-BF55-1BB6-1E48-1F78556581A1}"/>
              </a:ext>
            </a:extLst>
          </p:cNvPr>
          <p:cNvSpPr>
            <a:spLocks noGrp="1"/>
          </p:cNvSpPr>
          <p:nvPr>
            <p:ph type="title"/>
          </p:nvPr>
        </p:nvSpPr>
        <p:spPr>
          <a:xfrm>
            <a:off x="273534" y="-86630"/>
            <a:ext cx="7886700" cy="1325563"/>
          </a:xfrm>
        </p:spPr>
        <p:txBody>
          <a:bodyPr/>
          <a:lstStyle/>
          <a:p>
            <a:r>
              <a:rPr lang="en-US" dirty="0"/>
              <a:t>Risk Evidence</a:t>
            </a:r>
          </a:p>
        </p:txBody>
      </p:sp>
      <p:sp>
        <p:nvSpPr>
          <p:cNvPr id="9" name="Content Placeholder 2">
            <a:extLst>
              <a:ext uri="{FF2B5EF4-FFF2-40B4-BE49-F238E27FC236}">
                <a16:creationId xmlns:a16="http://schemas.microsoft.com/office/drawing/2014/main" id="{B84C08A4-E2CF-BD8A-CB7C-13224398ABDE}"/>
              </a:ext>
            </a:extLst>
          </p:cNvPr>
          <p:cNvSpPr txBox="1">
            <a:spLocks/>
          </p:cNvSpPr>
          <p:nvPr/>
        </p:nvSpPr>
        <p:spPr>
          <a:xfrm>
            <a:off x="317078" y="844267"/>
            <a:ext cx="7886700" cy="299244"/>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Understanding where failures and concerns emerge</a:t>
            </a:r>
          </a:p>
        </p:txBody>
      </p:sp>
      <p:graphicFrame>
        <p:nvGraphicFramePr>
          <p:cNvPr id="13" name="Table 12">
            <a:extLst>
              <a:ext uri="{FF2B5EF4-FFF2-40B4-BE49-F238E27FC236}">
                <a16:creationId xmlns:a16="http://schemas.microsoft.com/office/drawing/2014/main" id="{8A80A944-12F2-12BF-0840-02F8D09ECB63}"/>
              </a:ext>
            </a:extLst>
          </p:cNvPr>
          <p:cNvGraphicFramePr>
            <a:graphicFrameLocks noGrp="1"/>
          </p:cNvGraphicFramePr>
          <p:nvPr/>
        </p:nvGraphicFramePr>
        <p:xfrm>
          <a:off x="360622" y="3054004"/>
          <a:ext cx="8218714" cy="2133600"/>
        </p:xfrm>
        <a:graphic>
          <a:graphicData uri="http://schemas.openxmlformats.org/drawingml/2006/table">
            <a:tbl>
              <a:tblPr firstRow="1" bandRow="1">
                <a:tableStyleId>{2D5ABB26-0587-4C30-8999-92F81FD0307C}</a:tableStyleId>
              </a:tblPr>
              <a:tblGrid>
                <a:gridCol w="3287487">
                  <a:extLst>
                    <a:ext uri="{9D8B030D-6E8A-4147-A177-3AD203B41FA5}">
                      <a16:colId xmlns:a16="http://schemas.microsoft.com/office/drawing/2014/main" val="2470210094"/>
                    </a:ext>
                  </a:extLst>
                </a:gridCol>
                <a:gridCol w="4931227">
                  <a:extLst>
                    <a:ext uri="{9D8B030D-6E8A-4147-A177-3AD203B41FA5}">
                      <a16:colId xmlns:a16="http://schemas.microsoft.com/office/drawing/2014/main" val="72878264"/>
                    </a:ext>
                  </a:extLst>
                </a:gridCol>
              </a:tblGrid>
              <a:tr h="229524">
                <a:tc>
                  <a:txBody>
                    <a:bodyPr/>
                    <a:lstStyle/>
                    <a:p>
                      <a:r>
                        <a:rPr lang="en-US" sz="1400" b="1" dirty="0">
                          <a:solidFill>
                            <a:srgbClr val="021836"/>
                          </a:solidFill>
                        </a:rPr>
                        <a:t>Risk Elements</a:t>
                      </a:r>
                    </a:p>
                  </a:txBody>
                  <a:tcPr>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rgbClr val="0396A6"/>
                      </a:solidFill>
                      <a:prstDash val="solid"/>
                      <a:round/>
                      <a:headEnd type="none" w="med" len="med"/>
                      <a:tailEnd type="none" w="med" len="med"/>
                    </a:lnB>
                  </a:tcPr>
                </a:tc>
                <a:tc>
                  <a:txBody>
                    <a:bodyPr/>
                    <a:lstStyle/>
                    <a:p>
                      <a:r>
                        <a:rPr lang="en-US" sz="1400" b="1" dirty="0">
                          <a:solidFill>
                            <a:srgbClr val="021836"/>
                          </a:solidFill>
                        </a:rPr>
                        <a:t>Proposed Design</a:t>
                      </a:r>
                    </a:p>
                  </a:txBody>
                  <a:tcPr>
                    <a:lnL w="12700" cap="flat" cmpd="sng" algn="ctr">
                      <a:solidFill>
                        <a:schemeClr val="bg1">
                          <a:lumMod val="75000"/>
                        </a:schemeClr>
                      </a:solidFill>
                      <a:prstDash val="solid"/>
                      <a:round/>
                      <a:headEnd type="none" w="med" len="med"/>
                      <a:tailEnd type="none" w="med" len="med"/>
                    </a:lnL>
                    <a:lnT w="12700" cap="flat" cmpd="sng" algn="ctr">
                      <a:solidFill>
                        <a:srgbClr val="0396A6"/>
                      </a:solidFill>
                      <a:prstDash val="solid"/>
                      <a:round/>
                      <a:headEnd type="none" w="med" len="med"/>
                      <a:tailEnd type="none" w="med" len="med"/>
                    </a:lnT>
                    <a:lnB w="12700" cap="flat" cmpd="sng" algn="ctr">
                      <a:solidFill>
                        <a:srgbClr val="0396A6"/>
                      </a:solidFill>
                      <a:prstDash val="solid"/>
                      <a:round/>
                      <a:headEnd type="none" w="med" len="med"/>
                      <a:tailEnd type="none" w="med" len="med"/>
                    </a:lnB>
                  </a:tcPr>
                </a:tc>
                <a:extLst>
                  <a:ext uri="{0D108BD9-81ED-4DB2-BD59-A6C34878D82A}">
                    <a16:rowId xmlns:a16="http://schemas.microsoft.com/office/drawing/2014/main" val="2061593276"/>
                  </a:ext>
                </a:extLst>
              </a:tr>
              <a:tr h="311500">
                <a:tc>
                  <a:txBody>
                    <a:bodyPr/>
                    <a:lstStyle/>
                    <a:p>
                      <a:pPr>
                        <a:buClr>
                          <a:schemeClr val="bg1">
                            <a:lumMod val="50000"/>
                          </a:schemeClr>
                        </a:buClr>
                      </a:pPr>
                      <a:r>
                        <a:rPr lang="en-US" sz="1400" dirty="0"/>
                        <a:t>Risk Metric</a:t>
                      </a:r>
                    </a:p>
                  </a:txBody>
                  <a:tcPr>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75000"/>
                        </a:schemeClr>
                      </a:solidFill>
                      <a:prstDash val="solid"/>
                      <a:round/>
                      <a:headEnd type="none" w="med" len="med"/>
                      <a:tailEnd type="none" w="med" len="med"/>
                    </a:lnL>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493753442"/>
                  </a:ext>
                </a:extLst>
              </a:tr>
              <a:tr h="311500">
                <a:tc>
                  <a:txBody>
                    <a:bodyPr/>
                    <a:lstStyle/>
                    <a:p>
                      <a:pPr>
                        <a:buClr>
                          <a:schemeClr val="bg1">
                            <a:lumMod val="50000"/>
                          </a:schemeClr>
                        </a:buClr>
                      </a:pPr>
                      <a:r>
                        <a:rPr lang="en-US" sz="1400" dirty="0"/>
                        <a:t>Monitoring Frequency</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23325965"/>
                  </a:ext>
                </a:extLst>
              </a:tr>
              <a:tr h="311500">
                <a:tc>
                  <a:txBody>
                    <a:bodyPr/>
                    <a:lstStyle/>
                    <a:p>
                      <a:pPr>
                        <a:buClr>
                          <a:schemeClr val="bg1">
                            <a:lumMod val="50000"/>
                          </a:schemeClr>
                        </a:buClr>
                      </a:pPr>
                      <a:r>
                        <a:rPr lang="en-US" sz="1400" dirty="0"/>
                        <a:t>Escalation Threshold</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845834834"/>
                  </a:ext>
                </a:extLst>
              </a:tr>
              <a:tr h="311500">
                <a:tc>
                  <a:txBody>
                    <a:bodyPr/>
                    <a:lstStyle/>
                    <a:p>
                      <a:pPr>
                        <a:buClr>
                          <a:schemeClr val="bg1">
                            <a:lumMod val="50000"/>
                          </a:schemeClr>
                        </a:buClr>
                      </a:pPr>
                      <a:r>
                        <a:rPr lang="en-US" sz="1400" dirty="0"/>
                        <a:t>Incident Tracking</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012176639"/>
                  </a:ext>
                </a:extLst>
              </a:tr>
              <a:tr h="311500">
                <a:tc>
                  <a:txBody>
                    <a:bodyPr/>
                    <a:lstStyle/>
                    <a:p>
                      <a:pPr>
                        <a:buClr>
                          <a:schemeClr val="bg1">
                            <a:lumMod val="50000"/>
                          </a:schemeClr>
                        </a:buClr>
                      </a:pPr>
                      <a:r>
                        <a:rPr lang="en-US" sz="1400" dirty="0"/>
                        <a:t>Owner</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854945902"/>
                  </a:ext>
                </a:extLst>
              </a:tr>
            </a:tbl>
          </a:graphicData>
        </a:graphic>
      </p:graphicFrame>
      <p:sp>
        <p:nvSpPr>
          <p:cNvPr id="4" name="Content Placeholder 2">
            <a:extLst>
              <a:ext uri="{FF2B5EF4-FFF2-40B4-BE49-F238E27FC236}">
                <a16:creationId xmlns:a16="http://schemas.microsoft.com/office/drawing/2014/main" id="{AB6A42FB-32E4-E946-0850-974E15B5F201}"/>
              </a:ext>
            </a:extLst>
          </p:cNvPr>
          <p:cNvSpPr txBox="1">
            <a:spLocks/>
          </p:cNvSpPr>
          <p:nvPr/>
        </p:nvSpPr>
        <p:spPr>
          <a:xfrm>
            <a:off x="360622" y="2754760"/>
            <a:ext cx="7886700" cy="29924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Design Elements</a:t>
            </a:r>
          </a:p>
        </p:txBody>
      </p:sp>
      <p:cxnSp>
        <p:nvCxnSpPr>
          <p:cNvPr id="14" name="Straight Connector 13">
            <a:extLst>
              <a:ext uri="{FF2B5EF4-FFF2-40B4-BE49-F238E27FC236}">
                <a16:creationId xmlns:a16="http://schemas.microsoft.com/office/drawing/2014/main" id="{14BB890B-BCB9-A232-B775-23A905835CE4}"/>
              </a:ext>
            </a:extLst>
          </p:cNvPr>
          <p:cNvCxnSpPr>
            <a:cxnSpLocks/>
          </p:cNvCxnSpPr>
          <p:nvPr/>
        </p:nvCxnSpPr>
        <p:spPr>
          <a:xfrm>
            <a:off x="171450" y="5341743"/>
            <a:ext cx="8801100" cy="0"/>
          </a:xfrm>
          <a:prstGeom prst="line">
            <a:avLst/>
          </a:prstGeom>
          <a:ln w="9525">
            <a:solidFill>
              <a:srgbClr val="0396A6"/>
            </a:solidFill>
          </a:ln>
        </p:spPr>
        <p:style>
          <a:lnRef idx="2">
            <a:schemeClr val="accent1"/>
          </a:lnRef>
          <a:fillRef idx="0">
            <a:schemeClr val="accent1"/>
          </a:fillRef>
          <a:effectRef idx="1">
            <a:schemeClr val="accent1"/>
          </a:effectRef>
          <a:fontRef idx="minor">
            <a:schemeClr val="tx1"/>
          </a:fontRef>
        </p:style>
      </p:cxnSp>
      <p:grpSp>
        <p:nvGrpSpPr>
          <p:cNvPr id="21" name="Group 20">
            <a:extLst>
              <a:ext uri="{FF2B5EF4-FFF2-40B4-BE49-F238E27FC236}">
                <a16:creationId xmlns:a16="http://schemas.microsoft.com/office/drawing/2014/main" id="{E1C2ADFD-403C-59E9-2055-B2DD5FC39EEC}"/>
              </a:ext>
            </a:extLst>
          </p:cNvPr>
          <p:cNvGrpSpPr/>
          <p:nvPr/>
        </p:nvGrpSpPr>
        <p:grpSpPr>
          <a:xfrm>
            <a:off x="317078" y="5422817"/>
            <a:ext cx="7902996" cy="1279640"/>
            <a:chOff x="526629" y="5769213"/>
            <a:chExt cx="7902996" cy="1279640"/>
          </a:xfrm>
        </p:grpSpPr>
        <p:grpSp>
          <p:nvGrpSpPr>
            <p:cNvPr id="15" name="Group 14">
              <a:extLst>
                <a:ext uri="{FF2B5EF4-FFF2-40B4-BE49-F238E27FC236}">
                  <a16:creationId xmlns:a16="http://schemas.microsoft.com/office/drawing/2014/main" id="{DEBD223F-7046-3E1E-3B4E-8031D7CF780C}"/>
                </a:ext>
              </a:extLst>
            </p:cNvPr>
            <p:cNvGrpSpPr/>
            <p:nvPr/>
          </p:nvGrpSpPr>
          <p:grpSpPr>
            <a:xfrm>
              <a:off x="542925" y="5769213"/>
              <a:ext cx="7886700" cy="820961"/>
              <a:chOff x="628650" y="4778376"/>
              <a:chExt cx="7886700" cy="820961"/>
            </a:xfrm>
          </p:grpSpPr>
          <p:sp>
            <p:nvSpPr>
              <p:cNvPr id="16" name="Content Placeholder 2">
                <a:extLst>
                  <a:ext uri="{FF2B5EF4-FFF2-40B4-BE49-F238E27FC236}">
                    <a16:creationId xmlns:a16="http://schemas.microsoft.com/office/drawing/2014/main" id="{6D06D692-DC74-6792-0A1B-146C31736E62}"/>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400" b="1" dirty="0">
                    <a:solidFill>
                      <a:srgbClr val="021836"/>
                    </a:solidFill>
                    <a:latin typeface="Aptos" panose="02110004020202020204"/>
                  </a:rPr>
                  <a:t>Risk</a:t>
                </a: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 Signals</a:t>
                </a:r>
              </a:p>
            </p:txBody>
          </p:sp>
          <p:sp>
            <p:nvSpPr>
              <p:cNvPr id="17" name="Content Placeholder 2">
                <a:extLst>
                  <a:ext uri="{FF2B5EF4-FFF2-40B4-BE49-F238E27FC236}">
                    <a16:creationId xmlns:a16="http://schemas.microsoft.com/office/drawing/2014/main" id="{D702B0C7-E48B-D5B9-3B61-3DBF08D02441}"/>
                  </a:ext>
                </a:extLst>
              </p:cNvPr>
              <p:cNvSpPr txBox="1">
                <a:spLocks/>
              </p:cNvSpPr>
              <p:nvPr/>
            </p:nvSpPr>
            <p:spPr>
              <a:xfrm>
                <a:off x="628650" y="5032600"/>
                <a:ext cx="7660853" cy="566737"/>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Clr>
                    <a:srgbClr val="021836"/>
                  </a:buClr>
                  <a:buNone/>
                  <a:defRPr/>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Sensitive information • Compliance concerns • Customer impact • Repeated failures • Unexpected behavior</a:t>
                </a:r>
                <a:r>
                  <a:rPr lang="en-US" sz="1200" i="1" dirty="0">
                    <a:solidFill>
                      <a:prstClr val="white">
                        <a:lumMod val="50000"/>
                      </a:prstClr>
                    </a:solidFill>
                  </a:rPr>
                  <a:t> • </a:t>
                </a:r>
                <a:br>
                  <a:rPr lang="en-US" sz="1200" i="1" dirty="0">
                    <a:solidFill>
                      <a:prstClr val="white">
                        <a:lumMod val="50000"/>
                      </a:prstClr>
                    </a:solidFill>
                  </a:rPr>
                </a:br>
                <a:r>
                  <a:rPr lang="en-US" sz="1200" i="1" dirty="0">
                    <a:solidFill>
                      <a:prstClr val="white">
                        <a:lumMod val="50000"/>
                      </a:prstClr>
                    </a:solidFill>
                  </a:rPr>
                  <a:t>Policy/control exceptions • Threshold breaches</a:t>
                </a:r>
                <a:endPar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endParaRPr>
              </a:p>
            </p:txBody>
          </p:sp>
        </p:grpSp>
        <p:grpSp>
          <p:nvGrpSpPr>
            <p:cNvPr id="18" name="Group 17">
              <a:extLst>
                <a:ext uri="{FF2B5EF4-FFF2-40B4-BE49-F238E27FC236}">
                  <a16:creationId xmlns:a16="http://schemas.microsoft.com/office/drawing/2014/main" id="{21F38550-0394-5D22-B14C-F9C88068C5FF}"/>
                </a:ext>
              </a:extLst>
            </p:cNvPr>
            <p:cNvGrpSpPr/>
            <p:nvPr/>
          </p:nvGrpSpPr>
          <p:grpSpPr>
            <a:xfrm>
              <a:off x="526629" y="6453316"/>
              <a:ext cx="7886700" cy="595537"/>
              <a:chOff x="628650" y="4778376"/>
              <a:chExt cx="7886700" cy="595537"/>
            </a:xfrm>
          </p:grpSpPr>
          <p:sp>
            <p:nvSpPr>
              <p:cNvPr id="19" name="Content Placeholder 2">
                <a:extLst>
                  <a:ext uri="{FF2B5EF4-FFF2-40B4-BE49-F238E27FC236}">
                    <a16:creationId xmlns:a16="http://schemas.microsoft.com/office/drawing/2014/main" id="{55A312A8-A50E-D253-703F-EE64FCF26F7C}"/>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Guiding Principle</a:t>
                </a:r>
              </a:p>
            </p:txBody>
          </p:sp>
          <p:sp>
            <p:nvSpPr>
              <p:cNvPr id="20" name="Content Placeholder 2">
                <a:extLst>
                  <a:ext uri="{FF2B5EF4-FFF2-40B4-BE49-F238E27FC236}">
                    <a16:creationId xmlns:a16="http://schemas.microsoft.com/office/drawing/2014/main" id="{AD17222E-1471-3942-0678-6D3F50478F7B}"/>
                  </a:ext>
                </a:extLst>
              </p:cNvPr>
              <p:cNvSpPr txBox="1">
                <a:spLocks/>
              </p:cNvSpPr>
              <p:nvPr/>
            </p:nvSpPr>
            <p:spPr>
              <a:xfrm>
                <a:off x="628650" y="5032601"/>
                <a:ext cx="7886700" cy="341312"/>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lang="en-US" sz="1200" dirty="0">
                    <a:solidFill>
                      <a:srgbClr val="021836"/>
                    </a:solidFill>
                    <a:latin typeface="Aptos" panose="02110004020202020204"/>
                  </a:rPr>
                  <a:t>Risks should be observed before they become incidents.</a:t>
                </a:r>
                <a:endPar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endParaRPr>
              </a:p>
            </p:txBody>
          </p:sp>
        </p:grpSp>
      </p:grpSp>
      <p:sp>
        <p:nvSpPr>
          <p:cNvPr id="3" name="Content Placeholder 2">
            <a:extLst>
              <a:ext uri="{FF2B5EF4-FFF2-40B4-BE49-F238E27FC236}">
                <a16:creationId xmlns:a16="http://schemas.microsoft.com/office/drawing/2014/main" id="{F41B1FD2-2C19-69D8-31E0-8F0CEE4F55FC}"/>
              </a:ext>
            </a:extLst>
          </p:cNvPr>
          <p:cNvSpPr txBox="1">
            <a:spLocks/>
          </p:cNvSpPr>
          <p:nvPr/>
        </p:nvSpPr>
        <p:spPr>
          <a:xfrm>
            <a:off x="360622" y="1269333"/>
            <a:ext cx="7886700" cy="146047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Questions</a:t>
            </a:r>
          </a:p>
          <a:p>
            <a:pPr marL="228600" marR="0" lvl="0" indent="-228600" algn="l" defTabSz="914400" rtl="0" eaLnBrk="1" fontAlgn="auto" latinLnBrk="0" hangingPunct="1">
              <a:lnSpc>
                <a:spcPct val="110000"/>
              </a:lnSpc>
              <a:spcBef>
                <a:spcPts val="600"/>
              </a:spcBef>
              <a:spcAft>
                <a:spcPts val="0"/>
              </a:spcAft>
              <a:buClrTx/>
              <a:buSzTx/>
              <a:buFont typeface="Arial" panose="020B0604020202020204" pitchFamily="34" charset="0"/>
              <a:buChar char="•"/>
              <a:tabLst/>
              <a:defRPr/>
            </a:pPr>
            <a:r>
              <a:rPr lang="en-US" sz="1200" dirty="0">
                <a:solidFill>
                  <a:prstClr val="black"/>
                </a:solidFill>
                <a:latin typeface="Aptos" panose="02110004020202020204"/>
              </a:rPr>
              <a:t>What risks should be monitored?</a:t>
            </a:r>
          </a:p>
          <a:p>
            <a:pPr marL="228600" marR="0" lvl="0" indent="-228600" algn="l" defTabSz="914400" rtl="0" eaLnBrk="1" fontAlgn="auto" latinLnBrk="0" hangingPunct="1">
              <a:lnSpc>
                <a:spcPct val="110000"/>
              </a:lnSpc>
              <a:spcBef>
                <a:spcPts val="600"/>
              </a:spcBef>
              <a:spcAft>
                <a:spcPts val="0"/>
              </a:spcAft>
              <a:buClrTx/>
              <a:buSzTx/>
              <a:buFont typeface="Arial" panose="020B0604020202020204" pitchFamily="34" charset="0"/>
              <a:buChar char="•"/>
              <a:tabLst/>
              <a:defRPr/>
            </a:pPr>
            <a:r>
              <a:rPr lang="en-US" sz="1200" dirty="0">
                <a:solidFill>
                  <a:prstClr val="black"/>
                </a:solidFill>
                <a:latin typeface="Aptos" panose="02110004020202020204"/>
              </a:rPr>
              <a:t>What incidents should be recorded?</a:t>
            </a:r>
          </a:p>
          <a:p>
            <a:pPr marL="228600" marR="0" lvl="0" indent="-228600" algn="l" defTabSz="914400" rtl="0" eaLnBrk="1" fontAlgn="auto" latinLnBrk="0" hangingPunct="1">
              <a:lnSpc>
                <a:spcPct val="110000"/>
              </a:lnSpc>
              <a:spcBef>
                <a:spcPts val="600"/>
              </a:spcBef>
              <a:spcAft>
                <a:spcPts val="0"/>
              </a:spcAft>
              <a:buClrTx/>
              <a:buSzTx/>
              <a:buFont typeface="Arial" panose="020B0604020202020204" pitchFamily="34" charset="0"/>
              <a:buChar char="•"/>
              <a:tabLst/>
              <a:defRPr/>
            </a:pPr>
            <a:r>
              <a:rPr lang="en-US" sz="1200" dirty="0">
                <a:solidFill>
                  <a:prstClr val="black"/>
                </a:solidFill>
                <a:latin typeface="Aptos" panose="02110004020202020204"/>
              </a:rPr>
              <a:t>What thresholds trigger action?</a:t>
            </a:r>
          </a:p>
          <a:p>
            <a:pPr marL="228600" marR="0" lvl="0" indent="-228600" algn="l" defTabSz="914400" rtl="0" eaLnBrk="1" fontAlgn="auto" latinLnBrk="0" hangingPunct="1">
              <a:lnSpc>
                <a:spcPct val="110000"/>
              </a:lnSpc>
              <a:spcBef>
                <a:spcPts val="600"/>
              </a:spcBef>
              <a:spcAft>
                <a:spcPts val="0"/>
              </a:spcAft>
              <a:buClrTx/>
              <a:buSzTx/>
              <a:buFont typeface="Arial" panose="020B0604020202020204" pitchFamily="34" charset="0"/>
              <a:buChar char="•"/>
              <a:tabLst/>
              <a:defRPr/>
            </a:pPr>
            <a:r>
              <a:rPr lang="en-US" sz="1200" dirty="0">
                <a:solidFill>
                  <a:prstClr val="black"/>
                </a:solidFill>
                <a:latin typeface="Aptos" panose="02110004020202020204"/>
              </a:rPr>
              <a:t>What trends matter?</a:t>
            </a:r>
          </a:p>
        </p:txBody>
      </p:sp>
      <p:sp>
        <p:nvSpPr>
          <p:cNvPr id="6" name="TextBox 5">
            <a:extLst>
              <a:ext uri="{FF2B5EF4-FFF2-40B4-BE49-F238E27FC236}">
                <a16:creationId xmlns:a16="http://schemas.microsoft.com/office/drawing/2014/main" id="{65FA9AA9-534E-5341-6B9D-DE10AC58C97E}"/>
              </a:ext>
            </a:extLst>
          </p:cNvPr>
          <p:cNvSpPr txBox="1"/>
          <p:nvPr/>
        </p:nvSpPr>
        <p:spPr>
          <a:xfrm>
            <a:off x="4408714" y="64309"/>
            <a:ext cx="4628748" cy="276999"/>
          </a:xfrm>
          <a:prstGeom prst="rect">
            <a:avLst/>
          </a:prstGeom>
          <a:noFill/>
        </p:spPr>
        <p:txBody>
          <a:bodyPr wrap="square" rtlCol="0">
            <a:spAutoFit/>
          </a:bodyPr>
          <a:lstStyle/>
          <a:p>
            <a:pPr algn="r"/>
            <a:r>
              <a:rPr lang="en-US" sz="1200" dirty="0">
                <a:solidFill>
                  <a:schemeClr val="bg1">
                    <a:lumMod val="50000"/>
                  </a:schemeClr>
                </a:solidFill>
              </a:rPr>
              <a:t>AI Operational Readiness • Evidence Framework</a:t>
            </a:r>
          </a:p>
        </p:txBody>
      </p:sp>
    </p:spTree>
    <p:extLst>
      <p:ext uri="{BB962C8B-B14F-4D97-AF65-F5344CB8AC3E}">
        <p14:creationId xmlns:p14="http://schemas.microsoft.com/office/powerpoint/2010/main" val="97103891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5ACC30-EDE5-1DDE-2F66-AD713A4C1B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B6C30A-7B6A-E357-DCA1-153A7B3FC245}"/>
              </a:ext>
            </a:extLst>
          </p:cNvPr>
          <p:cNvSpPr>
            <a:spLocks noGrp="1"/>
          </p:cNvSpPr>
          <p:nvPr>
            <p:ph type="title"/>
          </p:nvPr>
        </p:nvSpPr>
        <p:spPr>
          <a:xfrm>
            <a:off x="273534" y="-86630"/>
            <a:ext cx="7886700" cy="1325563"/>
          </a:xfrm>
        </p:spPr>
        <p:txBody>
          <a:bodyPr/>
          <a:lstStyle/>
          <a:p>
            <a:r>
              <a:rPr lang="en-US" dirty="0"/>
              <a:t>Adoption Evidence</a:t>
            </a:r>
          </a:p>
        </p:txBody>
      </p:sp>
      <p:sp>
        <p:nvSpPr>
          <p:cNvPr id="9" name="Content Placeholder 2">
            <a:extLst>
              <a:ext uri="{FF2B5EF4-FFF2-40B4-BE49-F238E27FC236}">
                <a16:creationId xmlns:a16="http://schemas.microsoft.com/office/drawing/2014/main" id="{573A7026-361D-8D5B-7281-414695B2CD24}"/>
              </a:ext>
            </a:extLst>
          </p:cNvPr>
          <p:cNvSpPr txBox="1">
            <a:spLocks/>
          </p:cNvSpPr>
          <p:nvPr/>
        </p:nvSpPr>
        <p:spPr>
          <a:xfrm>
            <a:off x="317078" y="844267"/>
            <a:ext cx="7886700" cy="299244"/>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Understanding how people interact with the solution</a:t>
            </a:r>
          </a:p>
        </p:txBody>
      </p:sp>
      <p:graphicFrame>
        <p:nvGraphicFramePr>
          <p:cNvPr id="13" name="Table 12">
            <a:extLst>
              <a:ext uri="{FF2B5EF4-FFF2-40B4-BE49-F238E27FC236}">
                <a16:creationId xmlns:a16="http://schemas.microsoft.com/office/drawing/2014/main" id="{6C2771F6-C765-2AF8-B3D1-00069AD4D724}"/>
              </a:ext>
            </a:extLst>
          </p:cNvPr>
          <p:cNvGraphicFramePr>
            <a:graphicFrameLocks noGrp="1"/>
          </p:cNvGraphicFramePr>
          <p:nvPr/>
        </p:nvGraphicFramePr>
        <p:xfrm>
          <a:off x="360622" y="2779362"/>
          <a:ext cx="8218714" cy="2195822"/>
        </p:xfrm>
        <a:graphic>
          <a:graphicData uri="http://schemas.openxmlformats.org/drawingml/2006/table">
            <a:tbl>
              <a:tblPr firstRow="1" bandRow="1">
                <a:tableStyleId>{2D5ABB26-0587-4C30-8999-92F81FD0307C}</a:tableStyleId>
              </a:tblPr>
              <a:tblGrid>
                <a:gridCol w="4124292">
                  <a:extLst>
                    <a:ext uri="{9D8B030D-6E8A-4147-A177-3AD203B41FA5}">
                      <a16:colId xmlns:a16="http://schemas.microsoft.com/office/drawing/2014/main" val="2470210094"/>
                    </a:ext>
                  </a:extLst>
                </a:gridCol>
                <a:gridCol w="4094422">
                  <a:extLst>
                    <a:ext uri="{9D8B030D-6E8A-4147-A177-3AD203B41FA5}">
                      <a16:colId xmlns:a16="http://schemas.microsoft.com/office/drawing/2014/main" val="72878264"/>
                    </a:ext>
                  </a:extLst>
                </a:gridCol>
              </a:tblGrid>
              <a:tr h="184676">
                <a:tc>
                  <a:txBody>
                    <a:bodyPr/>
                    <a:lstStyle/>
                    <a:p>
                      <a:r>
                        <a:rPr lang="en-US" sz="1400" b="1" dirty="0">
                          <a:solidFill>
                            <a:srgbClr val="021836"/>
                          </a:solidFill>
                        </a:rPr>
                        <a:t>Adoption Elements</a:t>
                      </a:r>
                    </a:p>
                  </a:txBody>
                  <a:tcPr>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rgbClr val="0396A6"/>
                      </a:solidFill>
                      <a:prstDash val="solid"/>
                      <a:round/>
                      <a:headEnd type="none" w="med" len="med"/>
                      <a:tailEnd type="none" w="med" len="med"/>
                    </a:lnB>
                  </a:tcPr>
                </a:tc>
                <a:tc>
                  <a:txBody>
                    <a:bodyPr/>
                    <a:lstStyle/>
                    <a:p>
                      <a:r>
                        <a:rPr lang="en-US" sz="1400" b="1" dirty="0">
                          <a:solidFill>
                            <a:srgbClr val="021836"/>
                          </a:solidFill>
                        </a:rPr>
                        <a:t>Proposed Design</a:t>
                      </a:r>
                    </a:p>
                  </a:txBody>
                  <a:tcPr>
                    <a:lnL w="12700" cap="flat" cmpd="sng" algn="ctr">
                      <a:solidFill>
                        <a:schemeClr val="bg1">
                          <a:lumMod val="75000"/>
                        </a:schemeClr>
                      </a:solidFill>
                      <a:prstDash val="solid"/>
                      <a:round/>
                      <a:headEnd type="none" w="med" len="med"/>
                      <a:tailEnd type="none" w="med" len="med"/>
                    </a:lnL>
                    <a:lnT w="12700" cap="flat" cmpd="sng" algn="ctr">
                      <a:solidFill>
                        <a:srgbClr val="0396A6"/>
                      </a:solidFill>
                      <a:prstDash val="solid"/>
                      <a:round/>
                      <a:headEnd type="none" w="med" len="med"/>
                      <a:tailEnd type="none" w="med" len="med"/>
                    </a:lnT>
                    <a:lnB w="12700" cap="flat" cmpd="sng" algn="ctr">
                      <a:solidFill>
                        <a:srgbClr val="0396A6"/>
                      </a:solidFill>
                      <a:prstDash val="solid"/>
                      <a:round/>
                      <a:headEnd type="none" w="med" len="med"/>
                      <a:tailEnd type="none" w="med" len="med"/>
                    </a:lnB>
                  </a:tcPr>
                </a:tc>
                <a:extLst>
                  <a:ext uri="{0D108BD9-81ED-4DB2-BD59-A6C34878D82A}">
                    <a16:rowId xmlns:a16="http://schemas.microsoft.com/office/drawing/2014/main" val="2061593276"/>
                  </a:ext>
                </a:extLst>
              </a:tr>
              <a:tr h="221611">
                <a:tc>
                  <a:txBody>
                    <a:bodyPr/>
                    <a:lstStyle/>
                    <a:p>
                      <a:pPr>
                        <a:buClr>
                          <a:schemeClr val="bg1">
                            <a:lumMod val="50000"/>
                          </a:schemeClr>
                        </a:buClr>
                      </a:pPr>
                      <a:r>
                        <a:rPr lang="en-US" sz="1300" dirty="0"/>
                        <a:t>Usage Metric</a:t>
                      </a:r>
                    </a:p>
                  </a:txBody>
                  <a:tcPr>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300" dirty="0"/>
                    </a:p>
                  </a:txBody>
                  <a:tcPr>
                    <a:lnL w="12700" cap="flat" cmpd="sng" algn="ctr">
                      <a:solidFill>
                        <a:schemeClr val="bg1">
                          <a:lumMod val="75000"/>
                        </a:schemeClr>
                      </a:solidFill>
                      <a:prstDash val="solid"/>
                      <a:round/>
                      <a:headEnd type="none" w="med" len="med"/>
                      <a:tailEnd type="none" w="med" len="med"/>
                    </a:lnL>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493753442"/>
                  </a:ext>
                </a:extLst>
              </a:tr>
              <a:tr h="221611">
                <a:tc>
                  <a:txBody>
                    <a:bodyPr/>
                    <a:lstStyle/>
                    <a:p>
                      <a:pPr>
                        <a:buClr>
                          <a:schemeClr val="bg1">
                            <a:lumMod val="50000"/>
                          </a:schemeClr>
                        </a:buClr>
                      </a:pPr>
                      <a:r>
                        <a:rPr lang="en-US" sz="1300" dirty="0"/>
                        <a:t>Satisfaction Measure</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300" dirty="0"/>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23325965"/>
                  </a:ext>
                </a:extLst>
              </a:tr>
              <a:tr h="221611">
                <a:tc>
                  <a:txBody>
                    <a:bodyPr/>
                    <a:lstStyle/>
                    <a:p>
                      <a:pPr>
                        <a:buClr>
                          <a:schemeClr val="bg1">
                            <a:lumMod val="50000"/>
                          </a:schemeClr>
                        </a:buClr>
                      </a:pPr>
                      <a:r>
                        <a:rPr lang="en-US" sz="1300" dirty="0"/>
                        <a:t>Friction Indicator</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300" dirty="0"/>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845834834"/>
                  </a:ext>
                </a:extLst>
              </a:tr>
              <a:tr h="221611">
                <a:tc>
                  <a:txBody>
                    <a:bodyPr/>
                    <a:lstStyle/>
                    <a:p>
                      <a:pPr>
                        <a:buClr>
                          <a:schemeClr val="bg1">
                            <a:lumMod val="50000"/>
                          </a:schemeClr>
                        </a:buClr>
                      </a:pPr>
                      <a:r>
                        <a:rPr lang="en-US" sz="1300" dirty="0"/>
                        <a:t>Training Need</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300" dirty="0"/>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012176639"/>
                  </a:ext>
                </a:extLst>
              </a:tr>
              <a:tr h="221611">
                <a:tc>
                  <a:txBody>
                    <a:bodyPr/>
                    <a:lstStyle/>
                    <a:p>
                      <a:pPr>
                        <a:buClr>
                          <a:schemeClr val="bg1">
                            <a:lumMod val="50000"/>
                          </a:schemeClr>
                        </a:buClr>
                      </a:pPr>
                      <a:r>
                        <a:rPr lang="en-US" sz="1300" dirty="0"/>
                        <a:t>Adoption Owner</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300" dirty="0"/>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225863231"/>
                  </a:ext>
                </a:extLst>
              </a:tr>
              <a:tr h="443222">
                <a:tc>
                  <a:txBody>
                    <a:bodyPr/>
                    <a:lstStyle/>
                    <a:p>
                      <a:pPr>
                        <a:buClr>
                          <a:schemeClr val="bg1">
                            <a:lumMod val="50000"/>
                          </a:schemeClr>
                        </a:buClr>
                      </a:pPr>
                      <a:r>
                        <a:rPr lang="en-US" sz="1300" dirty="0"/>
                        <a:t>Review Burden</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300" dirty="0"/>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185657540"/>
                  </a:ext>
                </a:extLst>
              </a:tr>
            </a:tbl>
          </a:graphicData>
        </a:graphic>
      </p:graphicFrame>
      <p:sp>
        <p:nvSpPr>
          <p:cNvPr id="4" name="Content Placeholder 2">
            <a:extLst>
              <a:ext uri="{FF2B5EF4-FFF2-40B4-BE49-F238E27FC236}">
                <a16:creationId xmlns:a16="http://schemas.microsoft.com/office/drawing/2014/main" id="{88A23F6B-EDA5-3F47-1E02-2DCC194749D2}"/>
              </a:ext>
            </a:extLst>
          </p:cNvPr>
          <p:cNvSpPr txBox="1">
            <a:spLocks/>
          </p:cNvSpPr>
          <p:nvPr/>
        </p:nvSpPr>
        <p:spPr>
          <a:xfrm>
            <a:off x="371508" y="2501890"/>
            <a:ext cx="7886700" cy="29924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Design Elements</a:t>
            </a:r>
          </a:p>
        </p:txBody>
      </p:sp>
      <p:cxnSp>
        <p:nvCxnSpPr>
          <p:cNvPr id="14" name="Straight Connector 13">
            <a:extLst>
              <a:ext uri="{FF2B5EF4-FFF2-40B4-BE49-F238E27FC236}">
                <a16:creationId xmlns:a16="http://schemas.microsoft.com/office/drawing/2014/main" id="{1BA9A79E-5FEE-8A9A-3D72-851EF4ED8551}"/>
              </a:ext>
            </a:extLst>
          </p:cNvPr>
          <p:cNvCxnSpPr>
            <a:cxnSpLocks/>
          </p:cNvCxnSpPr>
          <p:nvPr/>
        </p:nvCxnSpPr>
        <p:spPr>
          <a:xfrm>
            <a:off x="171450" y="5229472"/>
            <a:ext cx="8801100" cy="0"/>
          </a:xfrm>
          <a:prstGeom prst="line">
            <a:avLst/>
          </a:prstGeom>
          <a:ln w="9525">
            <a:solidFill>
              <a:srgbClr val="0396A6"/>
            </a:solidFill>
          </a:ln>
        </p:spPr>
        <p:style>
          <a:lnRef idx="2">
            <a:schemeClr val="accent1"/>
          </a:lnRef>
          <a:fillRef idx="0">
            <a:schemeClr val="accent1"/>
          </a:fillRef>
          <a:effectRef idx="1">
            <a:schemeClr val="accent1"/>
          </a:effectRef>
          <a:fontRef idx="minor">
            <a:schemeClr val="tx1"/>
          </a:fontRef>
        </p:style>
      </p:cxnSp>
      <p:grpSp>
        <p:nvGrpSpPr>
          <p:cNvPr id="21" name="Group 20">
            <a:extLst>
              <a:ext uri="{FF2B5EF4-FFF2-40B4-BE49-F238E27FC236}">
                <a16:creationId xmlns:a16="http://schemas.microsoft.com/office/drawing/2014/main" id="{C37500E4-923B-F995-CB1C-EBA4E438016F}"/>
              </a:ext>
            </a:extLst>
          </p:cNvPr>
          <p:cNvGrpSpPr/>
          <p:nvPr/>
        </p:nvGrpSpPr>
        <p:grpSpPr>
          <a:xfrm>
            <a:off x="317078" y="5422817"/>
            <a:ext cx="7902996" cy="1279640"/>
            <a:chOff x="526629" y="5769213"/>
            <a:chExt cx="7902996" cy="1279640"/>
          </a:xfrm>
        </p:grpSpPr>
        <p:grpSp>
          <p:nvGrpSpPr>
            <p:cNvPr id="15" name="Group 14">
              <a:extLst>
                <a:ext uri="{FF2B5EF4-FFF2-40B4-BE49-F238E27FC236}">
                  <a16:creationId xmlns:a16="http://schemas.microsoft.com/office/drawing/2014/main" id="{CCBC80E5-C8E3-495E-01A6-1372F270C91C}"/>
                </a:ext>
              </a:extLst>
            </p:cNvPr>
            <p:cNvGrpSpPr/>
            <p:nvPr/>
          </p:nvGrpSpPr>
          <p:grpSpPr>
            <a:xfrm>
              <a:off x="542925" y="5769213"/>
              <a:ext cx="7886700" cy="820961"/>
              <a:chOff x="628650" y="4778376"/>
              <a:chExt cx="7886700" cy="820961"/>
            </a:xfrm>
          </p:grpSpPr>
          <p:sp>
            <p:nvSpPr>
              <p:cNvPr id="16" name="Content Placeholder 2">
                <a:extLst>
                  <a:ext uri="{FF2B5EF4-FFF2-40B4-BE49-F238E27FC236}">
                    <a16:creationId xmlns:a16="http://schemas.microsoft.com/office/drawing/2014/main" id="{D59D05A5-6BB9-2AE1-0FD2-4462F32E3110}"/>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400" b="1" dirty="0">
                    <a:solidFill>
                      <a:srgbClr val="021836"/>
                    </a:solidFill>
                    <a:latin typeface="Aptos" panose="02110004020202020204"/>
                  </a:rPr>
                  <a:t>Adoption</a:t>
                </a: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 Signals</a:t>
                </a:r>
              </a:p>
            </p:txBody>
          </p:sp>
          <p:sp>
            <p:nvSpPr>
              <p:cNvPr id="17" name="Content Placeholder 2">
                <a:extLst>
                  <a:ext uri="{FF2B5EF4-FFF2-40B4-BE49-F238E27FC236}">
                    <a16:creationId xmlns:a16="http://schemas.microsoft.com/office/drawing/2014/main" id="{17B7B7AB-5A10-85C2-A1DB-F68A23CA0754}"/>
                  </a:ext>
                </a:extLst>
              </p:cNvPr>
              <p:cNvSpPr txBox="1">
                <a:spLocks/>
              </p:cNvSpPr>
              <p:nvPr/>
            </p:nvSpPr>
            <p:spPr>
              <a:xfrm>
                <a:off x="628650" y="5032600"/>
                <a:ext cx="7660853" cy="566737"/>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Low usage • Workarounds • Complaints • Declining trust • </a:t>
                </a:r>
                <a:r>
                  <a:rPr lang="en-US" sz="1200" i="1" dirty="0">
                    <a:solidFill>
                      <a:prstClr val="white">
                        <a:lumMod val="50000"/>
                      </a:prstClr>
                    </a:solidFill>
                    <a:latin typeface="Aptos" panose="02110004020202020204"/>
                  </a:rPr>
                  <a:t>Shadow processes</a:t>
                </a:r>
                <a:endPar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endParaRPr>
              </a:p>
            </p:txBody>
          </p:sp>
        </p:grpSp>
        <p:grpSp>
          <p:nvGrpSpPr>
            <p:cNvPr id="18" name="Group 17">
              <a:extLst>
                <a:ext uri="{FF2B5EF4-FFF2-40B4-BE49-F238E27FC236}">
                  <a16:creationId xmlns:a16="http://schemas.microsoft.com/office/drawing/2014/main" id="{6913FA25-8E48-4374-483D-C277FE755FC7}"/>
                </a:ext>
              </a:extLst>
            </p:cNvPr>
            <p:cNvGrpSpPr/>
            <p:nvPr/>
          </p:nvGrpSpPr>
          <p:grpSpPr>
            <a:xfrm>
              <a:off x="526629" y="6453316"/>
              <a:ext cx="7886700" cy="595537"/>
              <a:chOff x="628650" y="4778376"/>
              <a:chExt cx="7886700" cy="595537"/>
            </a:xfrm>
          </p:grpSpPr>
          <p:sp>
            <p:nvSpPr>
              <p:cNvPr id="19" name="Content Placeholder 2">
                <a:extLst>
                  <a:ext uri="{FF2B5EF4-FFF2-40B4-BE49-F238E27FC236}">
                    <a16:creationId xmlns:a16="http://schemas.microsoft.com/office/drawing/2014/main" id="{ADFA418C-A5C8-2CBD-54A9-08A6BF85A70A}"/>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Guiding Principle</a:t>
                </a:r>
              </a:p>
            </p:txBody>
          </p:sp>
          <p:sp>
            <p:nvSpPr>
              <p:cNvPr id="20" name="Content Placeholder 2">
                <a:extLst>
                  <a:ext uri="{FF2B5EF4-FFF2-40B4-BE49-F238E27FC236}">
                    <a16:creationId xmlns:a16="http://schemas.microsoft.com/office/drawing/2014/main" id="{3CA245C6-02DF-2700-6941-4DE535E7014B}"/>
                  </a:ext>
                </a:extLst>
              </p:cNvPr>
              <p:cNvSpPr txBox="1">
                <a:spLocks/>
              </p:cNvSpPr>
              <p:nvPr/>
            </p:nvSpPr>
            <p:spPr>
              <a:xfrm>
                <a:off x="628650" y="5032601"/>
                <a:ext cx="7886700" cy="341312"/>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kumimoji="0" lang="en-US" sz="1200" b="0" i="0" u="none" strike="noStrike" kern="1200" cap="none" spc="0" normalizeH="0" baseline="0" noProof="0" dirty="0">
                    <a:ln>
                      <a:noFill/>
                    </a:ln>
                    <a:solidFill>
                      <a:srgbClr val="021836"/>
                    </a:solidFill>
                    <a:effectLst/>
                    <a:uLnTx/>
                    <a:uFillTx/>
                    <a:latin typeface="Aptos" panose="02110004020202020204"/>
                    <a:ea typeface="+mn-ea"/>
                    <a:cs typeface="+mn-cs"/>
                  </a:rPr>
                  <a:t>Adoption reveals whether the design works in practice.</a:t>
                </a:r>
                <a:endPar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endParaRPr>
              </a:p>
            </p:txBody>
          </p:sp>
        </p:grpSp>
      </p:grpSp>
      <p:grpSp>
        <p:nvGrpSpPr>
          <p:cNvPr id="8" name="Group 7">
            <a:extLst>
              <a:ext uri="{FF2B5EF4-FFF2-40B4-BE49-F238E27FC236}">
                <a16:creationId xmlns:a16="http://schemas.microsoft.com/office/drawing/2014/main" id="{C79FB055-4AD4-ADD3-B13B-F3F60CA276E6}"/>
              </a:ext>
            </a:extLst>
          </p:cNvPr>
          <p:cNvGrpSpPr/>
          <p:nvPr/>
        </p:nvGrpSpPr>
        <p:grpSpPr>
          <a:xfrm>
            <a:off x="317078" y="1246654"/>
            <a:ext cx="8509844" cy="1211289"/>
            <a:chOff x="317078" y="1409941"/>
            <a:chExt cx="8509844" cy="1211289"/>
          </a:xfrm>
        </p:grpSpPr>
        <p:sp>
          <p:nvSpPr>
            <p:cNvPr id="3" name="Content Placeholder 2">
              <a:extLst>
                <a:ext uri="{FF2B5EF4-FFF2-40B4-BE49-F238E27FC236}">
                  <a16:creationId xmlns:a16="http://schemas.microsoft.com/office/drawing/2014/main" id="{B2A6F2F3-ECA8-28AA-B6B1-4267E7B4C92C}"/>
                </a:ext>
              </a:extLst>
            </p:cNvPr>
            <p:cNvSpPr txBox="1">
              <a:spLocks/>
            </p:cNvSpPr>
            <p:nvPr/>
          </p:nvSpPr>
          <p:spPr>
            <a:xfrm>
              <a:off x="360622" y="1673010"/>
              <a:ext cx="8466300" cy="948220"/>
            </a:xfrm>
            <a:prstGeom prst="rect">
              <a:avLst/>
            </a:prstGeom>
          </p:spPr>
          <p:txBody>
            <a:bodyPr vert="horz" lIns="91440" tIns="45720" rIns="91440" bIns="45720" numCol="2"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10000"/>
                </a:lnSpc>
                <a:spcBef>
                  <a:spcPts val="6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rPr>
                <a:t>Is the solution being used?</a:t>
              </a:r>
            </a:p>
            <a:p>
              <a:pPr marL="228600" marR="0" lvl="0" indent="-228600" algn="l" defTabSz="914400" rtl="0" eaLnBrk="1" fontAlgn="auto" latinLnBrk="0" hangingPunct="1">
                <a:lnSpc>
                  <a:spcPct val="110000"/>
                </a:lnSpc>
                <a:spcBef>
                  <a:spcPts val="600"/>
                </a:spcBef>
                <a:spcAft>
                  <a:spcPts val="0"/>
                </a:spcAft>
                <a:buClrTx/>
                <a:buSzTx/>
                <a:buFont typeface="Arial" panose="020B0604020202020204" pitchFamily="34" charset="0"/>
                <a:buChar char="•"/>
                <a:tabLst/>
                <a:defRPr/>
              </a:pPr>
              <a:r>
                <a:rPr lang="en-US" sz="1200" dirty="0">
                  <a:solidFill>
                    <a:prstClr val="black"/>
                  </a:solidFill>
                  <a:latin typeface="Aptos" panose="02110004020202020204"/>
                </a:rPr>
                <a:t>Are users bypassing it?</a:t>
              </a:r>
            </a:p>
            <a:p>
              <a:pPr marL="228600" marR="0" lvl="0" indent="-228600" algn="l" defTabSz="914400" rtl="0" eaLnBrk="1" fontAlgn="auto" latinLnBrk="0" hangingPunct="1">
                <a:lnSpc>
                  <a:spcPct val="110000"/>
                </a:lnSpc>
                <a:spcBef>
                  <a:spcPts val="6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rPr>
                <a:t>Where does friction exist?</a:t>
              </a:r>
            </a:p>
            <a:p>
              <a:pPr marL="228600" marR="0" lvl="0" indent="-228600" algn="l" defTabSz="914400" rtl="0" eaLnBrk="1" fontAlgn="auto" latinLnBrk="0" hangingPunct="1">
                <a:lnSpc>
                  <a:spcPct val="110000"/>
                </a:lnSpc>
                <a:spcBef>
                  <a:spcPts val="600"/>
                </a:spcBef>
                <a:spcAft>
                  <a:spcPts val="0"/>
                </a:spcAft>
                <a:buClrTx/>
                <a:buSzTx/>
                <a:buFont typeface="Arial" panose="020B0604020202020204" pitchFamily="34" charset="0"/>
                <a:buChar char="•"/>
                <a:tabLst/>
                <a:defRPr/>
              </a:pPr>
              <a:r>
                <a:rPr lang="en-US" sz="1200" dirty="0">
                  <a:solidFill>
                    <a:prstClr val="black"/>
                  </a:solidFill>
                  <a:latin typeface="Aptos" panose="02110004020202020204"/>
                </a:rPr>
                <a:t>Is trust increasing or declining?</a:t>
              </a:r>
            </a:p>
            <a:p>
              <a:pPr marL="228600" marR="0" lvl="0" indent="-228600" algn="l" defTabSz="914400" rtl="0" eaLnBrk="1" fontAlgn="auto" latinLnBrk="0" hangingPunct="1">
                <a:lnSpc>
                  <a:spcPct val="110000"/>
                </a:lnSpc>
                <a:spcBef>
                  <a:spcPts val="6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rPr>
                <a:t>Has AI reduced work or shifted effort to reviewers?</a:t>
              </a:r>
            </a:p>
            <a:p>
              <a:pPr lvl="0">
                <a:lnSpc>
                  <a:spcPct val="110000"/>
                </a:lnSpc>
                <a:spcBef>
                  <a:spcPts val="600"/>
                </a:spcBef>
                <a:defRPr/>
              </a:pPr>
              <a:r>
                <a:rPr lang="en-US" sz="1200" dirty="0"/>
                <a:t>What human effort is required to verify, correct, or manage AI output?</a:t>
              </a:r>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6" name="Content Placeholder 2">
              <a:extLst>
                <a:ext uri="{FF2B5EF4-FFF2-40B4-BE49-F238E27FC236}">
                  <a16:creationId xmlns:a16="http://schemas.microsoft.com/office/drawing/2014/main" id="{B69AF857-24BD-8028-80CD-EC96D4E2C597}"/>
                </a:ext>
              </a:extLst>
            </p:cNvPr>
            <p:cNvSpPr txBox="1">
              <a:spLocks/>
            </p:cNvSpPr>
            <p:nvPr/>
          </p:nvSpPr>
          <p:spPr>
            <a:xfrm>
              <a:off x="317078" y="1409941"/>
              <a:ext cx="7886700" cy="29924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Questions</a:t>
              </a:r>
            </a:p>
          </p:txBody>
        </p:sp>
      </p:grpSp>
      <p:sp>
        <p:nvSpPr>
          <p:cNvPr id="7" name="TextBox 6">
            <a:extLst>
              <a:ext uri="{FF2B5EF4-FFF2-40B4-BE49-F238E27FC236}">
                <a16:creationId xmlns:a16="http://schemas.microsoft.com/office/drawing/2014/main" id="{DACE9B07-4679-EACD-75FF-D772117D958F}"/>
              </a:ext>
            </a:extLst>
          </p:cNvPr>
          <p:cNvSpPr txBox="1"/>
          <p:nvPr/>
        </p:nvSpPr>
        <p:spPr>
          <a:xfrm>
            <a:off x="4408714" y="64309"/>
            <a:ext cx="4628748" cy="276999"/>
          </a:xfrm>
          <a:prstGeom prst="rect">
            <a:avLst/>
          </a:prstGeom>
          <a:noFill/>
        </p:spPr>
        <p:txBody>
          <a:bodyPr wrap="square" rtlCol="0">
            <a:spAutoFit/>
          </a:bodyPr>
          <a:lstStyle/>
          <a:p>
            <a:pPr algn="r"/>
            <a:r>
              <a:rPr lang="en-US" sz="1200" dirty="0">
                <a:solidFill>
                  <a:schemeClr val="bg1">
                    <a:lumMod val="50000"/>
                  </a:schemeClr>
                </a:solidFill>
              </a:rPr>
              <a:t>AI Operational Readiness • Evidence Framework</a:t>
            </a:r>
          </a:p>
        </p:txBody>
      </p:sp>
    </p:spTree>
    <p:extLst>
      <p:ext uri="{BB962C8B-B14F-4D97-AF65-F5344CB8AC3E}">
        <p14:creationId xmlns:p14="http://schemas.microsoft.com/office/powerpoint/2010/main" val="159072011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B5D6EB-207A-D489-11B1-EC9F68BAB5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9CD9ED-EE87-FF53-913F-A8AF87606A28}"/>
              </a:ext>
            </a:extLst>
          </p:cNvPr>
          <p:cNvSpPr>
            <a:spLocks noGrp="1"/>
          </p:cNvSpPr>
          <p:nvPr>
            <p:ph type="title"/>
          </p:nvPr>
        </p:nvSpPr>
        <p:spPr>
          <a:xfrm>
            <a:off x="273534" y="-86630"/>
            <a:ext cx="7886700" cy="1325563"/>
          </a:xfrm>
        </p:spPr>
        <p:txBody>
          <a:bodyPr/>
          <a:lstStyle/>
          <a:p>
            <a:r>
              <a:rPr lang="en-US" dirty="0"/>
              <a:t>Decision Evidence</a:t>
            </a:r>
          </a:p>
        </p:txBody>
      </p:sp>
      <p:sp>
        <p:nvSpPr>
          <p:cNvPr id="9" name="Content Placeholder 2">
            <a:extLst>
              <a:ext uri="{FF2B5EF4-FFF2-40B4-BE49-F238E27FC236}">
                <a16:creationId xmlns:a16="http://schemas.microsoft.com/office/drawing/2014/main" id="{104ECF77-1299-CFF6-6157-22FB7E46AB62}"/>
              </a:ext>
            </a:extLst>
          </p:cNvPr>
          <p:cNvSpPr txBox="1">
            <a:spLocks/>
          </p:cNvSpPr>
          <p:nvPr/>
        </p:nvSpPr>
        <p:spPr>
          <a:xfrm>
            <a:off x="317078" y="844267"/>
            <a:ext cx="7886700" cy="299244"/>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Understanding what evidence supports lifecycle and governance decisions</a:t>
            </a:r>
          </a:p>
        </p:txBody>
      </p:sp>
      <p:graphicFrame>
        <p:nvGraphicFramePr>
          <p:cNvPr id="13" name="Table 12">
            <a:extLst>
              <a:ext uri="{FF2B5EF4-FFF2-40B4-BE49-F238E27FC236}">
                <a16:creationId xmlns:a16="http://schemas.microsoft.com/office/drawing/2014/main" id="{C1C3C6ED-6BC1-44E4-45FD-F97E40CBF219}"/>
              </a:ext>
            </a:extLst>
          </p:cNvPr>
          <p:cNvGraphicFramePr>
            <a:graphicFrameLocks noGrp="1"/>
          </p:cNvGraphicFramePr>
          <p:nvPr/>
        </p:nvGraphicFramePr>
        <p:xfrm>
          <a:off x="371508" y="3069568"/>
          <a:ext cx="8218714" cy="2173800"/>
        </p:xfrm>
        <a:graphic>
          <a:graphicData uri="http://schemas.openxmlformats.org/drawingml/2006/table">
            <a:tbl>
              <a:tblPr firstRow="1" bandRow="1">
                <a:tableStyleId>{2D5ABB26-0587-4C30-8999-92F81FD0307C}</a:tableStyleId>
              </a:tblPr>
              <a:tblGrid>
                <a:gridCol w="3287487">
                  <a:extLst>
                    <a:ext uri="{9D8B030D-6E8A-4147-A177-3AD203B41FA5}">
                      <a16:colId xmlns:a16="http://schemas.microsoft.com/office/drawing/2014/main" val="2470210094"/>
                    </a:ext>
                  </a:extLst>
                </a:gridCol>
                <a:gridCol w="4931227">
                  <a:extLst>
                    <a:ext uri="{9D8B030D-6E8A-4147-A177-3AD203B41FA5}">
                      <a16:colId xmlns:a16="http://schemas.microsoft.com/office/drawing/2014/main" val="72878264"/>
                    </a:ext>
                  </a:extLst>
                </a:gridCol>
              </a:tblGrid>
              <a:tr h="229524">
                <a:tc>
                  <a:txBody>
                    <a:bodyPr/>
                    <a:lstStyle/>
                    <a:p>
                      <a:r>
                        <a:rPr lang="en-US" sz="1400" b="1" dirty="0">
                          <a:solidFill>
                            <a:srgbClr val="021836"/>
                          </a:solidFill>
                        </a:rPr>
                        <a:t>Decision Elements</a:t>
                      </a:r>
                    </a:p>
                  </a:txBody>
                  <a:tcPr>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rgbClr val="0396A6"/>
                      </a:solidFill>
                      <a:prstDash val="solid"/>
                      <a:round/>
                      <a:headEnd type="none" w="med" len="med"/>
                      <a:tailEnd type="none" w="med" len="med"/>
                    </a:lnB>
                  </a:tcPr>
                </a:tc>
                <a:tc>
                  <a:txBody>
                    <a:bodyPr/>
                    <a:lstStyle/>
                    <a:p>
                      <a:r>
                        <a:rPr lang="en-US" sz="1400" b="1" dirty="0">
                          <a:solidFill>
                            <a:srgbClr val="021836"/>
                          </a:solidFill>
                        </a:rPr>
                        <a:t>Proposed Design</a:t>
                      </a:r>
                    </a:p>
                  </a:txBody>
                  <a:tcPr>
                    <a:lnL w="12700" cap="flat" cmpd="sng" algn="ctr">
                      <a:solidFill>
                        <a:schemeClr val="bg1">
                          <a:lumMod val="75000"/>
                        </a:schemeClr>
                      </a:solidFill>
                      <a:prstDash val="solid"/>
                      <a:round/>
                      <a:headEnd type="none" w="med" len="med"/>
                      <a:tailEnd type="none" w="med" len="med"/>
                    </a:lnL>
                    <a:lnT w="12700" cap="flat" cmpd="sng" algn="ctr">
                      <a:solidFill>
                        <a:srgbClr val="0396A6"/>
                      </a:solidFill>
                      <a:prstDash val="solid"/>
                      <a:round/>
                      <a:headEnd type="none" w="med" len="med"/>
                      <a:tailEnd type="none" w="med" len="med"/>
                    </a:lnT>
                    <a:lnB w="12700" cap="flat" cmpd="sng" algn="ctr">
                      <a:solidFill>
                        <a:srgbClr val="0396A6"/>
                      </a:solidFill>
                      <a:prstDash val="solid"/>
                      <a:round/>
                      <a:headEnd type="none" w="med" len="med"/>
                      <a:tailEnd type="none" w="med" len="med"/>
                    </a:lnB>
                  </a:tcPr>
                </a:tc>
                <a:extLst>
                  <a:ext uri="{0D108BD9-81ED-4DB2-BD59-A6C34878D82A}">
                    <a16:rowId xmlns:a16="http://schemas.microsoft.com/office/drawing/2014/main" val="2061593276"/>
                  </a:ext>
                </a:extLst>
              </a:tr>
              <a:tr h="311500">
                <a:tc>
                  <a:txBody>
                    <a:bodyPr/>
                    <a:lstStyle/>
                    <a:p>
                      <a:pPr>
                        <a:buClr>
                          <a:schemeClr val="bg1">
                            <a:lumMod val="50000"/>
                          </a:schemeClr>
                        </a:buClr>
                      </a:pPr>
                      <a:r>
                        <a:rPr lang="en-US" sz="1300" dirty="0"/>
                        <a:t>Scale Criteria</a:t>
                      </a:r>
                    </a:p>
                  </a:txBody>
                  <a:tcPr>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300" dirty="0"/>
                    </a:p>
                  </a:txBody>
                  <a:tcPr>
                    <a:lnL w="12700" cap="flat" cmpd="sng" algn="ctr">
                      <a:solidFill>
                        <a:schemeClr val="bg1">
                          <a:lumMod val="75000"/>
                        </a:schemeClr>
                      </a:solidFill>
                      <a:prstDash val="solid"/>
                      <a:round/>
                      <a:headEnd type="none" w="med" len="med"/>
                      <a:tailEnd type="none" w="med" len="med"/>
                    </a:lnL>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493753442"/>
                  </a:ext>
                </a:extLst>
              </a:tr>
              <a:tr h="311500">
                <a:tc>
                  <a:txBody>
                    <a:bodyPr/>
                    <a:lstStyle/>
                    <a:p>
                      <a:pPr>
                        <a:buClr>
                          <a:schemeClr val="bg1">
                            <a:lumMod val="50000"/>
                          </a:schemeClr>
                        </a:buClr>
                      </a:pPr>
                      <a:r>
                        <a:rPr lang="en-US" sz="1300" dirty="0"/>
                        <a:t>Pause Criteria</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300" dirty="0"/>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23325965"/>
                  </a:ext>
                </a:extLst>
              </a:tr>
              <a:tr h="311500">
                <a:tc>
                  <a:txBody>
                    <a:bodyPr/>
                    <a:lstStyle/>
                    <a:p>
                      <a:pPr>
                        <a:buClr>
                          <a:schemeClr val="bg1">
                            <a:lumMod val="50000"/>
                          </a:schemeClr>
                        </a:buClr>
                      </a:pPr>
                      <a:r>
                        <a:rPr lang="en-US" sz="1300" dirty="0"/>
                        <a:t>Redesign Criteria</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300" dirty="0"/>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845834834"/>
                  </a:ext>
                </a:extLst>
              </a:tr>
              <a:tr h="311500">
                <a:tc>
                  <a:txBody>
                    <a:bodyPr/>
                    <a:lstStyle/>
                    <a:p>
                      <a:pPr>
                        <a:buClr>
                          <a:schemeClr val="bg1">
                            <a:lumMod val="50000"/>
                          </a:schemeClr>
                        </a:buClr>
                      </a:pPr>
                      <a:r>
                        <a:rPr lang="en-US" sz="1300" dirty="0"/>
                        <a:t>Retirement Criteria</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300" dirty="0"/>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012176639"/>
                  </a:ext>
                </a:extLst>
              </a:tr>
              <a:tr h="311500">
                <a:tc>
                  <a:txBody>
                    <a:bodyPr/>
                    <a:lstStyle/>
                    <a:p>
                      <a:pPr>
                        <a:buClr>
                          <a:schemeClr val="bg1">
                            <a:lumMod val="50000"/>
                          </a:schemeClr>
                        </a:buClr>
                      </a:pPr>
                      <a:r>
                        <a:rPr lang="en-US" sz="1300" dirty="0"/>
                        <a:t>Decision Owner</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300" dirty="0"/>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645799316"/>
                  </a:ext>
                </a:extLst>
              </a:tr>
              <a:tr h="311500">
                <a:tc>
                  <a:txBody>
                    <a:bodyPr/>
                    <a:lstStyle/>
                    <a:p>
                      <a:pPr>
                        <a:buClr>
                          <a:schemeClr val="bg1">
                            <a:lumMod val="50000"/>
                          </a:schemeClr>
                        </a:buClr>
                      </a:pPr>
                      <a:r>
                        <a:rPr lang="en-US" sz="1300" dirty="0"/>
                        <a:t>Decision Rationale</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300" dirty="0"/>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827210057"/>
                  </a:ext>
                </a:extLst>
              </a:tr>
            </a:tbl>
          </a:graphicData>
        </a:graphic>
      </p:graphicFrame>
      <p:sp>
        <p:nvSpPr>
          <p:cNvPr id="4" name="Content Placeholder 2">
            <a:extLst>
              <a:ext uri="{FF2B5EF4-FFF2-40B4-BE49-F238E27FC236}">
                <a16:creationId xmlns:a16="http://schemas.microsoft.com/office/drawing/2014/main" id="{67CFE277-5514-5048-D21D-989C244C80CC}"/>
              </a:ext>
            </a:extLst>
          </p:cNvPr>
          <p:cNvSpPr txBox="1">
            <a:spLocks/>
          </p:cNvSpPr>
          <p:nvPr/>
        </p:nvSpPr>
        <p:spPr>
          <a:xfrm>
            <a:off x="371508" y="2770324"/>
            <a:ext cx="7886700" cy="29924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Design Elements</a:t>
            </a:r>
          </a:p>
        </p:txBody>
      </p:sp>
      <p:cxnSp>
        <p:nvCxnSpPr>
          <p:cNvPr id="14" name="Straight Connector 13">
            <a:extLst>
              <a:ext uri="{FF2B5EF4-FFF2-40B4-BE49-F238E27FC236}">
                <a16:creationId xmlns:a16="http://schemas.microsoft.com/office/drawing/2014/main" id="{449E1938-1737-3564-5EEB-EBD950095A32}"/>
              </a:ext>
            </a:extLst>
          </p:cNvPr>
          <p:cNvCxnSpPr>
            <a:cxnSpLocks/>
          </p:cNvCxnSpPr>
          <p:nvPr/>
        </p:nvCxnSpPr>
        <p:spPr>
          <a:xfrm>
            <a:off x="171450" y="5468963"/>
            <a:ext cx="8801100" cy="0"/>
          </a:xfrm>
          <a:prstGeom prst="line">
            <a:avLst/>
          </a:prstGeom>
          <a:ln w="9525">
            <a:solidFill>
              <a:srgbClr val="0396A6"/>
            </a:solidFill>
          </a:ln>
        </p:spPr>
        <p:style>
          <a:lnRef idx="2">
            <a:schemeClr val="accent1"/>
          </a:lnRef>
          <a:fillRef idx="0">
            <a:schemeClr val="accent1"/>
          </a:fillRef>
          <a:effectRef idx="1">
            <a:schemeClr val="accent1"/>
          </a:effectRef>
          <a:fontRef idx="minor">
            <a:schemeClr val="tx1"/>
          </a:fontRef>
        </p:style>
      </p:cxnSp>
      <p:grpSp>
        <p:nvGrpSpPr>
          <p:cNvPr id="15" name="Group 14">
            <a:extLst>
              <a:ext uri="{FF2B5EF4-FFF2-40B4-BE49-F238E27FC236}">
                <a16:creationId xmlns:a16="http://schemas.microsoft.com/office/drawing/2014/main" id="{ABA89E5D-5C8B-F718-5D93-35F644D20348}"/>
              </a:ext>
            </a:extLst>
          </p:cNvPr>
          <p:cNvGrpSpPr/>
          <p:nvPr/>
        </p:nvGrpSpPr>
        <p:grpSpPr>
          <a:xfrm>
            <a:off x="333374" y="5542563"/>
            <a:ext cx="7913948" cy="820961"/>
            <a:chOff x="628650" y="4778376"/>
            <a:chExt cx="7913948" cy="820961"/>
          </a:xfrm>
        </p:grpSpPr>
        <p:sp>
          <p:nvSpPr>
            <p:cNvPr id="16" name="Content Placeholder 2">
              <a:extLst>
                <a:ext uri="{FF2B5EF4-FFF2-40B4-BE49-F238E27FC236}">
                  <a16:creationId xmlns:a16="http://schemas.microsoft.com/office/drawing/2014/main" id="{2A99AF3D-E4B0-38BD-FD92-4B91D94E6293}"/>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Decision Signals</a:t>
              </a:r>
            </a:p>
          </p:txBody>
        </p:sp>
        <p:sp>
          <p:nvSpPr>
            <p:cNvPr id="17" name="Content Placeholder 2">
              <a:extLst>
                <a:ext uri="{FF2B5EF4-FFF2-40B4-BE49-F238E27FC236}">
                  <a16:creationId xmlns:a16="http://schemas.microsoft.com/office/drawing/2014/main" id="{23766EA0-3511-160E-C454-E770416BBFBE}"/>
                </a:ext>
              </a:extLst>
            </p:cNvPr>
            <p:cNvSpPr txBox="1">
              <a:spLocks/>
            </p:cNvSpPr>
            <p:nvPr/>
          </p:nvSpPr>
          <p:spPr>
            <a:xfrm>
              <a:off x="628650" y="5032600"/>
              <a:ext cx="7913948" cy="566737"/>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Declining quality • Escalations • Strong value • Weak adoption • Risk exposure</a:t>
              </a:r>
            </a:p>
          </p:txBody>
        </p:sp>
      </p:grpSp>
      <p:grpSp>
        <p:nvGrpSpPr>
          <p:cNvPr id="18" name="Group 17">
            <a:extLst>
              <a:ext uri="{FF2B5EF4-FFF2-40B4-BE49-F238E27FC236}">
                <a16:creationId xmlns:a16="http://schemas.microsoft.com/office/drawing/2014/main" id="{32B761AE-23B9-752B-1D04-928587AF77B6}"/>
              </a:ext>
            </a:extLst>
          </p:cNvPr>
          <p:cNvGrpSpPr/>
          <p:nvPr/>
        </p:nvGrpSpPr>
        <p:grpSpPr>
          <a:xfrm>
            <a:off x="317078" y="6106920"/>
            <a:ext cx="7886700" cy="595537"/>
            <a:chOff x="628650" y="4778376"/>
            <a:chExt cx="7886700" cy="595537"/>
          </a:xfrm>
        </p:grpSpPr>
        <p:sp>
          <p:nvSpPr>
            <p:cNvPr id="19" name="Content Placeholder 2">
              <a:extLst>
                <a:ext uri="{FF2B5EF4-FFF2-40B4-BE49-F238E27FC236}">
                  <a16:creationId xmlns:a16="http://schemas.microsoft.com/office/drawing/2014/main" id="{021EC05A-D62A-546D-1AE1-2C15A51A7256}"/>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Guiding Principle</a:t>
              </a:r>
            </a:p>
          </p:txBody>
        </p:sp>
        <p:sp>
          <p:nvSpPr>
            <p:cNvPr id="20" name="Content Placeholder 2">
              <a:extLst>
                <a:ext uri="{FF2B5EF4-FFF2-40B4-BE49-F238E27FC236}">
                  <a16:creationId xmlns:a16="http://schemas.microsoft.com/office/drawing/2014/main" id="{B89A9417-4DDD-EE94-BFB7-C63FBD09381E}"/>
                </a:ext>
              </a:extLst>
            </p:cNvPr>
            <p:cNvSpPr txBox="1">
              <a:spLocks/>
            </p:cNvSpPr>
            <p:nvPr/>
          </p:nvSpPr>
          <p:spPr>
            <a:xfrm>
              <a:off x="628650" y="5032601"/>
              <a:ext cx="7886700" cy="341312"/>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kumimoji="0" lang="en-US" sz="1200" b="0" i="0" u="none" strike="noStrike" kern="1200" cap="none" spc="0" normalizeH="0" baseline="0" noProof="0" dirty="0">
                  <a:ln>
                    <a:noFill/>
                  </a:ln>
                  <a:solidFill>
                    <a:srgbClr val="021836"/>
                  </a:solidFill>
                  <a:effectLst/>
                  <a:uLnTx/>
                  <a:uFillTx/>
                  <a:latin typeface="Aptos" panose="02110004020202020204"/>
                  <a:ea typeface="+mn-ea"/>
                  <a:cs typeface="+mn-cs"/>
                </a:rPr>
                <a:t>Governance decisions should rely on evidence, not optimism.</a:t>
              </a:r>
              <a:endPar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endParaRPr>
            </a:p>
          </p:txBody>
        </p:sp>
      </p:grpSp>
      <p:sp>
        <p:nvSpPr>
          <p:cNvPr id="3" name="Content Placeholder 2">
            <a:extLst>
              <a:ext uri="{FF2B5EF4-FFF2-40B4-BE49-F238E27FC236}">
                <a16:creationId xmlns:a16="http://schemas.microsoft.com/office/drawing/2014/main" id="{1A66EF43-DA84-34C0-38D0-2E092899DDD5}"/>
              </a:ext>
            </a:extLst>
          </p:cNvPr>
          <p:cNvSpPr txBox="1">
            <a:spLocks/>
          </p:cNvSpPr>
          <p:nvPr/>
        </p:nvSpPr>
        <p:spPr>
          <a:xfrm>
            <a:off x="360622" y="1214862"/>
            <a:ext cx="7886700" cy="1460474"/>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Questions</a:t>
            </a:r>
          </a:p>
          <a:p>
            <a:pPr marL="228600" marR="0" lvl="0" indent="-228600" algn="l" defTabSz="914400" rtl="0" eaLnBrk="1" fontAlgn="auto" latinLnBrk="0" hangingPunct="1">
              <a:lnSpc>
                <a:spcPct val="110000"/>
              </a:lnSpc>
              <a:spcBef>
                <a:spcPts val="6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rPr>
              <a:t>What information supports scaling?</a:t>
            </a:r>
          </a:p>
          <a:p>
            <a:pPr marL="228600" marR="0" lvl="0" indent="-228600" algn="l" defTabSz="914400" rtl="0" eaLnBrk="1" fontAlgn="auto" latinLnBrk="0" hangingPunct="1">
              <a:lnSpc>
                <a:spcPct val="110000"/>
              </a:lnSpc>
              <a:spcBef>
                <a:spcPts val="600"/>
              </a:spcBef>
              <a:spcAft>
                <a:spcPts val="0"/>
              </a:spcAft>
              <a:buClrTx/>
              <a:buSzTx/>
              <a:buFont typeface="Arial" panose="020B0604020202020204" pitchFamily="34" charset="0"/>
              <a:buChar char="•"/>
              <a:tabLst/>
              <a:defRPr/>
            </a:pPr>
            <a:r>
              <a:rPr lang="en-US" sz="1200" dirty="0">
                <a:solidFill>
                  <a:prstClr val="black"/>
                </a:solidFill>
                <a:latin typeface="Aptos" panose="02110004020202020204"/>
              </a:rPr>
              <a:t>What evidence supports pausing?</a:t>
            </a:r>
          </a:p>
          <a:p>
            <a:pPr marL="228600" marR="0" lvl="0" indent="-228600" algn="l" defTabSz="914400" rtl="0" eaLnBrk="1" fontAlgn="auto" latinLnBrk="0" hangingPunct="1">
              <a:lnSpc>
                <a:spcPct val="110000"/>
              </a:lnSpc>
              <a:spcBef>
                <a:spcPts val="6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rPr>
              <a:t>What</a:t>
            </a:r>
            <a:r>
              <a:rPr lang="en-US" sz="1200" dirty="0">
                <a:solidFill>
                  <a:prstClr val="black"/>
                </a:solidFill>
                <a:latin typeface="Aptos" panose="02110004020202020204"/>
              </a:rPr>
              <a:t> evidence supports redesigning?</a:t>
            </a:r>
          </a:p>
          <a:p>
            <a:pPr marL="228600" marR="0" lvl="0" indent="-228600" algn="l" defTabSz="914400" rtl="0" eaLnBrk="1" fontAlgn="auto" latinLnBrk="0" hangingPunct="1">
              <a:lnSpc>
                <a:spcPct val="110000"/>
              </a:lnSpc>
              <a:spcBef>
                <a:spcPts val="6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rPr>
              <a:t>What evidence supports retirement?</a:t>
            </a:r>
          </a:p>
          <a:p>
            <a:pPr marL="228600" marR="0" lvl="0" indent="-228600" algn="l" defTabSz="914400" rtl="0" eaLnBrk="1" fontAlgn="auto" latinLnBrk="0" hangingPunct="1">
              <a:lnSpc>
                <a:spcPct val="110000"/>
              </a:lnSpc>
              <a:spcBef>
                <a:spcPts val="600"/>
              </a:spcBef>
              <a:spcAft>
                <a:spcPts val="0"/>
              </a:spcAft>
              <a:buClrTx/>
              <a:buSzTx/>
              <a:buFont typeface="Arial" panose="020B0604020202020204" pitchFamily="34" charset="0"/>
              <a:buChar char="•"/>
              <a:tabLst/>
              <a:defRPr/>
            </a:pPr>
            <a:r>
              <a:rPr lang="en-US" sz="1200" dirty="0">
                <a:solidFill>
                  <a:prstClr val="black"/>
                </a:solidFill>
                <a:latin typeface="Aptos" panose="02110004020202020204"/>
              </a:rPr>
              <a:t>What rationale should be retained with the decision?</a:t>
            </a:r>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6" name="TextBox 5">
            <a:extLst>
              <a:ext uri="{FF2B5EF4-FFF2-40B4-BE49-F238E27FC236}">
                <a16:creationId xmlns:a16="http://schemas.microsoft.com/office/drawing/2014/main" id="{0FCD19A9-68B1-FCB4-DA36-6EAF68FAE7A8}"/>
              </a:ext>
            </a:extLst>
          </p:cNvPr>
          <p:cNvSpPr txBox="1"/>
          <p:nvPr/>
        </p:nvSpPr>
        <p:spPr>
          <a:xfrm>
            <a:off x="4408714" y="64309"/>
            <a:ext cx="4628748" cy="276999"/>
          </a:xfrm>
          <a:prstGeom prst="rect">
            <a:avLst/>
          </a:prstGeom>
          <a:noFill/>
        </p:spPr>
        <p:txBody>
          <a:bodyPr wrap="square" rtlCol="0">
            <a:spAutoFit/>
          </a:bodyPr>
          <a:lstStyle/>
          <a:p>
            <a:pPr algn="r"/>
            <a:r>
              <a:rPr lang="en-US" sz="1200" dirty="0">
                <a:solidFill>
                  <a:schemeClr val="bg1">
                    <a:lumMod val="50000"/>
                  </a:schemeClr>
                </a:solidFill>
              </a:rPr>
              <a:t>AI Operational Readiness • Evidence Framework</a:t>
            </a:r>
          </a:p>
        </p:txBody>
      </p:sp>
    </p:spTree>
    <p:extLst>
      <p:ext uri="{BB962C8B-B14F-4D97-AF65-F5344CB8AC3E}">
        <p14:creationId xmlns:p14="http://schemas.microsoft.com/office/powerpoint/2010/main" val="204189232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2C75BF-EEAA-EC17-C3A6-5D5BD17CE4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60FCC2-6FD3-F405-9ECC-DD8F1828F14C}"/>
              </a:ext>
            </a:extLst>
          </p:cNvPr>
          <p:cNvSpPr>
            <a:spLocks noGrp="1"/>
          </p:cNvSpPr>
          <p:nvPr>
            <p:ph type="title"/>
          </p:nvPr>
        </p:nvSpPr>
        <p:spPr>
          <a:xfrm>
            <a:off x="273533" y="-86630"/>
            <a:ext cx="9686895" cy="1325563"/>
          </a:xfrm>
        </p:spPr>
        <p:txBody>
          <a:bodyPr/>
          <a:lstStyle/>
          <a:p>
            <a:r>
              <a:rPr lang="en-US" dirty="0"/>
              <a:t>Governance &amp; Decision Provenance</a:t>
            </a:r>
          </a:p>
        </p:txBody>
      </p:sp>
      <p:sp>
        <p:nvSpPr>
          <p:cNvPr id="9" name="Content Placeholder 2">
            <a:extLst>
              <a:ext uri="{FF2B5EF4-FFF2-40B4-BE49-F238E27FC236}">
                <a16:creationId xmlns:a16="http://schemas.microsoft.com/office/drawing/2014/main" id="{2221F89B-6D42-B933-B33A-A6A15F51A795}"/>
              </a:ext>
            </a:extLst>
          </p:cNvPr>
          <p:cNvSpPr txBox="1">
            <a:spLocks/>
          </p:cNvSpPr>
          <p:nvPr/>
        </p:nvSpPr>
        <p:spPr>
          <a:xfrm>
            <a:off x="317078" y="844267"/>
            <a:ext cx="7886700" cy="299244"/>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Preserving what was decided, why it was legitimate, and the conditions that applied</a:t>
            </a:r>
          </a:p>
        </p:txBody>
      </p:sp>
      <p:graphicFrame>
        <p:nvGraphicFramePr>
          <p:cNvPr id="13" name="Table 12">
            <a:extLst>
              <a:ext uri="{FF2B5EF4-FFF2-40B4-BE49-F238E27FC236}">
                <a16:creationId xmlns:a16="http://schemas.microsoft.com/office/drawing/2014/main" id="{6D591DD5-DED0-C299-7706-7D48B7EF5687}"/>
              </a:ext>
            </a:extLst>
          </p:cNvPr>
          <p:cNvGraphicFramePr>
            <a:graphicFrameLocks noGrp="1"/>
          </p:cNvGraphicFramePr>
          <p:nvPr/>
        </p:nvGraphicFramePr>
        <p:xfrm>
          <a:off x="317078" y="2077690"/>
          <a:ext cx="8218714" cy="1554480"/>
        </p:xfrm>
        <a:graphic>
          <a:graphicData uri="http://schemas.openxmlformats.org/drawingml/2006/table">
            <a:tbl>
              <a:tblPr firstRow="1" bandRow="1">
                <a:tableStyleId>{2D5ABB26-0587-4C30-8999-92F81FD0307C}</a:tableStyleId>
              </a:tblPr>
              <a:tblGrid>
                <a:gridCol w="3287487">
                  <a:extLst>
                    <a:ext uri="{9D8B030D-6E8A-4147-A177-3AD203B41FA5}">
                      <a16:colId xmlns:a16="http://schemas.microsoft.com/office/drawing/2014/main" val="2470210094"/>
                    </a:ext>
                  </a:extLst>
                </a:gridCol>
                <a:gridCol w="4931227">
                  <a:extLst>
                    <a:ext uri="{9D8B030D-6E8A-4147-A177-3AD203B41FA5}">
                      <a16:colId xmlns:a16="http://schemas.microsoft.com/office/drawing/2014/main" val="72878264"/>
                    </a:ext>
                  </a:extLst>
                </a:gridCol>
              </a:tblGrid>
              <a:tr h="182549">
                <a:tc>
                  <a:txBody>
                    <a:bodyPr/>
                    <a:lstStyle/>
                    <a:p>
                      <a:r>
                        <a:rPr lang="en-US" sz="1100" b="1" dirty="0">
                          <a:solidFill>
                            <a:srgbClr val="021836"/>
                          </a:solidFill>
                        </a:rPr>
                        <a:t>Evidence Elements</a:t>
                      </a:r>
                    </a:p>
                  </a:txBody>
                  <a:tcPr>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rgbClr val="0396A6"/>
                      </a:solidFill>
                      <a:prstDash val="solid"/>
                      <a:round/>
                      <a:headEnd type="none" w="med" len="med"/>
                      <a:tailEnd type="none" w="med" len="med"/>
                    </a:lnB>
                  </a:tcPr>
                </a:tc>
                <a:tc>
                  <a:txBody>
                    <a:bodyPr/>
                    <a:lstStyle/>
                    <a:p>
                      <a:r>
                        <a:rPr lang="en-US" sz="1100" b="1" dirty="0">
                          <a:solidFill>
                            <a:srgbClr val="021836"/>
                          </a:solidFill>
                        </a:rPr>
                        <a:t>Proposed Design</a:t>
                      </a:r>
                    </a:p>
                  </a:txBody>
                  <a:tcPr>
                    <a:lnL w="12700" cap="flat" cmpd="sng" algn="ctr">
                      <a:solidFill>
                        <a:schemeClr val="bg1">
                          <a:lumMod val="75000"/>
                        </a:schemeClr>
                      </a:solidFill>
                      <a:prstDash val="solid"/>
                      <a:round/>
                      <a:headEnd type="none" w="med" len="med"/>
                      <a:tailEnd type="none" w="med" len="med"/>
                    </a:lnL>
                    <a:lnT w="12700" cap="flat" cmpd="sng" algn="ctr">
                      <a:solidFill>
                        <a:srgbClr val="0396A6"/>
                      </a:solidFill>
                      <a:prstDash val="solid"/>
                      <a:round/>
                      <a:headEnd type="none" w="med" len="med"/>
                      <a:tailEnd type="none" w="med" len="med"/>
                    </a:lnT>
                    <a:lnB w="12700" cap="flat" cmpd="sng" algn="ctr">
                      <a:solidFill>
                        <a:srgbClr val="0396A6"/>
                      </a:solidFill>
                      <a:prstDash val="solid"/>
                      <a:round/>
                      <a:headEnd type="none" w="med" len="med"/>
                      <a:tailEnd type="none" w="med" len="med"/>
                    </a:lnB>
                  </a:tcPr>
                </a:tc>
                <a:extLst>
                  <a:ext uri="{0D108BD9-81ED-4DB2-BD59-A6C34878D82A}">
                    <a16:rowId xmlns:a16="http://schemas.microsoft.com/office/drawing/2014/main" val="2061593276"/>
                  </a:ext>
                </a:extLst>
              </a:tr>
              <a:tr h="164294">
                <a:tc>
                  <a:txBody>
                    <a:bodyPr/>
                    <a:lstStyle/>
                    <a:p>
                      <a:pPr>
                        <a:buClr>
                          <a:schemeClr val="bg1">
                            <a:lumMod val="50000"/>
                          </a:schemeClr>
                        </a:buClr>
                      </a:pPr>
                      <a:r>
                        <a:rPr lang="en-US" sz="1100" dirty="0"/>
                        <a:t>Decision / Approval</a:t>
                      </a:r>
                    </a:p>
                  </a:txBody>
                  <a:tcPr>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100" dirty="0"/>
                    </a:p>
                  </a:txBody>
                  <a:tcPr>
                    <a:lnL w="12700" cap="flat" cmpd="sng" algn="ctr">
                      <a:solidFill>
                        <a:schemeClr val="bg1">
                          <a:lumMod val="75000"/>
                        </a:schemeClr>
                      </a:solidFill>
                      <a:prstDash val="solid"/>
                      <a:round/>
                      <a:headEnd type="none" w="med" len="med"/>
                      <a:tailEnd type="none" w="med" len="med"/>
                    </a:lnL>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493753442"/>
                  </a:ext>
                </a:extLst>
              </a:tr>
              <a:tr h="164294">
                <a:tc>
                  <a:txBody>
                    <a:bodyPr/>
                    <a:lstStyle/>
                    <a:p>
                      <a:pPr>
                        <a:buClr>
                          <a:schemeClr val="bg1">
                            <a:lumMod val="50000"/>
                          </a:schemeClr>
                        </a:buClr>
                      </a:pPr>
                      <a:r>
                        <a:rPr lang="en-US" sz="1100" dirty="0"/>
                        <a:t>Supporting Evidence</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100" dirty="0"/>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23325965"/>
                  </a:ext>
                </a:extLst>
              </a:tr>
              <a:tr h="164294">
                <a:tc>
                  <a:txBody>
                    <a:bodyPr/>
                    <a:lstStyle/>
                    <a:p>
                      <a:pPr>
                        <a:buClr>
                          <a:schemeClr val="bg1">
                            <a:lumMod val="50000"/>
                          </a:schemeClr>
                        </a:buClr>
                      </a:pPr>
                      <a:r>
                        <a:rPr lang="en-US" sz="1100" dirty="0"/>
                        <a:t>Owner / Approver</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100" dirty="0"/>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845834834"/>
                  </a:ext>
                </a:extLst>
              </a:tr>
              <a:tr h="164294">
                <a:tc>
                  <a:txBody>
                    <a:bodyPr/>
                    <a:lstStyle/>
                    <a:p>
                      <a:pPr>
                        <a:buClr>
                          <a:schemeClr val="bg1">
                            <a:lumMod val="50000"/>
                          </a:schemeClr>
                        </a:buClr>
                      </a:pPr>
                      <a:r>
                        <a:rPr lang="en-US" sz="1100" dirty="0"/>
                        <a:t>Conditions / Mitigations</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100" dirty="0"/>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012176639"/>
                  </a:ext>
                </a:extLst>
              </a:tr>
              <a:tr h="164294">
                <a:tc>
                  <a:txBody>
                    <a:bodyPr/>
                    <a:lstStyle/>
                    <a:p>
                      <a:pPr>
                        <a:buClr>
                          <a:schemeClr val="bg1">
                            <a:lumMod val="50000"/>
                          </a:schemeClr>
                        </a:buClr>
                      </a:pPr>
                      <a:r>
                        <a:rPr lang="en-US" sz="1100" dirty="0"/>
                        <a:t>Applicable Version / State</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100" dirty="0"/>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645799316"/>
                  </a:ext>
                </a:extLst>
              </a:tr>
            </a:tbl>
          </a:graphicData>
        </a:graphic>
      </p:graphicFrame>
      <p:cxnSp>
        <p:nvCxnSpPr>
          <p:cNvPr id="14" name="Straight Connector 13">
            <a:extLst>
              <a:ext uri="{FF2B5EF4-FFF2-40B4-BE49-F238E27FC236}">
                <a16:creationId xmlns:a16="http://schemas.microsoft.com/office/drawing/2014/main" id="{580C1890-7251-23F3-2A89-070754CE21BB}"/>
              </a:ext>
            </a:extLst>
          </p:cNvPr>
          <p:cNvCxnSpPr>
            <a:cxnSpLocks/>
          </p:cNvCxnSpPr>
          <p:nvPr/>
        </p:nvCxnSpPr>
        <p:spPr>
          <a:xfrm>
            <a:off x="171450" y="3825218"/>
            <a:ext cx="8801100" cy="0"/>
          </a:xfrm>
          <a:prstGeom prst="line">
            <a:avLst/>
          </a:prstGeom>
          <a:ln w="9525">
            <a:solidFill>
              <a:srgbClr val="0396A6"/>
            </a:solidFill>
          </a:ln>
        </p:spPr>
        <p:style>
          <a:lnRef idx="2">
            <a:schemeClr val="accent1"/>
          </a:lnRef>
          <a:fillRef idx="0">
            <a:schemeClr val="accent1"/>
          </a:fillRef>
          <a:effectRef idx="1">
            <a:schemeClr val="accent1"/>
          </a:effectRef>
          <a:fontRef idx="minor">
            <a:schemeClr val="tx1"/>
          </a:fontRef>
        </p:style>
      </p:cxnSp>
      <p:sp>
        <p:nvSpPr>
          <p:cNvPr id="3" name="Content Placeholder 2">
            <a:extLst>
              <a:ext uri="{FF2B5EF4-FFF2-40B4-BE49-F238E27FC236}">
                <a16:creationId xmlns:a16="http://schemas.microsoft.com/office/drawing/2014/main" id="{015EEF1B-141A-623A-A7AA-502E32195ED9}"/>
              </a:ext>
            </a:extLst>
          </p:cNvPr>
          <p:cNvSpPr txBox="1">
            <a:spLocks/>
          </p:cNvSpPr>
          <p:nvPr/>
        </p:nvSpPr>
        <p:spPr>
          <a:xfrm>
            <a:off x="317078" y="1400164"/>
            <a:ext cx="8509844" cy="636534"/>
          </a:xfrm>
          <a:prstGeom prst="rect">
            <a:avLst/>
          </a:prstGeom>
        </p:spPr>
        <p:txBody>
          <a:bodyPr vert="horz" lIns="91440" tIns="45720" rIns="91440" bIns="45720" numCol="2"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prstClr val="black"/>
                </a:solidFill>
                <a:effectLst/>
                <a:uLnTx/>
                <a:uFillTx/>
                <a:latin typeface="Aptos" panose="02110004020202020204"/>
                <a:ea typeface="+mn-ea"/>
                <a:cs typeface="+mn-cs"/>
              </a:rPr>
              <a:t>What governance decision was made?</a:t>
            </a:r>
          </a:p>
          <a:p>
            <a:pPr marL="228600" marR="0" lvl="0" indent="-22860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prstClr val="black"/>
                </a:solidFill>
                <a:effectLst/>
                <a:uLnTx/>
                <a:uFillTx/>
                <a:latin typeface="Aptos" panose="02110004020202020204"/>
                <a:ea typeface="+mn-ea"/>
                <a:cs typeface="+mn-cs"/>
              </a:rPr>
              <a:t>What evidence supported it?</a:t>
            </a:r>
          </a:p>
          <a:p>
            <a:pPr marL="228600" marR="0" lvl="0" indent="-22860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prstClr val="black"/>
                </a:solidFill>
                <a:effectLst/>
                <a:uLnTx/>
                <a:uFillTx/>
                <a:latin typeface="Aptos" panose="02110004020202020204"/>
                <a:ea typeface="+mn-ea"/>
                <a:cs typeface="+mn-cs"/>
              </a:rPr>
              <a:t>Who reviewed or approved it?</a:t>
            </a:r>
          </a:p>
          <a:p>
            <a:pPr marL="228600" marR="0" lvl="0" indent="-22860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prstClr val="black"/>
                </a:solidFill>
                <a:effectLst/>
                <a:uLnTx/>
                <a:uFillTx/>
                <a:latin typeface="Aptos" panose="02110004020202020204"/>
                <a:ea typeface="+mn-ea"/>
                <a:cs typeface="+mn-cs"/>
              </a:rPr>
              <a:t>What conditions, mitigations, or exceptions applied?</a:t>
            </a:r>
          </a:p>
          <a:p>
            <a:pPr marL="228600" marR="0" lvl="0" indent="-22860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prstClr val="black"/>
                </a:solidFill>
                <a:effectLst/>
                <a:uLnTx/>
                <a:uFillTx/>
                <a:latin typeface="Aptos" panose="02110004020202020204"/>
                <a:ea typeface="+mn-ea"/>
                <a:cs typeface="+mn-cs"/>
              </a:rPr>
              <a:t>What system/version did the decision apply to?</a:t>
            </a:r>
          </a:p>
        </p:txBody>
      </p:sp>
      <p:sp>
        <p:nvSpPr>
          <p:cNvPr id="6" name="Content Placeholder 2">
            <a:extLst>
              <a:ext uri="{FF2B5EF4-FFF2-40B4-BE49-F238E27FC236}">
                <a16:creationId xmlns:a16="http://schemas.microsoft.com/office/drawing/2014/main" id="{BE758571-2E8E-95DC-FB8F-764CDC86E19B}"/>
              </a:ext>
            </a:extLst>
          </p:cNvPr>
          <p:cNvSpPr txBox="1">
            <a:spLocks/>
          </p:cNvSpPr>
          <p:nvPr/>
        </p:nvSpPr>
        <p:spPr>
          <a:xfrm>
            <a:off x="317078" y="4136423"/>
            <a:ext cx="8509844" cy="816578"/>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prstClr val="black"/>
                </a:solidFill>
                <a:effectLst/>
                <a:uLnTx/>
                <a:uFillTx/>
                <a:latin typeface="Aptos" panose="02110004020202020204"/>
                <a:ea typeface="+mn-ea"/>
                <a:cs typeface="+mn-cs"/>
              </a:rPr>
              <a:t>Can we reconstruct why a consequential action was allowed to proceed?</a:t>
            </a:r>
          </a:p>
          <a:p>
            <a:pPr marL="228600" marR="0" lvl="0" indent="-22860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lang="en-US" sz="1100" dirty="0">
                <a:solidFill>
                  <a:prstClr val="black"/>
                </a:solidFill>
                <a:latin typeface="Aptos" panose="02110004020202020204"/>
              </a:rPr>
              <a:t>What evidence, context, policy, authority, and approval applied?</a:t>
            </a:r>
          </a:p>
          <a:p>
            <a:pPr marL="228600" marR="0" lvl="0" indent="-22860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prstClr val="black"/>
                </a:solidFill>
                <a:effectLst/>
                <a:uLnTx/>
                <a:uFillTx/>
                <a:latin typeface="Aptos" panose="02110004020202020204"/>
                <a:ea typeface="+mn-ea"/>
                <a:cs typeface="+mn-cs"/>
              </a:rPr>
              <a:t> What was executed, and what outcome re</a:t>
            </a:r>
            <a:r>
              <a:rPr lang="en-US" sz="1100" dirty="0" err="1">
                <a:solidFill>
                  <a:prstClr val="black"/>
                </a:solidFill>
                <a:latin typeface="Aptos" panose="02110004020202020204"/>
              </a:rPr>
              <a:t>sulted</a:t>
            </a:r>
            <a:r>
              <a:rPr lang="en-US" sz="1100" dirty="0">
                <a:solidFill>
                  <a:prstClr val="black"/>
                </a:solidFill>
                <a:latin typeface="Aptos" panose="02110004020202020204"/>
              </a:rPr>
              <a:t>?</a:t>
            </a:r>
            <a:endParaRPr kumimoji="0" lang="en-US" sz="11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graphicFrame>
        <p:nvGraphicFramePr>
          <p:cNvPr id="8" name="Table 7">
            <a:extLst>
              <a:ext uri="{FF2B5EF4-FFF2-40B4-BE49-F238E27FC236}">
                <a16:creationId xmlns:a16="http://schemas.microsoft.com/office/drawing/2014/main" id="{732FBFD8-9C99-6C5B-E6E4-7EFE0FDB6226}"/>
              </a:ext>
            </a:extLst>
          </p:cNvPr>
          <p:cNvGraphicFramePr>
            <a:graphicFrameLocks noGrp="1"/>
          </p:cNvGraphicFramePr>
          <p:nvPr/>
        </p:nvGraphicFramePr>
        <p:xfrm>
          <a:off x="317078" y="4809772"/>
          <a:ext cx="8218714" cy="1813560"/>
        </p:xfrm>
        <a:graphic>
          <a:graphicData uri="http://schemas.openxmlformats.org/drawingml/2006/table">
            <a:tbl>
              <a:tblPr firstRow="1" bandRow="1">
                <a:tableStyleId>{2D5ABB26-0587-4C30-8999-92F81FD0307C}</a:tableStyleId>
              </a:tblPr>
              <a:tblGrid>
                <a:gridCol w="3287487">
                  <a:extLst>
                    <a:ext uri="{9D8B030D-6E8A-4147-A177-3AD203B41FA5}">
                      <a16:colId xmlns:a16="http://schemas.microsoft.com/office/drawing/2014/main" val="2470210094"/>
                    </a:ext>
                  </a:extLst>
                </a:gridCol>
                <a:gridCol w="4931227">
                  <a:extLst>
                    <a:ext uri="{9D8B030D-6E8A-4147-A177-3AD203B41FA5}">
                      <a16:colId xmlns:a16="http://schemas.microsoft.com/office/drawing/2014/main" val="72878264"/>
                    </a:ext>
                  </a:extLst>
                </a:gridCol>
              </a:tblGrid>
              <a:tr h="180776">
                <a:tc>
                  <a:txBody>
                    <a:bodyPr/>
                    <a:lstStyle/>
                    <a:p>
                      <a:r>
                        <a:rPr lang="en-US" sz="1100" b="1" dirty="0">
                          <a:solidFill>
                            <a:srgbClr val="021836"/>
                          </a:solidFill>
                        </a:rPr>
                        <a:t>Evidence Elements</a:t>
                      </a:r>
                    </a:p>
                  </a:txBody>
                  <a:tcPr>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rgbClr val="0396A6"/>
                      </a:solidFill>
                      <a:prstDash val="solid"/>
                      <a:round/>
                      <a:headEnd type="none" w="med" len="med"/>
                      <a:tailEnd type="none" w="med" len="med"/>
                    </a:lnB>
                  </a:tcPr>
                </a:tc>
                <a:tc>
                  <a:txBody>
                    <a:bodyPr/>
                    <a:lstStyle/>
                    <a:p>
                      <a:r>
                        <a:rPr lang="en-US" sz="1100" b="1" dirty="0">
                          <a:solidFill>
                            <a:srgbClr val="021836"/>
                          </a:solidFill>
                        </a:rPr>
                        <a:t>Proposed Design</a:t>
                      </a:r>
                    </a:p>
                  </a:txBody>
                  <a:tcPr>
                    <a:lnL w="12700" cap="flat" cmpd="sng" algn="ctr">
                      <a:solidFill>
                        <a:schemeClr val="bg1">
                          <a:lumMod val="75000"/>
                        </a:schemeClr>
                      </a:solidFill>
                      <a:prstDash val="solid"/>
                      <a:round/>
                      <a:headEnd type="none" w="med" len="med"/>
                      <a:tailEnd type="none" w="med" len="med"/>
                    </a:lnL>
                    <a:lnT w="12700" cap="flat" cmpd="sng" algn="ctr">
                      <a:solidFill>
                        <a:srgbClr val="0396A6"/>
                      </a:solidFill>
                      <a:prstDash val="solid"/>
                      <a:round/>
                      <a:headEnd type="none" w="med" len="med"/>
                      <a:tailEnd type="none" w="med" len="med"/>
                    </a:lnT>
                    <a:lnB w="12700" cap="flat" cmpd="sng" algn="ctr">
                      <a:solidFill>
                        <a:srgbClr val="0396A6"/>
                      </a:solidFill>
                      <a:prstDash val="solid"/>
                      <a:round/>
                      <a:headEnd type="none" w="med" len="med"/>
                      <a:tailEnd type="none" w="med" len="med"/>
                    </a:lnB>
                  </a:tcPr>
                </a:tc>
                <a:extLst>
                  <a:ext uri="{0D108BD9-81ED-4DB2-BD59-A6C34878D82A}">
                    <a16:rowId xmlns:a16="http://schemas.microsoft.com/office/drawing/2014/main" val="2061593276"/>
                  </a:ext>
                </a:extLst>
              </a:tr>
              <a:tr h="184749">
                <a:tc>
                  <a:txBody>
                    <a:bodyPr/>
                    <a:lstStyle/>
                    <a:p>
                      <a:pPr>
                        <a:buClr>
                          <a:schemeClr val="bg1">
                            <a:lumMod val="50000"/>
                          </a:schemeClr>
                        </a:buClr>
                      </a:pPr>
                      <a:r>
                        <a:rPr lang="en-US" sz="1100" dirty="0"/>
                        <a:t>Initiating Event / Request</a:t>
                      </a:r>
                    </a:p>
                  </a:txBody>
                  <a:tcPr>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100" dirty="0"/>
                    </a:p>
                  </a:txBody>
                  <a:tcPr>
                    <a:lnL w="12700" cap="flat" cmpd="sng" algn="ctr">
                      <a:solidFill>
                        <a:schemeClr val="bg1">
                          <a:lumMod val="75000"/>
                        </a:schemeClr>
                      </a:solidFill>
                      <a:prstDash val="solid"/>
                      <a:round/>
                      <a:headEnd type="none" w="med" len="med"/>
                      <a:tailEnd type="none" w="med" len="med"/>
                    </a:lnL>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493753442"/>
                  </a:ext>
                </a:extLst>
              </a:tr>
              <a:tr h="184749">
                <a:tc>
                  <a:txBody>
                    <a:bodyPr/>
                    <a:lstStyle/>
                    <a:p>
                      <a:pPr>
                        <a:buClr>
                          <a:schemeClr val="bg1">
                            <a:lumMod val="50000"/>
                          </a:schemeClr>
                        </a:buClr>
                      </a:pPr>
                      <a:r>
                        <a:rPr lang="en-US" sz="1100" dirty="0"/>
                        <a:t>Evidence &amp; Context</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100" dirty="0"/>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23325965"/>
                  </a:ext>
                </a:extLst>
              </a:tr>
              <a:tr h="184749">
                <a:tc>
                  <a:txBody>
                    <a:bodyPr/>
                    <a:lstStyle/>
                    <a:p>
                      <a:pPr>
                        <a:buClr>
                          <a:schemeClr val="bg1">
                            <a:lumMod val="50000"/>
                          </a:schemeClr>
                        </a:buClr>
                      </a:pPr>
                      <a:r>
                        <a:rPr lang="en-US" sz="1100" dirty="0"/>
                        <a:t>Applicable Policy / Authority</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100" dirty="0"/>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845834834"/>
                  </a:ext>
                </a:extLst>
              </a:tr>
              <a:tr h="184749">
                <a:tc>
                  <a:txBody>
                    <a:bodyPr/>
                    <a:lstStyle/>
                    <a:p>
                      <a:pPr>
                        <a:buClr>
                          <a:schemeClr val="bg1">
                            <a:lumMod val="50000"/>
                          </a:schemeClr>
                        </a:buClr>
                      </a:pPr>
                      <a:r>
                        <a:rPr lang="en-US" sz="1100" dirty="0"/>
                        <a:t>Approval / Exception / Override</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100" dirty="0"/>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012176639"/>
                  </a:ext>
                </a:extLst>
              </a:tr>
              <a:tr h="184749">
                <a:tc>
                  <a:txBody>
                    <a:bodyPr/>
                    <a:lstStyle/>
                    <a:p>
                      <a:pPr>
                        <a:buClr>
                          <a:schemeClr val="bg1">
                            <a:lumMod val="50000"/>
                          </a:schemeClr>
                        </a:buClr>
                      </a:pPr>
                      <a:r>
                        <a:rPr lang="en-US" sz="1100" dirty="0"/>
                        <a:t>Action Executed</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100" dirty="0"/>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645799316"/>
                  </a:ext>
                </a:extLst>
              </a:tr>
              <a:tr h="184749">
                <a:tc>
                  <a:txBody>
                    <a:bodyPr/>
                    <a:lstStyle/>
                    <a:p>
                      <a:pPr>
                        <a:buClr>
                          <a:schemeClr val="bg1">
                            <a:lumMod val="50000"/>
                          </a:schemeClr>
                        </a:buClr>
                      </a:pPr>
                      <a:r>
                        <a:rPr lang="en-US" sz="1100" dirty="0"/>
                        <a:t>Resulting Outcome</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100" dirty="0"/>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500802244"/>
                  </a:ext>
                </a:extLst>
              </a:tr>
            </a:tbl>
          </a:graphicData>
        </a:graphic>
      </p:graphicFrame>
      <p:sp>
        <p:nvSpPr>
          <p:cNvPr id="11" name="Content Placeholder 2">
            <a:extLst>
              <a:ext uri="{FF2B5EF4-FFF2-40B4-BE49-F238E27FC236}">
                <a16:creationId xmlns:a16="http://schemas.microsoft.com/office/drawing/2014/main" id="{4CD2A761-2177-588C-8B5D-5222073A90E6}"/>
              </a:ext>
            </a:extLst>
          </p:cNvPr>
          <p:cNvSpPr txBox="1">
            <a:spLocks/>
          </p:cNvSpPr>
          <p:nvPr/>
        </p:nvSpPr>
        <p:spPr>
          <a:xfrm>
            <a:off x="317078" y="3928923"/>
            <a:ext cx="7886700" cy="29966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None/>
              <a:defRPr/>
            </a:pPr>
            <a:r>
              <a:rPr lang="en-US" sz="1400" b="1" dirty="0">
                <a:solidFill>
                  <a:srgbClr val="021836"/>
                </a:solidFill>
              </a:rPr>
              <a:t>Decision Provenance Questions</a:t>
            </a:r>
          </a:p>
        </p:txBody>
      </p:sp>
      <p:sp>
        <p:nvSpPr>
          <p:cNvPr id="21" name="Content Placeholder 2">
            <a:extLst>
              <a:ext uri="{FF2B5EF4-FFF2-40B4-BE49-F238E27FC236}">
                <a16:creationId xmlns:a16="http://schemas.microsoft.com/office/drawing/2014/main" id="{97391F1D-11D5-D717-CE31-34640E50DB8B}"/>
              </a:ext>
            </a:extLst>
          </p:cNvPr>
          <p:cNvSpPr txBox="1">
            <a:spLocks/>
          </p:cNvSpPr>
          <p:nvPr/>
        </p:nvSpPr>
        <p:spPr>
          <a:xfrm>
            <a:off x="317078" y="1178237"/>
            <a:ext cx="7886700" cy="2917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None/>
              <a:defRPr/>
            </a:pPr>
            <a:r>
              <a:rPr lang="en-US" sz="1400" b="1" dirty="0">
                <a:solidFill>
                  <a:srgbClr val="021836"/>
                </a:solidFill>
              </a:rPr>
              <a:t>Governance Provenance Questions</a:t>
            </a:r>
          </a:p>
        </p:txBody>
      </p:sp>
      <p:sp>
        <p:nvSpPr>
          <p:cNvPr id="5" name="TextBox 4">
            <a:extLst>
              <a:ext uri="{FF2B5EF4-FFF2-40B4-BE49-F238E27FC236}">
                <a16:creationId xmlns:a16="http://schemas.microsoft.com/office/drawing/2014/main" id="{48B0E8BA-B036-4308-C1FB-736567DB8F10}"/>
              </a:ext>
            </a:extLst>
          </p:cNvPr>
          <p:cNvSpPr txBox="1"/>
          <p:nvPr/>
        </p:nvSpPr>
        <p:spPr>
          <a:xfrm>
            <a:off x="4408714" y="64309"/>
            <a:ext cx="4628748" cy="276999"/>
          </a:xfrm>
          <a:prstGeom prst="rect">
            <a:avLst/>
          </a:prstGeom>
          <a:noFill/>
        </p:spPr>
        <p:txBody>
          <a:bodyPr wrap="square" rtlCol="0">
            <a:spAutoFit/>
          </a:bodyPr>
          <a:lstStyle/>
          <a:p>
            <a:pPr algn="r"/>
            <a:r>
              <a:rPr lang="en-US" sz="1200" dirty="0">
                <a:solidFill>
                  <a:schemeClr val="bg1">
                    <a:lumMod val="50000"/>
                  </a:schemeClr>
                </a:solidFill>
              </a:rPr>
              <a:t>AI Operational Readiness • Evidence Framework</a:t>
            </a:r>
          </a:p>
        </p:txBody>
      </p:sp>
    </p:spTree>
    <p:extLst>
      <p:ext uri="{BB962C8B-B14F-4D97-AF65-F5344CB8AC3E}">
        <p14:creationId xmlns:p14="http://schemas.microsoft.com/office/powerpoint/2010/main" val="311302980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BC152-D77E-272F-50F0-DA8BC4AE31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201440-84C8-24CD-E259-2451F8074DD4}"/>
              </a:ext>
            </a:extLst>
          </p:cNvPr>
          <p:cNvSpPr>
            <a:spLocks noGrp="1"/>
          </p:cNvSpPr>
          <p:nvPr>
            <p:ph type="title"/>
          </p:nvPr>
        </p:nvSpPr>
        <p:spPr>
          <a:xfrm>
            <a:off x="273534" y="131090"/>
            <a:ext cx="7886700" cy="1325563"/>
          </a:xfrm>
        </p:spPr>
        <p:txBody>
          <a:bodyPr/>
          <a:lstStyle/>
          <a:p>
            <a:r>
              <a:rPr lang="en-US" dirty="0"/>
              <a:t>Example Evidence Profile</a:t>
            </a:r>
          </a:p>
        </p:txBody>
      </p:sp>
      <p:sp>
        <p:nvSpPr>
          <p:cNvPr id="7" name="Content Placeholder 2">
            <a:extLst>
              <a:ext uri="{FF2B5EF4-FFF2-40B4-BE49-F238E27FC236}">
                <a16:creationId xmlns:a16="http://schemas.microsoft.com/office/drawing/2014/main" id="{BBDE7A69-6D30-8031-5547-6F874C40BF8C}"/>
              </a:ext>
            </a:extLst>
          </p:cNvPr>
          <p:cNvSpPr txBox="1">
            <a:spLocks/>
          </p:cNvSpPr>
          <p:nvPr/>
        </p:nvSpPr>
        <p:spPr>
          <a:xfrm>
            <a:off x="295306" y="1569818"/>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600" b="1" i="0" u="none" strike="noStrike" kern="1200" cap="none" spc="0" normalizeH="0" baseline="0" noProof="0" dirty="0">
                <a:ln>
                  <a:noFill/>
                </a:ln>
                <a:solidFill>
                  <a:srgbClr val="021836"/>
                </a:solidFill>
                <a:effectLst/>
                <a:uLnTx/>
                <a:uFillTx/>
                <a:latin typeface="Aptos" panose="02110004020202020204"/>
                <a:ea typeface="+mn-ea"/>
                <a:cs typeface="+mn-cs"/>
              </a:rPr>
              <a:t>Opportunity: </a:t>
            </a:r>
            <a:r>
              <a:rPr kumimoji="0" lang="en-US" sz="1600" i="0" u="none" strike="noStrike" kern="1200" cap="none" spc="0" normalizeH="0" baseline="0" noProof="0" dirty="0">
                <a:ln>
                  <a:noFill/>
                </a:ln>
                <a:solidFill>
                  <a:srgbClr val="021836"/>
                </a:solidFill>
                <a:effectLst/>
                <a:uLnTx/>
                <a:uFillTx/>
                <a:latin typeface="Aptos" panose="02110004020202020204"/>
                <a:ea typeface="+mn-ea"/>
                <a:cs typeface="+mn-cs"/>
              </a:rPr>
              <a:t>Meeting Summary Assistant</a:t>
            </a:r>
          </a:p>
        </p:txBody>
      </p:sp>
      <p:sp>
        <p:nvSpPr>
          <p:cNvPr id="9" name="Content Placeholder 2">
            <a:extLst>
              <a:ext uri="{FF2B5EF4-FFF2-40B4-BE49-F238E27FC236}">
                <a16:creationId xmlns:a16="http://schemas.microsoft.com/office/drawing/2014/main" id="{E275B4CB-735A-C66D-9392-D29DD89C603E}"/>
              </a:ext>
            </a:extLst>
          </p:cNvPr>
          <p:cNvSpPr txBox="1">
            <a:spLocks/>
          </p:cNvSpPr>
          <p:nvPr/>
        </p:nvSpPr>
        <p:spPr>
          <a:xfrm>
            <a:off x="317078" y="1061987"/>
            <a:ext cx="7886700" cy="299244"/>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lang="en-US" sz="1200" i="1" dirty="0">
                <a:solidFill>
                  <a:prstClr val="white">
                    <a:lumMod val="50000"/>
                  </a:prstClr>
                </a:solidFill>
                <a:latin typeface="Aptos" panose="02110004020202020204"/>
              </a:rPr>
              <a:t>Illustrating the framework in practice</a:t>
            </a:r>
            <a:endPar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endParaRPr>
          </a:p>
        </p:txBody>
      </p:sp>
      <p:graphicFrame>
        <p:nvGraphicFramePr>
          <p:cNvPr id="15" name="Table 14">
            <a:extLst>
              <a:ext uri="{FF2B5EF4-FFF2-40B4-BE49-F238E27FC236}">
                <a16:creationId xmlns:a16="http://schemas.microsoft.com/office/drawing/2014/main" id="{9B1EA67E-F289-87C1-F433-FA009AA5D3F5}"/>
              </a:ext>
            </a:extLst>
          </p:cNvPr>
          <p:cNvGraphicFramePr>
            <a:graphicFrameLocks noGrp="1"/>
          </p:cNvGraphicFramePr>
          <p:nvPr/>
        </p:nvGraphicFramePr>
        <p:xfrm>
          <a:off x="317078" y="1982569"/>
          <a:ext cx="8218714" cy="3326707"/>
        </p:xfrm>
        <a:graphic>
          <a:graphicData uri="http://schemas.openxmlformats.org/drawingml/2006/table">
            <a:tbl>
              <a:tblPr firstRow="1" bandRow="1">
                <a:tableStyleId>{2D5ABB26-0587-4C30-8999-92F81FD0307C}</a:tableStyleId>
              </a:tblPr>
              <a:tblGrid>
                <a:gridCol w="4109357">
                  <a:extLst>
                    <a:ext uri="{9D8B030D-6E8A-4147-A177-3AD203B41FA5}">
                      <a16:colId xmlns:a16="http://schemas.microsoft.com/office/drawing/2014/main" val="2470210094"/>
                    </a:ext>
                  </a:extLst>
                </a:gridCol>
                <a:gridCol w="4109357">
                  <a:extLst>
                    <a:ext uri="{9D8B030D-6E8A-4147-A177-3AD203B41FA5}">
                      <a16:colId xmlns:a16="http://schemas.microsoft.com/office/drawing/2014/main" val="72878264"/>
                    </a:ext>
                  </a:extLst>
                </a:gridCol>
              </a:tblGrid>
              <a:tr h="364899">
                <a:tc>
                  <a:txBody>
                    <a:bodyPr/>
                    <a:lstStyle/>
                    <a:p>
                      <a:r>
                        <a:rPr lang="en-US" sz="1400" b="1" dirty="0">
                          <a:solidFill>
                            <a:srgbClr val="021836"/>
                          </a:solidFill>
                        </a:rPr>
                        <a:t>Evidence Area</a:t>
                      </a:r>
                    </a:p>
                  </a:txBody>
                  <a:tcPr marT="27432" marB="27432">
                    <a:lnR w="12700" cap="flat" cmpd="sng" algn="ctr">
                      <a:solidFill>
                        <a:schemeClr val="bg1">
                          <a:lumMod val="75000"/>
                        </a:schemeClr>
                      </a:solidFill>
                      <a:prstDash val="solid"/>
                      <a:round/>
                      <a:headEnd type="none" w="med" len="med"/>
                      <a:tailEnd type="none" w="med" len="med"/>
                    </a:lnR>
                    <a:lnB w="12700" cap="flat" cmpd="sng" algn="ctr">
                      <a:solidFill>
                        <a:srgbClr val="0396A6"/>
                      </a:solidFill>
                      <a:prstDash val="solid"/>
                      <a:round/>
                      <a:headEnd type="none" w="med" len="med"/>
                      <a:tailEnd type="none" w="med" len="med"/>
                    </a:lnB>
                  </a:tcPr>
                </a:tc>
                <a:tc>
                  <a:txBody>
                    <a:bodyPr/>
                    <a:lstStyle/>
                    <a:p>
                      <a:r>
                        <a:rPr lang="en-US" sz="1400" b="1" dirty="0">
                          <a:solidFill>
                            <a:srgbClr val="021836"/>
                          </a:solidFill>
                        </a:rPr>
                        <a:t>Proposed Design Summary</a:t>
                      </a:r>
                    </a:p>
                  </a:txBody>
                  <a:tcPr marT="27432" marB="27432">
                    <a:lnL w="12700" cap="flat" cmpd="sng" algn="ctr">
                      <a:solidFill>
                        <a:schemeClr val="bg1">
                          <a:lumMod val="75000"/>
                        </a:schemeClr>
                      </a:solidFill>
                      <a:prstDash val="solid"/>
                      <a:round/>
                      <a:headEnd type="none" w="med" len="med"/>
                      <a:tailEnd type="none" w="med" len="med"/>
                    </a:lnL>
                    <a:lnB w="12700" cap="flat" cmpd="sng" algn="ctr">
                      <a:solidFill>
                        <a:srgbClr val="0396A6"/>
                      </a:solidFill>
                      <a:prstDash val="solid"/>
                      <a:round/>
                      <a:headEnd type="none" w="med" len="med"/>
                      <a:tailEnd type="none" w="med" len="med"/>
                    </a:lnB>
                  </a:tcPr>
                </a:tc>
                <a:extLst>
                  <a:ext uri="{0D108BD9-81ED-4DB2-BD59-A6C34878D82A}">
                    <a16:rowId xmlns:a16="http://schemas.microsoft.com/office/drawing/2014/main" val="2061593276"/>
                  </a:ext>
                </a:extLst>
              </a:tr>
              <a:tr h="387536">
                <a:tc>
                  <a:txBody>
                    <a:bodyPr/>
                    <a:lstStyle/>
                    <a:p>
                      <a:pPr>
                        <a:buClr>
                          <a:schemeClr val="bg1">
                            <a:lumMod val="50000"/>
                          </a:schemeClr>
                        </a:buClr>
                      </a:pPr>
                      <a:r>
                        <a:rPr lang="en-US" sz="1200" dirty="0"/>
                        <a:t>Value</a:t>
                      </a:r>
                    </a:p>
                  </a:txBody>
                  <a:tcPr marT="27432" marB="27432">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200" dirty="0"/>
                        <a:t>50% reduction in summary preparation time</a:t>
                      </a:r>
                    </a:p>
                  </a:txBody>
                  <a:tcPr marT="27432" marB="27432">
                    <a:lnL w="12700" cap="flat" cmpd="sng" algn="ctr">
                      <a:solidFill>
                        <a:schemeClr val="bg1">
                          <a:lumMod val="75000"/>
                        </a:schemeClr>
                      </a:solidFill>
                      <a:prstDash val="solid"/>
                      <a:round/>
                      <a:headEnd type="none" w="med" len="med"/>
                      <a:tailEnd type="none" w="med" len="med"/>
                    </a:lnL>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493753442"/>
                  </a:ext>
                </a:extLst>
              </a:tr>
              <a:tr h="387536">
                <a:tc>
                  <a:txBody>
                    <a:bodyPr/>
                    <a:lstStyle/>
                    <a:p>
                      <a:pPr>
                        <a:buClr>
                          <a:schemeClr val="bg1">
                            <a:lumMod val="50000"/>
                          </a:schemeClr>
                        </a:buClr>
                      </a:pPr>
                      <a:r>
                        <a:rPr lang="en-US" sz="1200" b="0" dirty="0">
                          <a:solidFill>
                            <a:srgbClr val="021836"/>
                          </a:solidFill>
                        </a:rPr>
                        <a:t>Quality</a:t>
                      </a:r>
                    </a:p>
                  </a:txBody>
                  <a:tcPr marT="27432" marB="27432">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200" dirty="0"/>
                        <a:t>Manager correction rate &lt;10%</a:t>
                      </a:r>
                    </a:p>
                  </a:txBody>
                  <a:tcPr marT="27432" marB="27432">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23325965"/>
                  </a:ext>
                </a:extLst>
              </a:tr>
              <a:tr h="387536">
                <a:tc>
                  <a:txBody>
                    <a:bodyPr/>
                    <a:lstStyle/>
                    <a:p>
                      <a:pPr>
                        <a:buClr>
                          <a:schemeClr val="bg1">
                            <a:lumMod val="50000"/>
                          </a:schemeClr>
                        </a:buClr>
                      </a:pPr>
                      <a:r>
                        <a:rPr lang="en-US" sz="1200" b="0" dirty="0">
                          <a:solidFill>
                            <a:srgbClr val="021836"/>
                          </a:solidFill>
                        </a:rPr>
                        <a:t>Risk</a:t>
                      </a:r>
                    </a:p>
                  </a:txBody>
                  <a:tcPr marT="27432" marB="27432">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200" dirty="0"/>
                        <a:t>Sensitive-topic escalation count and policy exception rate</a:t>
                      </a:r>
                    </a:p>
                  </a:txBody>
                  <a:tcPr marT="27432" marB="27432">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845834834"/>
                  </a:ext>
                </a:extLst>
              </a:tr>
              <a:tr h="387536">
                <a:tc>
                  <a:txBody>
                    <a:bodyPr/>
                    <a:lstStyle/>
                    <a:p>
                      <a:pPr>
                        <a:buClr>
                          <a:schemeClr val="bg1">
                            <a:lumMod val="50000"/>
                          </a:schemeClr>
                        </a:buClr>
                      </a:pPr>
                      <a:r>
                        <a:rPr lang="en-US" sz="1200" b="0" dirty="0">
                          <a:solidFill>
                            <a:srgbClr val="021836"/>
                          </a:solidFill>
                        </a:rPr>
                        <a:t>Adoption </a:t>
                      </a:r>
                    </a:p>
                  </a:txBody>
                  <a:tcPr marT="27432" marB="27432">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200" dirty="0"/>
                        <a:t>80% team utilization</a:t>
                      </a:r>
                    </a:p>
                  </a:txBody>
                  <a:tcPr marT="27432" marB="27432">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012176639"/>
                  </a:ext>
                </a:extLst>
              </a:tr>
              <a:tr h="387536">
                <a:tc>
                  <a:txBody>
                    <a:bodyPr/>
                    <a:lstStyle/>
                    <a:p>
                      <a:pPr>
                        <a:buClr>
                          <a:schemeClr val="bg1">
                            <a:lumMod val="50000"/>
                          </a:schemeClr>
                        </a:buClr>
                      </a:pPr>
                      <a:r>
                        <a:rPr lang="en-US" sz="1200" b="0" dirty="0">
                          <a:solidFill>
                            <a:srgbClr val="021836"/>
                          </a:solidFill>
                        </a:rPr>
                        <a:t>Decision </a:t>
                      </a:r>
                    </a:p>
                  </a:txBody>
                  <a:tcPr marT="27432" marB="27432">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200" dirty="0"/>
                        <a:t>Expand after three successful months</a:t>
                      </a:r>
                    </a:p>
                  </a:txBody>
                  <a:tcPr marT="27432" marB="27432">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567521445"/>
                  </a:ext>
                </a:extLst>
              </a:tr>
              <a:tr h="387536">
                <a:tc>
                  <a:txBody>
                    <a:bodyPr/>
                    <a:lstStyle/>
                    <a:p>
                      <a:pPr>
                        <a:buClr>
                          <a:schemeClr val="bg1">
                            <a:lumMod val="50000"/>
                          </a:schemeClr>
                        </a:buClr>
                      </a:pPr>
                      <a:r>
                        <a:rPr lang="en-US" sz="1200" b="0" dirty="0">
                          <a:solidFill>
                            <a:srgbClr val="021836"/>
                          </a:solidFill>
                        </a:rPr>
                        <a:t>Governance Provenance</a:t>
                      </a:r>
                    </a:p>
                  </a:txBody>
                  <a:tcPr marT="27432" marB="27432">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200" dirty="0"/>
                        <a:t>Manager approval, escalation decisions, applicable conditions, and workflow version retained</a:t>
                      </a:r>
                    </a:p>
                  </a:txBody>
                  <a:tcPr marT="27432" marB="27432">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60306467"/>
                  </a:ext>
                </a:extLst>
              </a:tr>
              <a:tr h="387536">
                <a:tc>
                  <a:txBody>
                    <a:bodyPr/>
                    <a:lstStyle/>
                    <a:p>
                      <a:pPr>
                        <a:buClr>
                          <a:schemeClr val="bg1">
                            <a:lumMod val="50000"/>
                          </a:schemeClr>
                        </a:buClr>
                      </a:pPr>
                      <a:r>
                        <a:rPr lang="en-US" sz="1200" b="0" dirty="0">
                          <a:solidFill>
                            <a:srgbClr val="021836"/>
                          </a:solidFill>
                        </a:rPr>
                        <a:t>Decision Provenance</a:t>
                      </a:r>
                    </a:p>
                  </a:txBody>
                  <a:tcPr marT="27432" marB="27432">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200" dirty="0"/>
                        <a:t>For consequential exceptions, retain the supporting evidence, applicable authority, decision, and resulting action.</a:t>
                      </a:r>
                    </a:p>
                  </a:txBody>
                  <a:tcPr marT="27432" marB="27432">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394182429"/>
                  </a:ext>
                </a:extLst>
              </a:tr>
            </a:tbl>
          </a:graphicData>
        </a:graphic>
      </p:graphicFrame>
      <p:grpSp>
        <p:nvGrpSpPr>
          <p:cNvPr id="3" name="Group 2">
            <a:extLst>
              <a:ext uri="{FF2B5EF4-FFF2-40B4-BE49-F238E27FC236}">
                <a16:creationId xmlns:a16="http://schemas.microsoft.com/office/drawing/2014/main" id="{D9775A52-848F-D50F-A41D-5C37DFD3E67E}"/>
              </a:ext>
            </a:extLst>
          </p:cNvPr>
          <p:cNvGrpSpPr/>
          <p:nvPr/>
        </p:nvGrpSpPr>
        <p:grpSpPr>
          <a:xfrm>
            <a:off x="317078" y="5643585"/>
            <a:ext cx="7886700" cy="595537"/>
            <a:chOff x="628650" y="4778376"/>
            <a:chExt cx="7886700" cy="595537"/>
          </a:xfrm>
        </p:grpSpPr>
        <p:sp>
          <p:nvSpPr>
            <p:cNvPr id="4" name="Content Placeholder 2">
              <a:extLst>
                <a:ext uri="{FF2B5EF4-FFF2-40B4-BE49-F238E27FC236}">
                  <a16:creationId xmlns:a16="http://schemas.microsoft.com/office/drawing/2014/main" id="{A31EEF3A-C6D2-F8F2-8B70-5A055D8D26B0}"/>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Guiding Principle</a:t>
              </a:r>
            </a:p>
          </p:txBody>
        </p:sp>
        <p:sp>
          <p:nvSpPr>
            <p:cNvPr id="6" name="Content Placeholder 2">
              <a:extLst>
                <a:ext uri="{FF2B5EF4-FFF2-40B4-BE49-F238E27FC236}">
                  <a16:creationId xmlns:a16="http://schemas.microsoft.com/office/drawing/2014/main" id="{88385E0A-70DA-525E-6AFA-C0581A2D771C}"/>
                </a:ext>
              </a:extLst>
            </p:cNvPr>
            <p:cNvSpPr txBox="1">
              <a:spLocks/>
            </p:cNvSpPr>
            <p:nvPr/>
          </p:nvSpPr>
          <p:spPr>
            <a:xfrm>
              <a:off x="628650" y="5032601"/>
              <a:ext cx="7886700" cy="341312"/>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kumimoji="0" lang="en-US" sz="1200" b="0" i="0" u="none" strike="noStrike" kern="1200" cap="none" spc="0" normalizeH="0" baseline="0" noProof="0" dirty="0">
                  <a:ln>
                    <a:noFill/>
                  </a:ln>
                  <a:solidFill>
                    <a:srgbClr val="021836"/>
                  </a:solidFill>
                  <a:effectLst/>
                  <a:uLnTx/>
                  <a:uFillTx/>
                  <a:latin typeface="Aptos" panose="02110004020202020204"/>
                  <a:ea typeface="+mn-ea"/>
                  <a:cs typeface="+mn-cs"/>
                </a:rPr>
                <a:t>Evidence should support decisions throughout the lifecycle.</a:t>
              </a:r>
              <a:endPar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endParaRPr>
            </a:p>
          </p:txBody>
        </p:sp>
      </p:grpSp>
      <p:cxnSp>
        <p:nvCxnSpPr>
          <p:cNvPr id="8" name="Straight Connector 7">
            <a:extLst>
              <a:ext uri="{FF2B5EF4-FFF2-40B4-BE49-F238E27FC236}">
                <a16:creationId xmlns:a16="http://schemas.microsoft.com/office/drawing/2014/main" id="{E8CD09B8-BA71-66E7-19DA-0D9FE5DA33C4}"/>
              </a:ext>
            </a:extLst>
          </p:cNvPr>
          <p:cNvCxnSpPr>
            <a:cxnSpLocks/>
          </p:cNvCxnSpPr>
          <p:nvPr/>
        </p:nvCxnSpPr>
        <p:spPr>
          <a:xfrm>
            <a:off x="171450" y="5512507"/>
            <a:ext cx="8801100" cy="0"/>
          </a:xfrm>
          <a:prstGeom prst="line">
            <a:avLst/>
          </a:prstGeom>
          <a:ln w="9525">
            <a:solidFill>
              <a:srgbClr val="0396A6"/>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869B3AE8-3A95-2ECF-A3EC-C2E51576F0FA}"/>
              </a:ext>
            </a:extLst>
          </p:cNvPr>
          <p:cNvSpPr txBox="1"/>
          <p:nvPr/>
        </p:nvSpPr>
        <p:spPr>
          <a:xfrm>
            <a:off x="4408714" y="64309"/>
            <a:ext cx="4628748" cy="276999"/>
          </a:xfrm>
          <a:prstGeom prst="rect">
            <a:avLst/>
          </a:prstGeom>
          <a:noFill/>
        </p:spPr>
        <p:txBody>
          <a:bodyPr wrap="square" rtlCol="0">
            <a:spAutoFit/>
          </a:bodyPr>
          <a:lstStyle/>
          <a:p>
            <a:pPr algn="r"/>
            <a:r>
              <a:rPr lang="en-US" sz="1200" dirty="0">
                <a:solidFill>
                  <a:schemeClr val="bg1">
                    <a:lumMod val="50000"/>
                  </a:schemeClr>
                </a:solidFill>
              </a:rPr>
              <a:t>AI Operational Readiness • Evidence Framework</a:t>
            </a:r>
          </a:p>
        </p:txBody>
      </p:sp>
    </p:spTree>
    <p:extLst>
      <p:ext uri="{BB962C8B-B14F-4D97-AF65-F5344CB8AC3E}">
        <p14:creationId xmlns:p14="http://schemas.microsoft.com/office/powerpoint/2010/main" val="264916619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1C7984F-C393-F00E-E8FC-547AB0CE81C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9144000" cy="6858000"/>
          </a:xfrm>
          <a:prstGeom prst="rect">
            <a:avLst/>
          </a:prstGeom>
        </p:spPr>
      </p:pic>
    </p:spTree>
    <p:extLst>
      <p:ext uri="{BB962C8B-B14F-4D97-AF65-F5344CB8AC3E}">
        <p14:creationId xmlns:p14="http://schemas.microsoft.com/office/powerpoint/2010/main" val="106830410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F44F6-AAF9-F6E6-B3DC-C2D8FC3F68FB}"/>
              </a:ext>
            </a:extLst>
          </p:cNvPr>
          <p:cNvSpPr>
            <a:spLocks noGrp="1"/>
          </p:cNvSpPr>
          <p:nvPr>
            <p:ph type="title"/>
          </p:nvPr>
        </p:nvSpPr>
        <p:spPr>
          <a:xfrm>
            <a:off x="285750" y="434017"/>
            <a:ext cx="7886700" cy="362276"/>
          </a:xfrm>
        </p:spPr>
        <p:txBody>
          <a:bodyPr>
            <a:normAutofit fontScale="90000"/>
          </a:bodyPr>
          <a:lstStyle/>
          <a:p>
            <a:r>
              <a:rPr lang="en-US" dirty="0"/>
              <a:t>Framework Overview</a:t>
            </a:r>
          </a:p>
        </p:txBody>
      </p:sp>
      <p:cxnSp>
        <p:nvCxnSpPr>
          <p:cNvPr id="10" name="Straight Connector 9">
            <a:extLst>
              <a:ext uri="{FF2B5EF4-FFF2-40B4-BE49-F238E27FC236}">
                <a16:creationId xmlns:a16="http://schemas.microsoft.com/office/drawing/2014/main" id="{C0020D96-D985-F85D-9155-2AFC35B6AE59}"/>
              </a:ext>
            </a:extLst>
          </p:cNvPr>
          <p:cNvCxnSpPr>
            <a:cxnSpLocks/>
          </p:cNvCxnSpPr>
          <p:nvPr/>
        </p:nvCxnSpPr>
        <p:spPr>
          <a:xfrm>
            <a:off x="171450" y="5440055"/>
            <a:ext cx="8801100" cy="0"/>
          </a:xfrm>
          <a:prstGeom prst="line">
            <a:avLst/>
          </a:prstGeom>
          <a:ln w="9525">
            <a:solidFill>
              <a:srgbClr val="0396A6"/>
            </a:solidFill>
          </a:ln>
        </p:spPr>
        <p:style>
          <a:lnRef idx="2">
            <a:schemeClr val="accent1"/>
          </a:lnRef>
          <a:fillRef idx="0">
            <a:schemeClr val="accent1"/>
          </a:fillRef>
          <a:effectRef idx="1">
            <a:schemeClr val="accent1"/>
          </a:effectRef>
          <a:fontRef idx="minor">
            <a:schemeClr val="tx1"/>
          </a:fontRef>
        </p:style>
      </p:cxnSp>
      <p:grpSp>
        <p:nvGrpSpPr>
          <p:cNvPr id="37" name="Group 36">
            <a:extLst>
              <a:ext uri="{FF2B5EF4-FFF2-40B4-BE49-F238E27FC236}">
                <a16:creationId xmlns:a16="http://schemas.microsoft.com/office/drawing/2014/main" id="{07427C67-24F8-34E3-16AD-56FCB95CE120}"/>
              </a:ext>
            </a:extLst>
          </p:cNvPr>
          <p:cNvGrpSpPr/>
          <p:nvPr/>
        </p:nvGrpSpPr>
        <p:grpSpPr>
          <a:xfrm>
            <a:off x="381675" y="2385278"/>
            <a:ext cx="8583386" cy="464569"/>
            <a:chOff x="628650" y="4778376"/>
            <a:chExt cx="7886700" cy="464569"/>
          </a:xfrm>
        </p:grpSpPr>
        <p:sp>
          <p:nvSpPr>
            <p:cNvPr id="9" name="Content Placeholder 2">
              <a:extLst>
                <a:ext uri="{FF2B5EF4-FFF2-40B4-BE49-F238E27FC236}">
                  <a16:creationId xmlns:a16="http://schemas.microsoft.com/office/drawing/2014/main" id="{8C9AC330-2344-BEDA-9EC6-BFB62190E7E3}"/>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b="1" dirty="0">
                  <a:solidFill>
                    <a:srgbClr val="021836"/>
                  </a:solidFill>
                </a:rPr>
                <a:t>Core Flow</a:t>
              </a:r>
            </a:p>
          </p:txBody>
        </p:sp>
        <p:sp>
          <p:nvSpPr>
            <p:cNvPr id="11" name="Content Placeholder 2">
              <a:extLst>
                <a:ext uri="{FF2B5EF4-FFF2-40B4-BE49-F238E27FC236}">
                  <a16:creationId xmlns:a16="http://schemas.microsoft.com/office/drawing/2014/main" id="{FD78CC86-2052-A718-2145-5489B68A5D91}"/>
                </a:ext>
              </a:extLst>
            </p:cNvPr>
            <p:cNvSpPr txBox="1">
              <a:spLocks/>
            </p:cNvSpPr>
            <p:nvPr/>
          </p:nvSpPr>
          <p:spPr>
            <a:xfrm>
              <a:off x="628650" y="5032601"/>
              <a:ext cx="7886700" cy="210344"/>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rgbClr val="021836"/>
                </a:buClr>
                <a:buNone/>
              </a:pPr>
              <a:r>
                <a:rPr lang="en-US" sz="1200" dirty="0"/>
                <a:t>Business Fit → Workflow Readiness → Technical Readiness → Governance Readiness → Evidence Plan → Operational Support → Pilot Decision</a:t>
              </a:r>
            </a:p>
          </p:txBody>
        </p:sp>
      </p:grpSp>
      <p:sp>
        <p:nvSpPr>
          <p:cNvPr id="32" name="Content Placeholder 2">
            <a:extLst>
              <a:ext uri="{FF2B5EF4-FFF2-40B4-BE49-F238E27FC236}">
                <a16:creationId xmlns:a16="http://schemas.microsoft.com/office/drawing/2014/main" id="{3100EC29-4DE1-0548-69CA-66C82A4659A2}"/>
              </a:ext>
            </a:extLst>
          </p:cNvPr>
          <p:cNvSpPr txBox="1">
            <a:spLocks/>
          </p:cNvSpPr>
          <p:nvPr/>
        </p:nvSpPr>
        <p:spPr>
          <a:xfrm>
            <a:off x="389164" y="1334696"/>
            <a:ext cx="7886700" cy="101235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b="1" dirty="0">
                <a:solidFill>
                  <a:srgbClr val="021836"/>
                </a:solidFill>
              </a:rPr>
              <a:t>Purpose</a:t>
            </a:r>
          </a:p>
          <a:p>
            <a:pPr marL="0" indent="0">
              <a:spcBef>
                <a:spcPts val="600"/>
              </a:spcBef>
              <a:buNone/>
            </a:pPr>
            <a:r>
              <a:rPr lang="en-US" sz="1200" dirty="0"/>
              <a:t>This framework determines whether an AI-enabled operating model is ready for controlled testing by verifying business fit, workflow design, technical readiness, governance, evidence, operational support, and pilot decision criteria.</a:t>
            </a:r>
            <a:endParaRPr lang="en-US" sz="1600" dirty="0"/>
          </a:p>
        </p:txBody>
      </p:sp>
      <p:sp>
        <p:nvSpPr>
          <p:cNvPr id="5" name="Content Placeholder 2">
            <a:extLst>
              <a:ext uri="{FF2B5EF4-FFF2-40B4-BE49-F238E27FC236}">
                <a16:creationId xmlns:a16="http://schemas.microsoft.com/office/drawing/2014/main" id="{292B2336-1FA0-A3C8-A2A8-5A573F50113B}"/>
              </a:ext>
            </a:extLst>
          </p:cNvPr>
          <p:cNvSpPr txBox="1">
            <a:spLocks/>
          </p:cNvSpPr>
          <p:nvPr/>
        </p:nvSpPr>
        <p:spPr>
          <a:xfrm>
            <a:off x="381675" y="868186"/>
            <a:ext cx="7886700" cy="299244"/>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rgbClr val="021836"/>
              </a:buClr>
              <a:buNone/>
            </a:pPr>
            <a:r>
              <a:rPr lang="en-US" sz="1200" i="1" dirty="0">
                <a:solidFill>
                  <a:schemeClr val="bg1">
                    <a:lumMod val="50000"/>
                  </a:schemeClr>
                </a:solidFill>
              </a:rPr>
              <a:t>Translating design, governance, and evidence into a pilot decision</a:t>
            </a:r>
          </a:p>
        </p:txBody>
      </p:sp>
      <p:sp>
        <p:nvSpPr>
          <p:cNvPr id="15" name="Content Placeholder 2">
            <a:extLst>
              <a:ext uri="{FF2B5EF4-FFF2-40B4-BE49-F238E27FC236}">
                <a16:creationId xmlns:a16="http://schemas.microsoft.com/office/drawing/2014/main" id="{AFDCFB66-CE04-E353-63C3-854399711881}"/>
              </a:ext>
            </a:extLst>
          </p:cNvPr>
          <p:cNvSpPr txBox="1">
            <a:spLocks/>
          </p:cNvSpPr>
          <p:nvPr/>
        </p:nvSpPr>
        <p:spPr>
          <a:xfrm>
            <a:off x="381675" y="3127908"/>
            <a:ext cx="8583386"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b="1" dirty="0">
                <a:solidFill>
                  <a:srgbClr val="021836"/>
                </a:solidFill>
              </a:rPr>
              <a:t>What This Framework Helps Define</a:t>
            </a:r>
          </a:p>
        </p:txBody>
      </p:sp>
      <p:graphicFrame>
        <p:nvGraphicFramePr>
          <p:cNvPr id="18" name="Table 17">
            <a:extLst>
              <a:ext uri="{FF2B5EF4-FFF2-40B4-BE49-F238E27FC236}">
                <a16:creationId xmlns:a16="http://schemas.microsoft.com/office/drawing/2014/main" id="{E2F20037-47B8-8828-9FAB-CD803A7B47B2}"/>
              </a:ext>
            </a:extLst>
          </p:cNvPr>
          <p:cNvGraphicFramePr>
            <a:graphicFrameLocks noGrp="1"/>
          </p:cNvGraphicFramePr>
          <p:nvPr/>
        </p:nvGraphicFramePr>
        <p:xfrm>
          <a:off x="466638" y="3356709"/>
          <a:ext cx="8210723" cy="2072640"/>
        </p:xfrm>
        <a:graphic>
          <a:graphicData uri="http://schemas.openxmlformats.org/drawingml/2006/table">
            <a:tbl>
              <a:tblPr firstRow="1" bandRow="1">
                <a:effectLst/>
                <a:tableStyleId>{2D5ABB26-0587-4C30-8999-92F81FD0307C}</a:tableStyleId>
              </a:tblPr>
              <a:tblGrid>
                <a:gridCol w="3116867">
                  <a:extLst>
                    <a:ext uri="{9D8B030D-6E8A-4147-A177-3AD203B41FA5}">
                      <a16:colId xmlns:a16="http://schemas.microsoft.com/office/drawing/2014/main" val="2728554600"/>
                    </a:ext>
                  </a:extLst>
                </a:gridCol>
                <a:gridCol w="5093856">
                  <a:extLst>
                    <a:ext uri="{9D8B030D-6E8A-4147-A177-3AD203B41FA5}">
                      <a16:colId xmlns:a16="http://schemas.microsoft.com/office/drawing/2014/main" val="682756451"/>
                    </a:ext>
                  </a:extLst>
                </a:gridCol>
              </a:tblGrid>
              <a:tr h="220027">
                <a:tc>
                  <a:txBody>
                    <a:bodyPr/>
                    <a:lstStyle/>
                    <a:p>
                      <a:pPr algn="l"/>
                      <a:r>
                        <a:rPr lang="en-US" sz="1100" b="1" dirty="0">
                          <a:solidFill>
                            <a:srgbClr val="021836"/>
                          </a:solidFill>
                        </a:rPr>
                        <a:t>Component</a:t>
                      </a:r>
                    </a:p>
                  </a:txBody>
                  <a:tcPr marL="45720" marR="45720">
                    <a:lnR w="12700" cap="flat" cmpd="sng" algn="ctr">
                      <a:noFill/>
                      <a:prstDash val="solid"/>
                      <a:round/>
                      <a:headEnd type="none" w="med" len="med"/>
                      <a:tailEnd type="none" w="med" len="med"/>
                    </a:lnR>
                    <a:lnB w="12700" cap="flat" cmpd="sng" algn="ctr">
                      <a:solidFill>
                        <a:srgbClr val="0396A6"/>
                      </a:solidFill>
                      <a:prstDash val="solid"/>
                      <a:round/>
                      <a:headEnd type="none" w="med" len="med"/>
                      <a:tailEnd type="none" w="med" len="med"/>
                    </a:lnB>
                  </a:tcPr>
                </a:tc>
                <a:tc>
                  <a:txBody>
                    <a:bodyPr/>
                    <a:lstStyle/>
                    <a:p>
                      <a:r>
                        <a:rPr lang="en-US" sz="1100" b="1" dirty="0">
                          <a:solidFill>
                            <a:srgbClr val="021836"/>
                          </a:solidFill>
                        </a:rPr>
                        <a:t>Question It Answers</a:t>
                      </a:r>
                    </a:p>
                  </a:txBody>
                  <a:tcPr marL="45720" marR="45720">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rgbClr val="0396A6"/>
                      </a:solidFill>
                      <a:prstDash val="solid"/>
                      <a:round/>
                      <a:headEnd type="none" w="med" len="med"/>
                      <a:tailEnd type="none" w="med" len="med"/>
                    </a:lnB>
                  </a:tcPr>
                </a:tc>
                <a:extLst>
                  <a:ext uri="{0D108BD9-81ED-4DB2-BD59-A6C34878D82A}">
                    <a16:rowId xmlns:a16="http://schemas.microsoft.com/office/drawing/2014/main" val="3173400939"/>
                  </a:ext>
                </a:extLst>
              </a:tr>
              <a:tr h="220027">
                <a:tc>
                  <a:txBody>
                    <a:bodyPr/>
                    <a:lstStyle/>
                    <a:p>
                      <a:pPr algn="l"/>
                      <a:r>
                        <a:rPr lang="en-US" sz="1100" dirty="0"/>
                        <a:t>Business Fit</a:t>
                      </a:r>
                    </a:p>
                  </a:txBody>
                  <a:tcPr marL="45720" marR="45720">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100" dirty="0"/>
                        <a:t>Is this pilot worth running?</a:t>
                      </a:r>
                    </a:p>
                  </a:txBody>
                  <a:tcPr marL="45720" marR="45720">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185261034"/>
                  </a:ext>
                </a:extLst>
              </a:tr>
              <a:tr h="220027">
                <a:tc>
                  <a:txBody>
                    <a:bodyPr/>
                    <a:lstStyle/>
                    <a:p>
                      <a:pPr algn="l"/>
                      <a:r>
                        <a:rPr lang="en-US" sz="1100" dirty="0"/>
                        <a:t>Workflow Readiness</a:t>
                      </a:r>
                    </a:p>
                  </a:txBody>
                  <a:tcPr marL="45720" marR="4572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100" dirty="0"/>
                        <a:t>Has the future-state workflow been defined?</a:t>
                      </a:r>
                    </a:p>
                  </a:txBody>
                  <a:tcPr marL="45720" marR="45720">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228643947"/>
                  </a:ext>
                </a:extLst>
              </a:tr>
              <a:tr h="220027">
                <a:tc>
                  <a:txBody>
                    <a:bodyPr/>
                    <a:lstStyle/>
                    <a:p>
                      <a:pPr algn="l"/>
                      <a:r>
                        <a:rPr lang="en-US" sz="1100" dirty="0"/>
                        <a:t>Technical Readiness</a:t>
                      </a:r>
                    </a:p>
                  </a:txBody>
                  <a:tcPr marL="45720" marR="4572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100" dirty="0"/>
                        <a:t>Can the solution function reliably enough to test?</a:t>
                      </a:r>
                    </a:p>
                  </a:txBody>
                  <a:tcPr marL="45720" marR="45720">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781764621"/>
                  </a:ext>
                </a:extLst>
              </a:tr>
              <a:tr h="220027">
                <a:tc>
                  <a:txBody>
                    <a:bodyPr/>
                    <a:lstStyle/>
                    <a:p>
                      <a:pPr algn="l"/>
                      <a:r>
                        <a:rPr lang="en-US" sz="1100"/>
                        <a:t>Governance Readiness</a:t>
                      </a:r>
                      <a:endParaRPr lang="en-US" sz="1100" dirty="0"/>
                    </a:p>
                  </a:txBody>
                  <a:tcPr marL="45720" marR="4572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100" dirty="0"/>
                        <a:t>Are decision rights, escalation, and intervention defined?</a:t>
                      </a:r>
                    </a:p>
                  </a:txBody>
                  <a:tcPr marL="45720" marR="45720">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532030300"/>
                  </a:ext>
                </a:extLst>
              </a:tr>
              <a:tr h="220027">
                <a:tc>
                  <a:txBody>
                    <a:bodyPr/>
                    <a:lstStyle/>
                    <a:p>
                      <a:pPr algn="l"/>
                      <a:r>
                        <a:rPr lang="en-US" sz="1100" dirty="0"/>
                        <a:t>Evidence Plan</a:t>
                      </a:r>
                    </a:p>
                  </a:txBody>
                  <a:tcPr marL="45720" marR="4572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100" dirty="0"/>
                        <a:t>Do we know what must be observed, retained, and verified?</a:t>
                      </a:r>
                    </a:p>
                  </a:txBody>
                  <a:tcPr marL="45720" marR="45720">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79336270"/>
                  </a:ext>
                </a:extLst>
              </a:tr>
              <a:tr h="220027">
                <a:tc>
                  <a:txBody>
                    <a:bodyPr/>
                    <a:lstStyle/>
                    <a:p>
                      <a:pPr algn="l"/>
                      <a:r>
                        <a:rPr lang="en-US" sz="1100" dirty="0"/>
                        <a:t>Operational Support</a:t>
                      </a:r>
                    </a:p>
                  </a:txBody>
                  <a:tcPr marL="45720" marR="4572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100" dirty="0"/>
                        <a:t>Are people, support paths, and fallback plans ready?</a:t>
                      </a:r>
                    </a:p>
                  </a:txBody>
                  <a:tcPr marL="45720" marR="45720">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919325056"/>
                  </a:ext>
                </a:extLst>
              </a:tr>
              <a:tr h="220027">
                <a:tc>
                  <a:txBody>
                    <a:bodyPr/>
                    <a:lstStyle/>
                    <a:p>
                      <a:pPr algn="l"/>
                      <a:r>
                        <a:rPr lang="en-US" sz="1100" dirty="0"/>
                        <a:t>Pilot Decision</a:t>
                      </a:r>
                    </a:p>
                  </a:txBody>
                  <a:tcPr marL="45720" marR="4572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100" dirty="0"/>
                        <a:t>Should we proceed, pause, redesign, or defer?</a:t>
                      </a:r>
                    </a:p>
                  </a:txBody>
                  <a:tcPr marL="45720" marR="45720">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537362747"/>
                  </a:ext>
                </a:extLst>
              </a:tr>
            </a:tbl>
          </a:graphicData>
        </a:graphic>
      </p:graphicFrame>
      <p:sp>
        <p:nvSpPr>
          <p:cNvPr id="21" name="Content Placeholder 2">
            <a:extLst>
              <a:ext uri="{FF2B5EF4-FFF2-40B4-BE49-F238E27FC236}">
                <a16:creationId xmlns:a16="http://schemas.microsoft.com/office/drawing/2014/main" id="{C3E6CD39-95FF-9E31-7FA7-E1A32D5D642E}"/>
              </a:ext>
            </a:extLst>
          </p:cNvPr>
          <p:cNvSpPr txBox="1">
            <a:spLocks/>
          </p:cNvSpPr>
          <p:nvPr/>
        </p:nvSpPr>
        <p:spPr>
          <a:xfrm>
            <a:off x="389164" y="5561950"/>
            <a:ext cx="8583386" cy="676720"/>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b="1" dirty="0">
                <a:solidFill>
                  <a:srgbClr val="021836"/>
                </a:solidFill>
              </a:rPr>
              <a:t>Guiding Philosophy</a:t>
            </a:r>
          </a:p>
          <a:p>
            <a:pPr marL="0" indent="0">
              <a:buFont typeface="Arial" panose="020B0604020202020204" pitchFamily="34" charset="0"/>
              <a:buNone/>
            </a:pPr>
            <a:r>
              <a:rPr lang="en-US" sz="1400" i="1" dirty="0">
                <a:solidFill>
                  <a:schemeClr val="bg1">
                    <a:lumMod val="50000"/>
                  </a:schemeClr>
                </a:solidFill>
              </a:rPr>
              <a:t>A pilot should test a defined operating model, not an undefined idea.</a:t>
            </a:r>
          </a:p>
        </p:txBody>
      </p:sp>
      <p:sp>
        <p:nvSpPr>
          <p:cNvPr id="4" name="TextBox 3">
            <a:extLst>
              <a:ext uri="{FF2B5EF4-FFF2-40B4-BE49-F238E27FC236}">
                <a16:creationId xmlns:a16="http://schemas.microsoft.com/office/drawing/2014/main" id="{05557E77-CE7B-0D08-19E0-3C0ABFD93E18}"/>
              </a:ext>
            </a:extLst>
          </p:cNvPr>
          <p:cNvSpPr txBox="1"/>
          <p:nvPr/>
        </p:nvSpPr>
        <p:spPr>
          <a:xfrm>
            <a:off x="4408714" y="64309"/>
            <a:ext cx="4628748" cy="276999"/>
          </a:xfrm>
          <a:prstGeom prst="rect">
            <a:avLst/>
          </a:prstGeom>
          <a:noFill/>
        </p:spPr>
        <p:txBody>
          <a:bodyPr wrap="square" rtlCol="0">
            <a:spAutoFit/>
          </a:bodyPr>
          <a:lstStyle/>
          <a:p>
            <a:pPr algn="r"/>
            <a:r>
              <a:rPr lang="en-US" sz="1200" dirty="0">
                <a:solidFill>
                  <a:schemeClr val="bg1">
                    <a:lumMod val="50000"/>
                  </a:schemeClr>
                </a:solidFill>
              </a:rPr>
              <a:t>AI Operational Readiness • Pilot Readiness Framework</a:t>
            </a:r>
          </a:p>
        </p:txBody>
      </p:sp>
    </p:spTree>
    <p:extLst>
      <p:ext uri="{BB962C8B-B14F-4D97-AF65-F5344CB8AC3E}">
        <p14:creationId xmlns:p14="http://schemas.microsoft.com/office/powerpoint/2010/main" val="175265690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671BA3-B71C-0F6C-5DCC-2BDE8C41B7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743337-A53D-43FB-1D3A-AFB5942472E9}"/>
              </a:ext>
            </a:extLst>
          </p:cNvPr>
          <p:cNvSpPr>
            <a:spLocks noGrp="1"/>
          </p:cNvSpPr>
          <p:nvPr>
            <p:ph type="title"/>
          </p:nvPr>
        </p:nvSpPr>
        <p:spPr>
          <a:xfrm>
            <a:off x="273534" y="87541"/>
            <a:ext cx="8957552" cy="1325563"/>
          </a:xfrm>
        </p:spPr>
        <p:txBody>
          <a:bodyPr>
            <a:normAutofit/>
          </a:bodyPr>
          <a:lstStyle/>
          <a:p>
            <a:r>
              <a:rPr lang="en-US" sz="4000" dirty="0"/>
              <a:t>Why Pilots Fail</a:t>
            </a:r>
          </a:p>
        </p:txBody>
      </p:sp>
      <p:sp>
        <p:nvSpPr>
          <p:cNvPr id="4" name="Content Placeholder 2">
            <a:extLst>
              <a:ext uri="{FF2B5EF4-FFF2-40B4-BE49-F238E27FC236}">
                <a16:creationId xmlns:a16="http://schemas.microsoft.com/office/drawing/2014/main" id="{CF44140D-EC65-5A27-655D-229B2C295DC7}"/>
              </a:ext>
            </a:extLst>
          </p:cNvPr>
          <p:cNvSpPr txBox="1">
            <a:spLocks/>
          </p:cNvSpPr>
          <p:nvPr/>
        </p:nvSpPr>
        <p:spPr>
          <a:xfrm>
            <a:off x="381675" y="1042357"/>
            <a:ext cx="7886700" cy="299244"/>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rgbClr val="021836"/>
              </a:buClr>
              <a:buNone/>
            </a:pPr>
            <a:r>
              <a:rPr lang="en-US" sz="1200" i="1" dirty="0">
                <a:solidFill>
                  <a:schemeClr val="bg1">
                    <a:lumMod val="50000"/>
                  </a:schemeClr>
                </a:solidFill>
              </a:rPr>
              <a:t>Understanding the difference between experimentation and readiness</a:t>
            </a:r>
          </a:p>
        </p:txBody>
      </p:sp>
      <p:graphicFrame>
        <p:nvGraphicFramePr>
          <p:cNvPr id="5" name="Table 4">
            <a:extLst>
              <a:ext uri="{FF2B5EF4-FFF2-40B4-BE49-F238E27FC236}">
                <a16:creationId xmlns:a16="http://schemas.microsoft.com/office/drawing/2014/main" id="{F994AF61-6667-2BA4-09C4-B97277C8F078}"/>
              </a:ext>
            </a:extLst>
          </p:cNvPr>
          <p:cNvGraphicFramePr>
            <a:graphicFrameLocks noGrp="1"/>
          </p:cNvGraphicFramePr>
          <p:nvPr/>
        </p:nvGraphicFramePr>
        <p:xfrm>
          <a:off x="435427" y="1554618"/>
          <a:ext cx="8218714" cy="3623192"/>
        </p:xfrm>
        <a:graphic>
          <a:graphicData uri="http://schemas.openxmlformats.org/drawingml/2006/table">
            <a:tbl>
              <a:tblPr firstRow="1" bandRow="1">
                <a:tableStyleId>{2D5ABB26-0587-4C30-8999-92F81FD0307C}</a:tableStyleId>
              </a:tblPr>
              <a:tblGrid>
                <a:gridCol w="3559630">
                  <a:extLst>
                    <a:ext uri="{9D8B030D-6E8A-4147-A177-3AD203B41FA5}">
                      <a16:colId xmlns:a16="http://schemas.microsoft.com/office/drawing/2014/main" val="2470210094"/>
                    </a:ext>
                  </a:extLst>
                </a:gridCol>
                <a:gridCol w="4659084">
                  <a:extLst>
                    <a:ext uri="{9D8B030D-6E8A-4147-A177-3AD203B41FA5}">
                      <a16:colId xmlns:a16="http://schemas.microsoft.com/office/drawing/2014/main" val="72878264"/>
                    </a:ext>
                  </a:extLst>
                </a:gridCol>
              </a:tblGrid>
              <a:tr h="262868">
                <a:tc>
                  <a:txBody>
                    <a:bodyPr/>
                    <a:lstStyle/>
                    <a:p>
                      <a:r>
                        <a:rPr lang="en-US" sz="1600" b="1" dirty="0">
                          <a:solidFill>
                            <a:srgbClr val="021836"/>
                          </a:solidFill>
                        </a:rPr>
                        <a:t>Experimentation Without Readiness</a:t>
                      </a:r>
                    </a:p>
                  </a:txBody>
                  <a:tcPr>
                    <a:lnR w="12700" cap="flat" cmpd="sng" algn="ctr">
                      <a:solidFill>
                        <a:schemeClr val="bg1">
                          <a:lumMod val="75000"/>
                        </a:schemeClr>
                      </a:solidFill>
                      <a:prstDash val="solid"/>
                      <a:round/>
                      <a:headEnd type="none" w="med" len="med"/>
                      <a:tailEnd type="none" w="med" len="med"/>
                    </a:lnR>
                    <a:lnB w="12700" cap="flat" cmpd="sng" algn="ctr">
                      <a:solidFill>
                        <a:srgbClr val="0396A6"/>
                      </a:solidFill>
                      <a:prstDash val="solid"/>
                      <a:round/>
                      <a:headEnd type="none" w="med" len="med"/>
                      <a:tailEnd type="none" w="med" len="med"/>
                    </a:lnB>
                  </a:tcPr>
                </a:tc>
                <a:tc>
                  <a:txBody>
                    <a:bodyPr/>
                    <a:lstStyle/>
                    <a:p>
                      <a:r>
                        <a:rPr lang="en-US" sz="1600" b="1" dirty="0">
                          <a:solidFill>
                            <a:srgbClr val="021836"/>
                          </a:solidFill>
                        </a:rPr>
                        <a:t>Pilot Readiness</a:t>
                      </a:r>
                    </a:p>
                  </a:txBody>
                  <a:tcPr>
                    <a:lnL w="12700" cap="flat" cmpd="sng" algn="ctr">
                      <a:solidFill>
                        <a:schemeClr val="bg1">
                          <a:lumMod val="75000"/>
                        </a:schemeClr>
                      </a:solidFill>
                      <a:prstDash val="solid"/>
                      <a:round/>
                      <a:headEnd type="none" w="med" len="med"/>
                      <a:tailEnd type="none" w="med" len="med"/>
                    </a:lnL>
                    <a:lnB w="12700" cap="flat" cmpd="sng" algn="ctr">
                      <a:solidFill>
                        <a:srgbClr val="0396A6"/>
                      </a:solidFill>
                      <a:prstDash val="solid"/>
                      <a:round/>
                      <a:headEnd type="none" w="med" len="med"/>
                      <a:tailEnd type="none" w="med" len="med"/>
                    </a:lnB>
                  </a:tcPr>
                </a:tc>
                <a:extLst>
                  <a:ext uri="{0D108BD9-81ED-4DB2-BD59-A6C34878D82A}">
                    <a16:rowId xmlns:a16="http://schemas.microsoft.com/office/drawing/2014/main" val="2061593276"/>
                  </a:ext>
                </a:extLst>
              </a:tr>
              <a:tr h="410989">
                <a:tc>
                  <a:txBody>
                    <a:bodyPr/>
                    <a:lstStyle/>
                    <a:p>
                      <a:pPr>
                        <a:buClr>
                          <a:schemeClr val="bg1">
                            <a:lumMod val="50000"/>
                          </a:schemeClr>
                        </a:buClr>
                      </a:pPr>
                      <a:r>
                        <a:rPr lang="en-US" sz="1400" b="0" dirty="0"/>
                        <a:t>AI use case is interesting</a:t>
                      </a:r>
                    </a:p>
                  </a:txBody>
                  <a:tcPr>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400" b="0" kern="1200" dirty="0">
                          <a:solidFill>
                            <a:srgbClr val="021836"/>
                          </a:solidFill>
                          <a:latin typeface="+mn-lt"/>
                          <a:ea typeface="+mn-ea"/>
                          <a:cs typeface="+mn-cs"/>
                        </a:rPr>
                        <a:t>Business problem is defined</a:t>
                      </a:r>
                    </a:p>
                  </a:txBody>
                  <a:tcPr>
                    <a:lnL w="12700" cap="flat" cmpd="sng" algn="ctr">
                      <a:solidFill>
                        <a:schemeClr val="bg1">
                          <a:lumMod val="75000"/>
                        </a:schemeClr>
                      </a:solidFill>
                      <a:prstDash val="solid"/>
                      <a:round/>
                      <a:headEnd type="none" w="med" len="med"/>
                      <a:tailEnd type="none" w="med" len="med"/>
                    </a:lnL>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493753442"/>
                  </a:ext>
                </a:extLst>
              </a:tr>
              <a:tr h="410989">
                <a:tc>
                  <a:txBody>
                    <a:bodyPr/>
                    <a:lstStyle/>
                    <a:p>
                      <a:pPr>
                        <a:buClr>
                          <a:schemeClr val="bg1">
                            <a:lumMod val="50000"/>
                          </a:schemeClr>
                        </a:buClr>
                      </a:pPr>
                      <a:r>
                        <a:rPr lang="en-US" sz="1400" b="0" dirty="0"/>
                        <a:t>Workflow is assumed</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400" b="0" kern="1200" dirty="0">
                          <a:solidFill>
                            <a:srgbClr val="021836"/>
                          </a:solidFill>
                          <a:latin typeface="+mn-lt"/>
                          <a:ea typeface="+mn-ea"/>
                          <a:cs typeface="+mn-cs"/>
                        </a:rPr>
                        <a:t>Future-state workflow is mapped</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23325965"/>
                  </a:ext>
                </a:extLst>
              </a:tr>
              <a:tr h="410989">
                <a:tc>
                  <a:txBody>
                    <a:bodyPr/>
                    <a:lstStyle/>
                    <a:p>
                      <a:pPr>
                        <a:buClr>
                          <a:schemeClr val="bg1">
                            <a:lumMod val="50000"/>
                          </a:schemeClr>
                        </a:buClr>
                      </a:pPr>
                      <a:r>
                        <a:rPr lang="en-US" sz="1400" b="0" dirty="0"/>
                        <a:t>Human oversight is informal</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400" b="0" kern="1200" dirty="0">
                          <a:solidFill>
                            <a:srgbClr val="021836"/>
                          </a:solidFill>
                          <a:latin typeface="+mn-lt"/>
                          <a:ea typeface="+mn-ea"/>
                          <a:cs typeface="+mn-cs"/>
                        </a:rPr>
                        <a:t>Decision rights are assigned</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845834834"/>
                  </a:ext>
                </a:extLst>
              </a:tr>
              <a:tr h="410989">
                <a:tc>
                  <a:txBody>
                    <a:bodyPr/>
                    <a:lstStyle/>
                    <a:p>
                      <a:pPr>
                        <a:buClr>
                          <a:schemeClr val="bg1">
                            <a:lumMod val="50000"/>
                          </a:schemeClr>
                        </a:buClr>
                      </a:pPr>
                      <a:r>
                        <a:rPr lang="en-US" sz="1400" b="0" dirty="0"/>
                        <a:t>Success is anecdotal</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400" b="0" kern="1200" dirty="0">
                          <a:solidFill>
                            <a:srgbClr val="021836"/>
                          </a:solidFill>
                          <a:latin typeface="+mn-lt"/>
                          <a:ea typeface="+mn-ea"/>
                          <a:cs typeface="+mn-cs"/>
                        </a:rPr>
                        <a:t>Evidence plan is defined</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012176639"/>
                  </a:ext>
                </a:extLst>
              </a:tr>
              <a:tr h="410989">
                <a:tc>
                  <a:txBody>
                    <a:bodyPr/>
                    <a:lstStyle/>
                    <a:p>
                      <a:pPr>
                        <a:buClr>
                          <a:schemeClr val="bg1">
                            <a:lumMod val="50000"/>
                          </a:schemeClr>
                        </a:buClr>
                      </a:pPr>
                      <a:r>
                        <a:rPr lang="en-US" sz="1400" b="0" dirty="0"/>
                        <a:t>Issues are handled reactively</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400" b="0" kern="1200" dirty="0">
                          <a:solidFill>
                            <a:srgbClr val="021836"/>
                          </a:solidFill>
                          <a:latin typeface="+mn-lt"/>
                          <a:ea typeface="+mn-ea"/>
                          <a:cs typeface="+mn-cs"/>
                        </a:rPr>
                        <a:t>Escalation and fallback paths are prepared</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049069712"/>
                  </a:ext>
                </a:extLst>
              </a:tr>
              <a:tr h="410989">
                <a:tc>
                  <a:txBody>
                    <a:bodyPr/>
                    <a:lstStyle/>
                    <a:p>
                      <a:pPr>
                        <a:buClr>
                          <a:schemeClr val="bg1">
                            <a:lumMod val="50000"/>
                          </a:schemeClr>
                        </a:buClr>
                      </a:pPr>
                      <a:r>
                        <a:rPr lang="en-US" sz="1400" b="0" dirty="0"/>
                        <a:t>Pilot starts because the tool works</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400" b="0" kern="1200" dirty="0">
                          <a:solidFill>
                            <a:srgbClr val="021836"/>
                          </a:solidFill>
                          <a:latin typeface="+mn-lt"/>
                          <a:ea typeface="+mn-ea"/>
                          <a:cs typeface="+mn-cs"/>
                        </a:rPr>
                        <a:t>Pilot starts because the operating model is ready</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567995066"/>
                  </a:ext>
                </a:extLst>
              </a:tr>
              <a:tr h="410989">
                <a:tc>
                  <a:txBody>
                    <a:bodyPr/>
                    <a:lstStyle/>
                    <a:p>
                      <a:pPr>
                        <a:buClr>
                          <a:schemeClr val="bg1">
                            <a:lumMod val="50000"/>
                          </a:schemeClr>
                        </a:buClr>
                      </a:pPr>
                      <a:r>
                        <a:rPr lang="en-US" sz="1400" b="0" dirty="0"/>
                        <a:t>Fallback is assumed</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400" b="0" kern="1200" dirty="0">
                          <a:solidFill>
                            <a:srgbClr val="021836"/>
                          </a:solidFill>
                          <a:latin typeface="+mn-lt"/>
                          <a:ea typeface="+mn-ea"/>
                          <a:cs typeface="+mn-cs"/>
                        </a:rPr>
                        <a:t>Fallback is documented and testable</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936980834"/>
                  </a:ext>
                </a:extLst>
              </a:tr>
              <a:tr h="410989">
                <a:tc>
                  <a:txBody>
                    <a:bodyPr/>
                    <a:lstStyle/>
                    <a:p>
                      <a:pPr>
                        <a:buClr>
                          <a:schemeClr val="bg1">
                            <a:lumMod val="50000"/>
                          </a:schemeClr>
                        </a:buClr>
                      </a:pPr>
                      <a:r>
                        <a:rPr lang="en-US" sz="1400" b="0" dirty="0"/>
                        <a:t>Controls exist on paper</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400" b="0" kern="1200" dirty="0">
                          <a:solidFill>
                            <a:srgbClr val="021836"/>
                          </a:solidFill>
                          <a:latin typeface="+mn-lt"/>
                          <a:ea typeface="+mn-ea"/>
                          <a:cs typeface="+mn-cs"/>
                        </a:rPr>
                        <a:t>Controls can be exercised</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936952030"/>
                  </a:ext>
                </a:extLst>
              </a:tr>
            </a:tbl>
          </a:graphicData>
        </a:graphic>
      </p:graphicFrame>
      <p:cxnSp>
        <p:nvCxnSpPr>
          <p:cNvPr id="3" name="Straight Connector 2">
            <a:extLst>
              <a:ext uri="{FF2B5EF4-FFF2-40B4-BE49-F238E27FC236}">
                <a16:creationId xmlns:a16="http://schemas.microsoft.com/office/drawing/2014/main" id="{31844D60-7277-099F-0D05-D9DA54CBB950}"/>
              </a:ext>
            </a:extLst>
          </p:cNvPr>
          <p:cNvCxnSpPr>
            <a:cxnSpLocks/>
          </p:cNvCxnSpPr>
          <p:nvPr/>
        </p:nvCxnSpPr>
        <p:spPr>
          <a:xfrm>
            <a:off x="171450" y="5440055"/>
            <a:ext cx="8801100" cy="0"/>
          </a:xfrm>
          <a:prstGeom prst="line">
            <a:avLst/>
          </a:prstGeom>
          <a:ln w="9525">
            <a:solidFill>
              <a:srgbClr val="0396A6"/>
            </a:solidFill>
          </a:ln>
        </p:spPr>
        <p:style>
          <a:lnRef idx="2">
            <a:schemeClr val="accent1"/>
          </a:lnRef>
          <a:fillRef idx="0">
            <a:schemeClr val="accent1"/>
          </a:fillRef>
          <a:effectRef idx="1">
            <a:schemeClr val="accent1"/>
          </a:effectRef>
          <a:fontRef idx="minor">
            <a:schemeClr val="tx1"/>
          </a:fontRef>
        </p:style>
      </p:cxnSp>
      <p:sp>
        <p:nvSpPr>
          <p:cNvPr id="6" name="Content Placeholder 2">
            <a:extLst>
              <a:ext uri="{FF2B5EF4-FFF2-40B4-BE49-F238E27FC236}">
                <a16:creationId xmlns:a16="http://schemas.microsoft.com/office/drawing/2014/main" id="{7CCF1B01-C70B-AC5C-93D1-79A28445C75F}"/>
              </a:ext>
            </a:extLst>
          </p:cNvPr>
          <p:cNvSpPr txBox="1">
            <a:spLocks/>
          </p:cNvSpPr>
          <p:nvPr/>
        </p:nvSpPr>
        <p:spPr>
          <a:xfrm>
            <a:off x="389164" y="5561950"/>
            <a:ext cx="8583386" cy="676720"/>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b="1" dirty="0">
                <a:solidFill>
                  <a:srgbClr val="021836"/>
                </a:solidFill>
              </a:rPr>
              <a:t>Guiding Philosophy</a:t>
            </a:r>
          </a:p>
          <a:p>
            <a:pPr marL="0" indent="0">
              <a:buFont typeface="Arial" panose="020B0604020202020204" pitchFamily="34" charset="0"/>
              <a:buNone/>
            </a:pPr>
            <a:r>
              <a:rPr lang="en-US" sz="1400" i="1" dirty="0">
                <a:solidFill>
                  <a:schemeClr val="bg1">
                    <a:lumMod val="50000"/>
                  </a:schemeClr>
                </a:solidFill>
              </a:rPr>
              <a:t>A working tool is not the same as a pilot-ready workflow.</a:t>
            </a:r>
          </a:p>
        </p:txBody>
      </p:sp>
      <p:sp>
        <p:nvSpPr>
          <p:cNvPr id="8" name="TextBox 7">
            <a:extLst>
              <a:ext uri="{FF2B5EF4-FFF2-40B4-BE49-F238E27FC236}">
                <a16:creationId xmlns:a16="http://schemas.microsoft.com/office/drawing/2014/main" id="{55FE90BD-C19C-2460-6502-ED318CEBD888}"/>
              </a:ext>
            </a:extLst>
          </p:cNvPr>
          <p:cNvSpPr txBox="1"/>
          <p:nvPr/>
        </p:nvSpPr>
        <p:spPr>
          <a:xfrm>
            <a:off x="4408714" y="64309"/>
            <a:ext cx="4628748" cy="276999"/>
          </a:xfrm>
          <a:prstGeom prst="rect">
            <a:avLst/>
          </a:prstGeom>
          <a:noFill/>
        </p:spPr>
        <p:txBody>
          <a:bodyPr wrap="square" rtlCol="0">
            <a:spAutoFit/>
          </a:bodyPr>
          <a:lstStyle/>
          <a:p>
            <a:pPr algn="r"/>
            <a:r>
              <a:rPr lang="en-US" sz="1200" dirty="0">
                <a:solidFill>
                  <a:schemeClr val="bg1">
                    <a:lumMod val="50000"/>
                  </a:schemeClr>
                </a:solidFill>
              </a:rPr>
              <a:t>AI Operational Readiness • Pilot Readiness Framework</a:t>
            </a:r>
          </a:p>
        </p:txBody>
      </p:sp>
    </p:spTree>
    <p:extLst>
      <p:ext uri="{BB962C8B-B14F-4D97-AF65-F5344CB8AC3E}">
        <p14:creationId xmlns:p14="http://schemas.microsoft.com/office/powerpoint/2010/main" val="175177741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4A20EB-F0F1-633E-A917-29CACC76D2DD}"/>
              </a:ext>
            </a:extLst>
          </p:cNvPr>
          <p:cNvSpPr>
            <a:spLocks noGrp="1"/>
          </p:cNvSpPr>
          <p:nvPr>
            <p:ph type="title"/>
          </p:nvPr>
        </p:nvSpPr>
        <p:spPr>
          <a:xfrm>
            <a:off x="273534" y="-86630"/>
            <a:ext cx="7886700" cy="1325563"/>
          </a:xfrm>
        </p:spPr>
        <p:txBody>
          <a:bodyPr>
            <a:normAutofit/>
          </a:bodyPr>
          <a:lstStyle/>
          <a:p>
            <a:r>
              <a:rPr lang="en-US" sz="4000" dirty="0"/>
              <a:t>Business Fit</a:t>
            </a:r>
          </a:p>
        </p:txBody>
      </p:sp>
      <p:sp>
        <p:nvSpPr>
          <p:cNvPr id="9" name="Content Placeholder 2">
            <a:extLst>
              <a:ext uri="{FF2B5EF4-FFF2-40B4-BE49-F238E27FC236}">
                <a16:creationId xmlns:a16="http://schemas.microsoft.com/office/drawing/2014/main" id="{48E51978-00F1-B6E7-729C-1B8DF030C461}"/>
              </a:ext>
            </a:extLst>
          </p:cNvPr>
          <p:cNvSpPr txBox="1">
            <a:spLocks/>
          </p:cNvSpPr>
          <p:nvPr/>
        </p:nvSpPr>
        <p:spPr>
          <a:xfrm>
            <a:off x="317078" y="844267"/>
            <a:ext cx="7886700" cy="299244"/>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Understanding whether the pilot is worth running</a:t>
            </a:r>
          </a:p>
        </p:txBody>
      </p:sp>
      <p:graphicFrame>
        <p:nvGraphicFramePr>
          <p:cNvPr id="13" name="Table 12">
            <a:extLst>
              <a:ext uri="{FF2B5EF4-FFF2-40B4-BE49-F238E27FC236}">
                <a16:creationId xmlns:a16="http://schemas.microsoft.com/office/drawing/2014/main" id="{E1AF20BB-126A-AE2E-8229-2D75E4B88BD1}"/>
              </a:ext>
            </a:extLst>
          </p:cNvPr>
          <p:cNvGraphicFramePr>
            <a:graphicFrameLocks noGrp="1"/>
          </p:cNvGraphicFramePr>
          <p:nvPr/>
        </p:nvGraphicFramePr>
        <p:xfrm>
          <a:off x="360622" y="2992082"/>
          <a:ext cx="8218714" cy="2133600"/>
        </p:xfrm>
        <a:graphic>
          <a:graphicData uri="http://schemas.openxmlformats.org/drawingml/2006/table">
            <a:tbl>
              <a:tblPr firstRow="1" bandRow="1">
                <a:tableStyleId>{2D5ABB26-0587-4C30-8999-92F81FD0307C}</a:tableStyleId>
              </a:tblPr>
              <a:tblGrid>
                <a:gridCol w="3287487">
                  <a:extLst>
                    <a:ext uri="{9D8B030D-6E8A-4147-A177-3AD203B41FA5}">
                      <a16:colId xmlns:a16="http://schemas.microsoft.com/office/drawing/2014/main" val="2470210094"/>
                    </a:ext>
                  </a:extLst>
                </a:gridCol>
                <a:gridCol w="4931227">
                  <a:extLst>
                    <a:ext uri="{9D8B030D-6E8A-4147-A177-3AD203B41FA5}">
                      <a16:colId xmlns:a16="http://schemas.microsoft.com/office/drawing/2014/main" val="72878264"/>
                    </a:ext>
                  </a:extLst>
                </a:gridCol>
              </a:tblGrid>
              <a:tr h="229524">
                <a:tc>
                  <a:txBody>
                    <a:bodyPr/>
                    <a:lstStyle/>
                    <a:p>
                      <a:r>
                        <a:rPr lang="en-US" sz="1400" b="1" dirty="0">
                          <a:solidFill>
                            <a:srgbClr val="021836"/>
                          </a:solidFill>
                        </a:rPr>
                        <a:t>Business Fit Elements</a:t>
                      </a:r>
                    </a:p>
                  </a:txBody>
                  <a:tcPr>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rgbClr val="0396A6"/>
                      </a:solidFill>
                      <a:prstDash val="solid"/>
                      <a:round/>
                      <a:headEnd type="none" w="med" len="med"/>
                      <a:tailEnd type="none" w="med" len="med"/>
                    </a:lnB>
                  </a:tcPr>
                </a:tc>
                <a:tc>
                  <a:txBody>
                    <a:bodyPr/>
                    <a:lstStyle/>
                    <a:p>
                      <a:r>
                        <a:rPr lang="en-US" sz="1400" b="1" dirty="0">
                          <a:solidFill>
                            <a:srgbClr val="021836"/>
                          </a:solidFill>
                        </a:rPr>
                        <a:t>Proposed Design</a:t>
                      </a:r>
                    </a:p>
                  </a:txBody>
                  <a:tcPr>
                    <a:lnL w="12700" cap="flat" cmpd="sng" algn="ctr">
                      <a:solidFill>
                        <a:schemeClr val="bg1">
                          <a:lumMod val="75000"/>
                        </a:schemeClr>
                      </a:solidFill>
                      <a:prstDash val="solid"/>
                      <a:round/>
                      <a:headEnd type="none" w="med" len="med"/>
                      <a:tailEnd type="none" w="med" len="med"/>
                    </a:lnL>
                    <a:lnT w="12700" cap="flat" cmpd="sng" algn="ctr">
                      <a:solidFill>
                        <a:srgbClr val="0396A6"/>
                      </a:solidFill>
                      <a:prstDash val="solid"/>
                      <a:round/>
                      <a:headEnd type="none" w="med" len="med"/>
                      <a:tailEnd type="none" w="med" len="med"/>
                    </a:lnT>
                    <a:lnB w="12700" cap="flat" cmpd="sng" algn="ctr">
                      <a:solidFill>
                        <a:srgbClr val="0396A6"/>
                      </a:solidFill>
                      <a:prstDash val="solid"/>
                      <a:round/>
                      <a:headEnd type="none" w="med" len="med"/>
                      <a:tailEnd type="none" w="med" len="med"/>
                    </a:lnB>
                  </a:tcPr>
                </a:tc>
                <a:extLst>
                  <a:ext uri="{0D108BD9-81ED-4DB2-BD59-A6C34878D82A}">
                    <a16:rowId xmlns:a16="http://schemas.microsoft.com/office/drawing/2014/main" val="2061593276"/>
                  </a:ext>
                </a:extLst>
              </a:tr>
              <a:tr h="311500">
                <a:tc>
                  <a:txBody>
                    <a:bodyPr/>
                    <a:lstStyle/>
                    <a:p>
                      <a:pPr>
                        <a:buClr>
                          <a:schemeClr val="bg1">
                            <a:lumMod val="50000"/>
                          </a:schemeClr>
                        </a:buClr>
                      </a:pPr>
                      <a:r>
                        <a:rPr lang="en-US" sz="1400" dirty="0"/>
                        <a:t>Business Problem</a:t>
                      </a:r>
                    </a:p>
                  </a:txBody>
                  <a:tcPr>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75000"/>
                        </a:schemeClr>
                      </a:solidFill>
                      <a:prstDash val="solid"/>
                      <a:round/>
                      <a:headEnd type="none" w="med" len="med"/>
                      <a:tailEnd type="none" w="med" len="med"/>
                    </a:lnL>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493753442"/>
                  </a:ext>
                </a:extLst>
              </a:tr>
              <a:tr h="311500">
                <a:tc>
                  <a:txBody>
                    <a:bodyPr/>
                    <a:lstStyle/>
                    <a:p>
                      <a:pPr>
                        <a:buClr>
                          <a:schemeClr val="bg1">
                            <a:lumMod val="50000"/>
                          </a:schemeClr>
                        </a:buClr>
                      </a:pPr>
                      <a:r>
                        <a:rPr lang="en-US" sz="1400" dirty="0"/>
                        <a:t>Intended Value</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23325965"/>
                  </a:ext>
                </a:extLst>
              </a:tr>
              <a:tr h="311500">
                <a:tc>
                  <a:txBody>
                    <a:bodyPr/>
                    <a:lstStyle/>
                    <a:p>
                      <a:pPr>
                        <a:buClr>
                          <a:schemeClr val="bg1">
                            <a:lumMod val="50000"/>
                          </a:schemeClr>
                        </a:buClr>
                      </a:pPr>
                      <a:r>
                        <a:rPr lang="en-US" sz="1400" dirty="0"/>
                        <a:t>Sponsor</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845834834"/>
                  </a:ext>
                </a:extLst>
              </a:tr>
              <a:tr h="311500">
                <a:tc>
                  <a:txBody>
                    <a:bodyPr/>
                    <a:lstStyle/>
                    <a:p>
                      <a:pPr>
                        <a:buClr>
                          <a:schemeClr val="bg1">
                            <a:lumMod val="50000"/>
                          </a:schemeClr>
                        </a:buClr>
                      </a:pPr>
                      <a:r>
                        <a:rPr lang="en-US" sz="1400" dirty="0"/>
                        <a:t>Success Hypothesis</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012176639"/>
                  </a:ext>
                </a:extLst>
              </a:tr>
              <a:tr h="311500">
                <a:tc>
                  <a:txBody>
                    <a:bodyPr/>
                    <a:lstStyle/>
                    <a:p>
                      <a:pPr>
                        <a:buClr>
                          <a:schemeClr val="bg1">
                            <a:lumMod val="50000"/>
                          </a:schemeClr>
                        </a:buClr>
                      </a:pPr>
                      <a:r>
                        <a:rPr lang="en-US" sz="1400" dirty="0"/>
                        <a:t>Priority Rationale</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181736068"/>
                  </a:ext>
                </a:extLst>
              </a:tr>
            </a:tbl>
          </a:graphicData>
        </a:graphic>
      </p:graphicFrame>
      <p:sp>
        <p:nvSpPr>
          <p:cNvPr id="3" name="Content Placeholder 2">
            <a:extLst>
              <a:ext uri="{FF2B5EF4-FFF2-40B4-BE49-F238E27FC236}">
                <a16:creationId xmlns:a16="http://schemas.microsoft.com/office/drawing/2014/main" id="{7F451F4A-CD24-A023-B23B-7052C7F0B573}"/>
              </a:ext>
            </a:extLst>
          </p:cNvPr>
          <p:cNvSpPr txBox="1">
            <a:spLocks/>
          </p:cNvSpPr>
          <p:nvPr/>
        </p:nvSpPr>
        <p:spPr>
          <a:xfrm>
            <a:off x="360622" y="1160017"/>
            <a:ext cx="7886700" cy="158267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b="1" dirty="0">
                <a:solidFill>
                  <a:srgbClr val="021836"/>
                </a:solidFill>
              </a:rPr>
              <a:t>Questions</a:t>
            </a:r>
          </a:p>
          <a:p>
            <a:pPr>
              <a:lnSpc>
                <a:spcPct val="110000"/>
              </a:lnSpc>
              <a:spcBef>
                <a:spcPts val="600"/>
              </a:spcBef>
            </a:pPr>
            <a:r>
              <a:rPr lang="en-US" sz="1200" dirty="0"/>
              <a:t>What business problem does the pilot address?</a:t>
            </a:r>
          </a:p>
          <a:p>
            <a:pPr>
              <a:lnSpc>
                <a:spcPct val="110000"/>
              </a:lnSpc>
              <a:spcBef>
                <a:spcPts val="600"/>
              </a:spcBef>
            </a:pPr>
            <a:r>
              <a:rPr lang="en-US" sz="1200" dirty="0"/>
              <a:t>Why is this use case worth testing now?</a:t>
            </a:r>
          </a:p>
          <a:p>
            <a:pPr>
              <a:lnSpc>
                <a:spcPct val="110000"/>
              </a:lnSpc>
              <a:spcBef>
                <a:spcPts val="600"/>
              </a:spcBef>
            </a:pPr>
            <a:r>
              <a:rPr lang="en-US" sz="1200" dirty="0"/>
              <a:t>What value should the pilot create?</a:t>
            </a:r>
          </a:p>
          <a:p>
            <a:pPr>
              <a:lnSpc>
                <a:spcPct val="110000"/>
              </a:lnSpc>
              <a:spcBef>
                <a:spcPts val="600"/>
              </a:spcBef>
            </a:pPr>
            <a:r>
              <a:rPr lang="en-US" sz="1200" dirty="0"/>
              <a:t>Who is sponsoring the pilot?</a:t>
            </a:r>
            <a:endParaRPr lang="en-US" sz="1600" dirty="0"/>
          </a:p>
        </p:txBody>
      </p:sp>
      <p:sp>
        <p:nvSpPr>
          <p:cNvPr id="4" name="Content Placeholder 2">
            <a:extLst>
              <a:ext uri="{FF2B5EF4-FFF2-40B4-BE49-F238E27FC236}">
                <a16:creationId xmlns:a16="http://schemas.microsoft.com/office/drawing/2014/main" id="{D17378A1-1CDB-6728-CDAC-CA0498D8339E}"/>
              </a:ext>
            </a:extLst>
          </p:cNvPr>
          <p:cNvSpPr txBox="1">
            <a:spLocks/>
          </p:cNvSpPr>
          <p:nvPr/>
        </p:nvSpPr>
        <p:spPr>
          <a:xfrm>
            <a:off x="360622" y="2692837"/>
            <a:ext cx="7886700" cy="29924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b="1" dirty="0">
                <a:solidFill>
                  <a:srgbClr val="021836"/>
                </a:solidFill>
              </a:rPr>
              <a:t>Design Elements</a:t>
            </a:r>
          </a:p>
        </p:txBody>
      </p:sp>
      <p:cxnSp>
        <p:nvCxnSpPr>
          <p:cNvPr id="14" name="Straight Connector 13">
            <a:extLst>
              <a:ext uri="{FF2B5EF4-FFF2-40B4-BE49-F238E27FC236}">
                <a16:creationId xmlns:a16="http://schemas.microsoft.com/office/drawing/2014/main" id="{861F1DC6-BFD0-4254-E129-009425AE63C6}"/>
              </a:ext>
            </a:extLst>
          </p:cNvPr>
          <p:cNvCxnSpPr>
            <a:cxnSpLocks/>
          </p:cNvCxnSpPr>
          <p:nvPr/>
        </p:nvCxnSpPr>
        <p:spPr>
          <a:xfrm>
            <a:off x="171450" y="5319971"/>
            <a:ext cx="8801100" cy="0"/>
          </a:xfrm>
          <a:prstGeom prst="line">
            <a:avLst/>
          </a:prstGeom>
          <a:ln w="9525">
            <a:solidFill>
              <a:srgbClr val="0396A6"/>
            </a:solidFill>
          </a:ln>
        </p:spPr>
        <p:style>
          <a:lnRef idx="2">
            <a:schemeClr val="accent1"/>
          </a:lnRef>
          <a:fillRef idx="0">
            <a:schemeClr val="accent1"/>
          </a:fillRef>
          <a:effectRef idx="1">
            <a:schemeClr val="accent1"/>
          </a:effectRef>
          <a:fontRef idx="minor">
            <a:schemeClr val="tx1"/>
          </a:fontRef>
        </p:style>
      </p:cxnSp>
      <p:grpSp>
        <p:nvGrpSpPr>
          <p:cNvPr id="21" name="Group 20">
            <a:extLst>
              <a:ext uri="{FF2B5EF4-FFF2-40B4-BE49-F238E27FC236}">
                <a16:creationId xmlns:a16="http://schemas.microsoft.com/office/drawing/2014/main" id="{EFA30D64-4CCC-FCF9-E09C-B8538552E0B8}"/>
              </a:ext>
            </a:extLst>
          </p:cNvPr>
          <p:cNvGrpSpPr/>
          <p:nvPr/>
        </p:nvGrpSpPr>
        <p:grpSpPr>
          <a:xfrm>
            <a:off x="317078" y="5422817"/>
            <a:ext cx="7902996" cy="1279640"/>
            <a:chOff x="526629" y="5769213"/>
            <a:chExt cx="7902996" cy="1279640"/>
          </a:xfrm>
        </p:grpSpPr>
        <p:grpSp>
          <p:nvGrpSpPr>
            <p:cNvPr id="15" name="Group 14">
              <a:extLst>
                <a:ext uri="{FF2B5EF4-FFF2-40B4-BE49-F238E27FC236}">
                  <a16:creationId xmlns:a16="http://schemas.microsoft.com/office/drawing/2014/main" id="{6D71D18B-7160-4714-4893-50707E6A2D47}"/>
                </a:ext>
              </a:extLst>
            </p:cNvPr>
            <p:cNvGrpSpPr/>
            <p:nvPr/>
          </p:nvGrpSpPr>
          <p:grpSpPr>
            <a:xfrm>
              <a:off x="542925" y="5769213"/>
              <a:ext cx="7886700" cy="820961"/>
              <a:chOff x="628650" y="4778376"/>
              <a:chExt cx="7886700" cy="820961"/>
            </a:xfrm>
          </p:grpSpPr>
          <p:sp>
            <p:nvSpPr>
              <p:cNvPr id="16" name="Content Placeholder 2">
                <a:extLst>
                  <a:ext uri="{FF2B5EF4-FFF2-40B4-BE49-F238E27FC236}">
                    <a16:creationId xmlns:a16="http://schemas.microsoft.com/office/drawing/2014/main" id="{F70C66AC-E3BF-16DC-2ECE-EC89A9DD3B51}"/>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Business Fit Signals</a:t>
                </a:r>
              </a:p>
            </p:txBody>
          </p:sp>
          <p:sp>
            <p:nvSpPr>
              <p:cNvPr id="17" name="Content Placeholder 2">
                <a:extLst>
                  <a:ext uri="{FF2B5EF4-FFF2-40B4-BE49-F238E27FC236}">
                    <a16:creationId xmlns:a16="http://schemas.microsoft.com/office/drawing/2014/main" id="{63697B9B-9AE4-EE1E-5160-FB97A55DB4B5}"/>
                  </a:ext>
                </a:extLst>
              </p:cNvPr>
              <p:cNvSpPr txBox="1">
                <a:spLocks/>
              </p:cNvSpPr>
              <p:nvPr/>
            </p:nvSpPr>
            <p:spPr>
              <a:xfrm>
                <a:off x="628650" y="5032600"/>
                <a:ext cx="7660853" cy="566737"/>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Clr>
                    <a:srgbClr val="021836"/>
                  </a:buClr>
                  <a:buNone/>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Clear pain point • High-frequency work • </a:t>
                </a:r>
                <a:r>
                  <a:rPr lang="en-US" sz="1200" i="1" dirty="0">
                    <a:solidFill>
                      <a:prstClr val="white">
                        <a:lumMod val="50000"/>
                      </a:prstClr>
                    </a:solidFill>
                    <a:latin typeface="Aptos" panose="02110004020202020204"/>
                  </a:rPr>
                  <a:t>Strong business sponsor</a:t>
                </a: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 • Measurable outcome • </a:t>
                </a:r>
                <a:r>
                  <a:rPr lang="en-US" sz="1200" i="1" dirty="0">
                    <a:solidFill>
                      <a:prstClr val="white">
                        <a:lumMod val="50000"/>
                      </a:prstClr>
                    </a:solidFill>
                  </a:rPr>
                  <a:t>Prioritized opportunity • Clear user group</a:t>
                </a:r>
                <a:endPar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endParaRPr>
              </a:p>
            </p:txBody>
          </p:sp>
        </p:grpSp>
        <p:grpSp>
          <p:nvGrpSpPr>
            <p:cNvPr id="18" name="Group 17">
              <a:extLst>
                <a:ext uri="{FF2B5EF4-FFF2-40B4-BE49-F238E27FC236}">
                  <a16:creationId xmlns:a16="http://schemas.microsoft.com/office/drawing/2014/main" id="{F97B14ED-664B-E3A1-6C8D-A79E532C8005}"/>
                </a:ext>
              </a:extLst>
            </p:cNvPr>
            <p:cNvGrpSpPr/>
            <p:nvPr/>
          </p:nvGrpSpPr>
          <p:grpSpPr>
            <a:xfrm>
              <a:off x="526629" y="6453316"/>
              <a:ext cx="7886700" cy="595537"/>
              <a:chOff x="628650" y="4778376"/>
              <a:chExt cx="7886700" cy="595537"/>
            </a:xfrm>
          </p:grpSpPr>
          <p:sp>
            <p:nvSpPr>
              <p:cNvPr id="19" name="Content Placeholder 2">
                <a:extLst>
                  <a:ext uri="{FF2B5EF4-FFF2-40B4-BE49-F238E27FC236}">
                    <a16:creationId xmlns:a16="http://schemas.microsoft.com/office/drawing/2014/main" id="{67E4405E-1FA0-C75D-AFB7-A5E1B4C990CF}"/>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Guiding Principle</a:t>
                </a:r>
              </a:p>
            </p:txBody>
          </p:sp>
          <p:sp>
            <p:nvSpPr>
              <p:cNvPr id="20" name="Content Placeholder 2">
                <a:extLst>
                  <a:ext uri="{FF2B5EF4-FFF2-40B4-BE49-F238E27FC236}">
                    <a16:creationId xmlns:a16="http://schemas.microsoft.com/office/drawing/2014/main" id="{86C1A09B-CA75-40EF-43DD-BE2CEF663546}"/>
                  </a:ext>
                </a:extLst>
              </p:cNvPr>
              <p:cNvSpPr txBox="1">
                <a:spLocks/>
              </p:cNvSpPr>
              <p:nvPr/>
            </p:nvSpPr>
            <p:spPr>
              <a:xfrm>
                <a:off x="628650" y="5032601"/>
                <a:ext cx="7886700" cy="341312"/>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lang="en-US" sz="1200" dirty="0">
                    <a:solidFill>
                      <a:srgbClr val="021836"/>
                    </a:solidFill>
                    <a:latin typeface="Aptos" panose="02110004020202020204"/>
                  </a:rPr>
                  <a:t>Pilots should be selected for business value, not tool novelty.</a:t>
                </a:r>
                <a:endPar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endParaRPr>
              </a:p>
            </p:txBody>
          </p:sp>
        </p:grpSp>
      </p:grpSp>
      <p:sp>
        <p:nvSpPr>
          <p:cNvPr id="6" name="TextBox 5">
            <a:extLst>
              <a:ext uri="{FF2B5EF4-FFF2-40B4-BE49-F238E27FC236}">
                <a16:creationId xmlns:a16="http://schemas.microsoft.com/office/drawing/2014/main" id="{F106C65D-6D04-DDD7-45F2-BE46EAC9B641}"/>
              </a:ext>
            </a:extLst>
          </p:cNvPr>
          <p:cNvSpPr txBox="1"/>
          <p:nvPr/>
        </p:nvSpPr>
        <p:spPr>
          <a:xfrm>
            <a:off x="4408714" y="64309"/>
            <a:ext cx="4628748" cy="276999"/>
          </a:xfrm>
          <a:prstGeom prst="rect">
            <a:avLst/>
          </a:prstGeom>
          <a:noFill/>
        </p:spPr>
        <p:txBody>
          <a:bodyPr wrap="square" rtlCol="0">
            <a:spAutoFit/>
          </a:bodyPr>
          <a:lstStyle/>
          <a:p>
            <a:pPr algn="r"/>
            <a:r>
              <a:rPr lang="en-US" sz="1200" dirty="0">
                <a:solidFill>
                  <a:schemeClr val="bg1">
                    <a:lumMod val="50000"/>
                  </a:schemeClr>
                </a:solidFill>
              </a:rPr>
              <a:t>AI Operational Readiness • Pilot Readiness Framework</a:t>
            </a:r>
          </a:p>
        </p:txBody>
      </p:sp>
    </p:spTree>
    <p:extLst>
      <p:ext uri="{BB962C8B-B14F-4D97-AF65-F5344CB8AC3E}">
        <p14:creationId xmlns:p14="http://schemas.microsoft.com/office/powerpoint/2010/main" val="90678272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59DFF-2554-80B4-C060-A07C4CA639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90D10B-DC03-F67B-A6F3-A103F1C84D25}"/>
              </a:ext>
            </a:extLst>
          </p:cNvPr>
          <p:cNvSpPr>
            <a:spLocks noGrp="1"/>
          </p:cNvSpPr>
          <p:nvPr>
            <p:ph type="title"/>
          </p:nvPr>
        </p:nvSpPr>
        <p:spPr>
          <a:xfrm>
            <a:off x="273534" y="-86630"/>
            <a:ext cx="7886700" cy="1325563"/>
          </a:xfrm>
        </p:spPr>
        <p:txBody>
          <a:bodyPr>
            <a:normAutofit/>
          </a:bodyPr>
          <a:lstStyle/>
          <a:p>
            <a:r>
              <a:rPr lang="en-US" sz="4000" dirty="0"/>
              <a:t>Workflow Readiness</a:t>
            </a:r>
          </a:p>
        </p:txBody>
      </p:sp>
      <p:sp>
        <p:nvSpPr>
          <p:cNvPr id="9" name="Content Placeholder 2">
            <a:extLst>
              <a:ext uri="{FF2B5EF4-FFF2-40B4-BE49-F238E27FC236}">
                <a16:creationId xmlns:a16="http://schemas.microsoft.com/office/drawing/2014/main" id="{366E8A36-BBC6-E548-1FAF-93E48057BC17}"/>
              </a:ext>
            </a:extLst>
          </p:cNvPr>
          <p:cNvSpPr txBox="1">
            <a:spLocks/>
          </p:cNvSpPr>
          <p:nvPr/>
        </p:nvSpPr>
        <p:spPr>
          <a:xfrm>
            <a:off x="317078" y="844267"/>
            <a:ext cx="7886700" cy="299244"/>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lang="en-US" sz="1200" i="1" dirty="0">
                <a:solidFill>
                  <a:prstClr val="white">
                    <a:lumMod val="50000"/>
                  </a:prstClr>
                </a:solidFill>
                <a:latin typeface="Aptos" panose="02110004020202020204"/>
              </a:rPr>
              <a:t>Understanding whether the future-state workflow is defined</a:t>
            </a:r>
            <a:endPar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endParaRPr>
          </a:p>
        </p:txBody>
      </p:sp>
      <p:graphicFrame>
        <p:nvGraphicFramePr>
          <p:cNvPr id="13" name="Table 12">
            <a:extLst>
              <a:ext uri="{FF2B5EF4-FFF2-40B4-BE49-F238E27FC236}">
                <a16:creationId xmlns:a16="http://schemas.microsoft.com/office/drawing/2014/main" id="{6C0A3636-3D17-FF18-2826-3D1002D0191E}"/>
              </a:ext>
            </a:extLst>
          </p:cNvPr>
          <p:cNvGraphicFramePr>
            <a:graphicFrameLocks noGrp="1"/>
          </p:cNvGraphicFramePr>
          <p:nvPr/>
        </p:nvGraphicFramePr>
        <p:xfrm>
          <a:off x="360622" y="2785765"/>
          <a:ext cx="8218714" cy="2301240"/>
        </p:xfrm>
        <a:graphic>
          <a:graphicData uri="http://schemas.openxmlformats.org/drawingml/2006/table">
            <a:tbl>
              <a:tblPr firstRow="1" bandRow="1">
                <a:tableStyleId>{2D5ABB26-0587-4C30-8999-92F81FD0307C}</a:tableStyleId>
              </a:tblPr>
              <a:tblGrid>
                <a:gridCol w="3287487">
                  <a:extLst>
                    <a:ext uri="{9D8B030D-6E8A-4147-A177-3AD203B41FA5}">
                      <a16:colId xmlns:a16="http://schemas.microsoft.com/office/drawing/2014/main" val="2470210094"/>
                    </a:ext>
                  </a:extLst>
                </a:gridCol>
                <a:gridCol w="4931227">
                  <a:extLst>
                    <a:ext uri="{9D8B030D-6E8A-4147-A177-3AD203B41FA5}">
                      <a16:colId xmlns:a16="http://schemas.microsoft.com/office/drawing/2014/main" val="72878264"/>
                    </a:ext>
                  </a:extLst>
                </a:gridCol>
              </a:tblGrid>
              <a:tr h="207743">
                <a:tc>
                  <a:txBody>
                    <a:bodyPr/>
                    <a:lstStyle/>
                    <a:p>
                      <a:r>
                        <a:rPr lang="en-US" sz="1200" b="1" dirty="0">
                          <a:solidFill>
                            <a:srgbClr val="021836"/>
                          </a:solidFill>
                        </a:rPr>
                        <a:t>Workflow Readiness Elements</a:t>
                      </a:r>
                    </a:p>
                  </a:txBody>
                  <a:tcPr>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rgbClr val="0396A6"/>
                      </a:solidFill>
                      <a:prstDash val="solid"/>
                      <a:round/>
                      <a:headEnd type="none" w="med" len="med"/>
                      <a:tailEnd type="none" w="med" len="med"/>
                    </a:lnB>
                  </a:tcPr>
                </a:tc>
                <a:tc>
                  <a:txBody>
                    <a:bodyPr/>
                    <a:lstStyle/>
                    <a:p>
                      <a:r>
                        <a:rPr lang="en-US" sz="1200" b="1" dirty="0">
                          <a:solidFill>
                            <a:srgbClr val="021836"/>
                          </a:solidFill>
                        </a:rPr>
                        <a:t>Proposed Design</a:t>
                      </a:r>
                    </a:p>
                  </a:txBody>
                  <a:tcPr>
                    <a:lnL w="12700" cap="flat" cmpd="sng" algn="ctr">
                      <a:solidFill>
                        <a:schemeClr val="bg1">
                          <a:lumMod val="75000"/>
                        </a:schemeClr>
                      </a:solidFill>
                      <a:prstDash val="solid"/>
                      <a:round/>
                      <a:headEnd type="none" w="med" len="med"/>
                      <a:tailEnd type="none" w="med" len="med"/>
                    </a:lnL>
                    <a:lnT w="12700" cap="flat" cmpd="sng" algn="ctr">
                      <a:solidFill>
                        <a:srgbClr val="0396A6"/>
                      </a:solidFill>
                      <a:prstDash val="solid"/>
                      <a:round/>
                      <a:headEnd type="none" w="med" len="med"/>
                      <a:tailEnd type="none" w="med" len="med"/>
                    </a:lnT>
                    <a:lnB w="12700" cap="flat" cmpd="sng" algn="ctr">
                      <a:solidFill>
                        <a:srgbClr val="0396A6"/>
                      </a:solidFill>
                      <a:prstDash val="solid"/>
                      <a:round/>
                      <a:headEnd type="none" w="med" len="med"/>
                      <a:tailEnd type="none" w="med" len="med"/>
                    </a:lnB>
                  </a:tcPr>
                </a:tc>
                <a:extLst>
                  <a:ext uri="{0D108BD9-81ED-4DB2-BD59-A6C34878D82A}">
                    <a16:rowId xmlns:a16="http://schemas.microsoft.com/office/drawing/2014/main" val="2061593276"/>
                  </a:ext>
                </a:extLst>
              </a:tr>
              <a:tr h="253908">
                <a:tc>
                  <a:txBody>
                    <a:bodyPr/>
                    <a:lstStyle/>
                    <a:p>
                      <a:pPr>
                        <a:buClr>
                          <a:schemeClr val="bg1">
                            <a:lumMod val="50000"/>
                          </a:schemeClr>
                        </a:buClr>
                      </a:pPr>
                      <a:r>
                        <a:rPr lang="en-US" sz="1200" dirty="0"/>
                        <a:t>Current-State Workflow</a:t>
                      </a:r>
                    </a:p>
                  </a:txBody>
                  <a:tcPr marB="0">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600" dirty="0"/>
                    </a:p>
                  </a:txBody>
                  <a:tcPr marB="0">
                    <a:lnL w="12700" cap="flat" cmpd="sng" algn="ctr">
                      <a:solidFill>
                        <a:schemeClr val="bg1">
                          <a:lumMod val="75000"/>
                        </a:schemeClr>
                      </a:solidFill>
                      <a:prstDash val="solid"/>
                      <a:round/>
                      <a:headEnd type="none" w="med" len="med"/>
                      <a:tailEnd type="none" w="med" len="med"/>
                    </a:lnL>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493753442"/>
                  </a:ext>
                </a:extLst>
              </a:tr>
              <a:tr h="253908">
                <a:tc>
                  <a:txBody>
                    <a:bodyPr/>
                    <a:lstStyle/>
                    <a:p>
                      <a:pPr>
                        <a:buClr>
                          <a:schemeClr val="bg1">
                            <a:lumMod val="50000"/>
                          </a:schemeClr>
                        </a:buClr>
                      </a:pPr>
                      <a:r>
                        <a:rPr lang="en-US" sz="1200" dirty="0"/>
                        <a:t>Future-State Workflow</a:t>
                      </a:r>
                    </a:p>
                  </a:txBody>
                  <a:tcPr marB="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600" dirty="0"/>
                    </a:p>
                  </a:txBody>
                  <a:tcPr marB="0">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23325965"/>
                  </a:ext>
                </a:extLst>
              </a:tr>
              <a:tr h="253908">
                <a:tc>
                  <a:txBody>
                    <a:bodyPr/>
                    <a:lstStyle/>
                    <a:p>
                      <a:pPr>
                        <a:buClr>
                          <a:schemeClr val="bg1">
                            <a:lumMod val="50000"/>
                          </a:schemeClr>
                        </a:buClr>
                      </a:pPr>
                      <a:r>
                        <a:rPr lang="en-US" sz="1200" dirty="0"/>
                        <a:t>AI Role</a:t>
                      </a:r>
                    </a:p>
                  </a:txBody>
                  <a:tcPr marB="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600" dirty="0"/>
                    </a:p>
                  </a:txBody>
                  <a:tcPr marB="0">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845834834"/>
                  </a:ext>
                </a:extLst>
              </a:tr>
              <a:tr h="253908">
                <a:tc>
                  <a:txBody>
                    <a:bodyPr/>
                    <a:lstStyle/>
                    <a:p>
                      <a:pPr>
                        <a:buClr>
                          <a:schemeClr val="bg1">
                            <a:lumMod val="50000"/>
                          </a:schemeClr>
                        </a:buClr>
                      </a:pPr>
                      <a:r>
                        <a:rPr lang="en-US" sz="1200" dirty="0"/>
                        <a:t>Human Handoff</a:t>
                      </a:r>
                    </a:p>
                  </a:txBody>
                  <a:tcPr marB="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600" dirty="0"/>
                    </a:p>
                  </a:txBody>
                  <a:tcPr marB="0">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012176639"/>
                  </a:ext>
                </a:extLst>
              </a:tr>
              <a:tr h="253908">
                <a:tc>
                  <a:txBody>
                    <a:bodyPr/>
                    <a:lstStyle/>
                    <a:p>
                      <a:pPr>
                        <a:buClr>
                          <a:schemeClr val="bg1">
                            <a:lumMod val="50000"/>
                          </a:schemeClr>
                        </a:buClr>
                      </a:pPr>
                      <a:r>
                        <a:rPr lang="en-US" sz="1200" dirty="0"/>
                        <a:t>Fallback Path</a:t>
                      </a:r>
                    </a:p>
                  </a:txBody>
                  <a:tcPr marB="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600" dirty="0"/>
                    </a:p>
                  </a:txBody>
                  <a:tcPr marB="0">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775192655"/>
                  </a:ext>
                </a:extLst>
              </a:tr>
              <a:tr h="253908">
                <a:tc>
                  <a:txBody>
                    <a:bodyPr/>
                    <a:lstStyle/>
                    <a:p>
                      <a:pPr>
                        <a:buClr>
                          <a:schemeClr val="bg1">
                            <a:lumMod val="50000"/>
                          </a:schemeClr>
                        </a:buClr>
                      </a:pPr>
                      <a:r>
                        <a:rPr lang="en-US" sz="1200" dirty="0"/>
                        <a:t>Action Boundary</a:t>
                      </a:r>
                    </a:p>
                  </a:txBody>
                  <a:tcPr marB="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600" dirty="0"/>
                    </a:p>
                  </a:txBody>
                  <a:tcPr marB="0">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835485621"/>
                  </a:ext>
                </a:extLst>
              </a:tr>
              <a:tr h="253908">
                <a:tc>
                  <a:txBody>
                    <a:bodyPr/>
                    <a:lstStyle/>
                    <a:p>
                      <a:pPr>
                        <a:buClr>
                          <a:schemeClr val="bg1">
                            <a:lumMod val="50000"/>
                          </a:schemeClr>
                        </a:buClr>
                      </a:pPr>
                      <a:r>
                        <a:rPr lang="en-US" sz="1200" dirty="0"/>
                        <a:t>Exception Path</a:t>
                      </a:r>
                    </a:p>
                  </a:txBody>
                  <a:tcPr marB="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600" dirty="0"/>
                    </a:p>
                  </a:txBody>
                  <a:tcPr marB="0">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923045212"/>
                  </a:ext>
                </a:extLst>
              </a:tr>
            </a:tbl>
          </a:graphicData>
        </a:graphic>
      </p:graphicFrame>
      <p:sp>
        <p:nvSpPr>
          <p:cNvPr id="3" name="Content Placeholder 2">
            <a:extLst>
              <a:ext uri="{FF2B5EF4-FFF2-40B4-BE49-F238E27FC236}">
                <a16:creationId xmlns:a16="http://schemas.microsoft.com/office/drawing/2014/main" id="{2D73D34F-1815-8242-7405-0DDC95BD3421}"/>
              </a:ext>
            </a:extLst>
          </p:cNvPr>
          <p:cNvSpPr txBox="1">
            <a:spLocks/>
          </p:cNvSpPr>
          <p:nvPr/>
        </p:nvSpPr>
        <p:spPr>
          <a:xfrm>
            <a:off x="349736" y="1498211"/>
            <a:ext cx="7886700" cy="1147688"/>
          </a:xfrm>
          <a:prstGeom prst="rect">
            <a:avLst/>
          </a:prstGeom>
        </p:spPr>
        <p:txBody>
          <a:bodyPr vert="horz" lIns="91440" tIns="45720" rIns="91440" bIns="45720" numCol="2"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10000"/>
              </a:lnSpc>
              <a:spcBef>
                <a:spcPts val="6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rPr>
              <a:t>Has the current state been documented?</a:t>
            </a:r>
          </a:p>
          <a:p>
            <a:pPr marL="228600" marR="0" lvl="0" indent="-228600" algn="l" defTabSz="914400" rtl="0" eaLnBrk="1" fontAlgn="auto" latinLnBrk="0" hangingPunct="1">
              <a:lnSpc>
                <a:spcPct val="110000"/>
              </a:lnSpc>
              <a:spcBef>
                <a:spcPts val="600"/>
              </a:spcBef>
              <a:spcAft>
                <a:spcPts val="0"/>
              </a:spcAft>
              <a:buClrTx/>
              <a:buSzTx/>
              <a:buFont typeface="Arial" panose="020B0604020202020204" pitchFamily="34" charset="0"/>
              <a:buChar char="•"/>
              <a:tabLst/>
              <a:defRPr/>
            </a:pPr>
            <a:r>
              <a:rPr lang="en-US" sz="1200" dirty="0">
                <a:solidFill>
                  <a:prstClr val="black"/>
                </a:solidFill>
                <a:latin typeface="Aptos" panose="02110004020202020204"/>
              </a:rPr>
              <a:t>Has the future-state workflow been designed?</a:t>
            </a:r>
          </a:p>
          <a:p>
            <a:pPr marL="228600" marR="0" lvl="0" indent="-228600" algn="l" defTabSz="914400" rtl="0" eaLnBrk="1" fontAlgn="auto" latinLnBrk="0" hangingPunct="1">
              <a:lnSpc>
                <a:spcPct val="110000"/>
              </a:lnSpc>
              <a:spcBef>
                <a:spcPts val="6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rPr>
              <a:t>Where does AI assist?</a:t>
            </a:r>
          </a:p>
          <a:p>
            <a:pPr marL="228600" marR="0" lvl="0" indent="-228600" algn="l" defTabSz="914400" rtl="0" eaLnBrk="1" fontAlgn="auto" latinLnBrk="0" hangingPunct="1">
              <a:lnSpc>
                <a:spcPct val="110000"/>
              </a:lnSpc>
              <a:spcBef>
                <a:spcPts val="600"/>
              </a:spcBef>
              <a:spcAft>
                <a:spcPts val="0"/>
              </a:spcAft>
              <a:buClrTx/>
              <a:buSzTx/>
              <a:buFont typeface="Arial" panose="020B0604020202020204" pitchFamily="34" charset="0"/>
              <a:buChar char="•"/>
              <a:tabLst/>
              <a:defRPr/>
            </a:pPr>
            <a:r>
              <a:rPr lang="en-US" sz="1200" dirty="0">
                <a:solidFill>
                  <a:prstClr val="black"/>
                </a:solidFill>
                <a:latin typeface="Aptos" panose="02110004020202020204"/>
              </a:rPr>
              <a:t>Where do humans review, approve, or intervene?</a:t>
            </a:r>
          </a:p>
          <a:p>
            <a:pPr marL="228600" marR="0" lvl="0" indent="-228600" algn="l" defTabSz="914400" rtl="0" eaLnBrk="1" fontAlgn="auto" latinLnBrk="0" hangingPunct="1">
              <a:lnSpc>
                <a:spcPct val="110000"/>
              </a:lnSpc>
              <a:spcBef>
                <a:spcPts val="6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rPr>
              <a:t>Is AI’s permitted action boundary reflected in the workflow?</a:t>
            </a:r>
          </a:p>
          <a:p>
            <a:pPr marL="228600" marR="0" lvl="0" indent="-228600" algn="l" defTabSz="914400" rtl="0" eaLnBrk="1" fontAlgn="auto" latinLnBrk="0" hangingPunct="1">
              <a:lnSpc>
                <a:spcPct val="110000"/>
              </a:lnSpc>
              <a:spcBef>
                <a:spcPts val="600"/>
              </a:spcBef>
              <a:spcAft>
                <a:spcPts val="0"/>
              </a:spcAft>
              <a:buClrTx/>
              <a:buSzTx/>
              <a:buFont typeface="Arial" panose="020B0604020202020204" pitchFamily="34" charset="0"/>
              <a:buChar char="•"/>
              <a:tabLst/>
              <a:defRPr/>
            </a:pPr>
            <a:r>
              <a:rPr lang="en-US" sz="1200" dirty="0">
                <a:solidFill>
                  <a:prstClr val="black"/>
                </a:solidFill>
                <a:latin typeface="Aptos" panose="02110004020202020204"/>
              </a:rPr>
              <a:t>What happens when the workflow encounters an exception?</a:t>
            </a:r>
            <a:endParaRPr kumimoji="0" lang="en-US" sz="16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4" name="Content Placeholder 2">
            <a:extLst>
              <a:ext uri="{FF2B5EF4-FFF2-40B4-BE49-F238E27FC236}">
                <a16:creationId xmlns:a16="http://schemas.microsoft.com/office/drawing/2014/main" id="{87D3226B-E33A-4214-59A2-21DA34A1C4BD}"/>
              </a:ext>
            </a:extLst>
          </p:cNvPr>
          <p:cNvSpPr txBox="1">
            <a:spLocks/>
          </p:cNvSpPr>
          <p:nvPr/>
        </p:nvSpPr>
        <p:spPr>
          <a:xfrm>
            <a:off x="349736" y="1259743"/>
            <a:ext cx="7886700" cy="29924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Questions</a:t>
            </a:r>
          </a:p>
        </p:txBody>
      </p:sp>
      <p:cxnSp>
        <p:nvCxnSpPr>
          <p:cNvPr id="14" name="Straight Connector 13">
            <a:extLst>
              <a:ext uri="{FF2B5EF4-FFF2-40B4-BE49-F238E27FC236}">
                <a16:creationId xmlns:a16="http://schemas.microsoft.com/office/drawing/2014/main" id="{ECD6FAAF-892C-DB64-E679-87E8E5B697E7}"/>
              </a:ext>
            </a:extLst>
          </p:cNvPr>
          <p:cNvCxnSpPr>
            <a:cxnSpLocks/>
          </p:cNvCxnSpPr>
          <p:nvPr/>
        </p:nvCxnSpPr>
        <p:spPr>
          <a:xfrm>
            <a:off x="171450" y="5298199"/>
            <a:ext cx="8801100" cy="0"/>
          </a:xfrm>
          <a:prstGeom prst="line">
            <a:avLst/>
          </a:prstGeom>
          <a:ln w="9525">
            <a:solidFill>
              <a:srgbClr val="0396A6"/>
            </a:solidFill>
          </a:ln>
        </p:spPr>
        <p:style>
          <a:lnRef idx="2">
            <a:schemeClr val="accent1"/>
          </a:lnRef>
          <a:fillRef idx="0">
            <a:schemeClr val="accent1"/>
          </a:fillRef>
          <a:effectRef idx="1">
            <a:schemeClr val="accent1"/>
          </a:effectRef>
          <a:fontRef idx="minor">
            <a:schemeClr val="tx1"/>
          </a:fontRef>
        </p:style>
      </p:cxnSp>
      <p:grpSp>
        <p:nvGrpSpPr>
          <p:cNvPr id="21" name="Group 20">
            <a:extLst>
              <a:ext uri="{FF2B5EF4-FFF2-40B4-BE49-F238E27FC236}">
                <a16:creationId xmlns:a16="http://schemas.microsoft.com/office/drawing/2014/main" id="{6F1F9E3E-44A8-137A-1F18-57BFD8DF225E}"/>
              </a:ext>
            </a:extLst>
          </p:cNvPr>
          <p:cNvGrpSpPr/>
          <p:nvPr/>
        </p:nvGrpSpPr>
        <p:grpSpPr>
          <a:xfrm>
            <a:off x="317078" y="5422817"/>
            <a:ext cx="7902996" cy="1279640"/>
            <a:chOff x="526629" y="5769213"/>
            <a:chExt cx="7902996" cy="1279640"/>
          </a:xfrm>
        </p:grpSpPr>
        <p:grpSp>
          <p:nvGrpSpPr>
            <p:cNvPr id="15" name="Group 14">
              <a:extLst>
                <a:ext uri="{FF2B5EF4-FFF2-40B4-BE49-F238E27FC236}">
                  <a16:creationId xmlns:a16="http://schemas.microsoft.com/office/drawing/2014/main" id="{38EB98EB-DBD1-7A11-AE91-17EF7709D7B0}"/>
                </a:ext>
              </a:extLst>
            </p:cNvPr>
            <p:cNvGrpSpPr/>
            <p:nvPr/>
          </p:nvGrpSpPr>
          <p:grpSpPr>
            <a:xfrm>
              <a:off x="542925" y="5769213"/>
              <a:ext cx="7886700" cy="820961"/>
              <a:chOff x="628650" y="4778376"/>
              <a:chExt cx="7886700" cy="820961"/>
            </a:xfrm>
          </p:grpSpPr>
          <p:sp>
            <p:nvSpPr>
              <p:cNvPr id="16" name="Content Placeholder 2">
                <a:extLst>
                  <a:ext uri="{FF2B5EF4-FFF2-40B4-BE49-F238E27FC236}">
                    <a16:creationId xmlns:a16="http://schemas.microsoft.com/office/drawing/2014/main" id="{E1904C43-888C-896D-65EE-5A448D4EFD76}"/>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Workflow Readiness Signals</a:t>
                </a:r>
              </a:p>
            </p:txBody>
          </p:sp>
          <p:sp>
            <p:nvSpPr>
              <p:cNvPr id="17" name="Content Placeholder 2">
                <a:extLst>
                  <a:ext uri="{FF2B5EF4-FFF2-40B4-BE49-F238E27FC236}">
                    <a16:creationId xmlns:a16="http://schemas.microsoft.com/office/drawing/2014/main" id="{05675418-5838-7DCB-8502-09890B82088A}"/>
                  </a:ext>
                </a:extLst>
              </p:cNvPr>
              <p:cNvSpPr txBox="1">
                <a:spLocks/>
              </p:cNvSpPr>
              <p:nvPr/>
            </p:nvSpPr>
            <p:spPr>
              <a:xfrm>
                <a:off x="628650" y="5032600"/>
                <a:ext cx="7660853" cy="566737"/>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Clr>
                    <a:srgbClr val="021836"/>
                  </a:buClr>
                  <a:buNone/>
                  <a:defRPr/>
                </a:pPr>
                <a:r>
                  <a:rPr lang="en-US" sz="1200" i="1" dirty="0">
                    <a:solidFill>
                      <a:prstClr val="white">
                        <a:lumMod val="50000"/>
                      </a:prstClr>
                    </a:solidFill>
                    <a:latin typeface="Aptos" panose="02110004020202020204"/>
                  </a:rPr>
                  <a:t>Current-state ambiguity</a:t>
                </a: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 • Undefined handoffs • Missing fallback path • Manual workaround required • </a:t>
                </a:r>
                <a:r>
                  <a:rPr lang="en-US" sz="1200" i="1" dirty="0">
                    <a:solidFill>
                      <a:prstClr val="white">
                        <a:lumMod val="50000"/>
                      </a:prstClr>
                    </a:solidFill>
                  </a:rPr>
                  <a:t>Human review unclear • Process owner uncertainty</a:t>
                </a:r>
                <a:endPar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endParaRPr>
              </a:p>
            </p:txBody>
          </p:sp>
        </p:grpSp>
        <p:grpSp>
          <p:nvGrpSpPr>
            <p:cNvPr id="18" name="Group 17">
              <a:extLst>
                <a:ext uri="{FF2B5EF4-FFF2-40B4-BE49-F238E27FC236}">
                  <a16:creationId xmlns:a16="http://schemas.microsoft.com/office/drawing/2014/main" id="{F53ACE5F-EBF8-A95A-B927-F92F8CF13352}"/>
                </a:ext>
              </a:extLst>
            </p:cNvPr>
            <p:cNvGrpSpPr/>
            <p:nvPr/>
          </p:nvGrpSpPr>
          <p:grpSpPr>
            <a:xfrm>
              <a:off x="526629" y="6453316"/>
              <a:ext cx="7886700" cy="595537"/>
              <a:chOff x="628650" y="4778376"/>
              <a:chExt cx="7886700" cy="595537"/>
            </a:xfrm>
          </p:grpSpPr>
          <p:sp>
            <p:nvSpPr>
              <p:cNvPr id="19" name="Content Placeholder 2">
                <a:extLst>
                  <a:ext uri="{FF2B5EF4-FFF2-40B4-BE49-F238E27FC236}">
                    <a16:creationId xmlns:a16="http://schemas.microsoft.com/office/drawing/2014/main" id="{355FBD61-2475-5606-8676-65C968EFB569}"/>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Guiding Principle</a:t>
                </a:r>
              </a:p>
            </p:txBody>
          </p:sp>
          <p:sp>
            <p:nvSpPr>
              <p:cNvPr id="20" name="Content Placeholder 2">
                <a:extLst>
                  <a:ext uri="{FF2B5EF4-FFF2-40B4-BE49-F238E27FC236}">
                    <a16:creationId xmlns:a16="http://schemas.microsoft.com/office/drawing/2014/main" id="{45C57B34-1EAE-00C5-66F1-551571FD85DA}"/>
                  </a:ext>
                </a:extLst>
              </p:cNvPr>
              <p:cNvSpPr txBox="1">
                <a:spLocks/>
              </p:cNvSpPr>
              <p:nvPr/>
            </p:nvSpPr>
            <p:spPr>
              <a:xfrm>
                <a:off x="628650" y="5032601"/>
                <a:ext cx="7886700" cy="341312"/>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kumimoji="0" lang="en-US" sz="1200" b="0" i="0" u="none" strike="noStrike" kern="1200" cap="none" spc="0" normalizeH="0" baseline="0" noProof="0" dirty="0">
                    <a:ln>
                      <a:noFill/>
                    </a:ln>
                    <a:solidFill>
                      <a:srgbClr val="021836"/>
                    </a:solidFill>
                    <a:effectLst/>
                    <a:uLnTx/>
                    <a:uFillTx/>
                    <a:latin typeface="Aptos" panose="02110004020202020204"/>
                    <a:ea typeface="+mn-ea"/>
                    <a:cs typeface="+mn-cs"/>
                  </a:rPr>
                  <a:t>AI should enter a designed workflow, not an assumed one.</a:t>
                </a:r>
                <a:endPar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endParaRPr>
              </a:p>
            </p:txBody>
          </p:sp>
        </p:grpSp>
      </p:grpSp>
      <p:sp>
        <p:nvSpPr>
          <p:cNvPr id="6" name="TextBox 5">
            <a:extLst>
              <a:ext uri="{FF2B5EF4-FFF2-40B4-BE49-F238E27FC236}">
                <a16:creationId xmlns:a16="http://schemas.microsoft.com/office/drawing/2014/main" id="{7F9582E8-2606-A0A8-64FD-8FDA6EB9108B}"/>
              </a:ext>
            </a:extLst>
          </p:cNvPr>
          <p:cNvSpPr txBox="1"/>
          <p:nvPr/>
        </p:nvSpPr>
        <p:spPr>
          <a:xfrm>
            <a:off x="4408714" y="64309"/>
            <a:ext cx="4628748" cy="276999"/>
          </a:xfrm>
          <a:prstGeom prst="rect">
            <a:avLst/>
          </a:prstGeom>
          <a:noFill/>
        </p:spPr>
        <p:txBody>
          <a:bodyPr wrap="square" rtlCol="0">
            <a:spAutoFit/>
          </a:bodyPr>
          <a:lstStyle/>
          <a:p>
            <a:pPr algn="r"/>
            <a:r>
              <a:rPr lang="en-US" sz="1200" dirty="0">
                <a:solidFill>
                  <a:schemeClr val="bg1">
                    <a:lumMod val="50000"/>
                  </a:schemeClr>
                </a:solidFill>
              </a:rPr>
              <a:t>AI Operational Readiness • Pilot Readiness Framework</a:t>
            </a:r>
          </a:p>
        </p:txBody>
      </p:sp>
    </p:spTree>
    <p:extLst>
      <p:ext uri="{BB962C8B-B14F-4D97-AF65-F5344CB8AC3E}">
        <p14:creationId xmlns:p14="http://schemas.microsoft.com/office/powerpoint/2010/main" val="327774912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566683-2927-A8F1-FDC1-5F295E3632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6BD141-BF55-1BB6-1E48-1F78556581A1}"/>
              </a:ext>
            </a:extLst>
          </p:cNvPr>
          <p:cNvSpPr>
            <a:spLocks noGrp="1"/>
          </p:cNvSpPr>
          <p:nvPr>
            <p:ph type="title"/>
          </p:nvPr>
        </p:nvSpPr>
        <p:spPr>
          <a:xfrm>
            <a:off x="273534" y="-86630"/>
            <a:ext cx="7886700" cy="1325563"/>
          </a:xfrm>
        </p:spPr>
        <p:txBody>
          <a:bodyPr>
            <a:normAutofit/>
          </a:bodyPr>
          <a:lstStyle/>
          <a:p>
            <a:r>
              <a:rPr lang="en-US" sz="4000" dirty="0"/>
              <a:t>Technical Readiness</a:t>
            </a:r>
          </a:p>
        </p:txBody>
      </p:sp>
      <p:sp>
        <p:nvSpPr>
          <p:cNvPr id="9" name="Content Placeholder 2">
            <a:extLst>
              <a:ext uri="{FF2B5EF4-FFF2-40B4-BE49-F238E27FC236}">
                <a16:creationId xmlns:a16="http://schemas.microsoft.com/office/drawing/2014/main" id="{B84C08A4-E2CF-BD8A-CB7C-13224398ABDE}"/>
              </a:ext>
            </a:extLst>
          </p:cNvPr>
          <p:cNvSpPr txBox="1">
            <a:spLocks/>
          </p:cNvSpPr>
          <p:nvPr/>
        </p:nvSpPr>
        <p:spPr>
          <a:xfrm>
            <a:off x="317078" y="844267"/>
            <a:ext cx="7886700" cy="299244"/>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Understanding whether the solution can function reliably enough to test</a:t>
            </a:r>
          </a:p>
        </p:txBody>
      </p:sp>
      <p:graphicFrame>
        <p:nvGraphicFramePr>
          <p:cNvPr id="13" name="Table 12">
            <a:extLst>
              <a:ext uri="{FF2B5EF4-FFF2-40B4-BE49-F238E27FC236}">
                <a16:creationId xmlns:a16="http://schemas.microsoft.com/office/drawing/2014/main" id="{8A80A944-12F2-12BF-0840-02F8D09ECB63}"/>
              </a:ext>
            </a:extLst>
          </p:cNvPr>
          <p:cNvGraphicFramePr>
            <a:graphicFrameLocks noGrp="1"/>
          </p:cNvGraphicFramePr>
          <p:nvPr/>
        </p:nvGraphicFramePr>
        <p:xfrm>
          <a:off x="360622" y="2760088"/>
          <a:ext cx="8218714" cy="2485300"/>
        </p:xfrm>
        <a:graphic>
          <a:graphicData uri="http://schemas.openxmlformats.org/drawingml/2006/table">
            <a:tbl>
              <a:tblPr firstRow="1" bandRow="1">
                <a:tableStyleId>{2D5ABB26-0587-4C30-8999-92F81FD0307C}</a:tableStyleId>
              </a:tblPr>
              <a:tblGrid>
                <a:gridCol w="3287487">
                  <a:extLst>
                    <a:ext uri="{9D8B030D-6E8A-4147-A177-3AD203B41FA5}">
                      <a16:colId xmlns:a16="http://schemas.microsoft.com/office/drawing/2014/main" val="2470210094"/>
                    </a:ext>
                  </a:extLst>
                </a:gridCol>
                <a:gridCol w="4931227">
                  <a:extLst>
                    <a:ext uri="{9D8B030D-6E8A-4147-A177-3AD203B41FA5}">
                      <a16:colId xmlns:a16="http://schemas.microsoft.com/office/drawing/2014/main" val="72878264"/>
                    </a:ext>
                  </a:extLst>
                </a:gridCol>
              </a:tblGrid>
              <a:tr h="229524">
                <a:tc>
                  <a:txBody>
                    <a:bodyPr/>
                    <a:lstStyle/>
                    <a:p>
                      <a:r>
                        <a:rPr lang="en-US" sz="1400" b="1" dirty="0">
                          <a:solidFill>
                            <a:srgbClr val="021836"/>
                          </a:solidFill>
                        </a:rPr>
                        <a:t>Technical Readiness Elements</a:t>
                      </a:r>
                    </a:p>
                  </a:txBody>
                  <a:tcPr>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rgbClr val="0396A6"/>
                      </a:solidFill>
                      <a:prstDash val="solid"/>
                      <a:round/>
                      <a:headEnd type="none" w="med" len="med"/>
                      <a:tailEnd type="none" w="med" len="med"/>
                    </a:lnB>
                  </a:tcPr>
                </a:tc>
                <a:tc>
                  <a:txBody>
                    <a:bodyPr/>
                    <a:lstStyle/>
                    <a:p>
                      <a:r>
                        <a:rPr lang="en-US" sz="1400" b="1" dirty="0">
                          <a:solidFill>
                            <a:srgbClr val="021836"/>
                          </a:solidFill>
                        </a:rPr>
                        <a:t>Proposed Design</a:t>
                      </a:r>
                    </a:p>
                  </a:txBody>
                  <a:tcPr>
                    <a:lnL w="12700" cap="flat" cmpd="sng" algn="ctr">
                      <a:solidFill>
                        <a:schemeClr val="bg1">
                          <a:lumMod val="75000"/>
                        </a:schemeClr>
                      </a:solidFill>
                      <a:prstDash val="solid"/>
                      <a:round/>
                      <a:headEnd type="none" w="med" len="med"/>
                      <a:tailEnd type="none" w="med" len="med"/>
                    </a:lnL>
                    <a:lnT w="12700" cap="flat" cmpd="sng" algn="ctr">
                      <a:solidFill>
                        <a:srgbClr val="0396A6"/>
                      </a:solidFill>
                      <a:prstDash val="solid"/>
                      <a:round/>
                      <a:headEnd type="none" w="med" len="med"/>
                      <a:tailEnd type="none" w="med" len="med"/>
                    </a:lnT>
                    <a:lnB w="12700" cap="flat" cmpd="sng" algn="ctr">
                      <a:solidFill>
                        <a:srgbClr val="0396A6"/>
                      </a:solidFill>
                      <a:prstDash val="solid"/>
                      <a:round/>
                      <a:headEnd type="none" w="med" len="med"/>
                      <a:tailEnd type="none" w="med" len="med"/>
                    </a:lnB>
                  </a:tcPr>
                </a:tc>
                <a:extLst>
                  <a:ext uri="{0D108BD9-81ED-4DB2-BD59-A6C34878D82A}">
                    <a16:rowId xmlns:a16="http://schemas.microsoft.com/office/drawing/2014/main" val="2061593276"/>
                  </a:ext>
                </a:extLst>
              </a:tr>
              <a:tr h="311500">
                <a:tc>
                  <a:txBody>
                    <a:bodyPr/>
                    <a:lstStyle/>
                    <a:p>
                      <a:pPr>
                        <a:buClr>
                          <a:schemeClr val="bg1">
                            <a:lumMod val="50000"/>
                          </a:schemeClr>
                        </a:buClr>
                      </a:pPr>
                      <a:r>
                        <a:rPr lang="en-US" sz="1200" dirty="0"/>
                        <a:t>Tool / Model / Platform</a:t>
                      </a:r>
                    </a:p>
                  </a:txBody>
                  <a:tcPr marB="0">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600" dirty="0"/>
                    </a:p>
                  </a:txBody>
                  <a:tcPr marB="0">
                    <a:lnL w="12700" cap="flat" cmpd="sng" algn="ctr">
                      <a:solidFill>
                        <a:schemeClr val="bg1">
                          <a:lumMod val="75000"/>
                        </a:schemeClr>
                      </a:solidFill>
                      <a:prstDash val="solid"/>
                      <a:round/>
                      <a:headEnd type="none" w="med" len="med"/>
                      <a:tailEnd type="none" w="med" len="med"/>
                    </a:lnL>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493753442"/>
                  </a:ext>
                </a:extLst>
              </a:tr>
              <a:tr h="311500">
                <a:tc>
                  <a:txBody>
                    <a:bodyPr/>
                    <a:lstStyle/>
                    <a:p>
                      <a:pPr>
                        <a:buClr>
                          <a:schemeClr val="bg1">
                            <a:lumMod val="50000"/>
                          </a:schemeClr>
                        </a:buClr>
                      </a:pPr>
                      <a:r>
                        <a:rPr lang="en-US" sz="1200" dirty="0"/>
                        <a:t>Required Inputs</a:t>
                      </a:r>
                    </a:p>
                  </a:txBody>
                  <a:tcPr marB="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600" dirty="0"/>
                    </a:p>
                  </a:txBody>
                  <a:tcPr marB="0">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23325965"/>
                  </a:ext>
                </a:extLst>
              </a:tr>
              <a:tr h="311500">
                <a:tc>
                  <a:txBody>
                    <a:bodyPr/>
                    <a:lstStyle/>
                    <a:p>
                      <a:pPr>
                        <a:buClr>
                          <a:schemeClr val="bg1">
                            <a:lumMod val="50000"/>
                          </a:schemeClr>
                        </a:buClr>
                      </a:pPr>
                      <a:r>
                        <a:rPr lang="en-US" sz="1200" dirty="0"/>
                        <a:t>Integration Needs</a:t>
                      </a:r>
                    </a:p>
                  </a:txBody>
                  <a:tcPr marB="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600" dirty="0"/>
                    </a:p>
                  </a:txBody>
                  <a:tcPr marB="0">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845834834"/>
                  </a:ext>
                </a:extLst>
              </a:tr>
              <a:tr h="311500">
                <a:tc>
                  <a:txBody>
                    <a:bodyPr/>
                    <a:lstStyle/>
                    <a:p>
                      <a:pPr>
                        <a:buClr>
                          <a:schemeClr val="bg1">
                            <a:lumMod val="50000"/>
                          </a:schemeClr>
                        </a:buClr>
                      </a:pPr>
                      <a:r>
                        <a:rPr lang="en-US" sz="1200" dirty="0"/>
                        <a:t>Known Limitations</a:t>
                      </a:r>
                    </a:p>
                  </a:txBody>
                  <a:tcPr marB="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600" dirty="0"/>
                    </a:p>
                  </a:txBody>
                  <a:tcPr marB="0">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012176639"/>
                  </a:ext>
                </a:extLst>
              </a:tr>
              <a:tr h="311500">
                <a:tc>
                  <a:txBody>
                    <a:bodyPr/>
                    <a:lstStyle/>
                    <a:p>
                      <a:pPr>
                        <a:buClr>
                          <a:schemeClr val="bg1">
                            <a:lumMod val="50000"/>
                          </a:schemeClr>
                        </a:buClr>
                      </a:pPr>
                      <a:r>
                        <a:rPr lang="en-US" sz="1200" dirty="0"/>
                        <a:t>Test Environment</a:t>
                      </a:r>
                    </a:p>
                  </a:txBody>
                  <a:tcPr marB="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600" dirty="0"/>
                    </a:p>
                  </a:txBody>
                  <a:tcPr marB="0">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854945902"/>
                  </a:ext>
                </a:extLst>
              </a:tr>
              <a:tr h="311500">
                <a:tc>
                  <a:txBody>
                    <a:bodyPr/>
                    <a:lstStyle/>
                    <a:p>
                      <a:pPr>
                        <a:buClr>
                          <a:schemeClr val="bg1">
                            <a:lumMod val="50000"/>
                          </a:schemeClr>
                        </a:buClr>
                      </a:pPr>
                      <a:r>
                        <a:rPr lang="en-US" sz="1200" dirty="0"/>
                        <a:t>Required Controls/Enforcement Points</a:t>
                      </a:r>
                    </a:p>
                  </a:txBody>
                  <a:tcPr marB="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600" dirty="0"/>
                    </a:p>
                  </a:txBody>
                  <a:tcPr marB="0">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164941102"/>
                  </a:ext>
                </a:extLst>
              </a:tr>
              <a:tr h="311500">
                <a:tc>
                  <a:txBody>
                    <a:bodyPr/>
                    <a:lstStyle/>
                    <a:p>
                      <a:pPr>
                        <a:buClr>
                          <a:schemeClr val="bg1">
                            <a:lumMod val="50000"/>
                          </a:schemeClr>
                        </a:buClr>
                      </a:pPr>
                      <a:r>
                        <a:rPr lang="en-US" sz="1200" dirty="0"/>
                        <a:t>Required Observation/ Logging</a:t>
                      </a:r>
                    </a:p>
                  </a:txBody>
                  <a:tcPr marB="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600" dirty="0"/>
                    </a:p>
                  </a:txBody>
                  <a:tcPr marB="0">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63903528"/>
                  </a:ext>
                </a:extLst>
              </a:tr>
            </a:tbl>
          </a:graphicData>
        </a:graphic>
      </p:graphicFrame>
      <p:cxnSp>
        <p:nvCxnSpPr>
          <p:cNvPr id="14" name="Straight Connector 13">
            <a:extLst>
              <a:ext uri="{FF2B5EF4-FFF2-40B4-BE49-F238E27FC236}">
                <a16:creationId xmlns:a16="http://schemas.microsoft.com/office/drawing/2014/main" id="{14BB890B-BCB9-A232-B775-23A905835CE4}"/>
              </a:ext>
            </a:extLst>
          </p:cNvPr>
          <p:cNvCxnSpPr>
            <a:cxnSpLocks/>
          </p:cNvCxnSpPr>
          <p:nvPr/>
        </p:nvCxnSpPr>
        <p:spPr>
          <a:xfrm>
            <a:off x="171450" y="5341743"/>
            <a:ext cx="8801100" cy="0"/>
          </a:xfrm>
          <a:prstGeom prst="line">
            <a:avLst/>
          </a:prstGeom>
          <a:ln w="9525">
            <a:solidFill>
              <a:srgbClr val="0396A6"/>
            </a:solidFill>
          </a:ln>
        </p:spPr>
        <p:style>
          <a:lnRef idx="2">
            <a:schemeClr val="accent1"/>
          </a:lnRef>
          <a:fillRef idx="0">
            <a:schemeClr val="accent1"/>
          </a:fillRef>
          <a:effectRef idx="1">
            <a:schemeClr val="accent1"/>
          </a:effectRef>
          <a:fontRef idx="minor">
            <a:schemeClr val="tx1"/>
          </a:fontRef>
        </p:style>
      </p:cxnSp>
      <p:grpSp>
        <p:nvGrpSpPr>
          <p:cNvPr id="21" name="Group 20">
            <a:extLst>
              <a:ext uri="{FF2B5EF4-FFF2-40B4-BE49-F238E27FC236}">
                <a16:creationId xmlns:a16="http://schemas.microsoft.com/office/drawing/2014/main" id="{E1C2ADFD-403C-59E9-2055-B2DD5FC39EEC}"/>
              </a:ext>
            </a:extLst>
          </p:cNvPr>
          <p:cNvGrpSpPr/>
          <p:nvPr/>
        </p:nvGrpSpPr>
        <p:grpSpPr>
          <a:xfrm>
            <a:off x="317078" y="5422817"/>
            <a:ext cx="7902996" cy="1279640"/>
            <a:chOff x="526629" y="5769213"/>
            <a:chExt cx="7902996" cy="1279640"/>
          </a:xfrm>
        </p:grpSpPr>
        <p:grpSp>
          <p:nvGrpSpPr>
            <p:cNvPr id="15" name="Group 14">
              <a:extLst>
                <a:ext uri="{FF2B5EF4-FFF2-40B4-BE49-F238E27FC236}">
                  <a16:creationId xmlns:a16="http://schemas.microsoft.com/office/drawing/2014/main" id="{DEBD223F-7046-3E1E-3B4E-8031D7CF780C}"/>
                </a:ext>
              </a:extLst>
            </p:cNvPr>
            <p:cNvGrpSpPr/>
            <p:nvPr/>
          </p:nvGrpSpPr>
          <p:grpSpPr>
            <a:xfrm>
              <a:off x="542925" y="5769213"/>
              <a:ext cx="7886700" cy="820961"/>
              <a:chOff x="628650" y="4778376"/>
              <a:chExt cx="7886700" cy="820961"/>
            </a:xfrm>
          </p:grpSpPr>
          <p:sp>
            <p:nvSpPr>
              <p:cNvPr id="16" name="Content Placeholder 2">
                <a:extLst>
                  <a:ext uri="{FF2B5EF4-FFF2-40B4-BE49-F238E27FC236}">
                    <a16:creationId xmlns:a16="http://schemas.microsoft.com/office/drawing/2014/main" id="{6D06D692-DC74-6792-0A1B-146C31736E62}"/>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400" b="1" dirty="0">
                    <a:solidFill>
                      <a:srgbClr val="021836"/>
                    </a:solidFill>
                    <a:latin typeface="Aptos" panose="02110004020202020204"/>
                  </a:rPr>
                  <a:t>Technical Readiness</a:t>
                </a: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 Signals</a:t>
                </a:r>
              </a:p>
            </p:txBody>
          </p:sp>
          <p:sp>
            <p:nvSpPr>
              <p:cNvPr id="17" name="Content Placeholder 2">
                <a:extLst>
                  <a:ext uri="{FF2B5EF4-FFF2-40B4-BE49-F238E27FC236}">
                    <a16:creationId xmlns:a16="http://schemas.microsoft.com/office/drawing/2014/main" id="{D702B0C7-E48B-D5B9-3B61-3DBF08D02441}"/>
                  </a:ext>
                </a:extLst>
              </p:cNvPr>
              <p:cNvSpPr txBox="1">
                <a:spLocks/>
              </p:cNvSpPr>
              <p:nvPr/>
            </p:nvSpPr>
            <p:spPr>
              <a:xfrm>
                <a:off x="628650" y="5032600"/>
                <a:ext cx="7660853" cy="566737"/>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Clr>
                    <a:srgbClr val="021836"/>
                  </a:buClr>
                  <a:buNone/>
                  <a:defRPr/>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Data access gaps • Poor input quality • Integration uncertainty • Model limitations • </a:t>
                </a:r>
                <a:r>
                  <a:rPr lang="en-US" sz="1200" i="1" dirty="0">
                    <a:solidFill>
                      <a:prstClr val="white">
                        <a:lumMod val="50000"/>
                      </a:prstClr>
                    </a:solidFill>
                  </a:rPr>
                  <a:t>Unstable workflow •</a:t>
                </a:r>
                <a:br>
                  <a:rPr lang="en-US" sz="1200" i="1" dirty="0">
                    <a:solidFill>
                      <a:prstClr val="white">
                        <a:lumMod val="50000"/>
                      </a:prstClr>
                    </a:solidFill>
                  </a:rPr>
                </a:br>
                <a:r>
                  <a:rPr lang="en-US" sz="1200" i="1" dirty="0">
                    <a:solidFill>
                      <a:prstClr val="white">
                        <a:lumMod val="50000"/>
                      </a:prstClr>
                    </a:solidFill>
                  </a:rPr>
                  <a:t>Security concerns</a:t>
                </a:r>
                <a:endPar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endParaRPr>
              </a:p>
            </p:txBody>
          </p:sp>
        </p:grpSp>
        <p:grpSp>
          <p:nvGrpSpPr>
            <p:cNvPr id="18" name="Group 17">
              <a:extLst>
                <a:ext uri="{FF2B5EF4-FFF2-40B4-BE49-F238E27FC236}">
                  <a16:creationId xmlns:a16="http://schemas.microsoft.com/office/drawing/2014/main" id="{21F38550-0394-5D22-B14C-F9C88068C5FF}"/>
                </a:ext>
              </a:extLst>
            </p:cNvPr>
            <p:cNvGrpSpPr/>
            <p:nvPr/>
          </p:nvGrpSpPr>
          <p:grpSpPr>
            <a:xfrm>
              <a:off x="526629" y="6453316"/>
              <a:ext cx="7886700" cy="595537"/>
              <a:chOff x="628650" y="4778376"/>
              <a:chExt cx="7886700" cy="595537"/>
            </a:xfrm>
          </p:grpSpPr>
          <p:sp>
            <p:nvSpPr>
              <p:cNvPr id="19" name="Content Placeholder 2">
                <a:extLst>
                  <a:ext uri="{FF2B5EF4-FFF2-40B4-BE49-F238E27FC236}">
                    <a16:creationId xmlns:a16="http://schemas.microsoft.com/office/drawing/2014/main" id="{55A312A8-A50E-D253-703F-EE64FCF26F7C}"/>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Guiding Principle</a:t>
                </a:r>
              </a:p>
            </p:txBody>
          </p:sp>
          <p:sp>
            <p:nvSpPr>
              <p:cNvPr id="20" name="Content Placeholder 2">
                <a:extLst>
                  <a:ext uri="{FF2B5EF4-FFF2-40B4-BE49-F238E27FC236}">
                    <a16:creationId xmlns:a16="http://schemas.microsoft.com/office/drawing/2014/main" id="{AD17222E-1471-3942-0678-6D3F50478F7B}"/>
                  </a:ext>
                </a:extLst>
              </p:cNvPr>
              <p:cNvSpPr txBox="1">
                <a:spLocks/>
              </p:cNvSpPr>
              <p:nvPr/>
            </p:nvSpPr>
            <p:spPr>
              <a:xfrm>
                <a:off x="628650" y="5032601"/>
                <a:ext cx="7886700" cy="341312"/>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lang="en-US" sz="1200" dirty="0">
                    <a:solidFill>
                      <a:srgbClr val="021836"/>
                    </a:solidFill>
                    <a:latin typeface="Aptos" panose="02110004020202020204"/>
                  </a:rPr>
                  <a:t>Technical readiness means the solution can be tested safely, not that it is perfect.</a:t>
                </a:r>
                <a:endPar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endParaRPr>
              </a:p>
            </p:txBody>
          </p:sp>
        </p:grpSp>
      </p:grpSp>
      <p:sp>
        <p:nvSpPr>
          <p:cNvPr id="3" name="Content Placeholder 2">
            <a:extLst>
              <a:ext uri="{FF2B5EF4-FFF2-40B4-BE49-F238E27FC236}">
                <a16:creationId xmlns:a16="http://schemas.microsoft.com/office/drawing/2014/main" id="{F41B1FD2-2C19-69D8-31E0-8F0CEE4F55FC}"/>
              </a:ext>
            </a:extLst>
          </p:cNvPr>
          <p:cNvSpPr txBox="1">
            <a:spLocks/>
          </p:cNvSpPr>
          <p:nvPr/>
        </p:nvSpPr>
        <p:spPr>
          <a:xfrm>
            <a:off x="360622" y="1093871"/>
            <a:ext cx="7886700" cy="1635936"/>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Questions</a:t>
            </a:r>
          </a:p>
          <a:p>
            <a:pPr marL="228600" marR="0" lvl="0" indent="-228600" algn="l" defTabSz="914400" rtl="0" eaLnBrk="1" fontAlgn="auto" latinLnBrk="0" hangingPunct="1">
              <a:lnSpc>
                <a:spcPct val="110000"/>
              </a:lnSpc>
              <a:spcBef>
                <a:spcPts val="600"/>
              </a:spcBef>
              <a:spcAft>
                <a:spcPts val="0"/>
              </a:spcAft>
              <a:buClrTx/>
              <a:buSzTx/>
              <a:buFont typeface="Arial" panose="020B0604020202020204" pitchFamily="34" charset="0"/>
              <a:buChar char="•"/>
              <a:tabLst/>
              <a:defRPr/>
            </a:pPr>
            <a:r>
              <a:rPr lang="en-US" sz="1200" dirty="0">
                <a:solidFill>
                  <a:prstClr val="black"/>
                </a:solidFill>
                <a:latin typeface="Aptos" panose="02110004020202020204"/>
              </a:rPr>
              <a:t>What model, tool, or platform will be used?</a:t>
            </a:r>
          </a:p>
          <a:p>
            <a:pPr marL="228600" marR="0" lvl="0" indent="-228600" algn="l" defTabSz="914400" rtl="0" eaLnBrk="1" fontAlgn="auto" latinLnBrk="0" hangingPunct="1">
              <a:lnSpc>
                <a:spcPct val="110000"/>
              </a:lnSpc>
              <a:spcBef>
                <a:spcPts val="600"/>
              </a:spcBef>
              <a:spcAft>
                <a:spcPts val="0"/>
              </a:spcAft>
              <a:buClrTx/>
              <a:buSzTx/>
              <a:buFont typeface="Arial" panose="020B0604020202020204" pitchFamily="34" charset="0"/>
              <a:buChar char="•"/>
              <a:tabLst/>
              <a:defRPr/>
            </a:pPr>
            <a:r>
              <a:rPr lang="en-US" sz="1200" dirty="0">
                <a:solidFill>
                  <a:prstClr val="black"/>
                </a:solidFill>
                <a:latin typeface="Aptos" panose="02110004020202020204"/>
              </a:rPr>
              <a:t>What inputs does the solution require?</a:t>
            </a:r>
          </a:p>
          <a:p>
            <a:pPr marL="228600" marR="0" lvl="0" indent="-228600" algn="l" defTabSz="914400" rtl="0" eaLnBrk="1" fontAlgn="auto" latinLnBrk="0" hangingPunct="1">
              <a:lnSpc>
                <a:spcPct val="110000"/>
              </a:lnSpc>
              <a:spcBef>
                <a:spcPts val="600"/>
              </a:spcBef>
              <a:spcAft>
                <a:spcPts val="0"/>
              </a:spcAft>
              <a:buClrTx/>
              <a:buSzTx/>
              <a:buFont typeface="Arial" panose="020B0604020202020204" pitchFamily="34" charset="0"/>
              <a:buChar char="•"/>
              <a:tabLst/>
              <a:defRPr/>
            </a:pPr>
            <a:r>
              <a:rPr lang="en-US" sz="1200" dirty="0">
                <a:solidFill>
                  <a:prstClr val="black"/>
                </a:solidFill>
                <a:latin typeface="Aptos" panose="02110004020202020204"/>
              </a:rPr>
              <a:t>Are data, documents, and system connections available?</a:t>
            </a:r>
          </a:p>
          <a:p>
            <a:pPr marL="228600" marR="0" lvl="0" indent="-228600" algn="l" defTabSz="914400" rtl="0" eaLnBrk="1" fontAlgn="auto" latinLnBrk="0" hangingPunct="1">
              <a:lnSpc>
                <a:spcPct val="110000"/>
              </a:lnSpc>
              <a:spcBef>
                <a:spcPts val="600"/>
              </a:spcBef>
              <a:spcAft>
                <a:spcPts val="0"/>
              </a:spcAft>
              <a:buClrTx/>
              <a:buSzTx/>
              <a:buFont typeface="Arial" panose="020B0604020202020204" pitchFamily="34" charset="0"/>
              <a:buChar char="•"/>
              <a:tabLst/>
              <a:defRPr/>
            </a:pPr>
            <a:r>
              <a:rPr lang="en-US" sz="1200" dirty="0">
                <a:solidFill>
                  <a:prstClr val="black"/>
                </a:solidFill>
                <a:latin typeface="Aptos" panose="02110004020202020204"/>
              </a:rPr>
              <a:t>What limitations or failure modes are expected?</a:t>
            </a:r>
          </a:p>
          <a:p>
            <a:pPr marL="228600" marR="0" lvl="0" indent="-228600" algn="l" defTabSz="914400" rtl="0" eaLnBrk="1" fontAlgn="auto" latinLnBrk="0" hangingPunct="1">
              <a:lnSpc>
                <a:spcPct val="110000"/>
              </a:lnSpc>
              <a:spcBef>
                <a:spcPts val="600"/>
              </a:spcBef>
              <a:spcAft>
                <a:spcPts val="0"/>
              </a:spcAft>
              <a:buClrTx/>
              <a:buSzTx/>
              <a:buFont typeface="Arial" panose="020B0604020202020204" pitchFamily="34" charset="0"/>
              <a:buChar char="•"/>
              <a:tabLst/>
              <a:defRPr/>
            </a:pPr>
            <a:r>
              <a:rPr lang="en-US" sz="1200" dirty="0">
                <a:solidFill>
                  <a:prstClr val="black"/>
                </a:solidFill>
                <a:latin typeface="Aptos" panose="02110004020202020204"/>
              </a:rPr>
              <a:t>Can required approvals, pauses, restrictions, or intervention points actually be enforced in the pilot environment?</a:t>
            </a:r>
          </a:p>
          <a:p>
            <a:pPr marL="228600" marR="0" lvl="0" indent="-228600" algn="l" defTabSz="914400" rtl="0" eaLnBrk="1" fontAlgn="auto" latinLnBrk="0" hangingPunct="1">
              <a:lnSpc>
                <a:spcPct val="110000"/>
              </a:lnSpc>
              <a:spcBef>
                <a:spcPts val="600"/>
              </a:spcBef>
              <a:spcAft>
                <a:spcPts val="0"/>
              </a:spcAft>
              <a:buClrTx/>
              <a:buSzTx/>
              <a:buFont typeface="Arial" panose="020B0604020202020204" pitchFamily="34" charset="0"/>
              <a:buChar char="•"/>
              <a:tabLst/>
              <a:defRPr/>
            </a:pPr>
            <a:r>
              <a:rPr lang="en-US" sz="1200" dirty="0">
                <a:solidFill>
                  <a:prstClr val="black"/>
                </a:solidFill>
                <a:latin typeface="Aptos" panose="02110004020202020204"/>
              </a:rPr>
              <a:t>Can the pilot produce the evidence needed to evaluate the workflow and governance model?</a:t>
            </a:r>
          </a:p>
        </p:txBody>
      </p:sp>
      <p:sp>
        <p:nvSpPr>
          <p:cNvPr id="5" name="TextBox 4">
            <a:extLst>
              <a:ext uri="{FF2B5EF4-FFF2-40B4-BE49-F238E27FC236}">
                <a16:creationId xmlns:a16="http://schemas.microsoft.com/office/drawing/2014/main" id="{B1C8C092-FDD5-7CE4-1BCE-2236A6CDA21F}"/>
              </a:ext>
            </a:extLst>
          </p:cNvPr>
          <p:cNvSpPr txBox="1"/>
          <p:nvPr/>
        </p:nvSpPr>
        <p:spPr>
          <a:xfrm>
            <a:off x="4408714" y="64309"/>
            <a:ext cx="4628748" cy="276999"/>
          </a:xfrm>
          <a:prstGeom prst="rect">
            <a:avLst/>
          </a:prstGeom>
          <a:noFill/>
        </p:spPr>
        <p:txBody>
          <a:bodyPr wrap="square" rtlCol="0">
            <a:spAutoFit/>
          </a:bodyPr>
          <a:lstStyle/>
          <a:p>
            <a:pPr algn="r"/>
            <a:r>
              <a:rPr lang="en-US" sz="1200" dirty="0">
                <a:solidFill>
                  <a:schemeClr val="bg1">
                    <a:lumMod val="50000"/>
                  </a:schemeClr>
                </a:solidFill>
              </a:rPr>
              <a:t>AI Operational Readiness • Pilot Readiness Framework</a:t>
            </a:r>
          </a:p>
        </p:txBody>
      </p:sp>
    </p:spTree>
    <p:extLst>
      <p:ext uri="{BB962C8B-B14F-4D97-AF65-F5344CB8AC3E}">
        <p14:creationId xmlns:p14="http://schemas.microsoft.com/office/powerpoint/2010/main" val="124147834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5ACC30-EDE5-1DDE-2F66-AD713A4C1B7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2A6F2F3-ECA8-28AA-B6B1-4267E7B4C92C}"/>
              </a:ext>
            </a:extLst>
          </p:cNvPr>
          <p:cNvSpPr txBox="1">
            <a:spLocks/>
          </p:cNvSpPr>
          <p:nvPr/>
        </p:nvSpPr>
        <p:spPr>
          <a:xfrm>
            <a:off x="360622" y="1106001"/>
            <a:ext cx="7886700" cy="1847148"/>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Questions</a:t>
            </a:r>
          </a:p>
          <a:p>
            <a:pPr marL="228600" marR="0" lvl="0" indent="-228600" algn="l" defTabSz="914400" rtl="0" eaLnBrk="1" fontAlgn="auto" latinLnBrk="0" hangingPunct="1">
              <a:lnSpc>
                <a:spcPct val="110000"/>
              </a:lnSpc>
              <a:spcBef>
                <a:spcPts val="6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rPr>
              <a:t>Who reviews AI outputs?</a:t>
            </a:r>
          </a:p>
          <a:p>
            <a:pPr marL="228600" marR="0" lvl="0" indent="-228600" algn="l" defTabSz="914400" rtl="0" eaLnBrk="1" fontAlgn="auto" latinLnBrk="0" hangingPunct="1">
              <a:lnSpc>
                <a:spcPct val="110000"/>
              </a:lnSpc>
              <a:spcBef>
                <a:spcPts val="600"/>
              </a:spcBef>
              <a:spcAft>
                <a:spcPts val="0"/>
              </a:spcAft>
              <a:buClrTx/>
              <a:buSzTx/>
              <a:buFont typeface="Arial" panose="020B0604020202020204" pitchFamily="34" charset="0"/>
              <a:buChar char="•"/>
              <a:tabLst/>
              <a:defRPr/>
            </a:pPr>
            <a:r>
              <a:rPr lang="en-US" sz="1200" dirty="0">
                <a:solidFill>
                  <a:prstClr val="black"/>
                </a:solidFill>
                <a:latin typeface="Aptos" panose="02110004020202020204"/>
              </a:rPr>
              <a:t>Who approves use or distribution?</a:t>
            </a:r>
          </a:p>
          <a:p>
            <a:pPr marL="228600" marR="0" lvl="0" indent="-228600" algn="l" defTabSz="914400" rtl="0" eaLnBrk="1" fontAlgn="auto" latinLnBrk="0" hangingPunct="1">
              <a:lnSpc>
                <a:spcPct val="110000"/>
              </a:lnSpc>
              <a:spcBef>
                <a:spcPts val="6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rPr>
              <a:t>What triggers escalation?</a:t>
            </a:r>
          </a:p>
          <a:p>
            <a:pPr marL="228600" marR="0" lvl="0" indent="-228600" algn="l" defTabSz="914400" rtl="0" eaLnBrk="1" fontAlgn="auto" latinLnBrk="0" hangingPunct="1">
              <a:lnSpc>
                <a:spcPct val="110000"/>
              </a:lnSpc>
              <a:spcBef>
                <a:spcPts val="600"/>
              </a:spcBef>
              <a:spcAft>
                <a:spcPts val="0"/>
              </a:spcAft>
              <a:buClrTx/>
              <a:buSzTx/>
              <a:buFont typeface="Arial" panose="020B0604020202020204" pitchFamily="34" charset="0"/>
              <a:buChar char="•"/>
              <a:tabLst/>
              <a:defRPr/>
            </a:pPr>
            <a:r>
              <a:rPr lang="en-US" sz="1200" dirty="0">
                <a:solidFill>
                  <a:prstClr val="black"/>
                </a:solidFill>
                <a:latin typeface="Aptos" panose="02110004020202020204"/>
              </a:rPr>
              <a:t>Who can pause, override, stop, or restore AI-enabled operation?</a:t>
            </a:r>
          </a:p>
          <a:p>
            <a:pPr marL="228600" marR="0" lvl="0" indent="-228600" algn="l" defTabSz="914400" rtl="0" eaLnBrk="1" fontAlgn="auto" latinLnBrk="0" hangingPunct="1">
              <a:lnSpc>
                <a:spcPct val="110000"/>
              </a:lnSpc>
              <a:spcBef>
                <a:spcPts val="6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rPr>
              <a:t>Who remains accountable?</a:t>
            </a:r>
          </a:p>
          <a:p>
            <a:pPr lvl="0">
              <a:spcBef>
                <a:spcPts val="600"/>
              </a:spcBef>
              <a:defRPr/>
            </a:pPr>
            <a:r>
              <a:rPr lang="en-US" sz="1200" dirty="0"/>
              <a:t>Are approval conditions understood and reflected in the pilot?</a:t>
            </a:r>
          </a:p>
          <a:p>
            <a:pPr lvl="0">
              <a:spcBef>
                <a:spcPts val="600"/>
              </a:spcBef>
              <a:defRPr/>
            </a:pPr>
            <a:r>
              <a:rPr lang="en-US" sz="1200" dirty="0"/>
              <a:t>Who can suspend, restore, or modify AI operating authority during the pilot?</a:t>
            </a:r>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BEB6C30A-7B6A-E357-DCA1-153A7B3FC245}"/>
              </a:ext>
            </a:extLst>
          </p:cNvPr>
          <p:cNvSpPr>
            <a:spLocks noGrp="1"/>
          </p:cNvSpPr>
          <p:nvPr>
            <p:ph type="title"/>
          </p:nvPr>
        </p:nvSpPr>
        <p:spPr>
          <a:xfrm>
            <a:off x="273534" y="-86630"/>
            <a:ext cx="7886700" cy="1325563"/>
          </a:xfrm>
        </p:spPr>
        <p:txBody>
          <a:bodyPr>
            <a:normAutofit/>
          </a:bodyPr>
          <a:lstStyle/>
          <a:p>
            <a:r>
              <a:rPr lang="en-US" sz="4000" dirty="0"/>
              <a:t>Governance Readiness</a:t>
            </a:r>
          </a:p>
        </p:txBody>
      </p:sp>
      <p:sp>
        <p:nvSpPr>
          <p:cNvPr id="9" name="Content Placeholder 2">
            <a:extLst>
              <a:ext uri="{FF2B5EF4-FFF2-40B4-BE49-F238E27FC236}">
                <a16:creationId xmlns:a16="http://schemas.microsoft.com/office/drawing/2014/main" id="{573A7026-361D-8D5B-7281-414695B2CD24}"/>
              </a:ext>
            </a:extLst>
          </p:cNvPr>
          <p:cNvSpPr txBox="1">
            <a:spLocks/>
          </p:cNvSpPr>
          <p:nvPr/>
        </p:nvSpPr>
        <p:spPr>
          <a:xfrm>
            <a:off x="317078" y="844267"/>
            <a:ext cx="7886700" cy="299244"/>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Understanding whether oversight is ready before launch</a:t>
            </a:r>
          </a:p>
        </p:txBody>
      </p:sp>
      <p:graphicFrame>
        <p:nvGraphicFramePr>
          <p:cNvPr id="13" name="Table 12">
            <a:extLst>
              <a:ext uri="{FF2B5EF4-FFF2-40B4-BE49-F238E27FC236}">
                <a16:creationId xmlns:a16="http://schemas.microsoft.com/office/drawing/2014/main" id="{6C2771F6-C765-2AF8-B3D1-00069AD4D724}"/>
              </a:ext>
            </a:extLst>
          </p:cNvPr>
          <p:cNvGraphicFramePr>
            <a:graphicFrameLocks noGrp="1"/>
          </p:cNvGraphicFramePr>
          <p:nvPr/>
        </p:nvGraphicFramePr>
        <p:xfrm>
          <a:off x="360622" y="2953287"/>
          <a:ext cx="8218714" cy="2331720"/>
        </p:xfrm>
        <a:graphic>
          <a:graphicData uri="http://schemas.openxmlformats.org/drawingml/2006/table">
            <a:tbl>
              <a:tblPr firstRow="1" bandRow="1">
                <a:tableStyleId>{2D5ABB26-0587-4C30-8999-92F81FD0307C}</a:tableStyleId>
              </a:tblPr>
              <a:tblGrid>
                <a:gridCol w="3287487">
                  <a:extLst>
                    <a:ext uri="{9D8B030D-6E8A-4147-A177-3AD203B41FA5}">
                      <a16:colId xmlns:a16="http://schemas.microsoft.com/office/drawing/2014/main" val="2470210094"/>
                    </a:ext>
                  </a:extLst>
                </a:gridCol>
                <a:gridCol w="4931227">
                  <a:extLst>
                    <a:ext uri="{9D8B030D-6E8A-4147-A177-3AD203B41FA5}">
                      <a16:colId xmlns:a16="http://schemas.microsoft.com/office/drawing/2014/main" val="72878264"/>
                    </a:ext>
                  </a:extLst>
                </a:gridCol>
              </a:tblGrid>
              <a:tr h="190234">
                <a:tc>
                  <a:txBody>
                    <a:bodyPr/>
                    <a:lstStyle/>
                    <a:p>
                      <a:r>
                        <a:rPr lang="en-US" sz="1400" b="1" dirty="0">
                          <a:solidFill>
                            <a:srgbClr val="021836"/>
                          </a:solidFill>
                        </a:rPr>
                        <a:t>Governance Readiness Elements</a:t>
                      </a:r>
                    </a:p>
                  </a:txBody>
                  <a:tcPr>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rgbClr val="0396A6"/>
                      </a:solidFill>
                      <a:prstDash val="solid"/>
                      <a:round/>
                      <a:headEnd type="none" w="med" len="med"/>
                      <a:tailEnd type="none" w="med" len="med"/>
                    </a:lnB>
                  </a:tcPr>
                </a:tc>
                <a:tc>
                  <a:txBody>
                    <a:bodyPr/>
                    <a:lstStyle/>
                    <a:p>
                      <a:r>
                        <a:rPr lang="en-US" sz="1400" b="1" dirty="0">
                          <a:solidFill>
                            <a:srgbClr val="021836"/>
                          </a:solidFill>
                        </a:rPr>
                        <a:t>Proposed Design</a:t>
                      </a:r>
                    </a:p>
                  </a:txBody>
                  <a:tcPr>
                    <a:lnL w="12700" cap="flat" cmpd="sng" algn="ctr">
                      <a:solidFill>
                        <a:schemeClr val="bg1">
                          <a:lumMod val="75000"/>
                        </a:schemeClr>
                      </a:solidFill>
                      <a:prstDash val="solid"/>
                      <a:round/>
                      <a:headEnd type="none" w="med" len="med"/>
                      <a:tailEnd type="none" w="med" len="med"/>
                    </a:lnL>
                    <a:lnT w="12700" cap="flat" cmpd="sng" algn="ctr">
                      <a:solidFill>
                        <a:srgbClr val="0396A6"/>
                      </a:solidFill>
                      <a:prstDash val="solid"/>
                      <a:round/>
                      <a:headEnd type="none" w="med" len="med"/>
                      <a:tailEnd type="none" w="med" len="med"/>
                    </a:lnT>
                    <a:lnB w="12700" cap="flat" cmpd="sng" algn="ctr">
                      <a:solidFill>
                        <a:srgbClr val="0396A6"/>
                      </a:solidFill>
                      <a:prstDash val="solid"/>
                      <a:round/>
                      <a:headEnd type="none" w="med" len="med"/>
                      <a:tailEnd type="none" w="med" len="med"/>
                    </a:lnB>
                  </a:tcPr>
                </a:tc>
                <a:extLst>
                  <a:ext uri="{0D108BD9-81ED-4DB2-BD59-A6C34878D82A}">
                    <a16:rowId xmlns:a16="http://schemas.microsoft.com/office/drawing/2014/main" val="2061593276"/>
                  </a:ext>
                </a:extLst>
              </a:tr>
              <a:tr h="194415">
                <a:tc>
                  <a:txBody>
                    <a:bodyPr/>
                    <a:lstStyle/>
                    <a:p>
                      <a:pPr>
                        <a:buClr>
                          <a:schemeClr val="bg1">
                            <a:lumMod val="50000"/>
                          </a:schemeClr>
                        </a:buClr>
                      </a:pPr>
                      <a:r>
                        <a:rPr lang="en-US" sz="1200" dirty="0"/>
                        <a:t>Review Owner</a:t>
                      </a:r>
                    </a:p>
                  </a:txBody>
                  <a:tcPr marB="0">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600" dirty="0"/>
                    </a:p>
                  </a:txBody>
                  <a:tcPr marB="0">
                    <a:lnL w="12700" cap="flat" cmpd="sng" algn="ctr">
                      <a:solidFill>
                        <a:schemeClr val="bg1">
                          <a:lumMod val="75000"/>
                        </a:schemeClr>
                      </a:solidFill>
                      <a:prstDash val="solid"/>
                      <a:round/>
                      <a:headEnd type="none" w="med" len="med"/>
                      <a:tailEnd type="none" w="med" len="med"/>
                    </a:lnL>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493753442"/>
                  </a:ext>
                </a:extLst>
              </a:tr>
              <a:tr h="194415">
                <a:tc>
                  <a:txBody>
                    <a:bodyPr/>
                    <a:lstStyle/>
                    <a:p>
                      <a:pPr>
                        <a:buClr>
                          <a:schemeClr val="bg1">
                            <a:lumMod val="50000"/>
                          </a:schemeClr>
                        </a:buClr>
                      </a:pPr>
                      <a:r>
                        <a:rPr lang="en-US" sz="1200" dirty="0"/>
                        <a:t>Approval Owner</a:t>
                      </a:r>
                    </a:p>
                  </a:txBody>
                  <a:tcPr marB="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600" dirty="0"/>
                    </a:p>
                  </a:txBody>
                  <a:tcPr marB="0">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23325965"/>
                  </a:ext>
                </a:extLst>
              </a:tr>
              <a:tr h="194415">
                <a:tc>
                  <a:txBody>
                    <a:bodyPr/>
                    <a:lstStyle/>
                    <a:p>
                      <a:pPr>
                        <a:buClr>
                          <a:schemeClr val="bg1">
                            <a:lumMod val="50000"/>
                          </a:schemeClr>
                        </a:buClr>
                      </a:pPr>
                      <a:r>
                        <a:rPr lang="en-US" sz="1200" dirty="0"/>
                        <a:t>Escalation Path</a:t>
                      </a:r>
                    </a:p>
                  </a:txBody>
                  <a:tcPr marB="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600" dirty="0"/>
                    </a:p>
                  </a:txBody>
                  <a:tcPr marB="0">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845834834"/>
                  </a:ext>
                </a:extLst>
              </a:tr>
              <a:tr h="194415">
                <a:tc>
                  <a:txBody>
                    <a:bodyPr/>
                    <a:lstStyle/>
                    <a:p>
                      <a:pPr>
                        <a:buClr>
                          <a:schemeClr val="bg1">
                            <a:lumMod val="50000"/>
                          </a:schemeClr>
                        </a:buClr>
                      </a:pPr>
                      <a:r>
                        <a:rPr lang="en-US" sz="1200" dirty="0"/>
                        <a:t>Intervention Authority</a:t>
                      </a:r>
                    </a:p>
                  </a:txBody>
                  <a:tcPr marB="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600" dirty="0"/>
                    </a:p>
                  </a:txBody>
                  <a:tcPr marB="0">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012176639"/>
                  </a:ext>
                </a:extLst>
              </a:tr>
              <a:tr h="194415">
                <a:tc>
                  <a:txBody>
                    <a:bodyPr/>
                    <a:lstStyle/>
                    <a:p>
                      <a:pPr>
                        <a:buClr>
                          <a:schemeClr val="bg1">
                            <a:lumMod val="50000"/>
                          </a:schemeClr>
                        </a:buClr>
                      </a:pPr>
                      <a:r>
                        <a:rPr lang="en-US" sz="1200" dirty="0"/>
                        <a:t>Accountability Owner</a:t>
                      </a:r>
                    </a:p>
                  </a:txBody>
                  <a:tcPr marB="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600" dirty="0"/>
                    </a:p>
                  </a:txBody>
                  <a:tcPr marB="0">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225863231"/>
                  </a:ext>
                </a:extLst>
              </a:tr>
              <a:tr h="194415">
                <a:tc>
                  <a:txBody>
                    <a:bodyPr/>
                    <a:lstStyle/>
                    <a:p>
                      <a:pPr>
                        <a:buClr>
                          <a:schemeClr val="bg1">
                            <a:lumMod val="50000"/>
                          </a:schemeClr>
                        </a:buClr>
                      </a:pPr>
                      <a:r>
                        <a:rPr lang="en-US" sz="1200" dirty="0"/>
                        <a:t>Approval Conditions</a:t>
                      </a:r>
                    </a:p>
                  </a:txBody>
                  <a:tcPr marB="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600" dirty="0"/>
                    </a:p>
                  </a:txBody>
                  <a:tcPr marB="0">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987439695"/>
                  </a:ext>
                </a:extLst>
              </a:tr>
              <a:tr h="194415">
                <a:tc>
                  <a:txBody>
                    <a:bodyPr/>
                    <a:lstStyle/>
                    <a:p>
                      <a:pPr>
                        <a:buClr>
                          <a:schemeClr val="bg1">
                            <a:lumMod val="50000"/>
                          </a:schemeClr>
                        </a:buClr>
                      </a:pPr>
                      <a:r>
                        <a:rPr lang="en-US" sz="1200" dirty="0"/>
                        <a:t>Authority Modification/ Restoration</a:t>
                      </a:r>
                    </a:p>
                  </a:txBody>
                  <a:tcPr marB="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600" dirty="0"/>
                    </a:p>
                  </a:txBody>
                  <a:tcPr marB="0">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37516756"/>
                  </a:ext>
                </a:extLst>
              </a:tr>
            </a:tbl>
          </a:graphicData>
        </a:graphic>
      </p:graphicFrame>
      <p:cxnSp>
        <p:nvCxnSpPr>
          <p:cNvPr id="14" name="Straight Connector 13">
            <a:extLst>
              <a:ext uri="{FF2B5EF4-FFF2-40B4-BE49-F238E27FC236}">
                <a16:creationId xmlns:a16="http://schemas.microsoft.com/office/drawing/2014/main" id="{1BA9A79E-5FEE-8A9A-3D72-851EF4ED8551}"/>
              </a:ext>
            </a:extLst>
          </p:cNvPr>
          <p:cNvCxnSpPr>
            <a:cxnSpLocks/>
          </p:cNvCxnSpPr>
          <p:nvPr/>
        </p:nvCxnSpPr>
        <p:spPr>
          <a:xfrm>
            <a:off x="171450" y="5370989"/>
            <a:ext cx="8801100" cy="0"/>
          </a:xfrm>
          <a:prstGeom prst="line">
            <a:avLst/>
          </a:prstGeom>
          <a:ln w="9525">
            <a:solidFill>
              <a:srgbClr val="0396A6"/>
            </a:solidFill>
          </a:ln>
        </p:spPr>
        <p:style>
          <a:lnRef idx="2">
            <a:schemeClr val="accent1"/>
          </a:lnRef>
          <a:fillRef idx="0">
            <a:schemeClr val="accent1"/>
          </a:fillRef>
          <a:effectRef idx="1">
            <a:schemeClr val="accent1"/>
          </a:effectRef>
          <a:fontRef idx="minor">
            <a:schemeClr val="tx1"/>
          </a:fontRef>
        </p:style>
      </p:cxnSp>
      <p:grpSp>
        <p:nvGrpSpPr>
          <p:cNvPr id="21" name="Group 20">
            <a:extLst>
              <a:ext uri="{FF2B5EF4-FFF2-40B4-BE49-F238E27FC236}">
                <a16:creationId xmlns:a16="http://schemas.microsoft.com/office/drawing/2014/main" id="{C37500E4-923B-F995-CB1C-EBA4E438016F}"/>
              </a:ext>
            </a:extLst>
          </p:cNvPr>
          <p:cNvGrpSpPr/>
          <p:nvPr/>
        </p:nvGrpSpPr>
        <p:grpSpPr>
          <a:xfrm>
            <a:off x="317078" y="5422817"/>
            <a:ext cx="7902996" cy="1279640"/>
            <a:chOff x="526629" y="5769213"/>
            <a:chExt cx="7902996" cy="1279640"/>
          </a:xfrm>
        </p:grpSpPr>
        <p:grpSp>
          <p:nvGrpSpPr>
            <p:cNvPr id="15" name="Group 14">
              <a:extLst>
                <a:ext uri="{FF2B5EF4-FFF2-40B4-BE49-F238E27FC236}">
                  <a16:creationId xmlns:a16="http://schemas.microsoft.com/office/drawing/2014/main" id="{CCBC80E5-C8E3-495E-01A6-1372F270C91C}"/>
                </a:ext>
              </a:extLst>
            </p:cNvPr>
            <p:cNvGrpSpPr/>
            <p:nvPr/>
          </p:nvGrpSpPr>
          <p:grpSpPr>
            <a:xfrm>
              <a:off x="542925" y="5769213"/>
              <a:ext cx="7886700" cy="684103"/>
              <a:chOff x="628650" y="4778376"/>
              <a:chExt cx="7886700" cy="684103"/>
            </a:xfrm>
          </p:grpSpPr>
          <p:sp>
            <p:nvSpPr>
              <p:cNvPr id="16" name="Content Placeholder 2">
                <a:extLst>
                  <a:ext uri="{FF2B5EF4-FFF2-40B4-BE49-F238E27FC236}">
                    <a16:creationId xmlns:a16="http://schemas.microsoft.com/office/drawing/2014/main" id="{D59D05A5-6BB9-2AE1-0FD2-4462F32E3110}"/>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Govern</a:t>
                </a:r>
                <a:r>
                  <a:rPr lang="en-US" sz="1400" b="1" dirty="0" err="1">
                    <a:solidFill>
                      <a:srgbClr val="021836"/>
                    </a:solidFill>
                    <a:latin typeface="Aptos" panose="02110004020202020204"/>
                  </a:rPr>
                  <a:t>ance</a:t>
                </a:r>
                <a:r>
                  <a:rPr lang="en-US" sz="1400" b="1" dirty="0">
                    <a:solidFill>
                      <a:srgbClr val="021836"/>
                    </a:solidFill>
                    <a:latin typeface="Aptos" panose="02110004020202020204"/>
                  </a:rPr>
                  <a:t> Readiness</a:t>
                </a: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 Signals</a:t>
                </a:r>
              </a:p>
            </p:txBody>
          </p:sp>
          <p:sp>
            <p:nvSpPr>
              <p:cNvPr id="17" name="Content Placeholder 2">
                <a:extLst>
                  <a:ext uri="{FF2B5EF4-FFF2-40B4-BE49-F238E27FC236}">
                    <a16:creationId xmlns:a16="http://schemas.microsoft.com/office/drawing/2014/main" id="{17B7B7AB-5A10-85C2-A1DB-F68A23CA0754}"/>
                  </a:ext>
                </a:extLst>
              </p:cNvPr>
              <p:cNvSpPr txBox="1">
                <a:spLocks/>
              </p:cNvSpPr>
              <p:nvPr/>
            </p:nvSpPr>
            <p:spPr>
              <a:xfrm>
                <a:off x="628650" y="5032600"/>
                <a:ext cx="7660853" cy="429879"/>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Clr>
                    <a:srgbClr val="021836"/>
                  </a:buClr>
                  <a:buNone/>
                  <a:defRPr/>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Undefined review • Approval ambiguity • No escalation path • No pause criteria • </a:t>
                </a:r>
                <a:r>
                  <a:rPr lang="en-US" sz="1200" i="1" dirty="0">
                    <a:solidFill>
                      <a:prstClr val="white">
                        <a:lumMod val="50000"/>
                      </a:prstClr>
                    </a:solidFill>
                    <a:latin typeface="Aptos" panose="02110004020202020204"/>
                  </a:rPr>
                  <a:t>Shared accountability</a:t>
                </a:r>
                <a:r>
                  <a:rPr lang="en-US" sz="1200" i="1" dirty="0">
                    <a:solidFill>
                      <a:prstClr val="white">
                        <a:lumMod val="50000"/>
                      </a:prstClr>
                    </a:solidFill>
                  </a:rPr>
                  <a:t> • Sensitive or external-facing outputs</a:t>
                </a:r>
                <a:endPar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endParaRPr>
              </a:p>
            </p:txBody>
          </p:sp>
        </p:grpSp>
        <p:grpSp>
          <p:nvGrpSpPr>
            <p:cNvPr id="18" name="Group 17">
              <a:extLst>
                <a:ext uri="{FF2B5EF4-FFF2-40B4-BE49-F238E27FC236}">
                  <a16:creationId xmlns:a16="http://schemas.microsoft.com/office/drawing/2014/main" id="{6913FA25-8E48-4374-483D-C277FE755FC7}"/>
                </a:ext>
              </a:extLst>
            </p:cNvPr>
            <p:cNvGrpSpPr/>
            <p:nvPr/>
          </p:nvGrpSpPr>
          <p:grpSpPr>
            <a:xfrm>
              <a:off x="526629" y="6453316"/>
              <a:ext cx="7886700" cy="595537"/>
              <a:chOff x="628650" y="4778376"/>
              <a:chExt cx="7886700" cy="595537"/>
            </a:xfrm>
          </p:grpSpPr>
          <p:sp>
            <p:nvSpPr>
              <p:cNvPr id="19" name="Content Placeholder 2">
                <a:extLst>
                  <a:ext uri="{FF2B5EF4-FFF2-40B4-BE49-F238E27FC236}">
                    <a16:creationId xmlns:a16="http://schemas.microsoft.com/office/drawing/2014/main" id="{ADFA418C-A5C8-2CBD-54A9-08A6BF85A70A}"/>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Guiding Principle</a:t>
                </a:r>
              </a:p>
            </p:txBody>
          </p:sp>
          <p:sp>
            <p:nvSpPr>
              <p:cNvPr id="20" name="Content Placeholder 2">
                <a:extLst>
                  <a:ext uri="{FF2B5EF4-FFF2-40B4-BE49-F238E27FC236}">
                    <a16:creationId xmlns:a16="http://schemas.microsoft.com/office/drawing/2014/main" id="{3CA245C6-02DF-2700-6941-4DE535E7014B}"/>
                  </a:ext>
                </a:extLst>
              </p:cNvPr>
              <p:cNvSpPr txBox="1">
                <a:spLocks/>
              </p:cNvSpPr>
              <p:nvPr/>
            </p:nvSpPr>
            <p:spPr>
              <a:xfrm>
                <a:off x="628650" y="5032601"/>
                <a:ext cx="7886700" cy="341312"/>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kumimoji="0" lang="en-US" sz="1200" b="0" i="0" u="none" strike="noStrike" kern="1200" cap="none" spc="0" normalizeH="0" baseline="0" noProof="0" dirty="0">
                    <a:ln>
                      <a:noFill/>
                    </a:ln>
                    <a:solidFill>
                      <a:srgbClr val="021836"/>
                    </a:solidFill>
                    <a:effectLst/>
                    <a:uLnTx/>
                    <a:uFillTx/>
                    <a:latin typeface="Aptos" panose="02110004020202020204"/>
                    <a:ea typeface="+mn-ea"/>
                    <a:cs typeface="+mn-cs"/>
                  </a:rPr>
                  <a:t>Oversight should be operational before the pilot begins.</a:t>
                </a:r>
                <a:endPar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endParaRPr>
              </a:p>
            </p:txBody>
          </p:sp>
        </p:grpSp>
      </p:grpSp>
      <p:sp>
        <p:nvSpPr>
          <p:cNvPr id="5" name="TextBox 4">
            <a:extLst>
              <a:ext uri="{FF2B5EF4-FFF2-40B4-BE49-F238E27FC236}">
                <a16:creationId xmlns:a16="http://schemas.microsoft.com/office/drawing/2014/main" id="{E24B1AD0-CF1B-05DB-2CD9-0AB081667E7D}"/>
              </a:ext>
            </a:extLst>
          </p:cNvPr>
          <p:cNvSpPr txBox="1"/>
          <p:nvPr/>
        </p:nvSpPr>
        <p:spPr>
          <a:xfrm>
            <a:off x="4408714" y="64309"/>
            <a:ext cx="4628748" cy="276999"/>
          </a:xfrm>
          <a:prstGeom prst="rect">
            <a:avLst/>
          </a:prstGeom>
          <a:noFill/>
        </p:spPr>
        <p:txBody>
          <a:bodyPr wrap="square" rtlCol="0">
            <a:spAutoFit/>
          </a:bodyPr>
          <a:lstStyle/>
          <a:p>
            <a:pPr algn="r"/>
            <a:r>
              <a:rPr lang="en-US" sz="1200" dirty="0">
                <a:solidFill>
                  <a:schemeClr val="bg1">
                    <a:lumMod val="50000"/>
                  </a:schemeClr>
                </a:solidFill>
              </a:rPr>
              <a:t>AI Operational Readiness • Pilot Readiness Framework</a:t>
            </a:r>
          </a:p>
        </p:txBody>
      </p:sp>
    </p:spTree>
    <p:extLst>
      <p:ext uri="{BB962C8B-B14F-4D97-AF65-F5344CB8AC3E}">
        <p14:creationId xmlns:p14="http://schemas.microsoft.com/office/powerpoint/2010/main" val="121313915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B5D6EB-207A-D489-11B1-EC9F68BAB5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9CD9ED-EE87-FF53-913F-A8AF87606A28}"/>
              </a:ext>
            </a:extLst>
          </p:cNvPr>
          <p:cNvSpPr>
            <a:spLocks noGrp="1"/>
          </p:cNvSpPr>
          <p:nvPr>
            <p:ph type="title"/>
          </p:nvPr>
        </p:nvSpPr>
        <p:spPr>
          <a:xfrm>
            <a:off x="273534" y="-86630"/>
            <a:ext cx="7886700" cy="1325563"/>
          </a:xfrm>
        </p:spPr>
        <p:txBody>
          <a:bodyPr>
            <a:normAutofit/>
          </a:bodyPr>
          <a:lstStyle/>
          <a:p>
            <a:r>
              <a:rPr lang="en-US" sz="4000" dirty="0"/>
              <a:t>Evidence Readiness</a:t>
            </a:r>
          </a:p>
        </p:txBody>
      </p:sp>
      <p:sp>
        <p:nvSpPr>
          <p:cNvPr id="9" name="Content Placeholder 2">
            <a:extLst>
              <a:ext uri="{FF2B5EF4-FFF2-40B4-BE49-F238E27FC236}">
                <a16:creationId xmlns:a16="http://schemas.microsoft.com/office/drawing/2014/main" id="{104ECF77-1299-CFF6-6157-22FB7E46AB62}"/>
              </a:ext>
            </a:extLst>
          </p:cNvPr>
          <p:cNvSpPr txBox="1">
            <a:spLocks/>
          </p:cNvSpPr>
          <p:nvPr/>
        </p:nvSpPr>
        <p:spPr>
          <a:xfrm>
            <a:off x="317078" y="844267"/>
            <a:ext cx="7886700" cy="299244"/>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Understanding whether evidence can be produced and evaluated during the pilot</a:t>
            </a:r>
          </a:p>
        </p:txBody>
      </p:sp>
      <p:graphicFrame>
        <p:nvGraphicFramePr>
          <p:cNvPr id="13" name="Table 12">
            <a:extLst>
              <a:ext uri="{FF2B5EF4-FFF2-40B4-BE49-F238E27FC236}">
                <a16:creationId xmlns:a16="http://schemas.microsoft.com/office/drawing/2014/main" id="{C1C3C6ED-6BC1-44E4-45FD-F97E40CBF219}"/>
              </a:ext>
            </a:extLst>
          </p:cNvPr>
          <p:cNvGraphicFramePr>
            <a:graphicFrameLocks noGrp="1"/>
          </p:cNvGraphicFramePr>
          <p:nvPr/>
        </p:nvGraphicFramePr>
        <p:xfrm>
          <a:off x="371508" y="2607338"/>
          <a:ext cx="8218714" cy="2377440"/>
        </p:xfrm>
        <a:graphic>
          <a:graphicData uri="http://schemas.openxmlformats.org/drawingml/2006/table">
            <a:tbl>
              <a:tblPr firstRow="1" bandRow="1">
                <a:tableStyleId>{2D5ABB26-0587-4C30-8999-92F81FD0307C}</a:tableStyleId>
              </a:tblPr>
              <a:tblGrid>
                <a:gridCol w="3287487">
                  <a:extLst>
                    <a:ext uri="{9D8B030D-6E8A-4147-A177-3AD203B41FA5}">
                      <a16:colId xmlns:a16="http://schemas.microsoft.com/office/drawing/2014/main" val="2470210094"/>
                    </a:ext>
                  </a:extLst>
                </a:gridCol>
                <a:gridCol w="4931227">
                  <a:extLst>
                    <a:ext uri="{9D8B030D-6E8A-4147-A177-3AD203B41FA5}">
                      <a16:colId xmlns:a16="http://schemas.microsoft.com/office/drawing/2014/main" val="72878264"/>
                    </a:ext>
                  </a:extLst>
                </a:gridCol>
              </a:tblGrid>
              <a:tr h="257610">
                <a:tc>
                  <a:txBody>
                    <a:bodyPr/>
                    <a:lstStyle/>
                    <a:p>
                      <a:r>
                        <a:rPr lang="en-US" sz="1400" b="1" dirty="0">
                          <a:solidFill>
                            <a:srgbClr val="021836"/>
                          </a:solidFill>
                        </a:rPr>
                        <a:t>Evidence Readiness Elements</a:t>
                      </a:r>
                    </a:p>
                  </a:txBody>
                  <a:tcPr>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rgbClr val="0396A6"/>
                      </a:solidFill>
                      <a:prstDash val="solid"/>
                      <a:round/>
                      <a:headEnd type="none" w="med" len="med"/>
                      <a:tailEnd type="none" w="med" len="med"/>
                    </a:lnB>
                  </a:tcPr>
                </a:tc>
                <a:tc>
                  <a:txBody>
                    <a:bodyPr/>
                    <a:lstStyle/>
                    <a:p>
                      <a:r>
                        <a:rPr lang="en-US" sz="1400" b="1" dirty="0">
                          <a:solidFill>
                            <a:srgbClr val="021836"/>
                          </a:solidFill>
                        </a:rPr>
                        <a:t>Proposed Design</a:t>
                      </a:r>
                    </a:p>
                  </a:txBody>
                  <a:tcPr>
                    <a:lnL w="12700" cap="flat" cmpd="sng" algn="ctr">
                      <a:solidFill>
                        <a:schemeClr val="bg1">
                          <a:lumMod val="75000"/>
                        </a:schemeClr>
                      </a:solidFill>
                      <a:prstDash val="solid"/>
                      <a:round/>
                      <a:headEnd type="none" w="med" len="med"/>
                      <a:tailEnd type="none" w="med" len="med"/>
                    </a:lnL>
                    <a:lnT w="12700" cap="flat" cmpd="sng" algn="ctr">
                      <a:solidFill>
                        <a:srgbClr val="0396A6"/>
                      </a:solidFill>
                      <a:prstDash val="solid"/>
                      <a:round/>
                      <a:headEnd type="none" w="med" len="med"/>
                      <a:tailEnd type="none" w="med" len="med"/>
                    </a:lnT>
                    <a:lnB w="12700" cap="flat" cmpd="sng" algn="ctr">
                      <a:solidFill>
                        <a:srgbClr val="0396A6"/>
                      </a:solidFill>
                      <a:prstDash val="solid"/>
                      <a:round/>
                      <a:headEnd type="none" w="med" len="med"/>
                      <a:tailEnd type="none" w="med" len="med"/>
                    </a:lnB>
                  </a:tcPr>
                </a:tc>
                <a:extLst>
                  <a:ext uri="{0D108BD9-81ED-4DB2-BD59-A6C34878D82A}">
                    <a16:rowId xmlns:a16="http://schemas.microsoft.com/office/drawing/2014/main" val="2061593276"/>
                  </a:ext>
                </a:extLst>
              </a:tr>
              <a:tr h="247820">
                <a:tc>
                  <a:txBody>
                    <a:bodyPr/>
                    <a:lstStyle/>
                    <a:p>
                      <a:pPr>
                        <a:buClr>
                          <a:schemeClr val="bg1">
                            <a:lumMod val="50000"/>
                          </a:schemeClr>
                        </a:buClr>
                      </a:pPr>
                      <a:r>
                        <a:rPr lang="en-US" sz="1100" dirty="0"/>
                        <a:t>Baseline</a:t>
                      </a:r>
                    </a:p>
                  </a:txBody>
                  <a:tcPr marB="0">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400" dirty="0"/>
                    </a:p>
                  </a:txBody>
                  <a:tcPr marB="0">
                    <a:lnL w="12700" cap="flat" cmpd="sng" algn="ctr">
                      <a:solidFill>
                        <a:schemeClr val="bg1">
                          <a:lumMod val="75000"/>
                        </a:schemeClr>
                      </a:solidFill>
                      <a:prstDash val="solid"/>
                      <a:round/>
                      <a:headEnd type="none" w="med" len="med"/>
                      <a:tailEnd type="none" w="med" len="med"/>
                    </a:lnL>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493753442"/>
                  </a:ext>
                </a:extLst>
              </a:tr>
              <a:tr h="247820">
                <a:tc>
                  <a:txBody>
                    <a:bodyPr/>
                    <a:lstStyle/>
                    <a:p>
                      <a:pPr>
                        <a:buClr>
                          <a:schemeClr val="bg1">
                            <a:lumMod val="50000"/>
                          </a:schemeClr>
                        </a:buClr>
                      </a:pPr>
                      <a:r>
                        <a:rPr lang="en-US" sz="1100" dirty="0"/>
                        <a:t>Value Metric</a:t>
                      </a:r>
                    </a:p>
                  </a:txBody>
                  <a:tcPr marB="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400" dirty="0"/>
                    </a:p>
                  </a:txBody>
                  <a:tcPr marB="0">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23325965"/>
                  </a:ext>
                </a:extLst>
              </a:tr>
              <a:tr h="247820">
                <a:tc>
                  <a:txBody>
                    <a:bodyPr/>
                    <a:lstStyle/>
                    <a:p>
                      <a:pPr>
                        <a:buClr>
                          <a:schemeClr val="bg1">
                            <a:lumMod val="50000"/>
                          </a:schemeClr>
                        </a:buClr>
                      </a:pPr>
                      <a:r>
                        <a:rPr lang="en-US" sz="1100" dirty="0"/>
                        <a:t>Quality Metric</a:t>
                      </a:r>
                    </a:p>
                  </a:txBody>
                  <a:tcPr marB="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400" dirty="0"/>
                    </a:p>
                  </a:txBody>
                  <a:tcPr marB="0">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845834834"/>
                  </a:ext>
                </a:extLst>
              </a:tr>
              <a:tr h="247820">
                <a:tc>
                  <a:txBody>
                    <a:bodyPr/>
                    <a:lstStyle/>
                    <a:p>
                      <a:pPr>
                        <a:buClr>
                          <a:schemeClr val="bg1">
                            <a:lumMod val="50000"/>
                          </a:schemeClr>
                        </a:buClr>
                      </a:pPr>
                      <a:r>
                        <a:rPr lang="en-US" sz="1100" dirty="0"/>
                        <a:t>Risk Metric</a:t>
                      </a:r>
                    </a:p>
                  </a:txBody>
                  <a:tcPr marB="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400" dirty="0"/>
                    </a:p>
                  </a:txBody>
                  <a:tcPr marB="0">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012176639"/>
                  </a:ext>
                </a:extLst>
              </a:tr>
              <a:tr h="247820">
                <a:tc>
                  <a:txBody>
                    <a:bodyPr/>
                    <a:lstStyle/>
                    <a:p>
                      <a:pPr>
                        <a:buClr>
                          <a:schemeClr val="bg1">
                            <a:lumMod val="50000"/>
                          </a:schemeClr>
                        </a:buClr>
                      </a:pPr>
                      <a:r>
                        <a:rPr lang="en-US" sz="1100" dirty="0"/>
                        <a:t>Scale Criteria</a:t>
                      </a:r>
                    </a:p>
                  </a:txBody>
                  <a:tcPr marB="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400" dirty="0"/>
                    </a:p>
                  </a:txBody>
                  <a:tcPr marB="0">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645799316"/>
                  </a:ext>
                </a:extLst>
              </a:tr>
              <a:tr h="247820">
                <a:tc>
                  <a:txBody>
                    <a:bodyPr/>
                    <a:lstStyle/>
                    <a:p>
                      <a:pPr>
                        <a:buClr>
                          <a:schemeClr val="bg1">
                            <a:lumMod val="50000"/>
                          </a:schemeClr>
                        </a:buClr>
                      </a:pPr>
                      <a:r>
                        <a:rPr lang="en-US" sz="1100" dirty="0"/>
                        <a:t>Adoption/Review Burden</a:t>
                      </a:r>
                    </a:p>
                  </a:txBody>
                  <a:tcPr marB="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400" dirty="0"/>
                    </a:p>
                  </a:txBody>
                  <a:tcPr marB="0">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937083359"/>
                  </a:ext>
                </a:extLst>
              </a:tr>
              <a:tr h="247820">
                <a:tc>
                  <a:txBody>
                    <a:bodyPr/>
                    <a:lstStyle/>
                    <a:p>
                      <a:pPr>
                        <a:buClr>
                          <a:schemeClr val="bg1">
                            <a:lumMod val="50000"/>
                          </a:schemeClr>
                        </a:buClr>
                      </a:pPr>
                      <a:r>
                        <a:rPr lang="en-US" sz="1100" dirty="0"/>
                        <a:t>Governance/Decision Evidence</a:t>
                      </a:r>
                    </a:p>
                  </a:txBody>
                  <a:tcPr marB="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400" dirty="0"/>
                    </a:p>
                  </a:txBody>
                  <a:tcPr marB="0">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296688692"/>
                  </a:ext>
                </a:extLst>
              </a:tr>
              <a:tr h="247820">
                <a:tc>
                  <a:txBody>
                    <a:bodyPr/>
                    <a:lstStyle/>
                    <a:p>
                      <a:pPr>
                        <a:buClr>
                          <a:schemeClr val="bg1">
                            <a:lumMod val="50000"/>
                          </a:schemeClr>
                        </a:buClr>
                      </a:pPr>
                      <a:r>
                        <a:rPr lang="en-US" sz="1100" dirty="0"/>
                        <a:t>Evidence Owner/Capture Method</a:t>
                      </a:r>
                    </a:p>
                  </a:txBody>
                  <a:tcPr marB="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400" dirty="0"/>
                    </a:p>
                  </a:txBody>
                  <a:tcPr marB="0">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248794340"/>
                  </a:ext>
                </a:extLst>
              </a:tr>
            </a:tbl>
          </a:graphicData>
        </a:graphic>
      </p:graphicFrame>
      <p:cxnSp>
        <p:nvCxnSpPr>
          <p:cNvPr id="14" name="Straight Connector 13">
            <a:extLst>
              <a:ext uri="{FF2B5EF4-FFF2-40B4-BE49-F238E27FC236}">
                <a16:creationId xmlns:a16="http://schemas.microsoft.com/office/drawing/2014/main" id="{449E1938-1737-3564-5EEB-EBD950095A32}"/>
              </a:ext>
            </a:extLst>
          </p:cNvPr>
          <p:cNvCxnSpPr>
            <a:cxnSpLocks/>
          </p:cNvCxnSpPr>
          <p:nvPr/>
        </p:nvCxnSpPr>
        <p:spPr>
          <a:xfrm>
            <a:off x="171450" y="5185931"/>
            <a:ext cx="8801100" cy="0"/>
          </a:xfrm>
          <a:prstGeom prst="line">
            <a:avLst/>
          </a:prstGeom>
          <a:ln w="9525">
            <a:solidFill>
              <a:srgbClr val="0396A6"/>
            </a:solidFill>
          </a:ln>
        </p:spPr>
        <p:style>
          <a:lnRef idx="2">
            <a:schemeClr val="accent1"/>
          </a:lnRef>
          <a:fillRef idx="0">
            <a:schemeClr val="accent1"/>
          </a:fillRef>
          <a:effectRef idx="1">
            <a:schemeClr val="accent1"/>
          </a:effectRef>
          <a:fontRef idx="minor">
            <a:schemeClr val="tx1"/>
          </a:fontRef>
        </p:style>
      </p:cxnSp>
      <p:grpSp>
        <p:nvGrpSpPr>
          <p:cNvPr id="15" name="Group 14">
            <a:extLst>
              <a:ext uri="{FF2B5EF4-FFF2-40B4-BE49-F238E27FC236}">
                <a16:creationId xmlns:a16="http://schemas.microsoft.com/office/drawing/2014/main" id="{ABA89E5D-5C8B-F718-5D93-35F644D20348}"/>
              </a:ext>
            </a:extLst>
          </p:cNvPr>
          <p:cNvGrpSpPr/>
          <p:nvPr/>
        </p:nvGrpSpPr>
        <p:grpSpPr>
          <a:xfrm>
            <a:off x="333374" y="5285959"/>
            <a:ext cx="7913948" cy="820961"/>
            <a:chOff x="628650" y="4778376"/>
            <a:chExt cx="7913948" cy="820961"/>
          </a:xfrm>
        </p:grpSpPr>
        <p:sp>
          <p:nvSpPr>
            <p:cNvPr id="16" name="Content Placeholder 2">
              <a:extLst>
                <a:ext uri="{FF2B5EF4-FFF2-40B4-BE49-F238E27FC236}">
                  <a16:creationId xmlns:a16="http://schemas.microsoft.com/office/drawing/2014/main" id="{2A99AF3D-E4B0-38BD-FD92-4B91D94E6293}"/>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Evidence Readiness Signals</a:t>
              </a:r>
            </a:p>
          </p:txBody>
        </p:sp>
        <p:sp>
          <p:nvSpPr>
            <p:cNvPr id="17" name="Content Placeholder 2">
              <a:extLst>
                <a:ext uri="{FF2B5EF4-FFF2-40B4-BE49-F238E27FC236}">
                  <a16:creationId xmlns:a16="http://schemas.microsoft.com/office/drawing/2014/main" id="{23766EA0-3511-160E-C454-E770416BBFBE}"/>
                </a:ext>
              </a:extLst>
            </p:cNvPr>
            <p:cNvSpPr txBox="1">
              <a:spLocks/>
            </p:cNvSpPr>
            <p:nvPr/>
          </p:nvSpPr>
          <p:spPr>
            <a:xfrm>
              <a:off x="628650" y="5032600"/>
              <a:ext cx="7913948" cy="566737"/>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Clr>
                  <a:srgbClr val="021836"/>
                </a:buClr>
                <a:buNone/>
                <a:defRPr/>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Missing baseline • Anecdotal success • Unclear quality threshold • No risk tracking </a:t>
              </a:r>
              <a:r>
                <a:rPr lang="en-US" sz="1200" i="1" dirty="0">
                  <a:solidFill>
                    <a:prstClr val="white">
                      <a:lumMod val="50000"/>
                    </a:prstClr>
                  </a:solidFill>
                </a:rPr>
                <a:t>• No adoption measure • </a:t>
              </a:r>
              <a:br>
                <a:rPr lang="en-US" sz="1200" i="1" dirty="0">
                  <a:solidFill>
                    <a:prstClr val="white">
                      <a:lumMod val="50000"/>
                    </a:prstClr>
                  </a:solidFill>
                </a:rPr>
              </a:br>
              <a:r>
                <a:rPr lang="en-US" sz="1200" i="1" dirty="0">
                  <a:solidFill>
                    <a:prstClr val="white">
                      <a:lumMod val="50000"/>
                    </a:prstClr>
                  </a:solidFill>
                </a:rPr>
                <a:t>No scale criteria</a:t>
              </a:r>
              <a:endPar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endParaRPr>
            </a:p>
          </p:txBody>
        </p:sp>
      </p:grpSp>
      <p:grpSp>
        <p:nvGrpSpPr>
          <p:cNvPr id="18" name="Group 17">
            <a:extLst>
              <a:ext uri="{FF2B5EF4-FFF2-40B4-BE49-F238E27FC236}">
                <a16:creationId xmlns:a16="http://schemas.microsoft.com/office/drawing/2014/main" id="{32B761AE-23B9-752B-1D04-928587AF77B6}"/>
              </a:ext>
            </a:extLst>
          </p:cNvPr>
          <p:cNvGrpSpPr/>
          <p:nvPr/>
        </p:nvGrpSpPr>
        <p:grpSpPr>
          <a:xfrm>
            <a:off x="317078" y="6063375"/>
            <a:ext cx="7886700" cy="595537"/>
            <a:chOff x="628650" y="4778376"/>
            <a:chExt cx="7886700" cy="595537"/>
          </a:xfrm>
        </p:grpSpPr>
        <p:sp>
          <p:nvSpPr>
            <p:cNvPr id="19" name="Content Placeholder 2">
              <a:extLst>
                <a:ext uri="{FF2B5EF4-FFF2-40B4-BE49-F238E27FC236}">
                  <a16:creationId xmlns:a16="http://schemas.microsoft.com/office/drawing/2014/main" id="{021EC05A-D62A-546D-1AE1-2C15A51A7256}"/>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Guiding Principle</a:t>
              </a:r>
            </a:p>
          </p:txBody>
        </p:sp>
        <p:sp>
          <p:nvSpPr>
            <p:cNvPr id="20" name="Content Placeholder 2">
              <a:extLst>
                <a:ext uri="{FF2B5EF4-FFF2-40B4-BE49-F238E27FC236}">
                  <a16:creationId xmlns:a16="http://schemas.microsoft.com/office/drawing/2014/main" id="{B89A9417-4DDD-EE94-BFB7-C63FBD09381E}"/>
                </a:ext>
              </a:extLst>
            </p:cNvPr>
            <p:cNvSpPr txBox="1">
              <a:spLocks/>
            </p:cNvSpPr>
            <p:nvPr/>
          </p:nvSpPr>
          <p:spPr>
            <a:xfrm>
              <a:off x="628650" y="5032601"/>
              <a:ext cx="7886700" cy="341312"/>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kumimoji="0" lang="en-US" sz="1200" b="0" i="0" u="none" strike="noStrike" kern="1200" cap="none" spc="0" normalizeH="0" baseline="0" noProof="0" dirty="0">
                  <a:ln>
                    <a:noFill/>
                  </a:ln>
                  <a:solidFill>
                    <a:srgbClr val="021836"/>
                  </a:solidFill>
                  <a:effectLst/>
                  <a:uLnTx/>
                  <a:uFillTx/>
                  <a:latin typeface="Aptos" panose="02110004020202020204"/>
                  <a:ea typeface="+mn-ea"/>
                  <a:cs typeface="+mn-cs"/>
                </a:rPr>
                <a:t>Evidence should be defined before the pilot produces results.</a:t>
              </a:r>
              <a:endPar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endParaRPr>
            </a:p>
          </p:txBody>
        </p:sp>
      </p:grpSp>
      <p:grpSp>
        <p:nvGrpSpPr>
          <p:cNvPr id="7" name="Group 6">
            <a:extLst>
              <a:ext uri="{FF2B5EF4-FFF2-40B4-BE49-F238E27FC236}">
                <a16:creationId xmlns:a16="http://schemas.microsoft.com/office/drawing/2014/main" id="{78992A73-94BD-C011-0003-81F3D2A5B2A5}"/>
              </a:ext>
            </a:extLst>
          </p:cNvPr>
          <p:cNvGrpSpPr/>
          <p:nvPr/>
        </p:nvGrpSpPr>
        <p:grpSpPr>
          <a:xfrm>
            <a:off x="360622" y="1119701"/>
            <a:ext cx="8229600" cy="1340280"/>
            <a:chOff x="360622" y="1402734"/>
            <a:chExt cx="8229600" cy="1340280"/>
          </a:xfrm>
        </p:grpSpPr>
        <p:sp>
          <p:nvSpPr>
            <p:cNvPr id="3" name="Content Placeholder 2">
              <a:extLst>
                <a:ext uri="{FF2B5EF4-FFF2-40B4-BE49-F238E27FC236}">
                  <a16:creationId xmlns:a16="http://schemas.microsoft.com/office/drawing/2014/main" id="{1A66EF43-DA84-34C0-38D0-2E092899DDD5}"/>
                </a:ext>
              </a:extLst>
            </p:cNvPr>
            <p:cNvSpPr txBox="1">
              <a:spLocks/>
            </p:cNvSpPr>
            <p:nvPr/>
          </p:nvSpPr>
          <p:spPr>
            <a:xfrm>
              <a:off x="360622" y="1573901"/>
              <a:ext cx="8229600" cy="1169113"/>
            </a:xfrm>
            <a:prstGeom prst="rect">
              <a:avLst/>
            </a:prstGeom>
          </p:spPr>
          <p:txBody>
            <a:bodyPr vert="horz" lIns="91440" tIns="45720" rIns="91440" bIns="45720" numCol="2"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rPr>
                <a:t>What baseline exists?</a:t>
              </a:r>
            </a:p>
            <a:p>
              <a:pPr marL="228600" marR="0" lvl="0" indent="-22860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lang="en-US" sz="1200" dirty="0">
                  <a:solidFill>
                    <a:prstClr val="black"/>
                  </a:solidFill>
                  <a:latin typeface="Aptos" panose="02110004020202020204"/>
                </a:rPr>
                <a:t>What evidence will show value?</a:t>
              </a:r>
            </a:p>
            <a:p>
              <a:pPr marL="228600" marR="0" lvl="0" indent="-22860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rPr>
                <a:t>What evidence will show quality?</a:t>
              </a:r>
            </a:p>
            <a:p>
              <a:pPr marL="228600" marR="0" lvl="0" indent="-22860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lang="en-US" sz="1200" dirty="0">
                  <a:solidFill>
                    <a:prstClr val="black"/>
                  </a:solidFill>
                  <a:latin typeface="Aptos" panose="02110004020202020204"/>
                </a:rPr>
                <a:t>What evidence will show risk?</a:t>
              </a:r>
            </a:p>
            <a:p>
              <a:pPr marL="228600" marR="0" lvl="0" indent="-22860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rPr>
                <a:t>What evidence will support the scale decision?</a:t>
              </a:r>
            </a:p>
            <a:p>
              <a:pPr marL="228600" marR="0" lvl="0" indent="-22860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lang="en-US" sz="1200" dirty="0">
                  <a:solidFill>
                    <a:prstClr val="black"/>
                  </a:solidFill>
                  <a:latin typeface="Aptos" panose="02110004020202020204"/>
                </a:rPr>
                <a:t>What evidence will show adoption and human review burden?</a:t>
              </a:r>
            </a:p>
            <a:p>
              <a:pPr marL="228600" marR="0" lvl="0" indent="-22860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rPr>
                <a:t>What governance or decision evidence must be retained?</a:t>
              </a:r>
            </a:p>
            <a:p>
              <a:pPr marL="228600" marR="0" lvl="0" indent="-22860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lang="en-US" sz="1200" dirty="0">
                  <a:solidFill>
                    <a:prstClr val="black"/>
                  </a:solidFill>
                  <a:latin typeface="Aptos" panose="02110004020202020204"/>
                </a:rPr>
                <a:t>How will required evidence be captured during the pilot?</a:t>
              </a:r>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6" name="Content Placeholder 2">
              <a:extLst>
                <a:ext uri="{FF2B5EF4-FFF2-40B4-BE49-F238E27FC236}">
                  <a16:creationId xmlns:a16="http://schemas.microsoft.com/office/drawing/2014/main" id="{76BF02C1-CD42-1F07-A62D-45F99F2CF0B8}"/>
                </a:ext>
              </a:extLst>
            </p:cNvPr>
            <p:cNvSpPr txBox="1">
              <a:spLocks/>
            </p:cNvSpPr>
            <p:nvPr/>
          </p:nvSpPr>
          <p:spPr>
            <a:xfrm>
              <a:off x="360622" y="1402734"/>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Questions</a:t>
              </a:r>
            </a:p>
          </p:txBody>
        </p:sp>
      </p:grpSp>
      <p:sp>
        <p:nvSpPr>
          <p:cNvPr id="5" name="TextBox 4">
            <a:extLst>
              <a:ext uri="{FF2B5EF4-FFF2-40B4-BE49-F238E27FC236}">
                <a16:creationId xmlns:a16="http://schemas.microsoft.com/office/drawing/2014/main" id="{46EBFA0D-F9EE-93F7-9AB2-87E9CADC99FD}"/>
              </a:ext>
            </a:extLst>
          </p:cNvPr>
          <p:cNvSpPr txBox="1"/>
          <p:nvPr/>
        </p:nvSpPr>
        <p:spPr>
          <a:xfrm>
            <a:off x="4408714" y="64309"/>
            <a:ext cx="4628748" cy="276999"/>
          </a:xfrm>
          <a:prstGeom prst="rect">
            <a:avLst/>
          </a:prstGeom>
          <a:noFill/>
        </p:spPr>
        <p:txBody>
          <a:bodyPr wrap="square" rtlCol="0">
            <a:spAutoFit/>
          </a:bodyPr>
          <a:lstStyle/>
          <a:p>
            <a:pPr algn="r"/>
            <a:r>
              <a:rPr lang="en-US" sz="1200" dirty="0">
                <a:solidFill>
                  <a:schemeClr val="bg1">
                    <a:lumMod val="50000"/>
                  </a:schemeClr>
                </a:solidFill>
              </a:rPr>
              <a:t>AI Operational Readiness • Pilot Readiness Framework</a:t>
            </a:r>
          </a:p>
        </p:txBody>
      </p:sp>
    </p:spTree>
    <p:extLst>
      <p:ext uri="{BB962C8B-B14F-4D97-AF65-F5344CB8AC3E}">
        <p14:creationId xmlns:p14="http://schemas.microsoft.com/office/powerpoint/2010/main" val="399007481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C505B0-AC46-4CDE-48A8-14FA3A2ABF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7ADB01-3B95-6F8C-F74D-DA1C13202910}"/>
              </a:ext>
            </a:extLst>
          </p:cNvPr>
          <p:cNvSpPr>
            <a:spLocks noGrp="1"/>
          </p:cNvSpPr>
          <p:nvPr>
            <p:ph type="title"/>
          </p:nvPr>
        </p:nvSpPr>
        <p:spPr>
          <a:xfrm>
            <a:off x="273534" y="-86630"/>
            <a:ext cx="7886700" cy="1325563"/>
          </a:xfrm>
        </p:spPr>
        <p:txBody>
          <a:bodyPr>
            <a:normAutofit/>
          </a:bodyPr>
          <a:lstStyle/>
          <a:p>
            <a:r>
              <a:rPr lang="en-US" sz="4000" dirty="0"/>
              <a:t>Operational Support</a:t>
            </a:r>
          </a:p>
        </p:txBody>
      </p:sp>
      <p:sp>
        <p:nvSpPr>
          <p:cNvPr id="9" name="Content Placeholder 2">
            <a:extLst>
              <a:ext uri="{FF2B5EF4-FFF2-40B4-BE49-F238E27FC236}">
                <a16:creationId xmlns:a16="http://schemas.microsoft.com/office/drawing/2014/main" id="{73786CEE-B39C-7502-1531-C16F3EEF2371}"/>
              </a:ext>
            </a:extLst>
          </p:cNvPr>
          <p:cNvSpPr txBox="1">
            <a:spLocks/>
          </p:cNvSpPr>
          <p:nvPr/>
        </p:nvSpPr>
        <p:spPr>
          <a:xfrm>
            <a:off x="317078" y="844267"/>
            <a:ext cx="7886700" cy="299244"/>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Understanding whether people and support paths are ready</a:t>
            </a:r>
          </a:p>
        </p:txBody>
      </p:sp>
      <p:graphicFrame>
        <p:nvGraphicFramePr>
          <p:cNvPr id="13" name="Table 12">
            <a:extLst>
              <a:ext uri="{FF2B5EF4-FFF2-40B4-BE49-F238E27FC236}">
                <a16:creationId xmlns:a16="http://schemas.microsoft.com/office/drawing/2014/main" id="{21E76BF7-D47A-0807-FB23-3BEFC5C3AB8F}"/>
              </a:ext>
            </a:extLst>
          </p:cNvPr>
          <p:cNvGraphicFramePr>
            <a:graphicFrameLocks noGrp="1"/>
          </p:cNvGraphicFramePr>
          <p:nvPr/>
        </p:nvGraphicFramePr>
        <p:xfrm>
          <a:off x="371508" y="3149235"/>
          <a:ext cx="8218714" cy="2042160"/>
        </p:xfrm>
        <a:graphic>
          <a:graphicData uri="http://schemas.openxmlformats.org/drawingml/2006/table">
            <a:tbl>
              <a:tblPr firstRow="1" bandRow="1">
                <a:tableStyleId>{2D5ABB26-0587-4C30-8999-92F81FD0307C}</a:tableStyleId>
              </a:tblPr>
              <a:tblGrid>
                <a:gridCol w="3287487">
                  <a:extLst>
                    <a:ext uri="{9D8B030D-6E8A-4147-A177-3AD203B41FA5}">
                      <a16:colId xmlns:a16="http://schemas.microsoft.com/office/drawing/2014/main" val="2470210094"/>
                    </a:ext>
                  </a:extLst>
                </a:gridCol>
                <a:gridCol w="4931227">
                  <a:extLst>
                    <a:ext uri="{9D8B030D-6E8A-4147-A177-3AD203B41FA5}">
                      <a16:colId xmlns:a16="http://schemas.microsoft.com/office/drawing/2014/main" val="72878264"/>
                    </a:ext>
                  </a:extLst>
                </a:gridCol>
              </a:tblGrid>
              <a:tr h="209427">
                <a:tc>
                  <a:txBody>
                    <a:bodyPr/>
                    <a:lstStyle/>
                    <a:p>
                      <a:r>
                        <a:rPr lang="en-US" sz="1400" b="1" dirty="0">
                          <a:solidFill>
                            <a:srgbClr val="021836"/>
                          </a:solidFill>
                        </a:rPr>
                        <a:t>Operational Support Elements</a:t>
                      </a:r>
                    </a:p>
                  </a:txBody>
                  <a:tcPr>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rgbClr val="0396A6"/>
                      </a:solidFill>
                      <a:prstDash val="solid"/>
                      <a:round/>
                      <a:headEnd type="none" w="med" len="med"/>
                      <a:tailEnd type="none" w="med" len="med"/>
                    </a:lnB>
                  </a:tcPr>
                </a:tc>
                <a:tc>
                  <a:txBody>
                    <a:bodyPr/>
                    <a:lstStyle/>
                    <a:p>
                      <a:r>
                        <a:rPr lang="en-US" sz="1400" b="1" dirty="0">
                          <a:solidFill>
                            <a:srgbClr val="021836"/>
                          </a:solidFill>
                        </a:rPr>
                        <a:t>Proposed Design</a:t>
                      </a:r>
                    </a:p>
                  </a:txBody>
                  <a:tcPr>
                    <a:lnL w="12700" cap="flat" cmpd="sng" algn="ctr">
                      <a:solidFill>
                        <a:schemeClr val="bg1">
                          <a:lumMod val="75000"/>
                        </a:schemeClr>
                      </a:solidFill>
                      <a:prstDash val="solid"/>
                      <a:round/>
                      <a:headEnd type="none" w="med" len="med"/>
                      <a:tailEnd type="none" w="med" len="med"/>
                    </a:lnL>
                    <a:lnT w="12700" cap="flat" cmpd="sng" algn="ctr">
                      <a:solidFill>
                        <a:srgbClr val="0396A6"/>
                      </a:solidFill>
                      <a:prstDash val="solid"/>
                      <a:round/>
                      <a:headEnd type="none" w="med" len="med"/>
                      <a:tailEnd type="none" w="med" len="med"/>
                    </a:lnT>
                    <a:lnB w="12700" cap="flat" cmpd="sng" algn="ctr">
                      <a:solidFill>
                        <a:srgbClr val="0396A6"/>
                      </a:solidFill>
                      <a:prstDash val="solid"/>
                      <a:round/>
                      <a:headEnd type="none" w="med" len="med"/>
                      <a:tailEnd type="none" w="med" len="med"/>
                    </a:lnB>
                  </a:tcPr>
                </a:tc>
                <a:extLst>
                  <a:ext uri="{0D108BD9-81ED-4DB2-BD59-A6C34878D82A}">
                    <a16:rowId xmlns:a16="http://schemas.microsoft.com/office/drawing/2014/main" val="2061593276"/>
                  </a:ext>
                </a:extLst>
              </a:tr>
              <a:tr h="214030">
                <a:tc>
                  <a:txBody>
                    <a:bodyPr/>
                    <a:lstStyle/>
                    <a:p>
                      <a:pPr>
                        <a:buClr>
                          <a:schemeClr val="bg1">
                            <a:lumMod val="50000"/>
                          </a:schemeClr>
                        </a:buClr>
                      </a:pPr>
                      <a:r>
                        <a:rPr lang="en-US" sz="1200" dirty="0"/>
                        <a:t>Support Owner</a:t>
                      </a:r>
                    </a:p>
                  </a:txBody>
                  <a:tcPr marB="0">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600" dirty="0"/>
                    </a:p>
                  </a:txBody>
                  <a:tcPr marB="0">
                    <a:lnL w="12700" cap="flat" cmpd="sng" algn="ctr">
                      <a:solidFill>
                        <a:schemeClr val="bg1">
                          <a:lumMod val="75000"/>
                        </a:schemeClr>
                      </a:solidFill>
                      <a:prstDash val="solid"/>
                      <a:round/>
                      <a:headEnd type="none" w="med" len="med"/>
                      <a:tailEnd type="none" w="med" len="med"/>
                    </a:lnL>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493753442"/>
                  </a:ext>
                </a:extLst>
              </a:tr>
              <a:tr h="214030">
                <a:tc>
                  <a:txBody>
                    <a:bodyPr/>
                    <a:lstStyle/>
                    <a:p>
                      <a:pPr>
                        <a:buClr>
                          <a:schemeClr val="bg1">
                            <a:lumMod val="50000"/>
                          </a:schemeClr>
                        </a:buClr>
                      </a:pPr>
                      <a:r>
                        <a:rPr lang="en-US" sz="1200" dirty="0"/>
                        <a:t>User Guidance</a:t>
                      </a:r>
                    </a:p>
                  </a:txBody>
                  <a:tcPr marB="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600" dirty="0"/>
                    </a:p>
                  </a:txBody>
                  <a:tcPr marB="0">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23325965"/>
                  </a:ext>
                </a:extLst>
              </a:tr>
              <a:tr h="214030">
                <a:tc>
                  <a:txBody>
                    <a:bodyPr/>
                    <a:lstStyle/>
                    <a:p>
                      <a:pPr>
                        <a:buClr>
                          <a:schemeClr val="bg1">
                            <a:lumMod val="50000"/>
                          </a:schemeClr>
                        </a:buClr>
                      </a:pPr>
                      <a:r>
                        <a:rPr lang="en-US" sz="1200" dirty="0"/>
                        <a:t>Issue Reporting Path</a:t>
                      </a:r>
                    </a:p>
                  </a:txBody>
                  <a:tcPr marB="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600" dirty="0"/>
                    </a:p>
                  </a:txBody>
                  <a:tcPr marB="0">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845834834"/>
                  </a:ext>
                </a:extLst>
              </a:tr>
              <a:tr h="214030">
                <a:tc>
                  <a:txBody>
                    <a:bodyPr/>
                    <a:lstStyle/>
                    <a:p>
                      <a:pPr>
                        <a:buClr>
                          <a:schemeClr val="bg1">
                            <a:lumMod val="50000"/>
                          </a:schemeClr>
                        </a:buClr>
                      </a:pPr>
                      <a:r>
                        <a:rPr lang="en-US" sz="1200" dirty="0"/>
                        <a:t>Fallback / Continuity Plan</a:t>
                      </a:r>
                    </a:p>
                  </a:txBody>
                  <a:tcPr marB="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600" dirty="0"/>
                    </a:p>
                  </a:txBody>
                  <a:tcPr marB="0">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012176639"/>
                  </a:ext>
                </a:extLst>
              </a:tr>
              <a:tr h="214030">
                <a:tc>
                  <a:txBody>
                    <a:bodyPr/>
                    <a:lstStyle/>
                    <a:p>
                      <a:pPr>
                        <a:buClr>
                          <a:schemeClr val="bg1">
                            <a:lumMod val="50000"/>
                          </a:schemeClr>
                        </a:buClr>
                      </a:pPr>
                      <a:r>
                        <a:rPr lang="en-US" sz="1200" dirty="0"/>
                        <a:t>Lessons Capture</a:t>
                      </a:r>
                    </a:p>
                  </a:txBody>
                  <a:tcPr marB="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600" dirty="0"/>
                    </a:p>
                  </a:txBody>
                  <a:tcPr marB="0">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645799316"/>
                  </a:ext>
                </a:extLst>
              </a:tr>
              <a:tr h="214030">
                <a:tc>
                  <a:txBody>
                    <a:bodyPr/>
                    <a:lstStyle/>
                    <a:p>
                      <a:pPr>
                        <a:buClr>
                          <a:schemeClr val="bg1">
                            <a:lumMod val="50000"/>
                          </a:schemeClr>
                        </a:buClr>
                      </a:pPr>
                      <a:r>
                        <a:rPr lang="en-US" sz="1200" dirty="0"/>
                        <a:t>Fallback/Recovery Test</a:t>
                      </a:r>
                    </a:p>
                  </a:txBody>
                  <a:tcPr marB="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600" dirty="0"/>
                    </a:p>
                  </a:txBody>
                  <a:tcPr marB="0">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50057555"/>
                  </a:ext>
                </a:extLst>
              </a:tr>
            </a:tbl>
          </a:graphicData>
        </a:graphic>
      </p:graphicFrame>
      <p:cxnSp>
        <p:nvCxnSpPr>
          <p:cNvPr id="14" name="Straight Connector 13">
            <a:extLst>
              <a:ext uri="{FF2B5EF4-FFF2-40B4-BE49-F238E27FC236}">
                <a16:creationId xmlns:a16="http://schemas.microsoft.com/office/drawing/2014/main" id="{7C257200-0E78-1388-487A-2B9CC5E5D729}"/>
              </a:ext>
            </a:extLst>
          </p:cNvPr>
          <p:cNvCxnSpPr>
            <a:cxnSpLocks/>
          </p:cNvCxnSpPr>
          <p:nvPr/>
        </p:nvCxnSpPr>
        <p:spPr>
          <a:xfrm>
            <a:off x="171450" y="5338331"/>
            <a:ext cx="8801100" cy="0"/>
          </a:xfrm>
          <a:prstGeom prst="line">
            <a:avLst/>
          </a:prstGeom>
          <a:ln w="9525">
            <a:solidFill>
              <a:srgbClr val="0396A6"/>
            </a:solidFill>
          </a:ln>
        </p:spPr>
        <p:style>
          <a:lnRef idx="2">
            <a:schemeClr val="accent1"/>
          </a:lnRef>
          <a:fillRef idx="0">
            <a:schemeClr val="accent1"/>
          </a:fillRef>
          <a:effectRef idx="1">
            <a:schemeClr val="accent1"/>
          </a:effectRef>
          <a:fontRef idx="minor">
            <a:schemeClr val="tx1"/>
          </a:fontRef>
        </p:style>
      </p:cxnSp>
      <p:grpSp>
        <p:nvGrpSpPr>
          <p:cNvPr id="15" name="Group 14">
            <a:extLst>
              <a:ext uri="{FF2B5EF4-FFF2-40B4-BE49-F238E27FC236}">
                <a16:creationId xmlns:a16="http://schemas.microsoft.com/office/drawing/2014/main" id="{CA192898-0BC5-9E41-7A78-17106618649D}"/>
              </a:ext>
            </a:extLst>
          </p:cNvPr>
          <p:cNvGrpSpPr/>
          <p:nvPr/>
        </p:nvGrpSpPr>
        <p:grpSpPr>
          <a:xfrm>
            <a:off x="333374" y="5422817"/>
            <a:ext cx="7913948" cy="820961"/>
            <a:chOff x="628650" y="4778376"/>
            <a:chExt cx="7913948" cy="820961"/>
          </a:xfrm>
        </p:grpSpPr>
        <p:sp>
          <p:nvSpPr>
            <p:cNvPr id="16" name="Content Placeholder 2">
              <a:extLst>
                <a:ext uri="{FF2B5EF4-FFF2-40B4-BE49-F238E27FC236}">
                  <a16:creationId xmlns:a16="http://schemas.microsoft.com/office/drawing/2014/main" id="{074371A9-BAB5-51A0-A37A-902DE4FBFAEC}"/>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Operational Support Signals</a:t>
              </a:r>
            </a:p>
          </p:txBody>
        </p:sp>
        <p:sp>
          <p:nvSpPr>
            <p:cNvPr id="17" name="Content Placeholder 2">
              <a:extLst>
                <a:ext uri="{FF2B5EF4-FFF2-40B4-BE49-F238E27FC236}">
                  <a16:creationId xmlns:a16="http://schemas.microsoft.com/office/drawing/2014/main" id="{3093F2FD-A60C-D51B-75EB-8BAC941E8376}"/>
                </a:ext>
              </a:extLst>
            </p:cNvPr>
            <p:cNvSpPr txBox="1">
              <a:spLocks/>
            </p:cNvSpPr>
            <p:nvPr/>
          </p:nvSpPr>
          <p:spPr>
            <a:xfrm>
              <a:off x="628650" y="5032600"/>
              <a:ext cx="7913948" cy="566737"/>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Clr>
                  <a:srgbClr val="021836"/>
                </a:buClr>
                <a:buNone/>
                <a:defRPr/>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No support owner • Confused users • Silent failures • Workarounds • AI dependency</a:t>
              </a:r>
              <a:r>
                <a:rPr lang="en-US" sz="1200" i="1" dirty="0">
                  <a:solidFill>
                    <a:prstClr val="white">
                      <a:lumMod val="50000"/>
                    </a:prstClr>
                  </a:solidFill>
                </a:rPr>
                <a:t> • No fallback path •</a:t>
              </a:r>
              <a:br>
                <a:rPr lang="en-US" sz="1200" i="1" dirty="0">
                  <a:solidFill>
                    <a:prstClr val="white">
                      <a:lumMod val="50000"/>
                    </a:prstClr>
                  </a:solidFill>
                </a:rPr>
              </a:br>
              <a:r>
                <a:rPr lang="en-US" sz="1200" i="1" dirty="0">
                  <a:solidFill>
                    <a:prstClr val="white">
                      <a:lumMod val="50000"/>
                    </a:prstClr>
                  </a:solidFill>
                </a:rPr>
                <a:t>Lessons not captured • Untested fallback</a:t>
              </a:r>
              <a:endPar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endParaRPr>
            </a:p>
          </p:txBody>
        </p:sp>
      </p:grpSp>
      <p:grpSp>
        <p:nvGrpSpPr>
          <p:cNvPr id="18" name="Group 17">
            <a:extLst>
              <a:ext uri="{FF2B5EF4-FFF2-40B4-BE49-F238E27FC236}">
                <a16:creationId xmlns:a16="http://schemas.microsoft.com/office/drawing/2014/main" id="{EE3A5447-7BD1-6837-C8F6-BF6010F31585}"/>
              </a:ext>
            </a:extLst>
          </p:cNvPr>
          <p:cNvGrpSpPr/>
          <p:nvPr/>
        </p:nvGrpSpPr>
        <p:grpSpPr>
          <a:xfrm>
            <a:off x="317078" y="6106920"/>
            <a:ext cx="7886700" cy="595537"/>
            <a:chOff x="628650" y="4778376"/>
            <a:chExt cx="7886700" cy="595537"/>
          </a:xfrm>
        </p:grpSpPr>
        <p:sp>
          <p:nvSpPr>
            <p:cNvPr id="19" name="Content Placeholder 2">
              <a:extLst>
                <a:ext uri="{FF2B5EF4-FFF2-40B4-BE49-F238E27FC236}">
                  <a16:creationId xmlns:a16="http://schemas.microsoft.com/office/drawing/2014/main" id="{7474F0C7-C595-F8F8-7759-EFD81F5F6BBF}"/>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Guiding Principle</a:t>
              </a:r>
            </a:p>
          </p:txBody>
        </p:sp>
        <p:sp>
          <p:nvSpPr>
            <p:cNvPr id="20" name="Content Placeholder 2">
              <a:extLst>
                <a:ext uri="{FF2B5EF4-FFF2-40B4-BE49-F238E27FC236}">
                  <a16:creationId xmlns:a16="http://schemas.microsoft.com/office/drawing/2014/main" id="{D32A5A40-4144-2F4E-FBC4-97EAD681ED30}"/>
                </a:ext>
              </a:extLst>
            </p:cNvPr>
            <p:cNvSpPr txBox="1">
              <a:spLocks/>
            </p:cNvSpPr>
            <p:nvPr/>
          </p:nvSpPr>
          <p:spPr>
            <a:xfrm>
              <a:off x="628650" y="5032601"/>
              <a:ext cx="7886700" cy="341312"/>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kumimoji="0" lang="en-US" sz="1200" b="0" i="0" u="none" strike="noStrike" kern="1200" cap="none" spc="0" normalizeH="0" baseline="0" noProof="0" dirty="0">
                  <a:ln>
                    <a:noFill/>
                  </a:ln>
                  <a:solidFill>
                    <a:srgbClr val="021836"/>
                  </a:solidFill>
                  <a:effectLst/>
                  <a:uLnTx/>
                  <a:uFillTx/>
                  <a:latin typeface="Aptos" panose="02110004020202020204"/>
                  <a:ea typeface="+mn-ea"/>
                  <a:cs typeface="+mn-cs"/>
                </a:rPr>
                <a:t>A pilot should be supported as an operating workflow, not treated as a side experiment.</a:t>
              </a:r>
              <a:endPar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endParaRPr>
            </a:p>
          </p:txBody>
        </p:sp>
      </p:grpSp>
      <p:sp>
        <p:nvSpPr>
          <p:cNvPr id="3" name="Content Placeholder 2">
            <a:extLst>
              <a:ext uri="{FF2B5EF4-FFF2-40B4-BE49-F238E27FC236}">
                <a16:creationId xmlns:a16="http://schemas.microsoft.com/office/drawing/2014/main" id="{34FBA3C9-17E0-B4F8-9DCD-99C8146B87DD}"/>
              </a:ext>
            </a:extLst>
          </p:cNvPr>
          <p:cNvSpPr txBox="1">
            <a:spLocks/>
          </p:cNvSpPr>
          <p:nvPr/>
        </p:nvSpPr>
        <p:spPr>
          <a:xfrm>
            <a:off x="360622" y="1258405"/>
            <a:ext cx="7886700" cy="1792851"/>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500" b="1" i="0" u="none" strike="noStrike" kern="1200" cap="none" spc="0" normalizeH="0" baseline="0" noProof="0" dirty="0">
                <a:ln>
                  <a:noFill/>
                </a:ln>
                <a:solidFill>
                  <a:srgbClr val="021836"/>
                </a:solidFill>
                <a:effectLst/>
                <a:uLnTx/>
                <a:uFillTx/>
                <a:latin typeface="Aptos" panose="02110004020202020204"/>
                <a:ea typeface="+mn-ea"/>
                <a:cs typeface="+mn-cs"/>
              </a:rPr>
              <a:t>Questions</a:t>
            </a:r>
          </a:p>
          <a:p>
            <a:pPr marL="228600" marR="0" lvl="0" indent="-228600" algn="l" defTabSz="914400" rtl="0" eaLnBrk="1" fontAlgn="auto" latinLnBrk="0" hangingPunct="1">
              <a:lnSpc>
                <a:spcPct val="110000"/>
              </a:lnSpc>
              <a:spcBef>
                <a:spcPts val="600"/>
              </a:spcBef>
              <a:spcAft>
                <a:spcPts val="0"/>
              </a:spcAft>
              <a:buClrTx/>
              <a:buSzTx/>
              <a:buFont typeface="Arial" panose="020B0604020202020204" pitchFamily="34" charset="0"/>
              <a:buChar char="•"/>
              <a:tabLst/>
              <a:defRPr/>
            </a:pPr>
            <a:r>
              <a:rPr kumimoji="0" lang="en-US" sz="1300" b="0" i="0" u="none" strike="noStrike" kern="1200" cap="none" spc="0" normalizeH="0" baseline="0" noProof="0" dirty="0">
                <a:ln>
                  <a:noFill/>
                </a:ln>
                <a:solidFill>
                  <a:prstClr val="black"/>
                </a:solidFill>
                <a:effectLst/>
                <a:uLnTx/>
                <a:uFillTx/>
                <a:latin typeface="Aptos" panose="02110004020202020204"/>
                <a:ea typeface="+mn-ea"/>
                <a:cs typeface="+mn-cs"/>
              </a:rPr>
              <a:t>Who supports users during the pilot?</a:t>
            </a:r>
          </a:p>
          <a:p>
            <a:pPr marL="228600" marR="0" lvl="0" indent="-228600" algn="l" defTabSz="914400" rtl="0" eaLnBrk="1" fontAlgn="auto" latinLnBrk="0" hangingPunct="1">
              <a:lnSpc>
                <a:spcPct val="110000"/>
              </a:lnSpc>
              <a:spcBef>
                <a:spcPts val="600"/>
              </a:spcBef>
              <a:spcAft>
                <a:spcPts val="0"/>
              </a:spcAft>
              <a:buClrTx/>
              <a:buSzTx/>
              <a:buFont typeface="Arial" panose="020B0604020202020204" pitchFamily="34" charset="0"/>
              <a:buChar char="•"/>
              <a:tabLst/>
              <a:defRPr/>
            </a:pPr>
            <a:r>
              <a:rPr lang="en-US" sz="1300" dirty="0">
                <a:solidFill>
                  <a:prstClr val="black"/>
                </a:solidFill>
                <a:latin typeface="Aptos" panose="02110004020202020204"/>
              </a:rPr>
              <a:t>How will issues be reported?</a:t>
            </a:r>
          </a:p>
          <a:p>
            <a:pPr marL="228600" marR="0" lvl="0" indent="-228600" algn="l" defTabSz="914400" rtl="0" eaLnBrk="1" fontAlgn="auto" latinLnBrk="0" hangingPunct="1">
              <a:lnSpc>
                <a:spcPct val="110000"/>
              </a:lnSpc>
              <a:spcBef>
                <a:spcPts val="600"/>
              </a:spcBef>
              <a:spcAft>
                <a:spcPts val="0"/>
              </a:spcAft>
              <a:buClrTx/>
              <a:buSzTx/>
              <a:buFont typeface="Arial" panose="020B0604020202020204" pitchFamily="34" charset="0"/>
              <a:buChar char="•"/>
              <a:tabLst/>
              <a:defRPr/>
            </a:pPr>
            <a:r>
              <a:rPr kumimoji="0" lang="en-US" sz="1300" b="0" i="0" u="none" strike="noStrike" kern="1200" cap="none" spc="0" normalizeH="0" baseline="0" noProof="0" dirty="0">
                <a:ln>
                  <a:noFill/>
                </a:ln>
                <a:solidFill>
                  <a:prstClr val="black"/>
                </a:solidFill>
                <a:effectLst/>
                <a:uLnTx/>
                <a:uFillTx/>
                <a:latin typeface="Aptos" panose="02110004020202020204"/>
                <a:ea typeface="+mn-ea"/>
                <a:cs typeface="+mn-cs"/>
              </a:rPr>
              <a:t>What training or guidance is needed?</a:t>
            </a:r>
          </a:p>
          <a:p>
            <a:pPr marL="228600" marR="0" lvl="0" indent="-228600" algn="l" defTabSz="914400" rtl="0" eaLnBrk="1" fontAlgn="auto" latinLnBrk="0" hangingPunct="1">
              <a:lnSpc>
                <a:spcPct val="110000"/>
              </a:lnSpc>
              <a:spcBef>
                <a:spcPts val="600"/>
              </a:spcBef>
              <a:spcAft>
                <a:spcPts val="0"/>
              </a:spcAft>
              <a:buClrTx/>
              <a:buSzTx/>
              <a:buFont typeface="Arial" panose="020B0604020202020204" pitchFamily="34" charset="0"/>
              <a:buChar char="•"/>
              <a:tabLst/>
              <a:defRPr/>
            </a:pPr>
            <a:r>
              <a:rPr lang="en-US" sz="1300" dirty="0">
                <a:solidFill>
                  <a:prstClr val="black"/>
                </a:solidFill>
                <a:latin typeface="Aptos" panose="02110004020202020204"/>
              </a:rPr>
              <a:t>What happens if the AI system becomes unavailable?</a:t>
            </a:r>
          </a:p>
          <a:p>
            <a:pPr marL="228600" marR="0" lvl="0" indent="-228600" algn="l" defTabSz="914400" rtl="0" eaLnBrk="1" fontAlgn="auto" latinLnBrk="0" hangingPunct="1">
              <a:lnSpc>
                <a:spcPct val="110000"/>
              </a:lnSpc>
              <a:spcBef>
                <a:spcPts val="600"/>
              </a:spcBef>
              <a:spcAft>
                <a:spcPts val="0"/>
              </a:spcAft>
              <a:buClrTx/>
              <a:buSzTx/>
              <a:buFont typeface="Arial" panose="020B0604020202020204" pitchFamily="34" charset="0"/>
              <a:buChar char="•"/>
              <a:tabLst/>
              <a:defRPr/>
            </a:pPr>
            <a:r>
              <a:rPr kumimoji="0" lang="en-US" sz="1300" b="0" i="0" u="none" strike="noStrike" kern="1200" cap="none" spc="0" normalizeH="0" baseline="0" noProof="0" dirty="0">
                <a:ln>
                  <a:noFill/>
                </a:ln>
                <a:solidFill>
                  <a:prstClr val="black"/>
                </a:solidFill>
                <a:effectLst/>
                <a:uLnTx/>
                <a:uFillTx/>
                <a:latin typeface="Aptos" panose="02110004020202020204"/>
                <a:ea typeface="+mn-ea"/>
                <a:cs typeface="+mn-cs"/>
              </a:rPr>
              <a:t>How will lessons be captured?</a:t>
            </a:r>
          </a:p>
          <a:p>
            <a:pPr marL="228600" marR="0" lvl="0" indent="-228600" algn="l" defTabSz="914400" rtl="0" eaLnBrk="1" fontAlgn="auto" latinLnBrk="0" hangingPunct="1">
              <a:lnSpc>
                <a:spcPct val="110000"/>
              </a:lnSpc>
              <a:spcBef>
                <a:spcPts val="600"/>
              </a:spcBef>
              <a:spcAft>
                <a:spcPts val="0"/>
              </a:spcAft>
              <a:buClrTx/>
              <a:buSzTx/>
              <a:buFont typeface="Arial" panose="020B0604020202020204" pitchFamily="34" charset="0"/>
              <a:buChar char="•"/>
              <a:tabLst/>
              <a:defRPr/>
            </a:pPr>
            <a:r>
              <a:rPr lang="en-US" sz="1300" dirty="0">
                <a:solidFill>
                  <a:prstClr val="black"/>
                </a:solidFill>
                <a:latin typeface="Aptos" panose="02110004020202020204"/>
              </a:rPr>
              <a:t>Has the fallback or recovery path been tested or walked through?</a:t>
            </a:r>
            <a:endParaRPr kumimoji="0" lang="en-US" sz="13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5" name="TextBox 4">
            <a:extLst>
              <a:ext uri="{FF2B5EF4-FFF2-40B4-BE49-F238E27FC236}">
                <a16:creationId xmlns:a16="http://schemas.microsoft.com/office/drawing/2014/main" id="{E838D9FC-E340-24B2-34FB-9E684827D391}"/>
              </a:ext>
            </a:extLst>
          </p:cNvPr>
          <p:cNvSpPr txBox="1"/>
          <p:nvPr/>
        </p:nvSpPr>
        <p:spPr>
          <a:xfrm>
            <a:off x="4408714" y="64309"/>
            <a:ext cx="4628748" cy="276999"/>
          </a:xfrm>
          <a:prstGeom prst="rect">
            <a:avLst/>
          </a:prstGeom>
          <a:noFill/>
        </p:spPr>
        <p:txBody>
          <a:bodyPr wrap="square" rtlCol="0">
            <a:spAutoFit/>
          </a:bodyPr>
          <a:lstStyle/>
          <a:p>
            <a:pPr algn="r"/>
            <a:r>
              <a:rPr lang="en-US" sz="1200" dirty="0">
                <a:solidFill>
                  <a:schemeClr val="bg1">
                    <a:lumMod val="50000"/>
                  </a:schemeClr>
                </a:solidFill>
              </a:rPr>
              <a:t>AI Operational Readiness • Pilot Readiness Framework</a:t>
            </a:r>
          </a:p>
        </p:txBody>
      </p:sp>
    </p:spTree>
    <p:extLst>
      <p:ext uri="{BB962C8B-B14F-4D97-AF65-F5344CB8AC3E}">
        <p14:creationId xmlns:p14="http://schemas.microsoft.com/office/powerpoint/2010/main" val="402176446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898976-966B-2863-3024-CFFCE5FE91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222686-4272-DFFF-11E4-BB70A55EEB94}"/>
              </a:ext>
            </a:extLst>
          </p:cNvPr>
          <p:cNvSpPr>
            <a:spLocks noGrp="1"/>
          </p:cNvSpPr>
          <p:nvPr>
            <p:ph type="title"/>
          </p:nvPr>
        </p:nvSpPr>
        <p:spPr>
          <a:xfrm>
            <a:off x="273534" y="-86630"/>
            <a:ext cx="7886700" cy="1325563"/>
          </a:xfrm>
        </p:spPr>
        <p:txBody>
          <a:bodyPr>
            <a:normAutofit/>
          </a:bodyPr>
          <a:lstStyle/>
          <a:p>
            <a:r>
              <a:rPr lang="en-US" sz="4000" dirty="0"/>
              <a:t>Pilot Boundaries &amp; Learning Plan</a:t>
            </a:r>
          </a:p>
        </p:txBody>
      </p:sp>
      <p:sp>
        <p:nvSpPr>
          <p:cNvPr id="9" name="Content Placeholder 2">
            <a:extLst>
              <a:ext uri="{FF2B5EF4-FFF2-40B4-BE49-F238E27FC236}">
                <a16:creationId xmlns:a16="http://schemas.microsoft.com/office/drawing/2014/main" id="{8C445D33-B048-D0AF-D933-D2974A035865}"/>
              </a:ext>
            </a:extLst>
          </p:cNvPr>
          <p:cNvSpPr txBox="1">
            <a:spLocks/>
          </p:cNvSpPr>
          <p:nvPr/>
        </p:nvSpPr>
        <p:spPr>
          <a:xfrm>
            <a:off x="317078" y="844267"/>
            <a:ext cx="7886700" cy="299244"/>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Defining what will be tested, with whom, for how long, and what the pilot must teach us</a:t>
            </a:r>
          </a:p>
        </p:txBody>
      </p:sp>
      <p:graphicFrame>
        <p:nvGraphicFramePr>
          <p:cNvPr id="13" name="Table 12">
            <a:extLst>
              <a:ext uri="{FF2B5EF4-FFF2-40B4-BE49-F238E27FC236}">
                <a16:creationId xmlns:a16="http://schemas.microsoft.com/office/drawing/2014/main" id="{CDC56E27-E6A1-CB26-4C7E-34D32C36F22A}"/>
              </a:ext>
            </a:extLst>
          </p:cNvPr>
          <p:cNvGraphicFramePr>
            <a:graphicFrameLocks noGrp="1"/>
          </p:cNvGraphicFramePr>
          <p:nvPr/>
        </p:nvGraphicFramePr>
        <p:xfrm>
          <a:off x="3541936" y="1740676"/>
          <a:ext cx="5245521" cy="2042160"/>
        </p:xfrm>
        <a:graphic>
          <a:graphicData uri="http://schemas.openxmlformats.org/drawingml/2006/table">
            <a:tbl>
              <a:tblPr firstRow="1" bandRow="1">
                <a:tableStyleId>{2D5ABB26-0587-4C30-8999-92F81FD0307C}</a:tableStyleId>
              </a:tblPr>
              <a:tblGrid>
                <a:gridCol w="2567635">
                  <a:extLst>
                    <a:ext uri="{9D8B030D-6E8A-4147-A177-3AD203B41FA5}">
                      <a16:colId xmlns:a16="http://schemas.microsoft.com/office/drawing/2014/main" val="2470210094"/>
                    </a:ext>
                  </a:extLst>
                </a:gridCol>
                <a:gridCol w="2677886">
                  <a:extLst>
                    <a:ext uri="{9D8B030D-6E8A-4147-A177-3AD203B41FA5}">
                      <a16:colId xmlns:a16="http://schemas.microsoft.com/office/drawing/2014/main" val="72878264"/>
                    </a:ext>
                  </a:extLst>
                </a:gridCol>
              </a:tblGrid>
              <a:tr h="152467">
                <a:tc>
                  <a:txBody>
                    <a:bodyPr/>
                    <a:lstStyle/>
                    <a:p>
                      <a:r>
                        <a:rPr lang="en-US" sz="1400" b="1" dirty="0">
                          <a:solidFill>
                            <a:srgbClr val="021836"/>
                          </a:solidFill>
                        </a:rPr>
                        <a:t>Pilot Boundary Elements</a:t>
                      </a:r>
                    </a:p>
                  </a:txBody>
                  <a:tcPr>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rgbClr val="0396A6"/>
                      </a:solidFill>
                      <a:prstDash val="solid"/>
                      <a:round/>
                      <a:headEnd type="none" w="med" len="med"/>
                      <a:tailEnd type="none" w="med" len="med"/>
                    </a:lnB>
                  </a:tcPr>
                </a:tc>
                <a:tc>
                  <a:txBody>
                    <a:bodyPr/>
                    <a:lstStyle/>
                    <a:p>
                      <a:r>
                        <a:rPr lang="en-US" sz="1400" b="1" dirty="0">
                          <a:solidFill>
                            <a:srgbClr val="021836"/>
                          </a:solidFill>
                        </a:rPr>
                        <a:t>Proposed Design</a:t>
                      </a:r>
                    </a:p>
                  </a:txBody>
                  <a:tcPr>
                    <a:lnL w="12700" cap="flat" cmpd="sng" algn="ctr">
                      <a:solidFill>
                        <a:schemeClr val="bg1">
                          <a:lumMod val="75000"/>
                        </a:schemeClr>
                      </a:solidFill>
                      <a:prstDash val="solid"/>
                      <a:round/>
                      <a:headEnd type="none" w="med" len="med"/>
                      <a:tailEnd type="none" w="med" len="med"/>
                    </a:lnL>
                    <a:lnT w="12700" cap="flat" cmpd="sng" algn="ctr">
                      <a:solidFill>
                        <a:srgbClr val="0396A6"/>
                      </a:solidFill>
                      <a:prstDash val="solid"/>
                      <a:round/>
                      <a:headEnd type="none" w="med" len="med"/>
                      <a:tailEnd type="none" w="med" len="med"/>
                    </a:lnT>
                    <a:lnB w="12700" cap="flat" cmpd="sng" algn="ctr">
                      <a:solidFill>
                        <a:srgbClr val="0396A6"/>
                      </a:solidFill>
                      <a:prstDash val="solid"/>
                      <a:round/>
                      <a:headEnd type="none" w="med" len="med"/>
                      <a:tailEnd type="none" w="med" len="med"/>
                    </a:lnB>
                  </a:tcPr>
                </a:tc>
                <a:extLst>
                  <a:ext uri="{0D108BD9-81ED-4DB2-BD59-A6C34878D82A}">
                    <a16:rowId xmlns:a16="http://schemas.microsoft.com/office/drawing/2014/main" val="2061593276"/>
                  </a:ext>
                </a:extLst>
              </a:tr>
              <a:tr h="144844">
                <a:tc>
                  <a:txBody>
                    <a:bodyPr/>
                    <a:lstStyle/>
                    <a:p>
                      <a:pPr>
                        <a:buClr>
                          <a:schemeClr val="bg1">
                            <a:lumMod val="50000"/>
                          </a:schemeClr>
                        </a:buClr>
                      </a:pPr>
                      <a:r>
                        <a:rPr lang="en-US" sz="1200" dirty="0"/>
                        <a:t>Pilot Population/User Group</a:t>
                      </a:r>
                    </a:p>
                  </a:txBody>
                  <a:tcPr marB="0">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600" dirty="0"/>
                    </a:p>
                  </a:txBody>
                  <a:tcPr marB="0">
                    <a:lnL w="12700" cap="flat" cmpd="sng" algn="ctr">
                      <a:solidFill>
                        <a:schemeClr val="bg1">
                          <a:lumMod val="75000"/>
                        </a:schemeClr>
                      </a:solidFill>
                      <a:prstDash val="solid"/>
                      <a:round/>
                      <a:headEnd type="none" w="med" len="med"/>
                      <a:tailEnd type="none" w="med" len="med"/>
                    </a:lnL>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493753442"/>
                  </a:ext>
                </a:extLst>
              </a:tr>
              <a:tr h="144844">
                <a:tc>
                  <a:txBody>
                    <a:bodyPr/>
                    <a:lstStyle/>
                    <a:p>
                      <a:pPr>
                        <a:buClr>
                          <a:schemeClr val="bg1">
                            <a:lumMod val="50000"/>
                          </a:schemeClr>
                        </a:buClr>
                      </a:pPr>
                      <a:r>
                        <a:rPr lang="en-US" sz="1200" dirty="0"/>
                        <a:t>Workflow Scope</a:t>
                      </a:r>
                    </a:p>
                  </a:txBody>
                  <a:tcPr marB="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600" dirty="0"/>
                    </a:p>
                  </a:txBody>
                  <a:tcPr marB="0">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23325965"/>
                  </a:ext>
                </a:extLst>
              </a:tr>
              <a:tr h="144844">
                <a:tc>
                  <a:txBody>
                    <a:bodyPr/>
                    <a:lstStyle/>
                    <a:p>
                      <a:pPr>
                        <a:buClr>
                          <a:schemeClr val="bg1">
                            <a:lumMod val="50000"/>
                          </a:schemeClr>
                        </a:buClr>
                      </a:pPr>
                      <a:r>
                        <a:rPr lang="en-US" sz="1200" dirty="0"/>
                        <a:t>System/Data Scope</a:t>
                      </a:r>
                    </a:p>
                  </a:txBody>
                  <a:tcPr marB="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600" dirty="0"/>
                    </a:p>
                  </a:txBody>
                  <a:tcPr marB="0">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845834834"/>
                  </a:ext>
                </a:extLst>
              </a:tr>
              <a:tr h="144844">
                <a:tc>
                  <a:txBody>
                    <a:bodyPr/>
                    <a:lstStyle/>
                    <a:p>
                      <a:pPr>
                        <a:buClr>
                          <a:schemeClr val="bg1">
                            <a:lumMod val="50000"/>
                          </a:schemeClr>
                        </a:buClr>
                      </a:pPr>
                      <a:r>
                        <a:rPr lang="en-US" sz="1200" dirty="0"/>
                        <a:t>Duration</a:t>
                      </a:r>
                    </a:p>
                  </a:txBody>
                  <a:tcPr marB="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600" dirty="0"/>
                    </a:p>
                  </a:txBody>
                  <a:tcPr marB="0">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012176639"/>
                  </a:ext>
                </a:extLst>
              </a:tr>
              <a:tr h="144844">
                <a:tc>
                  <a:txBody>
                    <a:bodyPr/>
                    <a:lstStyle/>
                    <a:p>
                      <a:pPr>
                        <a:buClr>
                          <a:schemeClr val="bg1">
                            <a:lumMod val="50000"/>
                          </a:schemeClr>
                        </a:buClr>
                      </a:pPr>
                      <a:r>
                        <a:rPr lang="en-US" sz="1200" dirty="0"/>
                        <a:t>Exclusions</a:t>
                      </a:r>
                    </a:p>
                  </a:txBody>
                  <a:tcPr marB="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600" dirty="0"/>
                    </a:p>
                  </a:txBody>
                  <a:tcPr marB="0">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645799316"/>
                  </a:ext>
                </a:extLst>
              </a:tr>
              <a:tr h="144844">
                <a:tc>
                  <a:txBody>
                    <a:bodyPr/>
                    <a:lstStyle/>
                    <a:p>
                      <a:pPr>
                        <a:buClr>
                          <a:schemeClr val="bg1">
                            <a:lumMod val="50000"/>
                          </a:schemeClr>
                        </a:buClr>
                      </a:pPr>
                      <a:r>
                        <a:rPr lang="en-US" sz="1200" dirty="0"/>
                        <a:t>Stop/Pause Conditions</a:t>
                      </a:r>
                    </a:p>
                  </a:txBody>
                  <a:tcPr marB="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600" dirty="0"/>
                    </a:p>
                  </a:txBody>
                  <a:tcPr marB="0">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50057555"/>
                  </a:ext>
                </a:extLst>
              </a:tr>
            </a:tbl>
          </a:graphicData>
        </a:graphic>
      </p:graphicFrame>
      <p:sp>
        <p:nvSpPr>
          <p:cNvPr id="3" name="Content Placeholder 2">
            <a:extLst>
              <a:ext uri="{FF2B5EF4-FFF2-40B4-BE49-F238E27FC236}">
                <a16:creationId xmlns:a16="http://schemas.microsoft.com/office/drawing/2014/main" id="{82F7659C-AAFF-BBB2-758B-D132319B2B21}"/>
              </a:ext>
            </a:extLst>
          </p:cNvPr>
          <p:cNvSpPr txBox="1">
            <a:spLocks/>
          </p:cNvSpPr>
          <p:nvPr/>
        </p:nvSpPr>
        <p:spPr>
          <a:xfrm>
            <a:off x="340208" y="2024955"/>
            <a:ext cx="3201728" cy="1792613"/>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lvl="0" indent="-342900">
              <a:spcBef>
                <a:spcPts val="0"/>
              </a:spcBef>
              <a:buFont typeface="Arial" panose="020B0604020202020204" pitchFamily="34" charset="0"/>
              <a:buChar char="•"/>
            </a:pPr>
            <a:r>
              <a:rPr lang="en-US" sz="1200" dirty="0"/>
              <a:t>Who and what is included in the pilot?</a:t>
            </a:r>
          </a:p>
          <a:p>
            <a:pPr marL="342900" lvl="0" indent="-342900">
              <a:spcBef>
                <a:spcPts val="0"/>
              </a:spcBef>
              <a:buFont typeface="Arial" panose="020B0604020202020204" pitchFamily="34" charset="0"/>
              <a:buChar char="•"/>
            </a:pPr>
            <a:r>
              <a:rPr lang="en-US" sz="1200" dirty="0"/>
              <a:t>What systems, data, workflows, or actions are in scope?</a:t>
            </a:r>
          </a:p>
          <a:p>
            <a:pPr marL="342900" lvl="0" indent="-342900">
              <a:spcBef>
                <a:spcPts val="0"/>
              </a:spcBef>
              <a:buFont typeface="Arial" panose="020B0604020202020204" pitchFamily="34" charset="0"/>
              <a:buChar char="•"/>
            </a:pPr>
            <a:r>
              <a:rPr lang="en-US" sz="1200" dirty="0"/>
              <a:t>What remains explicitly out of scope?</a:t>
            </a:r>
          </a:p>
          <a:p>
            <a:pPr marL="342900" lvl="0" indent="-342900">
              <a:spcBef>
                <a:spcPts val="0"/>
              </a:spcBef>
              <a:buFont typeface="Arial" panose="020B0604020202020204" pitchFamily="34" charset="0"/>
              <a:buChar char="•"/>
            </a:pPr>
            <a:r>
              <a:rPr lang="en-US" sz="1200" dirty="0"/>
              <a:t>How long will the pilot run?</a:t>
            </a:r>
          </a:p>
          <a:p>
            <a:pPr marL="342900" lvl="0" indent="-342900">
              <a:spcBef>
                <a:spcPts val="0"/>
              </a:spcBef>
              <a:buFont typeface="Arial" panose="020B0604020202020204" pitchFamily="34" charset="0"/>
              <a:buChar char="•"/>
            </a:pPr>
            <a:r>
              <a:rPr lang="en-US" sz="1200" dirty="0"/>
              <a:t>What conditions require the pilot to pause or stop?</a:t>
            </a:r>
          </a:p>
        </p:txBody>
      </p:sp>
      <p:sp>
        <p:nvSpPr>
          <p:cNvPr id="5" name="Content Placeholder 2">
            <a:extLst>
              <a:ext uri="{FF2B5EF4-FFF2-40B4-BE49-F238E27FC236}">
                <a16:creationId xmlns:a16="http://schemas.microsoft.com/office/drawing/2014/main" id="{A6EFA292-3444-934F-D8F9-9AAE9B1725F0}"/>
              </a:ext>
            </a:extLst>
          </p:cNvPr>
          <p:cNvSpPr txBox="1">
            <a:spLocks/>
          </p:cNvSpPr>
          <p:nvPr/>
        </p:nvSpPr>
        <p:spPr>
          <a:xfrm>
            <a:off x="333374" y="1740676"/>
            <a:ext cx="3201728"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Questions</a:t>
            </a:r>
          </a:p>
        </p:txBody>
      </p:sp>
      <p:graphicFrame>
        <p:nvGraphicFramePr>
          <p:cNvPr id="7" name="Table 6">
            <a:extLst>
              <a:ext uri="{FF2B5EF4-FFF2-40B4-BE49-F238E27FC236}">
                <a16:creationId xmlns:a16="http://schemas.microsoft.com/office/drawing/2014/main" id="{035F4DE1-FF17-855D-CDE0-281E676333B3}"/>
              </a:ext>
            </a:extLst>
          </p:cNvPr>
          <p:cNvGraphicFramePr>
            <a:graphicFrameLocks noGrp="1"/>
          </p:cNvGraphicFramePr>
          <p:nvPr/>
        </p:nvGraphicFramePr>
        <p:xfrm>
          <a:off x="3541936" y="4437772"/>
          <a:ext cx="5231950" cy="1752600"/>
        </p:xfrm>
        <a:graphic>
          <a:graphicData uri="http://schemas.openxmlformats.org/drawingml/2006/table">
            <a:tbl>
              <a:tblPr firstRow="1" bandRow="1">
                <a:tableStyleId>{2D5ABB26-0587-4C30-8999-92F81FD0307C}</a:tableStyleId>
              </a:tblPr>
              <a:tblGrid>
                <a:gridCol w="2575835">
                  <a:extLst>
                    <a:ext uri="{9D8B030D-6E8A-4147-A177-3AD203B41FA5}">
                      <a16:colId xmlns:a16="http://schemas.microsoft.com/office/drawing/2014/main" val="2470210094"/>
                    </a:ext>
                  </a:extLst>
                </a:gridCol>
                <a:gridCol w="2656115">
                  <a:extLst>
                    <a:ext uri="{9D8B030D-6E8A-4147-A177-3AD203B41FA5}">
                      <a16:colId xmlns:a16="http://schemas.microsoft.com/office/drawing/2014/main" val="72878264"/>
                    </a:ext>
                  </a:extLst>
                </a:gridCol>
              </a:tblGrid>
              <a:tr h="209427">
                <a:tc>
                  <a:txBody>
                    <a:bodyPr/>
                    <a:lstStyle/>
                    <a:p>
                      <a:r>
                        <a:rPr lang="en-US" sz="1400" b="1" dirty="0">
                          <a:solidFill>
                            <a:srgbClr val="021836"/>
                          </a:solidFill>
                        </a:rPr>
                        <a:t>Learning Plan Elements</a:t>
                      </a:r>
                    </a:p>
                  </a:txBody>
                  <a:tcPr>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rgbClr val="0396A6"/>
                      </a:solidFill>
                      <a:prstDash val="solid"/>
                      <a:round/>
                      <a:headEnd type="none" w="med" len="med"/>
                      <a:tailEnd type="none" w="med" len="med"/>
                    </a:lnB>
                  </a:tcPr>
                </a:tc>
                <a:tc>
                  <a:txBody>
                    <a:bodyPr/>
                    <a:lstStyle/>
                    <a:p>
                      <a:r>
                        <a:rPr lang="en-US" sz="1400" b="1" dirty="0">
                          <a:solidFill>
                            <a:srgbClr val="021836"/>
                          </a:solidFill>
                        </a:rPr>
                        <a:t>Proposed Design</a:t>
                      </a:r>
                    </a:p>
                  </a:txBody>
                  <a:tcPr>
                    <a:lnL w="12700" cap="flat" cmpd="sng" algn="ctr">
                      <a:solidFill>
                        <a:schemeClr val="bg1">
                          <a:lumMod val="75000"/>
                        </a:schemeClr>
                      </a:solidFill>
                      <a:prstDash val="solid"/>
                      <a:round/>
                      <a:headEnd type="none" w="med" len="med"/>
                      <a:tailEnd type="none" w="med" len="med"/>
                    </a:lnL>
                    <a:lnT w="12700" cap="flat" cmpd="sng" algn="ctr">
                      <a:solidFill>
                        <a:srgbClr val="0396A6"/>
                      </a:solidFill>
                      <a:prstDash val="solid"/>
                      <a:round/>
                      <a:headEnd type="none" w="med" len="med"/>
                      <a:tailEnd type="none" w="med" len="med"/>
                    </a:lnT>
                    <a:lnB w="12700" cap="flat" cmpd="sng" algn="ctr">
                      <a:solidFill>
                        <a:srgbClr val="0396A6"/>
                      </a:solidFill>
                      <a:prstDash val="solid"/>
                      <a:round/>
                      <a:headEnd type="none" w="med" len="med"/>
                      <a:tailEnd type="none" w="med" len="med"/>
                    </a:lnB>
                  </a:tcPr>
                </a:tc>
                <a:extLst>
                  <a:ext uri="{0D108BD9-81ED-4DB2-BD59-A6C34878D82A}">
                    <a16:rowId xmlns:a16="http://schemas.microsoft.com/office/drawing/2014/main" val="2061593276"/>
                  </a:ext>
                </a:extLst>
              </a:tr>
              <a:tr h="214030">
                <a:tc>
                  <a:txBody>
                    <a:bodyPr/>
                    <a:lstStyle/>
                    <a:p>
                      <a:pPr>
                        <a:buClr>
                          <a:schemeClr val="bg1">
                            <a:lumMod val="50000"/>
                          </a:schemeClr>
                        </a:buClr>
                      </a:pPr>
                      <a:r>
                        <a:rPr lang="en-US" sz="1200" dirty="0"/>
                        <a:t>Learning Questions</a:t>
                      </a:r>
                    </a:p>
                  </a:txBody>
                  <a:tcPr marB="0">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600" dirty="0"/>
                    </a:p>
                  </a:txBody>
                  <a:tcPr marB="0">
                    <a:lnL w="12700" cap="flat" cmpd="sng" algn="ctr">
                      <a:solidFill>
                        <a:schemeClr val="bg1">
                          <a:lumMod val="75000"/>
                        </a:schemeClr>
                      </a:solidFill>
                      <a:prstDash val="solid"/>
                      <a:round/>
                      <a:headEnd type="none" w="med" len="med"/>
                      <a:tailEnd type="none" w="med" len="med"/>
                    </a:lnL>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493753442"/>
                  </a:ext>
                </a:extLst>
              </a:tr>
              <a:tr h="214030">
                <a:tc>
                  <a:txBody>
                    <a:bodyPr/>
                    <a:lstStyle/>
                    <a:p>
                      <a:pPr>
                        <a:buClr>
                          <a:schemeClr val="bg1">
                            <a:lumMod val="50000"/>
                          </a:schemeClr>
                        </a:buClr>
                      </a:pPr>
                      <a:r>
                        <a:rPr lang="en-US" sz="1200" dirty="0"/>
                        <a:t>Key Assumptions</a:t>
                      </a:r>
                    </a:p>
                  </a:txBody>
                  <a:tcPr marB="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600" dirty="0"/>
                    </a:p>
                  </a:txBody>
                  <a:tcPr marB="0">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23325965"/>
                  </a:ext>
                </a:extLst>
              </a:tr>
              <a:tr h="214030">
                <a:tc>
                  <a:txBody>
                    <a:bodyPr/>
                    <a:lstStyle/>
                    <a:p>
                      <a:pPr>
                        <a:buClr>
                          <a:schemeClr val="bg1">
                            <a:lumMod val="50000"/>
                          </a:schemeClr>
                        </a:buClr>
                      </a:pPr>
                      <a:r>
                        <a:rPr lang="en-US" sz="1200" dirty="0"/>
                        <a:t>Evidence Required</a:t>
                      </a:r>
                    </a:p>
                  </a:txBody>
                  <a:tcPr marB="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600" dirty="0"/>
                    </a:p>
                  </a:txBody>
                  <a:tcPr marB="0">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845834834"/>
                  </a:ext>
                </a:extLst>
              </a:tr>
              <a:tr h="214030">
                <a:tc>
                  <a:txBody>
                    <a:bodyPr/>
                    <a:lstStyle/>
                    <a:p>
                      <a:pPr>
                        <a:buClr>
                          <a:schemeClr val="bg1">
                            <a:lumMod val="50000"/>
                          </a:schemeClr>
                        </a:buClr>
                      </a:pPr>
                      <a:r>
                        <a:rPr lang="en-US" sz="1200" dirty="0"/>
                        <a:t>Review Point</a:t>
                      </a:r>
                    </a:p>
                  </a:txBody>
                  <a:tcPr marB="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600" dirty="0"/>
                    </a:p>
                  </a:txBody>
                  <a:tcPr marB="0">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012176639"/>
                  </a:ext>
                </a:extLst>
              </a:tr>
              <a:tr h="214030">
                <a:tc>
                  <a:txBody>
                    <a:bodyPr/>
                    <a:lstStyle/>
                    <a:p>
                      <a:pPr>
                        <a:buClr>
                          <a:schemeClr val="bg1">
                            <a:lumMod val="50000"/>
                          </a:schemeClr>
                        </a:buClr>
                      </a:pPr>
                      <a:r>
                        <a:rPr lang="en-US" sz="1200" dirty="0"/>
                        <a:t>Decision After Pilot</a:t>
                      </a:r>
                    </a:p>
                  </a:txBody>
                  <a:tcPr marB="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600" dirty="0"/>
                    </a:p>
                  </a:txBody>
                  <a:tcPr marB="0">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645799316"/>
                  </a:ext>
                </a:extLst>
              </a:tr>
            </a:tbl>
          </a:graphicData>
        </a:graphic>
      </p:graphicFrame>
      <p:sp>
        <p:nvSpPr>
          <p:cNvPr id="10" name="Content Placeholder 2">
            <a:extLst>
              <a:ext uri="{FF2B5EF4-FFF2-40B4-BE49-F238E27FC236}">
                <a16:creationId xmlns:a16="http://schemas.microsoft.com/office/drawing/2014/main" id="{7C838520-E85C-01C7-9A22-61E8E90EF182}"/>
              </a:ext>
            </a:extLst>
          </p:cNvPr>
          <p:cNvSpPr txBox="1">
            <a:spLocks/>
          </p:cNvSpPr>
          <p:nvPr/>
        </p:nvSpPr>
        <p:spPr>
          <a:xfrm>
            <a:off x="317078" y="4764372"/>
            <a:ext cx="2926865" cy="1243124"/>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lvl="0" indent="-342900">
              <a:spcBef>
                <a:spcPts val="0"/>
              </a:spcBef>
              <a:buFont typeface="Arial" panose="020B0604020202020204" pitchFamily="34" charset="0"/>
              <a:buChar char="•"/>
            </a:pPr>
            <a:r>
              <a:rPr lang="en-US" sz="1200" dirty="0"/>
              <a:t>What assumptions are we testing?</a:t>
            </a:r>
          </a:p>
          <a:p>
            <a:pPr marL="342900" lvl="0" indent="-342900">
              <a:spcBef>
                <a:spcPts val="0"/>
              </a:spcBef>
              <a:buFont typeface="Arial" panose="020B0604020202020204" pitchFamily="34" charset="0"/>
              <a:buChar char="•"/>
            </a:pPr>
            <a:r>
              <a:rPr lang="en-US" sz="1200" dirty="0"/>
              <a:t>What must we learn before scale is considered?</a:t>
            </a:r>
          </a:p>
          <a:p>
            <a:pPr marL="342900" lvl="0" indent="-342900">
              <a:spcBef>
                <a:spcPts val="0"/>
              </a:spcBef>
              <a:buFont typeface="Arial" panose="020B0604020202020204" pitchFamily="34" charset="0"/>
              <a:buChar char="•"/>
            </a:pPr>
            <a:r>
              <a:rPr lang="en-US" sz="1200" dirty="0"/>
              <a:t>What evidence would challenge the proposed operating model?</a:t>
            </a:r>
          </a:p>
        </p:txBody>
      </p:sp>
      <p:sp>
        <p:nvSpPr>
          <p:cNvPr id="12" name="Content Placeholder 2">
            <a:extLst>
              <a:ext uri="{FF2B5EF4-FFF2-40B4-BE49-F238E27FC236}">
                <a16:creationId xmlns:a16="http://schemas.microsoft.com/office/drawing/2014/main" id="{9EC4988C-5A7C-611A-4544-B058B60F901F}"/>
              </a:ext>
            </a:extLst>
          </p:cNvPr>
          <p:cNvSpPr txBox="1">
            <a:spLocks/>
          </p:cNvSpPr>
          <p:nvPr/>
        </p:nvSpPr>
        <p:spPr>
          <a:xfrm>
            <a:off x="317078" y="4494602"/>
            <a:ext cx="3013951"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Questions</a:t>
            </a:r>
          </a:p>
        </p:txBody>
      </p:sp>
      <p:sp>
        <p:nvSpPr>
          <p:cNvPr id="22" name="Content Placeholder 2">
            <a:extLst>
              <a:ext uri="{FF2B5EF4-FFF2-40B4-BE49-F238E27FC236}">
                <a16:creationId xmlns:a16="http://schemas.microsoft.com/office/drawing/2014/main" id="{5B1C245A-FD8E-EAD4-3587-3FFDDE01D2EF}"/>
              </a:ext>
            </a:extLst>
          </p:cNvPr>
          <p:cNvSpPr txBox="1">
            <a:spLocks/>
          </p:cNvSpPr>
          <p:nvPr/>
        </p:nvSpPr>
        <p:spPr>
          <a:xfrm>
            <a:off x="356543" y="1425490"/>
            <a:ext cx="3201728"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Pilot Boundary Element Design</a:t>
            </a:r>
          </a:p>
        </p:txBody>
      </p:sp>
      <p:sp>
        <p:nvSpPr>
          <p:cNvPr id="24" name="Content Placeholder 2">
            <a:extLst>
              <a:ext uri="{FF2B5EF4-FFF2-40B4-BE49-F238E27FC236}">
                <a16:creationId xmlns:a16="http://schemas.microsoft.com/office/drawing/2014/main" id="{A6DFEC75-F0F2-D5A3-8B3F-58A4966D8B20}"/>
              </a:ext>
            </a:extLst>
          </p:cNvPr>
          <p:cNvSpPr txBox="1">
            <a:spLocks/>
          </p:cNvSpPr>
          <p:nvPr/>
        </p:nvSpPr>
        <p:spPr>
          <a:xfrm>
            <a:off x="317078" y="4153290"/>
            <a:ext cx="3201728"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Learning Plan Element Design</a:t>
            </a:r>
          </a:p>
        </p:txBody>
      </p:sp>
      <p:cxnSp>
        <p:nvCxnSpPr>
          <p:cNvPr id="25" name="Straight Connector 24">
            <a:extLst>
              <a:ext uri="{FF2B5EF4-FFF2-40B4-BE49-F238E27FC236}">
                <a16:creationId xmlns:a16="http://schemas.microsoft.com/office/drawing/2014/main" id="{F0DB299E-A8BA-1514-8FDE-68D9F1368952}"/>
              </a:ext>
            </a:extLst>
          </p:cNvPr>
          <p:cNvCxnSpPr>
            <a:cxnSpLocks/>
          </p:cNvCxnSpPr>
          <p:nvPr/>
        </p:nvCxnSpPr>
        <p:spPr>
          <a:xfrm>
            <a:off x="171450" y="4032048"/>
            <a:ext cx="8801100" cy="0"/>
          </a:xfrm>
          <a:prstGeom prst="line">
            <a:avLst/>
          </a:prstGeom>
          <a:ln w="9525">
            <a:solidFill>
              <a:srgbClr val="0396A6"/>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27D42151-EBF6-665F-273E-848424E4A823}"/>
              </a:ext>
            </a:extLst>
          </p:cNvPr>
          <p:cNvSpPr txBox="1"/>
          <p:nvPr/>
        </p:nvSpPr>
        <p:spPr>
          <a:xfrm>
            <a:off x="4408714" y="64309"/>
            <a:ext cx="4628748" cy="276999"/>
          </a:xfrm>
          <a:prstGeom prst="rect">
            <a:avLst/>
          </a:prstGeom>
          <a:noFill/>
        </p:spPr>
        <p:txBody>
          <a:bodyPr wrap="square" rtlCol="0">
            <a:spAutoFit/>
          </a:bodyPr>
          <a:lstStyle/>
          <a:p>
            <a:pPr algn="r"/>
            <a:r>
              <a:rPr lang="en-US" sz="1200" dirty="0">
                <a:solidFill>
                  <a:schemeClr val="bg1">
                    <a:lumMod val="50000"/>
                  </a:schemeClr>
                </a:solidFill>
              </a:rPr>
              <a:t>AI Operational Readiness • Pilot Readiness Framework</a:t>
            </a:r>
          </a:p>
        </p:txBody>
      </p:sp>
    </p:spTree>
    <p:extLst>
      <p:ext uri="{BB962C8B-B14F-4D97-AF65-F5344CB8AC3E}">
        <p14:creationId xmlns:p14="http://schemas.microsoft.com/office/powerpoint/2010/main" val="128817520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27A7E-267F-E943-FA01-B1970E7BDD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28B1DF-B016-E56A-C78B-FC91FDC1E9FF}"/>
              </a:ext>
            </a:extLst>
          </p:cNvPr>
          <p:cNvSpPr>
            <a:spLocks noGrp="1"/>
          </p:cNvSpPr>
          <p:nvPr>
            <p:ph type="title"/>
          </p:nvPr>
        </p:nvSpPr>
        <p:spPr>
          <a:xfrm>
            <a:off x="273534" y="-86630"/>
            <a:ext cx="7886700" cy="1325563"/>
          </a:xfrm>
        </p:spPr>
        <p:txBody>
          <a:bodyPr>
            <a:normAutofit/>
          </a:bodyPr>
          <a:lstStyle/>
          <a:p>
            <a:r>
              <a:rPr lang="en-US" sz="4000" dirty="0"/>
              <a:t>Pilot Decision</a:t>
            </a:r>
          </a:p>
        </p:txBody>
      </p:sp>
      <p:sp>
        <p:nvSpPr>
          <p:cNvPr id="9" name="Content Placeholder 2">
            <a:extLst>
              <a:ext uri="{FF2B5EF4-FFF2-40B4-BE49-F238E27FC236}">
                <a16:creationId xmlns:a16="http://schemas.microsoft.com/office/drawing/2014/main" id="{157333D5-0112-695F-B8A9-6B225AAE4BA5}"/>
              </a:ext>
            </a:extLst>
          </p:cNvPr>
          <p:cNvSpPr txBox="1">
            <a:spLocks/>
          </p:cNvSpPr>
          <p:nvPr/>
        </p:nvSpPr>
        <p:spPr>
          <a:xfrm>
            <a:off x="317078" y="844267"/>
            <a:ext cx="7886700" cy="299244"/>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Understanding whether to proceed, pause, redesign, or defer</a:t>
            </a:r>
          </a:p>
        </p:txBody>
      </p:sp>
      <p:graphicFrame>
        <p:nvGraphicFramePr>
          <p:cNvPr id="13" name="Table 12">
            <a:extLst>
              <a:ext uri="{FF2B5EF4-FFF2-40B4-BE49-F238E27FC236}">
                <a16:creationId xmlns:a16="http://schemas.microsoft.com/office/drawing/2014/main" id="{390E436A-C355-1643-8C85-26E4774CC2B2}"/>
              </a:ext>
            </a:extLst>
          </p:cNvPr>
          <p:cNvGraphicFramePr>
            <a:graphicFrameLocks noGrp="1"/>
          </p:cNvGraphicFramePr>
          <p:nvPr/>
        </p:nvGraphicFramePr>
        <p:xfrm>
          <a:off x="360622" y="2742730"/>
          <a:ext cx="8218714" cy="2319604"/>
        </p:xfrm>
        <a:graphic>
          <a:graphicData uri="http://schemas.openxmlformats.org/drawingml/2006/table">
            <a:tbl>
              <a:tblPr firstRow="1" bandRow="1">
                <a:tableStyleId>{2D5ABB26-0587-4C30-8999-92F81FD0307C}</a:tableStyleId>
              </a:tblPr>
              <a:tblGrid>
                <a:gridCol w="3287487">
                  <a:extLst>
                    <a:ext uri="{9D8B030D-6E8A-4147-A177-3AD203B41FA5}">
                      <a16:colId xmlns:a16="http://schemas.microsoft.com/office/drawing/2014/main" val="2470210094"/>
                    </a:ext>
                  </a:extLst>
                </a:gridCol>
                <a:gridCol w="4931227">
                  <a:extLst>
                    <a:ext uri="{9D8B030D-6E8A-4147-A177-3AD203B41FA5}">
                      <a16:colId xmlns:a16="http://schemas.microsoft.com/office/drawing/2014/main" val="72878264"/>
                    </a:ext>
                  </a:extLst>
                </a:gridCol>
              </a:tblGrid>
              <a:tr h="225602">
                <a:tc>
                  <a:txBody>
                    <a:bodyPr/>
                    <a:lstStyle/>
                    <a:p>
                      <a:r>
                        <a:rPr lang="en-US" sz="1400" b="1" dirty="0">
                          <a:solidFill>
                            <a:srgbClr val="021836"/>
                          </a:solidFill>
                        </a:rPr>
                        <a:t>Pilot Decision Elements</a:t>
                      </a:r>
                    </a:p>
                  </a:txBody>
                  <a:tcPr>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rgbClr val="0396A6"/>
                      </a:solidFill>
                      <a:prstDash val="solid"/>
                      <a:round/>
                      <a:headEnd type="none" w="med" len="med"/>
                      <a:tailEnd type="none" w="med" len="med"/>
                    </a:lnB>
                  </a:tcPr>
                </a:tc>
                <a:tc>
                  <a:txBody>
                    <a:bodyPr/>
                    <a:lstStyle/>
                    <a:p>
                      <a:r>
                        <a:rPr lang="en-US" sz="1400" b="1" dirty="0">
                          <a:solidFill>
                            <a:srgbClr val="021836"/>
                          </a:solidFill>
                        </a:rPr>
                        <a:t>Proposed Design</a:t>
                      </a:r>
                    </a:p>
                  </a:txBody>
                  <a:tcPr>
                    <a:lnL w="12700" cap="flat" cmpd="sng" algn="ctr">
                      <a:solidFill>
                        <a:schemeClr val="bg1">
                          <a:lumMod val="75000"/>
                        </a:schemeClr>
                      </a:solidFill>
                      <a:prstDash val="solid"/>
                      <a:round/>
                      <a:headEnd type="none" w="med" len="med"/>
                      <a:tailEnd type="none" w="med" len="med"/>
                    </a:lnL>
                    <a:lnT w="12700" cap="flat" cmpd="sng" algn="ctr">
                      <a:solidFill>
                        <a:srgbClr val="0396A6"/>
                      </a:solidFill>
                      <a:prstDash val="solid"/>
                      <a:round/>
                      <a:headEnd type="none" w="med" len="med"/>
                      <a:tailEnd type="none" w="med" len="med"/>
                    </a:lnT>
                    <a:lnB w="12700" cap="flat" cmpd="sng" algn="ctr">
                      <a:solidFill>
                        <a:srgbClr val="0396A6"/>
                      </a:solidFill>
                      <a:prstDash val="solid"/>
                      <a:round/>
                      <a:headEnd type="none" w="med" len="med"/>
                      <a:tailEnd type="none" w="med" len="med"/>
                    </a:lnB>
                  </a:tcPr>
                </a:tc>
                <a:extLst>
                  <a:ext uri="{0D108BD9-81ED-4DB2-BD59-A6C34878D82A}">
                    <a16:rowId xmlns:a16="http://schemas.microsoft.com/office/drawing/2014/main" val="2061593276"/>
                  </a:ext>
                </a:extLst>
              </a:tr>
              <a:tr h="248163">
                <a:tc>
                  <a:txBody>
                    <a:bodyPr/>
                    <a:lstStyle/>
                    <a:p>
                      <a:pPr>
                        <a:buClr>
                          <a:schemeClr val="bg1">
                            <a:lumMod val="50000"/>
                          </a:schemeClr>
                        </a:buClr>
                      </a:pPr>
                      <a:r>
                        <a:rPr lang="en-US" sz="1200" dirty="0"/>
                        <a:t>Proceed Criteria</a:t>
                      </a:r>
                    </a:p>
                  </a:txBody>
                  <a:tcPr>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600" dirty="0"/>
                    </a:p>
                  </a:txBody>
                  <a:tcPr>
                    <a:lnL w="12700" cap="flat" cmpd="sng" algn="ctr">
                      <a:solidFill>
                        <a:schemeClr val="bg1">
                          <a:lumMod val="75000"/>
                        </a:schemeClr>
                      </a:solidFill>
                      <a:prstDash val="solid"/>
                      <a:round/>
                      <a:headEnd type="none" w="med" len="med"/>
                      <a:tailEnd type="none" w="med" len="med"/>
                    </a:lnL>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493753442"/>
                  </a:ext>
                </a:extLst>
              </a:tr>
              <a:tr h="248163">
                <a:tc>
                  <a:txBody>
                    <a:bodyPr/>
                    <a:lstStyle/>
                    <a:p>
                      <a:pPr>
                        <a:buClr>
                          <a:schemeClr val="bg1">
                            <a:lumMod val="50000"/>
                          </a:schemeClr>
                        </a:buClr>
                      </a:pPr>
                      <a:r>
                        <a:rPr lang="en-US" sz="1200" dirty="0"/>
                        <a:t>Pause Criteria</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600" dirty="0"/>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23325965"/>
                  </a:ext>
                </a:extLst>
              </a:tr>
              <a:tr h="248163">
                <a:tc>
                  <a:txBody>
                    <a:bodyPr/>
                    <a:lstStyle/>
                    <a:p>
                      <a:pPr>
                        <a:buClr>
                          <a:schemeClr val="bg1">
                            <a:lumMod val="50000"/>
                          </a:schemeClr>
                        </a:buClr>
                      </a:pPr>
                      <a:r>
                        <a:rPr lang="en-US" sz="1200" dirty="0"/>
                        <a:t>Redesign Criteria</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600" dirty="0"/>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845834834"/>
                  </a:ext>
                </a:extLst>
              </a:tr>
              <a:tr h="248163">
                <a:tc>
                  <a:txBody>
                    <a:bodyPr/>
                    <a:lstStyle/>
                    <a:p>
                      <a:pPr>
                        <a:buClr>
                          <a:schemeClr val="bg1">
                            <a:lumMod val="50000"/>
                          </a:schemeClr>
                        </a:buClr>
                      </a:pPr>
                      <a:r>
                        <a:rPr lang="en-US" sz="1200" dirty="0"/>
                        <a:t>Defer Criteria</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600" dirty="0"/>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012176639"/>
                  </a:ext>
                </a:extLst>
              </a:tr>
              <a:tr h="248163">
                <a:tc>
                  <a:txBody>
                    <a:bodyPr/>
                    <a:lstStyle/>
                    <a:p>
                      <a:pPr>
                        <a:buClr>
                          <a:schemeClr val="bg1">
                            <a:lumMod val="50000"/>
                          </a:schemeClr>
                        </a:buClr>
                      </a:pPr>
                      <a:r>
                        <a:rPr lang="en-US" sz="1200" dirty="0"/>
                        <a:t>Decision Owner</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600" dirty="0"/>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645799316"/>
                  </a:ext>
                </a:extLst>
              </a:tr>
              <a:tr h="338404">
                <a:tc>
                  <a:txBody>
                    <a:bodyPr/>
                    <a:lstStyle/>
                    <a:p>
                      <a:pPr>
                        <a:buClr>
                          <a:schemeClr val="bg1">
                            <a:lumMod val="50000"/>
                          </a:schemeClr>
                        </a:buClr>
                      </a:pPr>
                      <a:r>
                        <a:rPr lang="en-US" sz="1200" dirty="0"/>
                        <a:t>Unresolved Dependencies/Conditions</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600" dirty="0"/>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738450599"/>
                  </a:ext>
                </a:extLst>
              </a:tr>
            </a:tbl>
          </a:graphicData>
        </a:graphic>
      </p:graphicFrame>
      <p:cxnSp>
        <p:nvCxnSpPr>
          <p:cNvPr id="14" name="Straight Connector 13">
            <a:extLst>
              <a:ext uri="{FF2B5EF4-FFF2-40B4-BE49-F238E27FC236}">
                <a16:creationId xmlns:a16="http://schemas.microsoft.com/office/drawing/2014/main" id="{6BB44AE2-624D-4617-A391-C2F69580E966}"/>
              </a:ext>
            </a:extLst>
          </p:cNvPr>
          <p:cNvCxnSpPr>
            <a:cxnSpLocks/>
          </p:cNvCxnSpPr>
          <p:nvPr/>
        </p:nvCxnSpPr>
        <p:spPr>
          <a:xfrm>
            <a:off x="171450" y="5283901"/>
            <a:ext cx="8801100" cy="0"/>
          </a:xfrm>
          <a:prstGeom prst="line">
            <a:avLst/>
          </a:prstGeom>
          <a:ln w="9525">
            <a:solidFill>
              <a:srgbClr val="0396A6"/>
            </a:solidFill>
          </a:ln>
        </p:spPr>
        <p:style>
          <a:lnRef idx="2">
            <a:schemeClr val="accent1"/>
          </a:lnRef>
          <a:fillRef idx="0">
            <a:schemeClr val="accent1"/>
          </a:fillRef>
          <a:effectRef idx="1">
            <a:schemeClr val="accent1"/>
          </a:effectRef>
          <a:fontRef idx="minor">
            <a:schemeClr val="tx1"/>
          </a:fontRef>
        </p:style>
      </p:cxnSp>
      <p:grpSp>
        <p:nvGrpSpPr>
          <p:cNvPr id="15" name="Group 14">
            <a:extLst>
              <a:ext uri="{FF2B5EF4-FFF2-40B4-BE49-F238E27FC236}">
                <a16:creationId xmlns:a16="http://schemas.microsoft.com/office/drawing/2014/main" id="{95CC8390-C655-BBA3-D8F5-6C3AF1F26414}"/>
              </a:ext>
            </a:extLst>
          </p:cNvPr>
          <p:cNvGrpSpPr/>
          <p:nvPr/>
        </p:nvGrpSpPr>
        <p:grpSpPr>
          <a:xfrm>
            <a:off x="333374" y="5368387"/>
            <a:ext cx="7913948" cy="820961"/>
            <a:chOff x="628650" y="4778376"/>
            <a:chExt cx="7913948" cy="820961"/>
          </a:xfrm>
        </p:grpSpPr>
        <p:sp>
          <p:nvSpPr>
            <p:cNvPr id="16" name="Content Placeholder 2">
              <a:extLst>
                <a:ext uri="{FF2B5EF4-FFF2-40B4-BE49-F238E27FC236}">
                  <a16:creationId xmlns:a16="http://schemas.microsoft.com/office/drawing/2014/main" id="{2F093245-D43A-EA38-C5AA-2E2C91F01908}"/>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400" b="1" dirty="0">
                  <a:solidFill>
                    <a:srgbClr val="021836"/>
                  </a:solidFill>
                  <a:latin typeface="Aptos" panose="02110004020202020204"/>
                </a:rPr>
                <a:t>Pilot Decision</a:t>
              </a: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 Signals</a:t>
              </a:r>
            </a:p>
          </p:txBody>
        </p:sp>
        <p:sp>
          <p:nvSpPr>
            <p:cNvPr id="17" name="Content Placeholder 2">
              <a:extLst>
                <a:ext uri="{FF2B5EF4-FFF2-40B4-BE49-F238E27FC236}">
                  <a16:creationId xmlns:a16="http://schemas.microsoft.com/office/drawing/2014/main" id="{96236C15-D096-EADD-8B0C-1FE1FC292112}"/>
                </a:ext>
              </a:extLst>
            </p:cNvPr>
            <p:cNvSpPr txBox="1">
              <a:spLocks/>
            </p:cNvSpPr>
            <p:nvPr/>
          </p:nvSpPr>
          <p:spPr>
            <a:xfrm>
              <a:off x="628650" y="5032600"/>
              <a:ext cx="7913948" cy="566737"/>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Clr>
                  <a:srgbClr val="021836"/>
                </a:buClr>
                <a:buNone/>
                <a:defRPr/>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Clear sponsor • Defined workflow • Assigned decision rights • Evidence plan ready • Support owner</a:t>
              </a:r>
              <a:r>
                <a:rPr lang="en-US" sz="1200" i="1" dirty="0">
                  <a:solidFill>
                    <a:prstClr val="white">
                      <a:lumMod val="50000"/>
                    </a:prstClr>
                  </a:solidFill>
                </a:rPr>
                <a:t> identified • Fallback path available</a:t>
              </a:r>
              <a:endPar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endParaRPr>
            </a:p>
          </p:txBody>
        </p:sp>
      </p:grpSp>
      <p:grpSp>
        <p:nvGrpSpPr>
          <p:cNvPr id="18" name="Group 17">
            <a:extLst>
              <a:ext uri="{FF2B5EF4-FFF2-40B4-BE49-F238E27FC236}">
                <a16:creationId xmlns:a16="http://schemas.microsoft.com/office/drawing/2014/main" id="{820A7A7C-F56F-902C-5FF4-85E94D14360C}"/>
              </a:ext>
            </a:extLst>
          </p:cNvPr>
          <p:cNvGrpSpPr/>
          <p:nvPr/>
        </p:nvGrpSpPr>
        <p:grpSpPr>
          <a:xfrm>
            <a:off x="317078" y="6106920"/>
            <a:ext cx="7886700" cy="595537"/>
            <a:chOff x="628650" y="4778376"/>
            <a:chExt cx="7886700" cy="595537"/>
          </a:xfrm>
        </p:grpSpPr>
        <p:sp>
          <p:nvSpPr>
            <p:cNvPr id="19" name="Content Placeholder 2">
              <a:extLst>
                <a:ext uri="{FF2B5EF4-FFF2-40B4-BE49-F238E27FC236}">
                  <a16:creationId xmlns:a16="http://schemas.microsoft.com/office/drawing/2014/main" id="{F43208BA-4413-26FB-63ED-9401D03999C8}"/>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Guiding Principle</a:t>
              </a:r>
            </a:p>
          </p:txBody>
        </p:sp>
        <p:sp>
          <p:nvSpPr>
            <p:cNvPr id="20" name="Content Placeholder 2">
              <a:extLst>
                <a:ext uri="{FF2B5EF4-FFF2-40B4-BE49-F238E27FC236}">
                  <a16:creationId xmlns:a16="http://schemas.microsoft.com/office/drawing/2014/main" id="{50BEF9E2-CC9E-9B10-C75D-D228827CBF4B}"/>
                </a:ext>
              </a:extLst>
            </p:cNvPr>
            <p:cNvSpPr txBox="1">
              <a:spLocks/>
            </p:cNvSpPr>
            <p:nvPr/>
          </p:nvSpPr>
          <p:spPr>
            <a:xfrm>
              <a:off x="628650" y="5032601"/>
              <a:ext cx="7886700" cy="341312"/>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kumimoji="0" lang="en-US" sz="1200" b="0" i="0" u="none" strike="noStrike" kern="1200" cap="none" spc="0" normalizeH="0" baseline="0" noProof="0" dirty="0">
                  <a:ln>
                    <a:noFill/>
                  </a:ln>
                  <a:solidFill>
                    <a:srgbClr val="021836"/>
                  </a:solidFill>
                  <a:effectLst/>
                  <a:uLnTx/>
                  <a:uFillTx/>
                  <a:latin typeface="Aptos" panose="02110004020202020204"/>
                  <a:ea typeface="+mn-ea"/>
                  <a:cs typeface="+mn-cs"/>
                </a:rPr>
                <a:t>Pilot readiness is a decision, not a feeling.</a:t>
              </a:r>
              <a:endPar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endParaRPr>
            </a:p>
          </p:txBody>
        </p:sp>
      </p:grpSp>
      <p:sp>
        <p:nvSpPr>
          <p:cNvPr id="3" name="Content Placeholder 2">
            <a:extLst>
              <a:ext uri="{FF2B5EF4-FFF2-40B4-BE49-F238E27FC236}">
                <a16:creationId xmlns:a16="http://schemas.microsoft.com/office/drawing/2014/main" id="{71D682B7-9326-EC6B-DF51-E682B5E2DD00}"/>
              </a:ext>
            </a:extLst>
          </p:cNvPr>
          <p:cNvSpPr txBox="1">
            <a:spLocks/>
          </p:cNvSpPr>
          <p:nvPr/>
        </p:nvSpPr>
        <p:spPr>
          <a:xfrm>
            <a:off x="360622" y="1127773"/>
            <a:ext cx="7886700" cy="179285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Questions</a:t>
            </a:r>
          </a:p>
          <a:p>
            <a:pPr marL="228600" marR="0" lvl="0" indent="-22860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rPr>
              <a:t>Is the business case clear?</a:t>
            </a:r>
          </a:p>
          <a:p>
            <a:pPr marL="228600" marR="0" lvl="0" indent="-22860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rPr>
              <a:t>Is the workflow defined?</a:t>
            </a:r>
          </a:p>
          <a:p>
            <a:pPr marL="228600" marR="0" lvl="0" indent="-22860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lang="en-US" sz="1200" dirty="0">
                <a:solidFill>
                  <a:prstClr val="black"/>
                </a:solidFill>
                <a:latin typeface="Aptos" panose="02110004020202020204"/>
              </a:rPr>
              <a:t>Are governance controls assigned and executable?</a:t>
            </a:r>
          </a:p>
          <a:p>
            <a:pPr marL="228600" marR="0" lvl="0" indent="-22860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rPr>
              <a:t>Can the required evidence actually be captured and evaluated?</a:t>
            </a:r>
          </a:p>
          <a:p>
            <a:pPr marL="228600" marR="0" lvl="0" indent="-22860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lang="en-US" sz="1200" dirty="0">
                <a:solidFill>
                  <a:prstClr val="black"/>
                </a:solidFill>
                <a:latin typeface="Aptos" panose="02110004020202020204"/>
              </a:rPr>
              <a:t>Are support and fallback paths in place?</a:t>
            </a:r>
          </a:p>
          <a:p>
            <a:pPr marL="228600" marR="0" lvl="0" indent="-22860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rPr>
              <a:t>What unresolved dependencies or conditions must be accepted before proceeding?</a:t>
            </a:r>
          </a:p>
        </p:txBody>
      </p:sp>
      <p:sp>
        <p:nvSpPr>
          <p:cNvPr id="5" name="TextBox 4">
            <a:extLst>
              <a:ext uri="{FF2B5EF4-FFF2-40B4-BE49-F238E27FC236}">
                <a16:creationId xmlns:a16="http://schemas.microsoft.com/office/drawing/2014/main" id="{1BD7E052-EE8F-CE99-8DB0-D03E5970B439}"/>
              </a:ext>
            </a:extLst>
          </p:cNvPr>
          <p:cNvSpPr txBox="1"/>
          <p:nvPr/>
        </p:nvSpPr>
        <p:spPr>
          <a:xfrm>
            <a:off x="4408714" y="64309"/>
            <a:ext cx="4628748" cy="276999"/>
          </a:xfrm>
          <a:prstGeom prst="rect">
            <a:avLst/>
          </a:prstGeom>
          <a:noFill/>
        </p:spPr>
        <p:txBody>
          <a:bodyPr wrap="square" rtlCol="0">
            <a:spAutoFit/>
          </a:bodyPr>
          <a:lstStyle/>
          <a:p>
            <a:pPr algn="r"/>
            <a:r>
              <a:rPr lang="en-US" sz="1200" dirty="0">
                <a:solidFill>
                  <a:schemeClr val="bg1">
                    <a:lumMod val="50000"/>
                  </a:schemeClr>
                </a:solidFill>
              </a:rPr>
              <a:t>AI Operational Readiness • Pilot Readiness Framework</a:t>
            </a:r>
          </a:p>
        </p:txBody>
      </p:sp>
    </p:spTree>
    <p:extLst>
      <p:ext uri="{BB962C8B-B14F-4D97-AF65-F5344CB8AC3E}">
        <p14:creationId xmlns:p14="http://schemas.microsoft.com/office/powerpoint/2010/main" val="321213835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BC152-D77E-272F-50F0-DA8BC4AE31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201440-84C8-24CD-E259-2451F8074DD4}"/>
              </a:ext>
            </a:extLst>
          </p:cNvPr>
          <p:cNvSpPr>
            <a:spLocks noGrp="1"/>
          </p:cNvSpPr>
          <p:nvPr>
            <p:ph type="title"/>
          </p:nvPr>
        </p:nvSpPr>
        <p:spPr>
          <a:xfrm>
            <a:off x="273534" y="131090"/>
            <a:ext cx="7886700" cy="1325563"/>
          </a:xfrm>
        </p:spPr>
        <p:txBody>
          <a:bodyPr>
            <a:normAutofit/>
          </a:bodyPr>
          <a:lstStyle/>
          <a:p>
            <a:r>
              <a:rPr lang="en-US" sz="4000" dirty="0"/>
              <a:t>Example Pilot Readiness Profile</a:t>
            </a:r>
          </a:p>
        </p:txBody>
      </p:sp>
      <p:sp>
        <p:nvSpPr>
          <p:cNvPr id="7" name="Content Placeholder 2">
            <a:extLst>
              <a:ext uri="{FF2B5EF4-FFF2-40B4-BE49-F238E27FC236}">
                <a16:creationId xmlns:a16="http://schemas.microsoft.com/office/drawing/2014/main" id="{BBDE7A69-6D30-8031-5547-6F874C40BF8C}"/>
              </a:ext>
            </a:extLst>
          </p:cNvPr>
          <p:cNvSpPr txBox="1">
            <a:spLocks/>
          </p:cNvSpPr>
          <p:nvPr/>
        </p:nvSpPr>
        <p:spPr>
          <a:xfrm>
            <a:off x="295306" y="1492308"/>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600" b="1" i="0" u="none" strike="noStrike" kern="1200" cap="none" spc="0" normalizeH="0" baseline="0" noProof="0" dirty="0">
                <a:ln>
                  <a:noFill/>
                </a:ln>
                <a:solidFill>
                  <a:srgbClr val="021836"/>
                </a:solidFill>
                <a:effectLst/>
                <a:uLnTx/>
                <a:uFillTx/>
                <a:latin typeface="Aptos" panose="02110004020202020204"/>
                <a:ea typeface="+mn-ea"/>
                <a:cs typeface="+mn-cs"/>
              </a:rPr>
              <a:t>Opportunity: </a:t>
            </a:r>
            <a:r>
              <a:rPr kumimoji="0" lang="en-US" sz="1600" i="0" u="none" strike="noStrike" kern="1200" cap="none" spc="0" normalizeH="0" baseline="0" noProof="0" dirty="0">
                <a:ln>
                  <a:noFill/>
                </a:ln>
                <a:solidFill>
                  <a:srgbClr val="021836"/>
                </a:solidFill>
                <a:effectLst/>
                <a:uLnTx/>
                <a:uFillTx/>
                <a:latin typeface="Aptos" panose="02110004020202020204"/>
                <a:ea typeface="+mn-ea"/>
                <a:cs typeface="+mn-cs"/>
              </a:rPr>
              <a:t>Meeting Summary Assistant</a:t>
            </a:r>
          </a:p>
        </p:txBody>
      </p:sp>
      <p:sp>
        <p:nvSpPr>
          <p:cNvPr id="9" name="Content Placeholder 2">
            <a:extLst>
              <a:ext uri="{FF2B5EF4-FFF2-40B4-BE49-F238E27FC236}">
                <a16:creationId xmlns:a16="http://schemas.microsoft.com/office/drawing/2014/main" id="{E275B4CB-735A-C66D-9392-D29DD89C603E}"/>
              </a:ext>
            </a:extLst>
          </p:cNvPr>
          <p:cNvSpPr txBox="1">
            <a:spLocks/>
          </p:cNvSpPr>
          <p:nvPr/>
        </p:nvSpPr>
        <p:spPr>
          <a:xfrm>
            <a:off x="317078" y="1061987"/>
            <a:ext cx="7886700" cy="299244"/>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lang="en-US" sz="1200" i="1" dirty="0">
                <a:solidFill>
                  <a:prstClr val="white">
                    <a:lumMod val="50000"/>
                  </a:prstClr>
                </a:solidFill>
                <a:latin typeface="Aptos" panose="02110004020202020204"/>
              </a:rPr>
              <a:t>Illustrating the framework in practice</a:t>
            </a:r>
            <a:endPar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endParaRPr>
          </a:p>
        </p:txBody>
      </p:sp>
      <p:graphicFrame>
        <p:nvGraphicFramePr>
          <p:cNvPr id="15" name="Table 14">
            <a:extLst>
              <a:ext uri="{FF2B5EF4-FFF2-40B4-BE49-F238E27FC236}">
                <a16:creationId xmlns:a16="http://schemas.microsoft.com/office/drawing/2014/main" id="{9B1EA67E-F289-87C1-F433-FA009AA5D3F5}"/>
              </a:ext>
            </a:extLst>
          </p:cNvPr>
          <p:cNvGraphicFramePr>
            <a:graphicFrameLocks noGrp="1"/>
          </p:cNvGraphicFramePr>
          <p:nvPr/>
        </p:nvGraphicFramePr>
        <p:xfrm>
          <a:off x="317078" y="1905059"/>
          <a:ext cx="8218714" cy="3846595"/>
        </p:xfrm>
        <a:graphic>
          <a:graphicData uri="http://schemas.openxmlformats.org/drawingml/2006/table">
            <a:tbl>
              <a:tblPr firstRow="1" bandRow="1">
                <a:tableStyleId>{2D5ABB26-0587-4C30-8999-92F81FD0307C}</a:tableStyleId>
              </a:tblPr>
              <a:tblGrid>
                <a:gridCol w="4109357">
                  <a:extLst>
                    <a:ext uri="{9D8B030D-6E8A-4147-A177-3AD203B41FA5}">
                      <a16:colId xmlns:a16="http://schemas.microsoft.com/office/drawing/2014/main" val="2470210094"/>
                    </a:ext>
                  </a:extLst>
                </a:gridCol>
                <a:gridCol w="4109357">
                  <a:extLst>
                    <a:ext uri="{9D8B030D-6E8A-4147-A177-3AD203B41FA5}">
                      <a16:colId xmlns:a16="http://schemas.microsoft.com/office/drawing/2014/main" val="72878264"/>
                    </a:ext>
                  </a:extLst>
                </a:gridCol>
              </a:tblGrid>
              <a:tr h="364899">
                <a:tc>
                  <a:txBody>
                    <a:bodyPr/>
                    <a:lstStyle/>
                    <a:p>
                      <a:r>
                        <a:rPr lang="en-US" sz="1400" b="1" dirty="0">
                          <a:solidFill>
                            <a:srgbClr val="021836"/>
                          </a:solidFill>
                        </a:rPr>
                        <a:t>Readiness Area</a:t>
                      </a:r>
                    </a:p>
                  </a:txBody>
                  <a:tcPr marT="27432" marB="27432">
                    <a:lnR w="12700" cap="flat" cmpd="sng" algn="ctr">
                      <a:solidFill>
                        <a:schemeClr val="bg1">
                          <a:lumMod val="75000"/>
                        </a:schemeClr>
                      </a:solidFill>
                      <a:prstDash val="solid"/>
                      <a:round/>
                      <a:headEnd type="none" w="med" len="med"/>
                      <a:tailEnd type="none" w="med" len="med"/>
                    </a:lnR>
                    <a:lnB w="12700" cap="flat" cmpd="sng" algn="ctr">
                      <a:solidFill>
                        <a:srgbClr val="0396A6"/>
                      </a:solidFill>
                      <a:prstDash val="solid"/>
                      <a:round/>
                      <a:headEnd type="none" w="med" len="med"/>
                      <a:tailEnd type="none" w="med" len="med"/>
                    </a:lnB>
                  </a:tcPr>
                </a:tc>
                <a:tc>
                  <a:txBody>
                    <a:bodyPr/>
                    <a:lstStyle/>
                    <a:p>
                      <a:r>
                        <a:rPr lang="en-US" sz="1400" b="1" dirty="0">
                          <a:solidFill>
                            <a:srgbClr val="021836"/>
                          </a:solidFill>
                        </a:rPr>
                        <a:t>Proposed Design Summary</a:t>
                      </a:r>
                    </a:p>
                  </a:txBody>
                  <a:tcPr marT="27432" marB="27432">
                    <a:lnL w="12700" cap="flat" cmpd="sng" algn="ctr">
                      <a:solidFill>
                        <a:schemeClr val="bg1">
                          <a:lumMod val="75000"/>
                        </a:schemeClr>
                      </a:solidFill>
                      <a:prstDash val="solid"/>
                      <a:round/>
                      <a:headEnd type="none" w="med" len="med"/>
                      <a:tailEnd type="none" w="med" len="med"/>
                    </a:lnL>
                    <a:lnB w="12700" cap="flat" cmpd="sng" algn="ctr">
                      <a:solidFill>
                        <a:srgbClr val="0396A6"/>
                      </a:solidFill>
                      <a:prstDash val="solid"/>
                      <a:round/>
                      <a:headEnd type="none" w="med" len="med"/>
                      <a:tailEnd type="none" w="med" len="med"/>
                    </a:lnB>
                  </a:tcPr>
                </a:tc>
                <a:extLst>
                  <a:ext uri="{0D108BD9-81ED-4DB2-BD59-A6C34878D82A}">
                    <a16:rowId xmlns:a16="http://schemas.microsoft.com/office/drawing/2014/main" val="2061593276"/>
                  </a:ext>
                </a:extLst>
              </a:tr>
              <a:tr h="387536">
                <a:tc>
                  <a:txBody>
                    <a:bodyPr/>
                    <a:lstStyle/>
                    <a:p>
                      <a:pPr>
                        <a:buClr>
                          <a:schemeClr val="bg1">
                            <a:lumMod val="50000"/>
                          </a:schemeClr>
                        </a:buClr>
                      </a:pPr>
                      <a:r>
                        <a:rPr lang="en-US" sz="1200" dirty="0"/>
                        <a:t>Business Fit</a:t>
                      </a:r>
                    </a:p>
                  </a:txBody>
                  <a:tcPr marT="27432" marB="27432">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200" dirty="0"/>
                        <a:t>Reduced summary preparation time and improved follow-up consistency.</a:t>
                      </a:r>
                    </a:p>
                  </a:txBody>
                  <a:tcPr marT="27432" marB="27432">
                    <a:lnL w="12700" cap="flat" cmpd="sng" algn="ctr">
                      <a:solidFill>
                        <a:schemeClr val="bg1">
                          <a:lumMod val="75000"/>
                        </a:schemeClr>
                      </a:solidFill>
                      <a:prstDash val="solid"/>
                      <a:round/>
                      <a:headEnd type="none" w="med" len="med"/>
                      <a:tailEnd type="none" w="med" len="med"/>
                    </a:lnL>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493753442"/>
                  </a:ext>
                </a:extLst>
              </a:tr>
              <a:tr h="387536">
                <a:tc>
                  <a:txBody>
                    <a:bodyPr/>
                    <a:lstStyle/>
                    <a:p>
                      <a:pPr>
                        <a:buClr>
                          <a:schemeClr val="bg1">
                            <a:lumMod val="50000"/>
                          </a:schemeClr>
                        </a:buClr>
                      </a:pPr>
                      <a:r>
                        <a:rPr lang="en-US" sz="1200" b="0" dirty="0">
                          <a:solidFill>
                            <a:srgbClr val="021836"/>
                          </a:solidFill>
                        </a:rPr>
                        <a:t>Workflow Readiness</a:t>
                      </a:r>
                    </a:p>
                  </a:txBody>
                  <a:tcPr marT="27432" marB="27432">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200" dirty="0"/>
                        <a:t>AI draft summaries; manager reviews before distribution</a:t>
                      </a:r>
                    </a:p>
                  </a:txBody>
                  <a:tcPr marT="27432" marB="27432">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23325965"/>
                  </a:ext>
                </a:extLst>
              </a:tr>
              <a:tr h="387536">
                <a:tc>
                  <a:txBody>
                    <a:bodyPr/>
                    <a:lstStyle/>
                    <a:p>
                      <a:pPr>
                        <a:buClr>
                          <a:schemeClr val="bg1">
                            <a:lumMod val="50000"/>
                          </a:schemeClr>
                        </a:buClr>
                      </a:pPr>
                      <a:r>
                        <a:rPr lang="en-US" sz="1200" b="0" dirty="0">
                          <a:solidFill>
                            <a:srgbClr val="021836"/>
                          </a:solidFill>
                        </a:rPr>
                        <a:t>Technical Readiness</a:t>
                      </a:r>
                    </a:p>
                  </a:txBody>
                  <a:tcPr marT="27432" marB="27432">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200" dirty="0"/>
                        <a:t>Meeting transcripts available; required logging enabled; pilot limited to internal meetings</a:t>
                      </a:r>
                    </a:p>
                  </a:txBody>
                  <a:tcPr marT="27432" marB="27432">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845834834"/>
                  </a:ext>
                </a:extLst>
              </a:tr>
              <a:tr h="387536">
                <a:tc>
                  <a:txBody>
                    <a:bodyPr/>
                    <a:lstStyle/>
                    <a:p>
                      <a:pPr>
                        <a:buClr>
                          <a:schemeClr val="bg1">
                            <a:lumMod val="50000"/>
                          </a:schemeClr>
                        </a:buClr>
                      </a:pPr>
                      <a:r>
                        <a:rPr lang="en-US" sz="1200" b="0" dirty="0">
                          <a:solidFill>
                            <a:srgbClr val="021836"/>
                          </a:solidFill>
                        </a:rPr>
                        <a:t>Governance Readiness</a:t>
                      </a:r>
                    </a:p>
                  </a:txBody>
                  <a:tcPr marT="27432" marB="27432">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200" dirty="0"/>
                        <a:t>Manager reviews and approves distribution, escalates sensitive topics, and may suspend AI assistance</a:t>
                      </a:r>
                    </a:p>
                  </a:txBody>
                  <a:tcPr marT="27432" marB="27432">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012176639"/>
                  </a:ext>
                </a:extLst>
              </a:tr>
              <a:tr h="387536">
                <a:tc>
                  <a:txBody>
                    <a:bodyPr/>
                    <a:lstStyle/>
                    <a:p>
                      <a:pPr>
                        <a:buClr>
                          <a:schemeClr val="bg1">
                            <a:lumMod val="50000"/>
                          </a:schemeClr>
                        </a:buClr>
                      </a:pPr>
                      <a:r>
                        <a:rPr lang="en-US" sz="1200" b="0" dirty="0">
                          <a:solidFill>
                            <a:srgbClr val="021836"/>
                          </a:solidFill>
                        </a:rPr>
                        <a:t>Evidence Readiness</a:t>
                      </a:r>
                    </a:p>
                  </a:txBody>
                  <a:tcPr marT="27432" marB="27432">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200" dirty="0"/>
                        <a:t>Track time saved, correction rate, user satisfaction, and escalation count</a:t>
                      </a:r>
                    </a:p>
                  </a:txBody>
                  <a:tcPr marT="27432" marB="27432">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567521445"/>
                  </a:ext>
                </a:extLst>
              </a:tr>
              <a:tr h="387536">
                <a:tc>
                  <a:txBody>
                    <a:bodyPr/>
                    <a:lstStyle/>
                    <a:p>
                      <a:pPr>
                        <a:buClr>
                          <a:schemeClr val="bg1">
                            <a:lumMod val="50000"/>
                          </a:schemeClr>
                        </a:buClr>
                      </a:pPr>
                      <a:r>
                        <a:rPr lang="en-US" sz="1200" b="0" dirty="0">
                          <a:solidFill>
                            <a:srgbClr val="021836"/>
                          </a:solidFill>
                        </a:rPr>
                        <a:t>Operational Support</a:t>
                      </a:r>
                    </a:p>
                  </a:txBody>
                  <a:tcPr marT="27432" marB="27432">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200" dirty="0"/>
                        <a:t>Provide user guidance, issue reporting path, and manual fallback</a:t>
                      </a:r>
                    </a:p>
                  </a:txBody>
                  <a:tcPr marT="27432" marB="27432">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572660360"/>
                  </a:ext>
                </a:extLst>
              </a:tr>
              <a:tr h="387536">
                <a:tc>
                  <a:txBody>
                    <a:bodyPr/>
                    <a:lstStyle/>
                    <a:p>
                      <a:pPr>
                        <a:buClr>
                          <a:schemeClr val="bg1">
                            <a:lumMod val="50000"/>
                          </a:schemeClr>
                        </a:buClr>
                      </a:pPr>
                      <a:r>
                        <a:rPr lang="en-US" sz="1200" b="0" dirty="0">
                          <a:solidFill>
                            <a:srgbClr val="021836"/>
                          </a:solidFill>
                        </a:rPr>
                        <a:t>Pilot Decision</a:t>
                      </a:r>
                    </a:p>
                  </a:txBody>
                  <a:tcPr marT="27432" marB="27432">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200" dirty="0"/>
                        <a:t>Proceed with 30-day internal pilot</a:t>
                      </a:r>
                    </a:p>
                  </a:txBody>
                  <a:tcPr marT="27432" marB="27432">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555905732"/>
                  </a:ext>
                </a:extLst>
              </a:tr>
              <a:tr h="387536">
                <a:tc>
                  <a:txBody>
                    <a:bodyPr/>
                    <a:lstStyle/>
                    <a:p>
                      <a:pPr>
                        <a:buClr>
                          <a:schemeClr val="bg1">
                            <a:lumMod val="50000"/>
                          </a:schemeClr>
                        </a:buClr>
                      </a:pPr>
                      <a:r>
                        <a:rPr lang="en-US" sz="1200" b="0" dirty="0">
                          <a:solidFill>
                            <a:srgbClr val="021836"/>
                          </a:solidFill>
                        </a:rPr>
                        <a:t>Pilot Boundaries &amp; Learning</a:t>
                      </a:r>
                    </a:p>
                  </a:txBody>
                  <a:tcPr marT="27432" marB="27432">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200" dirty="0"/>
                        <a:t>30-day internal pilot with selected managers; test time savings, correction burden, escalation handling, and whether review controls work in practice.</a:t>
                      </a:r>
                    </a:p>
                  </a:txBody>
                  <a:tcPr marT="27432" marB="27432">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897532011"/>
                  </a:ext>
                </a:extLst>
              </a:tr>
            </a:tbl>
          </a:graphicData>
        </a:graphic>
      </p:graphicFrame>
      <p:grpSp>
        <p:nvGrpSpPr>
          <p:cNvPr id="3" name="Group 2">
            <a:extLst>
              <a:ext uri="{FF2B5EF4-FFF2-40B4-BE49-F238E27FC236}">
                <a16:creationId xmlns:a16="http://schemas.microsoft.com/office/drawing/2014/main" id="{D9775A52-848F-D50F-A41D-5C37DFD3E67E}"/>
              </a:ext>
            </a:extLst>
          </p:cNvPr>
          <p:cNvGrpSpPr/>
          <p:nvPr/>
        </p:nvGrpSpPr>
        <p:grpSpPr>
          <a:xfrm>
            <a:off x="317078" y="5948377"/>
            <a:ext cx="7886700" cy="595537"/>
            <a:chOff x="628650" y="4778376"/>
            <a:chExt cx="7886700" cy="595537"/>
          </a:xfrm>
        </p:grpSpPr>
        <p:sp>
          <p:nvSpPr>
            <p:cNvPr id="4" name="Content Placeholder 2">
              <a:extLst>
                <a:ext uri="{FF2B5EF4-FFF2-40B4-BE49-F238E27FC236}">
                  <a16:creationId xmlns:a16="http://schemas.microsoft.com/office/drawing/2014/main" id="{A31EEF3A-C6D2-F8F2-8B70-5A055D8D26B0}"/>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Guiding Principle</a:t>
              </a:r>
            </a:p>
          </p:txBody>
        </p:sp>
        <p:sp>
          <p:nvSpPr>
            <p:cNvPr id="6" name="Content Placeholder 2">
              <a:extLst>
                <a:ext uri="{FF2B5EF4-FFF2-40B4-BE49-F238E27FC236}">
                  <a16:creationId xmlns:a16="http://schemas.microsoft.com/office/drawing/2014/main" id="{88385E0A-70DA-525E-6AFA-C0581A2D771C}"/>
                </a:ext>
              </a:extLst>
            </p:cNvPr>
            <p:cNvSpPr txBox="1">
              <a:spLocks/>
            </p:cNvSpPr>
            <p:nvPr/>
          </p:nvSpPr>
          <p:spPr>
            <a:xfrm>
              <a:off x="628650" y="5032601"/>
              <a:ext cx="7886700" cy="341312"/>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kumimoji="0" lang="en-US" sz="1200" b="0" i="0" u="none" strike="noStrike" kern="1200" cap="none" spc="0" normalizeH="0" baseline="0" noProof="0" dirty="0">
                  <a:ln>
                    <a:noFill/>
                  </a:ln>
                  <a:solidFill>
                    <a:srgbClr val="021836"/>
                  </a:solidFill>
                  <a:effectLst/>
                  <a:uLnTx/>
                  <a:uFillTx/>
                  <a:latin typeface="Aptos" panose="02110004020202020204"/>
                  <a:ea typeface="+mn-ea"/>
                  <a:cs typeface="+mn-cs"/>
                </a:rPr>
                <a:t>A pilot should validate the workflow, controls, evidence, and value – not just the technology.</a:t>
              </a:r>
              <a:endPar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endParaRPr>
            </a:p>
          </p:txBody>
        </p:sp>
      </p:grpSp>
      <p:cxnSp>
        <p:nvCxnSpPr>
          <p:cNvPr id="8" name="Straight Connector 7">
            <a:extLst>
              <a:ext uri="{FF2B5EF4-FFF2-40B4-BE49-F238E27FC236}">
                <a16:creationId xmlns:a16="http://schemas.microsoft.com/office/drawing/2014/main" id="{E8CD09B8-BA71-66E7-19DA-0D9FE5DA33C4}"/>
              </a:ext>
            </a:extLst>
          </p:cNvPr>
          <p:cNvCxnSpPr>
            <a:cxnSpLocks/>
          </p:cNvCxnSpPr>
          <p:nvPr/>
        </p:nvCxnSpPr>
        <p:spPr>
          <a:xfrm>
            <a:off x="171450" y="5882615"/>
            <a:ext cx="8801100" cy="0"/>
          </a:xfrm>
          <a:prstGeom prst="line">
            <a:avLst/>
          </a:prstGeom>
          <a:ln w="9525">
            <a:solidFill>
              <a:srgbClr val="0396A6"/>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BAEC7091-D3DC-DD28-3C93-E5D77F970CE9}"/>
              </a:ext>
            </a:extLst>
          </p:cNvPr>
          <p:cNvSpPr txBox="1"/>
          <p:nvPr/>
        </p:nvSpPr>
        <p:spPr>
          <a:xfrm>
            <a:off x="4408714" y="64309"/>
            <a:ext cx="4628748" cy="276999"/>
          </a:xfrm>
          <a:prstGeom prst="rect">
            <a:avLst/>
          </a:prstGeom>
          <a:noFill/>
        </p:spPr>
        <p:txBody>
          <a:bodyPr wrap="square" rtlCol="0">
            <a:spAutoFit/>
          </a:bodyPr>
          <a:lstStyle/>
          <a:p>
            <a:pPr algn="r"/>
            <a:r>
              <a:rPr lang="en-US" sz="1200" dirty="0">
                <a:solidFill>
                  <a:schemeClr val="bg1">
                    <a:lumMod val="50000"/>
                  </a:schemeClr>
                </a:solidFill>
              </a:rPr>
              <a:t>AI Operational Readiness • Pilot Readiness Framework</a:t>
            </a:r>
          </a:p>
        </p:txBody>
      </p:sp>
    </p:spTree>
    <p:extLst>
      <p:ext uri="{BB962C8B-B14F-4D97-AF65-F5344CB8AC3E}">
        <p14:creationId xmlns:p14="http://schemas.microsoft.com/office/powerpoint/2010/main" val="154615165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671BA3-B71C-0F6C-5DCC-2BDE8C41B7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743337-A53D-43FB-1D3A-AFB5942472E9}"/>
              </a:ext>
            </a:extLst>
          </p:cNvPr>
          <p:cNvSpPr>
            <a:spLocks noGrp="1"/>
          </p:cNvSpPr>
          <p:nvPr>
            <p:ph type="title"/>
          </p:nvPr>
        </p:nvSpPr>
        <p:spPr>
          <a:xfrm>
            <a:off x="273534" y="324739"/>
            <a:ext cx="7886700" cy="1325563"/>
          </a:xfrm>
        </p:spPr>
        <p:txBody>
          <a:bodyPr>
            <a:normAutofit/>
          </a:bodyPr>
          <a:lstStyle/>
          <a:p>
            <a:r>
              <a:rPr lang="en-US" sz="4000" dirty="0"/>
              <a:t>Pilot Readiness in the AI Operational Readiness Journey</a:t>
            </a:r>
          </a:p>
        </p:txBody>
      </p:sp>
      <p:graphicFrame>
        <p:nvGraphicFramePr>
          <p:cNvPr id="3" name="Table 2">
            <a:extLst>
              <a:ext uri="{FF2B5EF4-FFF2-40B4-BE49-F238E27FC236}">
                <a16:creationId xmlns:a16="http://schemas.microsoft.com/office/drawing/2014/main" id="{F077FEE6-14AC-D53C-ECBB-41DA8ED12E5B}"/>
              </a:ext>
            </a:extLst>
          </p:cNvPr>
          <p:cNvGraphicFramePr>
            <a:graphicFrameLocks noGrp="1"/>
          </p:cNvGraphicFramePr>
          <p:nvPr/>
        </p:nvGraphicFramePr>
        <p:xfrm>
          <a:off x="273534" y="1852806"/>
          <a:ext cx="3102428" cy="4375055"/>
        </p:xfrm>
        <a:graphic>
          <a:graphicData uri="http://schemas.openxmlformats.org/drawingml/2006/table">
            <a:tbl>
              <a:tblPr firstRow="1" bandRow="1">
                <a:tableStyleId>{2D5ABB26-0587-4C30-8999-92F81FD0307C}</a:tableStyleId>
              </a:tblPr>
              <a:tblGrid>
                <a:gridCol w="3102428">
                  <a:extLst>
                    <a:ext uri="{9D8B030D-6E8A-4147-A177-3AD203B41FA5}">
                      <a16:colId xmlns:a16="http://schemas.microsoft.com/office/drawing/2014/main" val="2240749041"/>
                    </a:ext>
                  </a:extLst>
                </a:gridCol>
              </a:tblGrid>
              <a:tr h="349817">
                <a:tc>
                  <a:txBody>
                    <a:bodyPr/>
                    <a:lstStyle/>
                    <a:p>
                      <a:pPr algn="ctr"/>
                      <a:r>
                        <a:rPr lang="en-US" sz="1400" b="1" dirty="0">
                          <a:solidFill>
                            <a:schemeClr val="tx1"/>
                          </a:solidFill>
                        </a:rPr>
                        <a:t>Discovery</a:t>
                      </a:r>
                      <a:endParaRPr lang="en-US" sz="1400" dirty="0">
                        <a:solidFill>
                          <a:schemeClr val="tx1"/>
                        </a:solidFill>
                      </a:endParaRPr>
                    </a:p>
                  </a:txBody>
                  <a:tcPr marT="18288" marB="18288"/>
                </a:tc>
                <a:extLst>
                  <a:ext uri="{0D108BD9-81ED-4DB2-BD59-A6C34878D82A}">
                    <a16:rowId xmlns:a16="http://schemas.microsoft.com/office/drawing/2014/main" val="2227360274"/>
                  </a:ext>
                </a:extLst>
              </a:tr>
              <a:tr h="187111">
                <a:tc>
                  <a:txBody>
                    <a:bodyPr/>
                    <a:lstStyle/>
                    <a:p>
                      <a:pPr algn="ctr"/>
                      <a:r>
                        <a:rPr lang="en-US" sz="1400" dirty="0">
                          <a:solidFill>
                            <a:schemeClr val="tx1"/>
                          </a:solidFill>
                        </a:rPr>
                        <a:t>↓</a:t>
                      </a:r>
                    </a:p>
                  </a:txBody>
                  <a:tcPr marT="18288" marB="18288"/>
                </a:tc>
                <a:extLst>
                  <a:ext uri="{0D108BD9-81ED-4DB2-BD59-A6C34878D82A}">
                    <a16:rowId xmlns:a16="http://schemas.microsoft.com/office/drawing/2014/main" val="3140674848"/>
                  </a:ext>
                </a:extLst>
              </a:tr>
              <a:tr h="349817">
                <a:tc>
                  <a:txBody>
                    <a:bodyPr/>
                    <a:lstStyle/>
                    <a:p>
                      <a:pPr algn="ctr"/>
                      <a:r>
                        <a:rPr lang="en-US" sz="1400" b="1" dirty="0">
                          <a:solidFill>
                            <a:schemeClr val="tx1"/>
                          </a:solidFill>
                        </a:rPr>
                        <a:t>Prioritize</a:t>
                      </a:r>
                      <a:endParaRPr lang="en-US" sz="1400" dirty="0">
                        <a:solidFill>
                          <a:schemeClr val="tx1"/>
                        </a:solidFill>
                      </a:endParaRPr>
                    </a:p>
                  </a:txBody>
                  <a:tcPr marT="18288" marB="18288"/>
                </a:tc>
                <a:extLst>
                  <a:ext uri="{0D108BD9-81ED-4DB2-BD59-A6C34878D82A}">
                    <a16:rowId xmlns:a16="http://schemas.microsoft.com/office/drawing/2014/main" val="1232233979"/>
                  </a:ext>
                </a:extLst>
              </a:tr>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a:t>
                      </a:r>
                    </a:p>
                  </a:txBody>
                  <a:tcPr marT="18288" marB="18288"/>
                </a:tc>
                <a:extLst>
                  <a:ext uri="{0D108BD9-81ED-4DB2-BD59-A6C34878D82A}">
                    <a16:rowId xmlns:a16="http://schemas.microsoft.com/office/drawing/2014/main" val="4196322439"/>
                  </a:ext>
                </a:extLst>
              </a:tr>
              <a:tr h="349817">
                <a:tc>
                  <a:txBody>
                    <a:bodyPr/>
                    <a:lstStyle/>
                    <a:p>
                      <a:pPr algn="ctr"/>
                      <a:r>
                        <a:rPr lang="en-US" sz="1400" b="1" dirty="0">
                          <a:solidFill>
                            <a:schemeClr val="tx1"/>
                          </a:solidFill>
                        </a:rPr>
                        <a:t>Classify</a:t>
                      </a:r>
                      <a:endParaRPr lang="en-US" sz="1400" dirty="0">
                        <a:solidFill>
                          <a:schemeClr val="tx1"/>
                        </a:solidFill>
                      </a:endParaRPr>
                    </a:p>
                  </a:txBody>
                  <a:tcPr marT="18288" marB="18288"/>
                </a:tc>
                <a:extLst>
                  <a:ext uri="{0D108BD9-81ED-4DB2-BD59-A6C34878D82A}">
                    <a16:rowId xmlns:a16="http://schemas.microsoft.com/office/drawing/2014/main" val="2021164355"/>
                  </a:ext>
                </a:extLst>
              </a:tr>
              <a:tr h="18711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a:t>
                      </a:r>
                    </a:p>
                  </a:txBody>
                  <a:tcPr marT="18288" marB="18288"/>
                </a:tc>
                <a:extLst>
                  <a:ext uri="{0D108BD9-81ED-4DB2-BD59-A6C34878D82A}">
                    <a16:rowId xmlns:a16="http://schemas.microsoft.com/office/drawing/2014/main" val="3482703872"/>
                  </a:ext>
                </a:extLst>
              </a:tr>
              <a:tr h="34981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chemeClr val="tx1"/>
                          </a:solidFill>
                        </a:rPr>
                        <a:t>Design</a:t>
                      </a:r>
                      <a:endParaRPr lang="en-US" sz="1400" dirty="0">
                        <a:solidFill>
                          <a:schemeClr val="tx1"/>
                        </a:solidFill>
                      </a:endParaRPr>
                    </a:p>
                  </a:txBody>
                  <a:tcPr marT="18288" marB="18288"/>
                </a:tc>
                <a:extLst>
                  <a:ext uri="{0D108BD9-81ED-4DB2-BD59-A6C34878D82A}">
                    <a16:rowId xmlns:a16="http://schemas.microsoft.com/office/drawing/2014/main" val="3132301756"/>
                  </a:ext>
                </a:extLst>
              </a:tr>
              <a:tr h="18711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a:t>
                      </a:r>
                    </a:p>
                  </a:txBody>
                  <a:tcPr marT="18288" marB="18288"/>
                </a:tc>
                <a:extLst>
                  <a:ext uri="{0D108BD9-81ED-4DB2-BD59-A6C34878D82A}">
                    <a16:rowId xmlns:a16="http://schemas.microsoft.com/office/drawing/2014/main" val="2523848684"/>
                  </a:ext>
                </a:extLst>
              </a:tr>
              <a:tr h="34981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chemeClr val="tx1"/>
                          </a:solidFill>
                        </a:rPr>
                        <a:t>Govern</a:t>
                      </a:r>
                      <a:endParaRPr lang="en-US" sz="1400" dirty="0">
                        <a:solidFill>
                          <a:schemeClr val="tx1"/>
                        </a:solidFill>
                      </a:endParaRPr>
                    </a:p>
                  </a:txBody>
                  <a:tcPr marT="18288" marB="18288"/>
                </a:tc>
                <a:extLst>
                  <a:ext uri="{0D108BD9-81ED-4DB2-BD59-A6C34878D82A}">
                    <a16:rowId xmlns:a16="http://schemas.microsoft.com/office/drawing/2014/main" val="1271560361"/>
                  </a:ext>
                </a:extLst>
              </a:tr>
              <a:tr h="18711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a:t>
                      </a:r>
                    </a:p>
                  </a:txBody>
                  <a:tcPr marT="18288" marB="18288"/>
                </a:tc>
                <a:extLst>
                  <a:ext uri="{0D108BD9-81ED-4DB2-BD59-A6C34878D82A}">
                    <a16:rowId xmlns:a16="http://schemas.microsoft.com/office/drawing/2014/main" val="3840834462"/>
                  </a:ext>
                </a:extLst>
              </a:tr>
              <a:tr h="34981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chemeClr val="tx1"/>
                          </a:solidFill>
                        </a:rPr>
                        <a:t>Evidence</a:t>
                      </a:r>
                      <a:endParaRPr lang="en-US" sz="1400" dirty="0">
                        <a:solidFill>
                          <a:schemeClr val="tx1"/>
                        </a:solidFill>
                      </a:endParaRPr>
                    </a:p>
                  </a:txBody>
                  <a:tcPr marT="18288" marB="18288"/>
                </a:tc>
                <a:extLst>
                  <a:ext uri="{0D108BD9-81ED-4DB2-BD59-A6C34878D82A}">
                    <a16:rowId xmlns:a16="http://schemas.microsoft.com/office/drawing/2014/main" val="3977405499"/>
                  </a:ext>
                </a:extLst>
              </a:tr>
              <a:tr h="34981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a:t>
                      </a:r>
                    </a:p>
                  </a:txBody>
                  <a:tcPr marT="18288" marB="18288"/>
                </a:tc>
                <a:extLst>
                  <a:ext uri="{0D108BD9-81ED-4DB2-BD59-A6C34878D82A}">
                    <a16:rowId xmlns:a16="http://schemas.microsoft.com/office/drawing/2014/main" val="4024254032"/>
                  </a:ext>
                </a:extLst>
              </a:tr>
              <a:tr h="34981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rgbClr val="0396A6"/>
                          </a:solidFill>
                        </a:rPr>
                        <a:t>Prepare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chemeClr val="tx1"/>
                          </a:solidFill>
                        </a:rPr>
                        <a:t>↓</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chemeClr val="tx1"/>
                          </a:solidFill>
                        </a:rPr>
                        <a:t>Operate</a:t>
                      </a:r>
                    </a:p>
                  </a:txBody>
                  <a:tcPr marT="18288" marB="18288"/>
                </a:tc>
                <a:extLst>
                  <a:ext uri="{0D108BD9-81ED-4DB2-BD59-A6C34878D82A}">
                    <a16:rowId xmlns:a16="http://schemas.microsoft.com/office/drawing/2014/main" val="1841148710"/>
                  </a:ext>
                </a:extLst>
              </a:tr>
            </a:tbl>
          </a:graphicData>
        </a:graphic>
      </p:graphicFrame>
      <p:sp>
        <p:nvSpPr>
          <p:cNvPr id="6" name="Content Placeholder 2">
            <a:extLst>
              <a:ext uri="{FF2B5EF4-FFF2-40B4-BE49-F238E27FC236}">
                <a16:creationId xmlns:a16="http://schemas.microsoft.com/office/drawing/2014/main" id="{42374ECB-0E6B-6C2C-B8D6-372F53C130C9}"/>
              </a:ext>
            </a:extLst>
          </p:cNvPr>
          <p:cNvSpPr txBox="1">
            <a:spLocks/>
          </p:cNvSpPr>
          <p:nvPr/>
        </p:nvSpPr>
        <p:spPr>
          <a:xfrm>
            <a:off x="5027305" y="3450769"/>
            <a:ext cx="3522204" cy="685800"/>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prstClr val="white">
                  <a:lumMod val="50000"/>
                </a:prstClr>
              </a:buClr>
              <a:buSzTx/>
              <a:buNone/>
              <a:tabLst/>
              <a:defRPr/>
            </a:pPr>
            <a:r>
              <a:rPr kumimoji="0" lang="en-US" sz="1400" b="0" i="0" u="none" strike="noStrike" kern="1200" cap="none" spc="0" normalizeH="0" baseline="0" noProof="0" dirty="0">
                <a:ln>
                  <a:noFill/>
                </a:ln>
                <a:solidFill>
                  <a:prstClr val="black"/>
                </a:solidFill>
                <a:effectLst/>
                <a:uLnTx/>
                <a:uFillTx/>
                <a:latin typeface="Aptos" panose="02110004020202020204"/>
                <a:ea typeface="+mn-ea"/>
                <a:cs typeface="+mn-cs"/>
              </a:rPr>
              <a:t>Define the governance operating rhythm for monitoring, learning, escalation, and continuous improvement.</a:t>
            </a:r>
            <a:endParaRPr kumimoji="0" lang="en-US" sz="1400" b="0" i="0" u="none" strike="noStrike" kern="1200" cap="none" spc="0" normalizeH="0" baseline="0" noProof="0" dirty="0">
              <a:ln>
                <a:noFill/>
              </a:ln>
              <a:solidFill>
                <a:srgbClr val="FFC000"/>
              </a:solidFill>
              <a:effectLst/>
              <a:uLnTx/>
              <a:uFillTx/>
              <a:latin typeface="Aptos" panose="02110004020202020204"/>
              <a:ea typeface="+mn-ea"/>
              <a:cs typeface="+mn-cs"/>
            </a:endParaRPr>
          </a:p>
        </p:txBody>
      </p:sp>
      <p:sp>
        <p:nvSpPr>
          <p:cNvPr id="9" name="Right Brace 8">
            <a:extLst>
              <a:ext uri="{FF2B5EF4-FFF2-40B4-BE49-F238E27FC236}">
                <a16:creationId xmlns:a16="http://schemas.microsoft.com/office/drawing/2014/main" id="{EB78B006-DB1F-B12A-1C6D-3BB3CC738E65}"/>
              </a:ext>
            </a:extLst>
          </p:cNvPr>
          <p:cNvSpPr/>
          <p:nvPr/>
        </p:nvSpPr>
        <p:spPr>
          <a:xfrm>
            <a:off x="2560918" y="1889794"/>
            <a:ext cx="822791" cy="4302528"/>
          </a:xfrm>
          <a:prstGeom prst="rightBrace">
            <a:avLst>
              <a:gd name="adj1" fmla="val 8333"/>
              <a:gd name="adj2" fmla="val 44181"/>
            </a:avLst>
          </a:prstGeom>
          <a:ln>
            <a:solidFill>
              <a:srgbClr val="021836"/>
            </a:solidFill>
          </a:ln>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nvGrpSpPr>
          <p:cNvPr id="14" name="Group 13">
            <a:extLst>
              <a:ext uri="{FF2B5EF4-FFF2-40B4-BE49-F238E27FC236}">
                <a16:creationId xmlns:a16="http://schemas.microsoft.com/office/drawing/2014/main" id="{72E180E7-2C2B-6D24-0A00-B3F00B93A6A8}"/>
              </a:ext>
            </a:extLst>
          </p:cNvPr>
          <p:cNvGrpSpPr/>
          <p:nvPr/>
        </p:nvGrpSpPr>
        <p:grpSpPr>
          <a:xfrm>
            <a:off x="3166972" y="3630823"/>
            <a:ext cx="1813006" cy="321017"/>
            <a:chOff x="4642223" y="769428"/>
            <a:chExt cx="1813006" cy="321017"/>
          </a:xfrm>
        </p:grpSpPr>
        <p:sp>
          <p:nvSpPr>
            <p:cNvPr id="13" name="Rectangle: Rounded Corners 12">
              <a:extLst>
                <a:ext uri="{FF2B5EF4-FFF2-40B4-BE49-F238E27FC236}">
                  <a16:creationId xmlns:a16="http://schemas.microsoft.com/office/drawing/2014/main" id="{5C7DF212-DEC0-8FBE-D7A5-AFA48D559CB8}"/>
                </a:ext>
              </a:extLst>
            </p:cNvPr>
            <p:cNvSpPr/>
            <p:nvPr/>
          </p:nvSpPr>
          <p:spPr>
            <a:xfrm>
              <a:off x="4653109" y="769428"/>
              <a:ext cx="1802120" cy="299244"/>
            </a:xfrm>
            <a:prstGeom prst="roundRect">
              <a:avLst/>
            </a:prstGeom>
            <a:solidFill>
              <a:srgbClr val="02183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Content Placeholder 2">
              <a:extLst>
                <a:ext uri="{FF2B5EF4-FFF2-40B4-BE49-F238E27FC236}">
                  <a16:creationId xmlns:a16="http://schemas.microsoft.com/office/drawing/2014/main" id="{BFC291B0-C869-E92B-7664-841B9FB1318D}"/>
                </a:ext>
              </a:extLst>
            </p:cNvPr>
            <p:cNvSpPr txBox="1">
              <a:spLocks/>
            </p:cNvSpPr>
            <p:nvPr/>
          </p:nvSpPr>
          <p:spPr>
            <a:xfrm>
              <a:off x="4642223" y="791200"/>
              <a:ext cx="1802120" cy="299245"/>
            </a:xfrm>
            <a:prstGeom prst="rect">
              <a:avLst/>
            </a:prstGeom>
          </p:spPr>
          <p:txBody>
            <a:bodyPr vert="horz" lIns="45720" tIns="45720" rIns="45720" bIns="45720" numCol="1"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
                  <a:prstClr val="white">
                    <a:lumMod val="50000"/>
                  </a:prstClr>
                </a:buClr>
                <a:buSzTx/>
                <a:buFont typeface="Arial" panose="020B0604020202020204" pitchFamily="34" charset="0"/>
                <a:buNone/>
                <a:tabLst/>
                <a:defRPr/>
              </a:pPr>
              <a:r>
                <a:rPr kumimoji="0" lang="en-US" sz="1600" b="1" i="0" u="none" strike="noStrike" kern="1200" cap="none" spc="0" normalizeH="0" baseline="0" noProof="0" dirty="0">
                  <a:ln>
                    <a:noFill/>
                  </a:ln>
                  <a:solidFill>
                    <a:prstClr val="white"/>
                  </a:solidFill>
                  <a:effectLst/>
                  <a:uLnTx/>
                  <a:uFillTx/>
                  <a:latin typeface="Aptos" panose="02110004020202020204"/>
                  <a:ea typeface="+mn-ea"/>
                  <a:cs typeface="+mn-cs"/>
                </a:rPr>
                <a:t>Next Step</a:t>
              </a:r>
              <a:endParaRPr kumimoji="0" lang="en-US" sz="16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grpSp>
        <p:nvGrpSpPr>
          <p:cNvPr id="4" name="Group 3">
            <a:extLst>
              <a:ext uri="{FF2B5EF4-FFF2-40B4-BE49-F238E27FC236}">
                <a16:creationId xmlns:a16="http://schemas.microsoft.com/office/drawing/2014/main" id="{D9B2970A-D2E0-2A56-2D05-273C3DE42214}"/>
              </a:ext>
            </a:extLst>
          </p:cNvPr>
          <p:cNvGrpSpPr/>
          <p:nvPr/>
        </p:nvGrpSpPr>
        <p:grpSpPr>
          <a:xfrm>
            <a:off x="3514341" y="4495830"/>
            <a:ext cx="5035168" cy="595537"/>
            <a:chOff x="628650" y="4778376"/>
            <a:chExt cx="5255241" cy="595537"/>
          </a:xfrm>
        </p:grpSpPr>
        <p:sp>
          <p:nvSpPr>
            <p:cNvPr id="5" name="Content Placeholder 2">
              <a:extLst>
                <a:ext uri="{FF2B5EF4-FFF2-40B4-BE49-F238E27FC236}">
                  <a16:creationId xmlns:a16="http://schemas.microsoft.com/office/drawing/2014/main" id="{89602A89-D0CC-17C8-D9A9-A7F1432B62F6}"/>
                </a:ext>
              </a:extLst>
            </p:cNvPr>
            <p:cNvSpPr txBox="1">
              <a:spLocks/>
            </p:cNvSpPr>
            <p:nvPr/>
          </p:nvSpPr>
          <p:spPr>
            <a:xfrm>
              <a:off x="628650" y="4778376"/>
              <a:ext cx="5255241"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Guiding Principle</a:t>
              </a:r>
            </a:p>
          </p:txBody>
        </p:sp>
        <p:sp>
          <p:nvSpPr>
            <p:cNvPr id="7" name="Content Placeholder 2">
              <a:extLst>
                <a:ext uri="{FF2B5EF4-FFF2-40B4-BE49-F238E27FC236}">
                  <a16:creationId xmlns:a16="http://schemas.microsoft.com/office/drawing/2014/main" id="{D2BCBF45-259B-CAD1-076D-67839EB9FC55}"/>
                </a:ext>
              </a:extLst>
            </p:cNvPr>
            <p:cNvSpPr txBox="1">
              <a:spLocks/>
            </p:cNvSpPr>
            <p:nvPr/>
          </p:nvSpPr>
          <p:spPr>
            <a:xfrm>
              <a:off x="628650" y="5032601"/>
              <a:ext cx="5147550" cy="341312"/>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kumimoji="0" lang="en-US" sz="1200" b="0" i="0" u="none" strike="noStrike" kern="1200" cap="none" spc="0" normalizeH="0" baseline="0" noProof="0" dirty="0">
                  <a:ln>
                    <a:noFill/>
                  </a:ln>
                  <a:solidFill>
                    <a:srgbClr val="021836"/>
                  </a:solidFill>
                  <a:effectLst/>
                  <a:uLnTx/>
                  <a:uFillTx/>
                  <a:latin typeface="Aptos" panose="02110004020202020204"/>
                  <a:ea typeface="+mn-ea"/>
                  <a:cs typeface="+mn-cs"/>
                </a:rPr>
                <a:t>Responsible scaling begins with a pilot that is designed to teach the organization:</a:t>
              </a:r>
            </a:p>
            <a:p>
              <a:pPr>
                <a:buClr>
                  <a:srgbClr val="021836"/>
                </a:buClr>
                <a:defRPr/>
              </a:pPr>
              <a:r>
                <a:rPr lang="en-US" sz="1200" dirty="0">
                  <a:solidFill>
                    <a:srgbClr val="021836"/>
                  </a:solidFill>
                  <a:latin typeface="Aptos" panose="02110004020202020204"/>
                </a:rPr>
                <a:t>What works,</a:t>
              </a:r>
            </a:p>
            <a:p>
              <a:pPr>
                <a:buClr>
                  <a:srgbClr val="021836"/>
                </a:buClr>
                <a:defRPr/>
              </a:pPr>
              <a:r>
                <a:rPr kumimoji="0" lang="en-US" sz="1200" b="0" i="0" u="none" strike="noStrike" kern="1200" cap="none" spc="0" normalizeH="0" baseline="0" noProof="0" dirty="0">
                  <a:ln>
                    <a:noFill/>
                  </a:ln>
                  <a:solidFill>
                    <a:srgbClr val="021836"/>
                  </a:solidFill>
                  <a:effectLst/>
                  <a:uLnTx/>
                  <a:uFillTx/>
                  <a:latin typeface="Aptos" panose="02110004020202020204"/>
                  <a:ea typeface="+mn-ea"/>
                  <a:cs typeface="+mn-cs"/>
                </a:rPr>
                <a:t>What doesn’t,</a:t>
              </a:r>
            </a:p>
            <a:p>
              <a:pPr>
                <a:buClr>
                  <a:srgbClr val="021836"/>
                </a:buClr>
                <a:defRPr/>
              </a:pPr>
              <a:r>
                <a:rPr lang="en-US" sz="1200" dirty="0">
                  <a:solidFill>
                    <a:srgbClr val="021836"/>
                  </a:solidFill>
                  <a:latin typeface="Aptos" panose="02110004020202020204"/>
                </a:rPr>
                <a:t>What needs to change,</a:t>
              </a:r>
            </a:p>
            <a:p>
              <a:pPr>
                <a:buClr>
                  <a:srgbClr val="021836"/>
                </a:buClr>
                <a:defRPr/>
              </a:pPr>
              <a:r>
                <a:rPr kumimoji="0" lang="en-US" sz="1200" b="0" i="0" u="none" strike="noStrike" kern="1200" cap="none" spc="0" normalizeH="0" baseline="0" noProof="0" dirty="0">
                  <a:ln>
                    <a:noFill/>
                  </a:ln>
                  <a:solidFill>
                    <a:srgbClr val="021836"/>
                  </a:solidFill>
                  <a:effectLst/>
                  <a:uLnTx/>
                  <a:uFillTx/>
                  <a:latin typeface="Aptos" panose="02110004020202020204"/>
                  <a:ea typeface="+mn-ea"/>
                  <a:cs typeface="+mn-cs"/>
                </a:rPr>
                <a:t>And whether scaling is justified.</a:t>
              </a:r>
              <a:endPar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endParaRPr>
            </a:p>
          </p:txBody>
        </p:sp>
      </p:grpSp>
      <p:sp>
        <p:nvSpPr>
          <p:cNvPr id="10" name="TextBox 9">
            <a:extLst>
              <a:ext uri="{FF2B5EF4-FFF2-40B4-BE49-F238E27FC236}">
                <a16:creationId xmlns:a16="http://schemas.microsoft.com/office/drawing/2014/main" id="{717A9B0A-F4F3-0CB1-9958-44E9C7640861}"/>
              </a:ext>
            </a:extLst>
          </p:cNvPr>
          <p:cNvSpPr txBox="1"/>
          <p:nvPr/>
        </p:nvSpPr>
        <p:spPr>
          <a:xfrm>
            <a:off x="4408714" y="64309"/>
            <a:ext cx="4628748" cy="276999"/>
          </a:xfrm>
          <a:prstGeom prst="rect">
            <a:avLst/>
          </a:prstGeom>
          <a:noFill/>
        </p:spPr>
        <p:txBody>
          <a:bodyPr wrap="square" rtlCol="0">
            <a:spAutoFit/>
          </a:bodyPr>
          <a:lstStyle/>
          <a:p>
            <a:pPr algn="r"/>
            <a:r>
              <a:rPr lang="en-US" sz="1200" dirty="0">
                <a:solidFill>
                  <a:schemeClr val="bg1">
                    <a:lumMod val="50000"/>
                  </a:schemeClr>
                </a:solidFill>
              </a:rPr>
              <a:t>AI Operational Readiness • Pilot Readiness Framework</a:t>
            </a:r>
          </a:p>
        </p:txBody>
      </p:sp>
    </p:spTree>
    <p:extLst>
      <p:ext uri="{BB962C8B-B14F-4D97-AF65-F5344CB8AC3E}">
        <p14:creationId xmlns:p14="http://schemas.microsoft.com/office/powerpoint/2010/main" val="424765129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22A3A71-050B-6D3F-B124-C288879F308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 y="0"/>
            <a:ext cx="9144000" cy="6858000"/>
          </a:xfrm>
          <a:prstGeom prst="rect">
            <a:avLst/>
          </a:prstGeom>
        </p:spPr>
      </p:pic>
    </p:spTree>
    <p:extLst>
      <p:ext uri="{BB962C8B-B14F-4D97-AF65-F5344CB8AC3E}">
        <p14:creationId xmlns:p14="http://schemas.microsoft.com/office/powerpoint/2010/main" val="184446885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F44F6-AAF9-F6E6-B3DC-C2D8FC3F68FB}"/>
              </a:ext>
            </a:extLst>
          </p:cNvPr>
          <p:cNvSpPr>
            <a:spLocks noGrp="1"/>
          </p:cNvSpPr>
          <p:nvPr>
            <p:ph type="title"/>
          </p:nvPr>
        </p:nvSpPr>
        <p:spPr>
          <a:xfrm>
            <a:off x="285750" y="434017"/>
            <a:ext cx="7886700" cy="362276"/>
          </a:xfrm>
        </p:spPr>
        <p:txBody>
          <a:bodyPr>
            <a:normAutofit fontScale="90000"/>
          </a:bodyPr>
          <a:lstStyle/>
          <a:p>
            <a:r>
              <a:rPr lang="en-US" dirty="0"/>
              <a:t>Briefing Overview</a:t>
            </a:r>
          </a:p>
        </p:txBody>
      </p:sp>
      <p:cxnSp>
        <p:nvCxnSpPr>
          <p:cNvPr id="10" name="Straight Connector 9">
            <a:extLst>
              <a:ext uri="{FF2B5EF4-FFF2-40B4-BE49-F238E27FC236}">
                <a16:creationId xmlns:a16="http://schemas.microsoft.com/office/drawing/2014/main" id="{C0020D96-D985-F85D-9155-2AFC35B6AE59}"/>
              </a:ext>
            </a:extLst>
          </p:cNvPr>
          <p:cNvCxnSpPr>
            <a:cxnSpLocks/>
          </p:cNvCxnSpPr>
          <p:nvPr/>
        </p:nvCxnSpPr>
        <p:spPr>
          <a:xfrm>
            <a:off x="171450" y="5440055"/>
            <a:ext cx="8801100" cy="0"/>
          </a:xfrm>
          <a:prstGeom prst="line">
            <a:avLst/>
          </a:prstGeom>
          <a:ln w="9525">
            <a:solidFill>
              <a:srgbClr val="0396A6"/>
            </a:solidFill>
          </a:ln>
        </p:spPr>
        <p:style>
          <a:lnRef idx="2">
            <a:schemeClr val="accent1"/>
          </a:lnRef>
          <a:fillRef idx="0">
            <a:schemeClr val="accent1"/>
          </a:fillRef>
          <a:effectRef idx="1">
            <a:schemeClr val="accent1"/>
          </a:effectRef>
          <a:fontRef idx="minor">
            <a:schemeClr val="tx1"/>
          </a:fontRef>
        </p:style>
      </p:cxnSp>
      <p:grpSp>
        <p:nvGrpSpPr>
          <p:cNvPr id="37" name="Group 36">
            <a:extLst>
              <a:ext uri="{FF2B5EF4-FFF2-40B4-BE49-F238E27FC236}">
                <a16:creationId xmlns:a16="http://schemas.microsoft.com/office/drawing/2014/main" id="{07427C67-24F8-34E3-16AD-56FCB95CE120}"/>
              </a:ext>
            </a:extLst>
          </p:cNvPr>
          <p:cNvGrpSpPr/>
          <p:nvPr/>
        </p:nvGrpSpPr>
        <p:grpSpPr>
          <a:xfrm>
            <a:off x="381675" y="2439708"/>
            <a:ext cx="8583386" cy="464569"/>
            <a:chOff x="628650" y="4778376"/>
            <a:chExt cx="7886700" cy="464569"/>
          </a:xfrm>
        </p:grpSpPr>
        <p:sp>
          <p:nvSpPr>
            <p:cNvPr id="9" name="Content Placeholder 2">
              <a:extLst>
                <a:ext uri="{FF2B5EF4-FFF2-40B4-BE49-F238E27FC236}">
                  <a16:creationId xmlns:a16="http://schemas.microsoft.com/office/drawing/2014/main" id="{8C9AC330-2344-BEDA-9EC6-BFB62190E7E3}"/>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b="1" dirty="0">
                  <a:solidFill>
                    <a:srgbClr val="021836"/>
                  </a:solidFill>
                </a:rPr>
                <a:t>Core Flow</a:t>
              </a:r>
            </a:p>
          </p:txBody>
        </p:sp>
        <p:sp>
          <p:nvSpPr>
            <p:cNvPr id="11" name="Content Placeholder 2">
              <a:extLst>
                <a:ext uri="{FF2B5EF4-FFF2-40B4-BE49-F238E27FC236}">
                  <a16:creationId xmlns:a16="http://schemas.microsoft.com/office/drawing/2014/main" id="{FD78CC86-2052-A718-2145-5489B68A5D91}"/>
                </a:ext>
              </a:extLst>
            </p:cNvPr>
            <p:cNvSpPr txBox="1">
              <a:spLocks/>
            </p:cNvSpPr>
            <p:nvPr/>
          </p:nvSpPr>
          <p:spPr>
            <a:xfrm>
              <a:off x="628650" y="5032601"/>
              <a:ext cx="7886700" cy="210344"/>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rgbClr val="021836"/>
                </a:buClr>
                <a:buNone/>
              </a:pPr>
              <a:r>
                <a:rPr lang="en-US" sz="1200" dirty="0"/>
                <a:t>Problem → Opportunity → Design → Governance → Evidence → Readiness → Decision</a:t>
              </a:r>
            </a:p>
          </p:txBody>
        </p:sp>
      </p:grpSp>
      <p:sp>
        <p:nvSpPr>
          <p:cNvPr id="32" name="Content Placeholder 2">
            <a:extLst>
              <a:ext uri="{FF2B5EF4-FFF2-40B4-BE49-F238E27FC236}">
                <a16:creationId xmlns:a16="http://schemas.microsoft.com/office/drawing/2014/main" id="{3100EC29-4DE1-0548-69CA-66C82A4659A2}"/>
              </a:ext>
            </a:extLst>
          </p:cNvPr>
          <p:cNvSpPr txBox="1">
            <a:spLocks/>
          </p:cNvSpPr>
          <p:nvPr/>
        </p:nvSpPr>
        <p:spPr>
          <a:xfrm>
            <a:off x="389164" y="1334696"/>
            <a:ext cx="7886700" cy="101235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b="1" dirty="0">
                <a:solidFill>
                  <a:srgbClr val="021836"/>
                </a:solidFill>
              </a:rPr>
              <a:t>Purpose</a:t>
            </a:r>
          </a:p>
          <a:p>
            <a:pPr marL="0" indent="0">
              <a:lnSpc>
                <a:spcPct val="110000"/>
              </a:lnSpc>
              <a:spcBef>
                <a:spcPts val="600"/>
              </a:spcBef>
              <a:buFont typeface="Arial" panose="020B0604020202020204" pitchFamily="34" charset="0"/>
              <a:buNone/>
            </a:pPr>
            <a:r>
              <a:rPr lang="en-US" sz="1200" dirty="0"/>
              <a:t>This briefing helps teams communicate a selected AI opportunity to executive stakeholders by summarizing the business problem, proposed future state, AI role, governance model, evidence plan, pilot readiness, and decision needed.</a:t>
            </a:r>
            <a:endParaRPr lang="en-US" sz="1600" dirty="0"/>
          </a:p>
        </p:txBody>
      </p:sp>
      <p:sp>
        <p:nvSpPr>
          <p:cNvPr id="5" name="Content Placeholder 2">
            <a:extLst>
              <a:ext uri="{FF2B5EF4-FFF2-40B4-BE49-F238E27FC236}">
                <a16:creationId xmlns:a16="http://schemas.microsoft.com/office/drawing/2014/main" id="{292B2336-1FA0-A3C8-A2A8-5A573F50113B}"/>
              </a:ext>
            </a:extLst>
          </p:cNvPr>
          <p:cNvSpPr txBox="1">
            <a:spLocks/>
          </p:cNvSpPr>
          <p:nvPr/>
        </p:nvSpPr>
        <p:spPr>
          <a:xfrm>
            <a:off x="381675" y="868186"/>
            <a:ext cx="7886700" cy="299244"/>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rgbClr val="021836"/>
              </a:buClr>
              <a:buNone/>
            </a:pPr>
            <a:r>
              <a:rPr lang="en-US" sz="1200" i="1" dirty="0">
                <a:solidFill>
                  <a:schemeClr val="bg1">
                    <a:lumMod val="50000"/>
                  </a:schemeClr>
                </a:solidFill>
              </a:rPr>
              <a:t>Communicating the recommendation, rationale, and decision needed</a:t>
            </a:r>
          </a:p>
        </p:txBody>
      </p:sp>
      <p:sp>
        <p:nvSpPr>
          <p:cNvPr id="15" name="Content Placeholder 2">
            <a:extLst>
              <a:ext uri="{FF2B5EF4-FFF2-40B4-BE49-F238E27FC236}">
                <a16:creationId xmlns:a16="http://schemas.microsoft.com/office/drawing/2014/main" id="{AFDCFB66-CE04-E353-63C3-854399711881}"/>
              </a:ext>
            </a:extLst>
          </p:cNvPr>
          <p:cNvSpPr txBox="1">
            <a:spLocks/>
          </p:cNvSpPr>
          <p:nvPr/>
        </p:nvSpPr>
        <p:spPr>
          <a:xfrm>
            <a:off x="381675" y="3073478"/>
            <a:ext cx="8583386"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b="1" dirty="0">
                <a:solidFill>
                  <a:srgbClr val="021836"/>
                </a:solidFill>
              </a:rPr>
              <a:t>What This Briefing Helps Communicate</a:t>
            </a:r>
          </a:p>
        </p:txBody>
      </p:sp>
      <p:graphicFrame>
        <p:nvGraphicFramePr>
          <p:cNvPr id="18" name="Table 17">
            <a:extLst>
              <a:ext uri="{FF2B5EF4-FFF2-40B4-BE49-F238E27FC236}">
                <a16:creationId xmlns:a16="http://schemas.microsoft.com/office/drawing/2014/main" id="{E2F20037-47B8-8828-9FAB-CD803A7B47B2}"/>
              </a:ext>
            </a:extLst>
          </p:cNvPr>
          <p:cNvGraphicFramePr>
            <a:graphicFrameLocks noGrp="1"/>
          </p:cNvGraphicFramePr>
          <p:nvPr/>
        </p:nvGraphicFramePr>
        <p:xfrm>
          <a:off x="466638" y="3302279"/>
          <a:ext cx="8210723" cy="2072640"/>
        </p:xfrm>
        <a:graphic>
          <a:graphicData uri="http://schemas.openxmlformats.org/drawingml/2006/table">
            <a:tbl>
              <a:tblPr firstRow="1" bandRow="1">
                <a:effectLst/>
                <a:tableStyleId>{2D5ABB26-0587-4C30-8999-92F81FD0307C}</a:tableStyleId>
              </a:tblPr>
              <a:tblGrid>
                <a:gridCol w="3116867">
                  <a:extLst>
                    <a:ext uri="{9D8B030D-6E8A-4147-A177-3AD203B41FA5}">
                      <a16:colId xmlns:a16="http://schemas.microsoft.com/office/drawing/2014/main" val="2728554600"/>
                    </a:ext>
                  </a:extLst>
                </a:gridCol>
                <a:gridCol w="5093856">
                  <a:extLst>
                    <a:ext uri="{9D8B030D-6E8A-4147-A177-3AD203B41FA5}">
                      <a16:colId xmlns:a16="http://schemas.microsoft.com/office/drawing/2014/main" val="682756451"/>
                    </a:ext>
                  </a:extLst>
                </a:gridCol>
              </a:tblGrid>
              <a:tr h="220027">
                <a:tc>
                  <a:txBody>
                    <a:bodyPr/>
                    <a:lstStyle/>
                    <a:p>
                      <a:pPr algn="l"/>
                      <a:r>
                        <a:rPr lang="en-US" sz="1100" b="1" dirty="0">
                          <a:solidFill>
                            <a:srgbClr val="021836"/>
                          </a:solidFill>
                        </a:rPr>
                        <a:t>Component</a:t>
                      </a:r>
                    </a:p>
                  </a:txBody>
                  <a:tcPr marL="45720" marR="45720">
                    <a:lnR w="12700" cap="flat" cmpd="sng" algn="ctr">
                      <a:noFill/>
                      <a:prstDash val="solid"/>
                      <a:round/>
                      <a:headEnd type="none" w="med" len="med"/>
                      <a:tailEnd type="none" w="med" len="med"/>
                    </a:lnR>
                    <a:lnB w="12700" cap="flat" cmpd="sng" algn="ctr">
                      <a:solidFill>
                        <a:srgbClr val="0396A6"/>
                      </a:solidFill>
                      <a:prstDash val="solid"/>
                      <a:round/>
                      <a:headEnd type="none" w="med" len="med"/>
                      <a:tailEnd type="none" w="med" len="med"/>
                    </a:lnB>
                  </a:tcPr>
                </a:tc>
                <a:tc>
                  <a:txBody>
                    <a:bodyPr/>
                    <a:lstStyle/>
                    <a:p>
                      <a:r>
                        <a:rPr lang="en-US" sz="1100" b="1" dirty="0">
                          <a:solidFill>
                            <a:srgbClr val="021836"/>
                          </a:solidFill>
                        </a:rPr>
                        <a:t>Question It Answers</a:t>
                      </a:r>
                    </a:p>
                  </a:txBody>
                  <a:tcPr marL="45720" marR="45720">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rgbClr val="0396A6"/>
                      </a:solidFill>
                      <a:prstDash val="solid"/>
                      <a:round/>
                      <a:headEnd type="none" w="med" len="med"/>
                      <a:tailEnd type="none" w="med" len="med"/>
                    </a:lnB>
                  </a:tcPr>
                </a:tc>
                <a:extLst>
                  <a:ext uri="{0D108BD9-81ED-4DB2-BD59-A6C34878D82A}">
                    <a16:rowId xmlns:a16="http://schemas.microsoft.com/office/drawing/2014/main" val="3173400939"/>
                  </a:ext>
                </a:extLst>
              </a:tr>
              <a:tr h="220027">
                <a:tc>
                  <a:txBody>
                    <a:bodyPr/>
                    <a:lstStyle/>
                    <a:p>
                      <a:pPr algn="l"/>
                      <a:r>
                        <a:rPr lang="en-US" sz="1100" dirty="0"/>
                        <a:t>Business Problem</a:t>
                      </a:r>
                    </a:p>
                  </a:txBody>
                  <a:tcPr marL="45720" marR="45720">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100" dirty="0"/>
                        <a:t>What issue are we addressing?</a:t>
                      </a:r>
                    </a:p>
                  </a:txBody>
                  <a:tcPr marL="45720" marR="45720">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185261034"/>
                  </a:ext>
                </a:extLst>
              </a:tr>
              <a:tr h="220027">
                <a:tc>
                  <a:txBody>
                    <a:bodyPr/>
                    <a:lstStyle/>
                    <a:p>
                      <a:pPr algn="l"/>
                      <a:r>
                        <a:rPr lang="en-US" sz="1100" dirty="0"/>
                        <a:t>Recommended Opportunity</a:t>
                      </a:r>
                    </a:p>
                  </a:txBody>
                  <a:tcPr marL="45720" marR="4572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100" dirty="0"/>
                        <a:t>What AI-enabled opportunity are we proposing?</a:t>
                      </a:r>
                    </a:p>
                  </a:txBody>
                  <a:tcPr marL="45720" marR="45720">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228643947"/>
                  </a:ext>
                </a:extLst>
              </a:tr>
              <a:tr h="220027">
                <a:tc>
                  <a:txBody>
                    <a:bodyPr/>
                    <a:lstStyle/>
                    <a:p>
                      <a:pPr algn="l"/>
                      <a:r>
                        <a:rPr lang="en-US" sz="1100" dirty="0"/>
                        <a:t>Future-State Design</a:t>
                      </a:r>
                    </a:p>
                  </a:txBody>
                  <a:tcPr marL="45720" marR="4572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100" dirty="0"/>
                        <a:t>How will the work change?</a:t>
                      </a:r>
                    </a:p>
                  </a:txBody>
                  <a:tcPr marL="45720" marR="45720">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781764621"/>
                  </a:ext>
                </a:extLst>
              </a:tr>
              <a:tr h="220027">
                <a:tc>
                  <a:txBody>
                    <a:bodyPr/>
                    <a:lstStyle/>
                    <a:p>
                      <a:pPr algn="l"/>
                      <a:r>
                        <a:rPr lang="en-US" sz="1100" dirty="0"/>
                        <a:t>Governance Model</a:t>
                      </a:r>
                    </a:p>
                  </a:txBody>
                  <a:tcPr marL="45720" marR="4572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100" dirty="0"/>
                        <a:t>Who reviews, approves, escalates, intervenes, and remains accountable?</a:t>
                      </a:r>
                    </a:p>
                  </a:txBody>
                  <a:tcPr marL="45720" marR="45720">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532030300"/>
                  </a:ext>
                </a:extLst>
              </a:tr>
              <a:tr h="220027">
                <a:tc>
                  <a:txBody>
                    <a:bodyPr/>
                    <a:lstStyle/>
                    <a:p>
                      <a:pPr algn="l"/>
                      <a:r>
                        <a:rPr lang="en-US" sz="1100" dirty="0"/>
                        <a:t>Evidence Plan</a:t>
                      </a:r>
                    </a:p>
                  </a:txBody>
                  <a:tcPr marL="45720" marR="4572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100" dirty="0"/>
                        <a:t>How will value, qualify, risk, and adoption be measured?</a:t>
                      </a:r>
                    </a:p>
                  </a:txBody>
                  <a:tcPr marL="45720" marR="45720">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79336270"/>
                  </a:ext>
                </a:extLst>
              </a:tr>
              <a:tr h="220027">
                <a:tc>
                  <a:txBody>
                    <a:bodyPr/>
                    <a:lstStyle/>
                    <a:p>
                      <a:pPr algn="l"/>
                      <a:r>
                        <a:rPr lang="en-US" sz="1100" dirty="0"/>
                        <a:t>Pilot Readiness &amp; Recommendation</a:t>
                      </a:r>
                    </a:p>
                  </a:txBody>
                  <a:tcPr marL="45720" marR="4572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100" dirty="0"/>
                        <a:t>Are we ready to pilot, and what should we test and learn?</a:t>
                      </a:r>
                    </a:p>
                  </a:txBody>
                  <a:tcPr marL="45720" marR="45720">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919325056"/>
                  </a:ext>
                </a:extLst>
              </a:tr>
              <a:tr h="220027">
                <a:tc>
                  <a:txBody>
                    <a:bodyPr/>
                    <a:lstStyle/>
                    <a:p>
                      <a:pPr algn="l"/>
                      <a:r>
                        <a:rPr lang="en-US" sz="1100" dirty="0"/>
                        <a:t>Decision Requested</a:t>
                      </a:r>
                    </a:p>
                  </a:txBody>
                  <a:tcPr marL="45720" marR="4572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100" dirty="0"/>
                        <a:t>What do we need leadership to approve?</a:t>
                      </a:r>
                    </a:p>
                  </a:txBody>
                  <a:tcPr marL="45720" marR="45720">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537362747"/>
                  </a:ext>
                </a:extLst>
              </a:tr>
            </a:tbl>
          </a:graphicData>
        </a:graphic>
      </p:graphicFrame>
      <p:sp>
        <p:nvSpPr>
          <p:cNvPr id="21" name="Content Placeholder 2">
            <a:extLst>
              <a:ext uri="{FF2B5EF4-FFF2-40B4-BE49-F238E27FC236}">
                <a16:creationId xmlns:a16="http://schemas.microsoft.com/office/drawing/2014/main" id="{C3E6CD39-95FF-9E31-7FA7-E1A32D5D642E}"/>
              </a:ext>
            </a:extLst>
          </p:cNvPr>
          <p:cNvSpPr txBox="1">
            <a:spLocks/>
          </p:cNvSpPr>
          <p:nvPr/>
        </p:nvSpPr>
        <p:spPr>
          <a:xfrm>
            <a:off x="389164" y="5561950"/>
            <a:ext cx="8583386" cy="676720"/>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b="1" dirty="0">
                <a:solidFill>
                  <a:srgbClr val="021836"/>
                </a:solidFill>
              </a:rPr>
              <a:t>Guiding Philosophy</a:t>
            </a:r>
          </a:p>
          <a:p>
            <a:pPr marL="0" indent="0">
              <a:buFont typeface="Arial" panose="020B0604020202020204" pitchFamily="34" charset="0"/>
              <a:buNone/>
            </a:pPr>
            <a:r>
              <a:rPr lang="en-US" sz="1400" i="1" dirty="0">
                <a:solidFill>
                  <a:schemeClr val="bg1">
                    <a:lumMod val="50000"/>
                  </a:schemeClr>
                </a:solidFill>
              </a:rPr>
              <a:t>Executive briefings should turn analysis into decisions.</a:t>
            </a:r>
          </a:p>
        </p:txBody>
      </p:sp>
      <p:sp>
        <p:nvSpPr>
          <p:cNvPr id="4" name="TextBox 3">
            <a:extLst>
              <a:ext uri="{FF2B5EF4-FFF2-40B4-BE49-F238E27FC236}">
                <a16:creationId xmlns:a16="http://schemas.microsoft.com/office/drawing/2014/main" id="{FE1039DD-7900-C235-CBEB-15A5A323CE7A}"/>
              </a:ext>
            </a:extLst>
          </p:cNvPr>
          <p:cNvSpPr txBox="1"/>
          <p:nvPr/>
        </p:nvSpPr>
        <p:spPr>
          <a:xfrm>
            <a:off x="4408714" y="64309"/>
            <a:ext cx="4628748" cy="276999"/>
          </a:xfrm>
          <a:prstGeom prst="rect">
            <a:avLst/>
          </a:prstGeom>
          <a:noFill/>
        </p:spPr>
        <p:txBody>
          <a:bodyPr wrap="square" rtlCol="0">
            <a:spAutoFit/>
          </a:bodyPr>
          <a:lstStyle/>
          <a:p>
            <a:pPr algn="r"/>
            <a:r>
              <a:rPr lang="en-US" sz="1200" dirty="0">
                <a:solidFill>
                  <a:schemeClr val="bg1">
                    <a:lumMod val="50000"/>
                  </a:schemeClr>
                </a:solidFill>
              </a:rPr>
              <a:t>AI Operational Readiness • Executive Briefing</a:t>
            </a:r>
          </a:p>
        </p:txBody>
      </p:sp>
    </p:spTree>
    <p:extLst>
      <p:ext uri="{BB962C8B-B14F-4D97-AF65-F5344CB8AC3E}">
        <p14:creationId xmlns:p14="http://schemas.microsoft.com/office/powerpoint/2010/main" val="35067389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671BA3-B71C-0F6C-5DCC-2BDE8C41B7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743337-A53D-43FB-1D3A-AFB5942472E9}"/>
              </a:ext>
            </a:extLst>
          </p:cNvPr>
          <p:cNvSpPr>
            <a:spLocks noGrp="1"/>
          </p:cNvSpPr>
          <p:nvPr>
            <p:ph type="title"/>
          </p:nvPr>
        </p:nvSpPr>
        <p:spPr>
          <a:xfrm>
            <a:off x="273534" y="87541"/>
            <a:ext cx="8957552" cy="1325563"/>
          </a:xfrm>
        </p:spPr>
        <p:txBody>
          <a:bodyPr>
            <a:normAutofit/>
          </a:bodyPr>
          <a:lstStyle/>
          <a:p>
            <a:r>
              <a:rPr lang="en-US" sz="4000" dirty="0"/>
              <a:t>Executive Summary</a:t>
            </a:r>
          </a:p>
        </p:txBody>
      </p:sp>
      <p:sp>
        <p:nvSpPr>
          <p:cNvPr id="4" name="Content Placeholder 2">
            <a:extLst>
              <a:ext uri="{FF2B5EF4-FFF2-40B4-BE49-F238E27FC236}">
                <a16:creationId xmlns:a16="http://schemas.microsoft.com/office/drawing/2014/main" id="{CF44140D-EC65-5A27-655D-229B2C295DC7}"/>
              </a:ext>
            </a:extLst>
          </p:cNvPr>
          <p:cNvSpPr txBox="1">
            <a:spLocks/>
          </p:cNvSpPr>
          <p:nvPr/>
        </p:nvSpPr>
        <p:spPr>
          <a:xfrm>
            <a:off x="381675" y="1042357"/>
            <a:ext cx="7886700" cy="299244"/>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rgbClr val="021836"/>
              </a:buClr>
              <a:buNone/>
            </a:pPr>
            <a:r>
              <a:rPr lang="en-US" sz="1200" i="1" dirty="0">
                <a:solidFill>
                  <a:schemeClr val="bg1">
                    <a:lumMod val="50000"/>
                  </a:schemeClr>
                </a:solidFill>
              </a:rPr>
              <a:t>Providing the recommendation in one view</a:t>
            </a:r>
          </a:p>
        </p:txBody>
      </p:sp>
      <p:graphicFrame>
        <p:nvGraphicFramePr>
          <p:cNvPr id="5" name="Table 4">
            <a:extLst>
              <a:ext uri="{FF2B5EF4-FFF2-40B4-BE49-F238E27FC236}">
                <a16:creationId xmlns:a16="http://schemas.microsoft.com/office/drawing/2014/main" id="{F994AF61-6667-2BA4-09C4-B97277C8F078}"/>
              </a:ext>
            </a:extLst>
          </p:cNvPr>
          <p:cNvGraphicFramePr>
            <a:graphicFrameLocks noGrp="1"/>
          </p:cNvGraphicFramePr>
          <p:nvPr/>
        </p:nvGraphicFramePr>
        <p:xfrm>
          <a:off x="435427" y="1413104"/>
          <a:ext cx="8218714" cy="3818193"/>
        </p:xfrm>
        <a:graphic>
          <a:graphicData uri="http://schemas.openxmlformats.org/drawingml/2006/table">
            <a:tbl>
              <a:tblPr firstRow="1" bandRow="1">
                <a:tableStyleId>{2D5ABB26-0587-4C30-8999-92F81FD0307C}</a:tableStyleId>
              </a:tblPr>
              <a:tblGrid>
                <a:gridCol w="3559630">
                  <a:extLst>
                    <a:ext uri="{9D8B030D-6E8A-4147-A177-3AD203B41FA5}">
                      <a16:colId xmlns:a16="http://schemas.microsoft.com/office/drawing/2014/main" val="2470210094"/>
                    </a:ext>
                  </a:extLst>
                </a:gridCol>
                <a:gridCol w="4659084">
                  <a:extLst>
                    <a:ext uri="{9D8B030D-6E8A-4147-A177-3AD203B41FA5}">
                      <a16:colId xmlns:a16="http://schemas.microsoft.com/office/drawing/2014/main" val="72878264"/>
                    </a:ext>
                  </a:extLst>
                </a:gridCol>
              </a:tblGrid>
              <a:tr h="318238">
                <a:tc>
                  <a:txBody>
                    <a:bodyPr/>
                    <a:lstStyle/>
                    <a:p>
                      <a:r>
                        <a:rPr lang="en-US" sz="1600" b="1" dirty="0">
                          <a:solidFill>
                            <a:srgbClr val="021836"/>
                          </a:solidFill>
                        </a:rPr>
                        <a:t>Briefing Area</a:t>
                      </a:r>
                    </a:p>
                  </a:txBody>
                  <a:tcPr>
                    <a:lnR w="12700" cap="flat" cmpd="sng" algn="ctr">
                      <a:solidFill>
                        <a:schemeClr val="bg1">
                          <a:lumMod val="75000"/>
                        </a:schemeClr>
                      </a:solidFill>
                      <a:prstDash val="solid"/>
                      <a:round/>
                      <a:headEnd type="none" w="med" len="med"/>
                      <a:tailEnd type="none" w="med" len="med"/>
                    </a:lnR>
                    <a:lnB w="12700" cap="flat" cmpd="sng" algn="ctr">
                      <a:solidFill>
                        <a:srgbClr val="0396A6"/>
                      </a:solidFill>
                      <a:prstDash val="solid"/>
                      <a:round/>
                      <a:headEnd type="none" w="med" len="med"/>
                      <a:tailEnd type="none" w="med" len="med"/>
                    </a:lnB>
                  </a:tcPr>
                </a:tc>
                <a:tc>
                  <a:txBody>
                    <a:bodyPr/>
                    <a:lstStyle/>
                    <a:p>
                      <a:r>
                        <a:rPr lang="en-US" sz="1600" b="1" dirty="0">
                          <a:solidFill>
                            <a:srgbClr val="021836"/>
                          </a:solidFill>
                        </a:rPr>
                        <a:t>Summary</a:t>
                      </a:r>
                    </a:p>
                  </a:txBody>
                  <a:tcPr>
                    <a:lnL w="12700" cap="flat" cmpd="sng" algn="ctr">
                      <a:solidFill>
                        <a:schemeClr val="bg1">
                          <a:lumMod val="75000"/>
                        </a:schemeClr>
                      </a:solidFill>
                      <a:prstDash val="solid"/>
                      <a:round/>
                      <a:headEnd type="none" w="med" len="med"/>
                      <a:tailEnd type="none" w="med" len="med"/>
                    </a:lnL>
                    <a:lnB w="12700" cap="flat" cmpd="sng" algn="ctr">
                      <a:solidFill>
                        <a:srgbClr val="0396A6"/>
                      </a:solidFill>
                      <a:prstDash val="solid"/>
                      <a:round/>
                      <a:headEnd type="none" w="med" len="med"/>
                      <a:tailEnd type="none" w="med" len="med"/>
                    </a:lnB>
                  </a:tcPr>
                </a:tc>
                <a:extLst>
                  <a:ext uri="{0D108BD9-81ED-4DB2-BD59-A6C34878D82A}">
                    <a16:rowId xmlns:a16="http://schemas.microsoft.com/office/drawing/2014/main" val="2061593276"/>
                  </a:ext>
                </a:extLst>
              </a:tr>
              <a:tr h="497559">
                <a:tc>
                  <a:txBody>
                    <a:bodyPr/>
                    <a:lstStyle/>
                    <a:p>
                      <a:pPr>
                        <a:buClr>
                          <a:schemeClr val="bg1">
                            <a:lumMod val="50000"/>
                          </a:schemeClr>
                        </a:buClr>
                      </a:pPr>
                      <a:r>
                        <a:rPr lang="en-US" sz="1400" b="0" dirty="0"/>
                        <a:t>Recommendation</a:t>
                      </a:r>
                    </a:p>
                  </a:txBody>
                  <a:tcPr>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400" b="0" kern="1200" dirty="0">
                          <a:solidFill>
                            <a:srgbClr val="021836"/>
                          </a:solidFill>
                          <a:latin typeface="+mn-lt"/>
                          <a:ea typeface="+mn-ea"/>
                          <a:cs typeface="+mn-cs"/>
                        </a:rPr>
                        <a:t>Proceed with a limited pilot / defer / redesign</a:t>
                      </a:r>
                    </a:p>
                  </a:txBody>
                  <a:tcPr>
                    <a:lnL w="12700" cap="flat" cmpd="sng" algn="ctr">
                      <a:solidFill>
                        <a:schemeClr val="bg1">
                          <a:lumMod val="75000"/>
                        </a:schemeClr>
                      </a:solidFill>
                      <a:prstDash val="solid"/>
                      <a:round/>
                      <a:headEnd type="none" w="med" len="med"/>
                      <a:tailEnd type="none" w="med" len="med"/>
                    </a:lnL>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493753442"/>
                  </a:ext>
                </a:extLst>
              </a:tr>
              <a:tr h="497559">
                <a:tc>
                  <a:txBody>
                    <a:bodyPr/>
                    <a:lstStyle/>
                    <a:p>
                      <a:pPr>
                        <a:buClr>
                          <a:schemeClr val="bg1">
                            <a:lumMod val="50000"/>
                          </a:schemeClr>
                        </a:buClr>
                      </a:pPr>
                      <a:r>
                        <a:rPr lang="en-US" sz="1400" b="0" dirty="0"/>
                        <a:t>Opportunity</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400" b="0" kern="1200" dirty="0">
                          <a:solidFill>
                            <a:srgbClr val="021836"/>
                          </a:solidFill>
                          <a:latin typeface="+mn-lt"/>
                          <a:ea typeface="+mn-ea"/>
                          <a:cs typeface="+mn-cs"/>
                        </a:rPr>
                        <a:t>Name of AI opportunity</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23325965"/>
                  </a:ext>
                </a:extLst>
              </a:tr>
              <a:tr h="497559">
                <a:tc>
                  <a:txBody>
                    <a:bodyPr/>
                    <a:lstStyle/>
                    <a:p>
                      <a:pPr>
                        <a:buClr>
                          <a:schemeClr val="bg1">
                            <a:lumMod val="50000"/>
                          </a:schemeClr>
                        </a:buClr>
                      </a:pPr>
                      <a:r>
                        <a:rPr lang="en-US" sz="1400" b="0" dirty="0"/>
                        <a:t>Business Value</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400" b="0" kern="1200" dirty="0">
                          <a:solidFill>
                            <a:srgbClr val="021836"/>
                          </a:solidFill>
                          <a:latin typeface="+mn-lt"/>
                          <a:ea typeface="+mn-ea"/>
                          <a:cs typeface="+mn-cs"/>
                        </a:rPr>
                        <a:t>Expected benefit</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845834834"/>
                  </a:ext>
                </a:extLst>
              </a:tr>
              <a:tr h="497559">
                <a:tc>
                  <a:txBody>
                    <a:bodyPr/>
                    <a:lstStyle/>
                    <a:p>
                      <a:pPr>
                        <a:buClr>
                          <a:schemeClr val="bg1">
                            <a:lumMod val="50000"/>
                          </a:schemeClr>
                        </a:buClr>
                      </a:pPr>
                      <a:r>
                        <a:rPr lang="en-US" sz="1400" b="0" dirty="0"/>
                        <a:t>Governance</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400" b="0" kern="1200" dirty="0">
                          <a:solidFill>
                            <a:srgbClr val="021836"/>
                          </a:solidFill>
                          <a:latin typeface="+mn-lt"/>
                          <a:ea typeface="+mn-ea"/>
                          <a:cs typeface="+mn-cs"/>
                        </a:rPr>
                        <a:t>Key oversight model</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012176639"/>
                  </a:ext>
                </a:extLst>
              </a:tr>
              <a:tr h="497559">
                <a:tc>
                  <a:txBody>
                    <a:bodyPr/>
                    <a:lstStyle/>
                    <a:p>
                      <a:pPr>
                        <a:buClr>
                          <a:schemeClr val="bg1">
                            <a:lumMod val="50000"/>
                          </a:schemeClr>
                        </a:buClr>
                      </a:pPr>
                      <a:r>
                        <a:rPr lang="en-US" sz="1400" b="0" dirty="0"/>
                        <a:t>Evidence</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400" b="0" kern="1200" dirty="0">
                          <a:solidFill>
                            <a:srgbClr val="021836"/>
                          </a:solidFill>
                          <a:latin typeface="+mn-lt"/>
                          <a:ea typeface="+mn-ea"/>
                          <a:cs typeface="+mn-cs"/>
                        </a:rPr>
                        <a:t>Measures to evaluate success</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049069712"/>
                  </a:ext>
                </a:extLst>
              </a:tr>
              <a:tr h="497559">
                <a:tc>
                  <a:txBody>
                    <a:bodyPr/>
                    <a:lstStyle/>
                    <a:p>
                      <a:pPr>
                        <a:buClr>
                          <a:schemeClr val="bg1">
                            <a:lumMod val="50000"/>
                          </a:schemeClr>
                        </a:buClr>
                      </a:pPr>
                      <a:r>
                        <a:rPr lang="en-US" sz="1400" b="0" dirty="0"/>
                        <a:t>Decision Needed</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400" b="0" kern="1200" dirty="0">
                          <a:solidFill>
                            <a:srgbClr val="021836"/>
                          </a:solidFill>
                          <a:latin typeface="+mn-lt"/>
                          <a:ea typeface="+mn-ea"/>
                          <a:cs typeface="+mn-cs"/>
                        </a:rPr>
                        <a:t>Approval, funding, sponsorship, or alignment</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567995066"/>
                  </a:ext>
                </a:extLst>
              </a:tr>
              <a:tr h="497559">
                <a:tc>
                  <a:txBody>
                    <a:bodyPr/>
                    <a:lstStyle/>
                    <a:p>
                      <a:pPr>
                        <a:buClr>
                          <a:schemeClr val="bg1">
                            <a:lumMod val="50000"/>
                          </a:schemeClr>
                        </a:buClr>
                      </a:pPr>
                      <a:r>
                        <a:rPr lang="en-US" sz="1400" b="0" dirty="0"/>
                        <a:t>Readiness </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400" b="0" kern="1200" dirty="0">
                          <a:solidFill>
                            <a:srgbClr val="021836"/>
                          </a:solidFill>
                          <a:latin typeface="+mn-lt"/>
                          <a:ea typeface="+mn-ea"/>
                          <a:cs typeface="+mn-cs"/>
                        </a:rPr>
                        <a:t>Key readiness condition, dependency, or limitation</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212122533"/>
                  </a:ext>
                </a:extLst>
              </a:tr>
            </a:tbl>
          </a:graphicData>
        </a:graphic>
      </p:graphicFrame>
      <p:cxnSp>
        <p:nvCxnSpPr>
          <p:cNvPr id="3" name="Straight Connector 2">
            <a:extLst>
              <a:ext uri="{FF2B5EF4-FFF2-40B4-BE49-F238E27FC236}">
                <a16:creationId xmlns:a16="http://schemas.microsoft.com/office/drawing/2014/main" id="{31844D60-7277-099F-0D05-D9DA54CBB950}"/>
              </a:ext>
            </a:extLst>
          </p:cNvPr>
          <p:cNvCxnSpPr>
            <a:cxnSpLocks/>
          </p:cNvCxnSpPr>
          <p:nvPr/>
        </p:nvCxnSpPr>
        <p:spPr>
          <a:xfrm>
            <a:off x="171450" y="5440055"/>
            <a:ext cx="8801100" cy="0"/>
          </a:xfrm>
          <a:prstGeom prst="line">
            <a:avLst/>
          </a:prstGeom>
          <a:ln w="9525">
            <a:solidFill>
              <a:srgbClr val="0396A6"/>
            </a:solidFill>
          </a:ln>
        </p:spPr>
        <p:style>
          <a:lnRef idx="2">
            <a:schemeClr val="accent1"/>
          </a:lnRef>
          <a:fillRef idx="0">
            <a:schemeClr val="accent1"/>
          </a:fillRef>
          <a:effectRef idx="1">
            <a:schemeClr val="accent1"/>
          </a:effectRef>
          <a:fontRef idx="minor">
            <a:schemeClr val="tx1"/>
          </a:fontRef>
        </p:style>
      </p:cxnSp>
      <p:sp>
        <p:nvSpPr>
          <p:cNvPr id="6" name="Content Placeholder 2">
            <a:extLst>
              <a:ext uri="{FF2B5EF4-FFF2-40B4-BE49-F238E27FC236}">
                <a16:creationId xmlns:a16="http://schemas.microsoft.com/office/drawing/2014/main" id="{7CCF1B01-C70B-AC5C-93D1-79A28445C75F}"/>
              </a:ext>
            </a:extLst>
          </p:cNvPr>
          <p:cNvSpPr txBox="1">
            <a:spLocks/>
          </p:cNvSpPr>
          <p:nvPr/>
        </p:nvSpPr>
        <p:spPr>
          <a:xfrm>
            <a:off x="389164" y="5561950"/>
            <a:ext cx="8583386" cy="676720"/>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b="1" dirty="0">
                <a:solidFill>
                  <a:srgbClr val="021836"/>
                </a:solidFill>
              </a:rPr>
              <a:t>Guiding Philosophy</a:t>
            </a:r>
          </a:p>
          <a:p>
            <a:pPr marL="0" indent="0">
              <a:buFont typeface="Arial" panose="020B0604020202020204" pitchFamily="34" charset="0"/>
              <a:buNone/>
            </a:pPr>
            <a:r>
              <a:rPr lang="en-US" sz="1400" i="1" dirty="0">
                <a:solidFill>
                  <a:schemeClr val="bg1">
                    <a:lumMod val="50000"/>
                  </a:schemeClr>
                </a:solidFill>
              </a:rPr>
              <a:t>Executives should understand the recommendation before they see the details.</a:t>
            </a:r>
          </a:p>
        </p:txBody>
      </p:sp>
      <p:sp>
        <p:nvSpPr>
          <p:cNvPr id="8" name="TextBox 7">
            <a:extLst>
              <a:ext uri="{FF2B5EF4-FFF2-40B4-BE49-F238E27FC236}">
                <a16:creationId xmlns:a16="http://schemas.microsoft.com/office/drawing/2014/main" id="{929B5C6F-4C51-740E-EC33-0A4A9AC1037C}"/>
              </a:ext>
            </a:extLst>
          </p:cNvPr>
          <p:cNvSpPr txBox="1"/>
          <p:nvPr/>
        </p:nvSpPr>
        <p:spPr>
          <a:xfrm>
            <a:off x="4408714" y="64309"/>
            <a:ext cx="4628748" cy="276999"/>
          </a:xfrm>
          <a:prstGeom prst="rect">
            <a:avLst/>
          </a:prstGeom>
          <a:noFill/>
        </p:spPr>
        <p:txBody>
          <a:bodyPr wrap="square" rtlCol="0">
            <a:spAutoFit/>
          </a:bodyPr>
          <a:lstStyle/>
          <a:p>
            <a:pPr algn="r"/>
            <a:r>
              <a:rPr lang="en-US" sz="1200" dirty="0">
                <a:solidFill>
                  <a:schemeClr val="bg1">
                    <a:lumMod val="50000"/>
                  </a:schemeClr>
                </a:solidFill>
              </a:rPr>
              <a:t>AI Operational Readiness • Executive Briefing</a:t>
            </a:r>
          </a:p>
        </p:txBody>
      </p:sp>
    </p:spTree>
    <p:extLst>
      <p:ext uri="{BB962C8B-B14F-4D97-AF65-F5344CB8AC3E}">
        <p14:creationId xmlns:p14="http://schemas.microsoft.com/office/powerpoint/2010/main" val="352779875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4A20EB-F0F1-633E-A917-29CACC76D2DD}"/>
              </a:ext>
            </a:extLst>
          </p:cNvPr>
          <p:cNvSpPr>
            <a:spLocks noGrp="1"/>
          </p:cNvSpPr>
          <p:nvPr>
            <p:ph type="title"/>
          </p:nvPr>
        </p:nvSpPr>
        <p:spPr>
          <a:xfrm>
            <a:off x="273534" y="-86630"/>
            <a:ext cx="7886700" cy="1325563"/>
          </a:xfrm>
        </p:spPr>
        <p:txBody>
          <a:bodyPr>
            <a:normAutofit/>
          </a:bodyPr>
          <a:lstStyle/>
          <a:p>
            <a:r>
              <a:rPr lang="en-US" sz="4000" dirty="0"/>
              <a:t>Business Problem</a:t>
            </a:r>
          </a:p>
        </p:txBody>
      </p:sp>
      <p:sp>
        <p:nvSpPr>
          <p:cNvPr id="9" name="Content Placeholder 2">
            <a:extLst>
              <a:ext uri="{FF2B5EF4-FFF2-40B4-BE49-F238E27FC236}">
                <a16:creationId xmlns:a16="http://schemas.microsoft.com/office/drawing/2014/main" id="{48E51978-00F1-B6E7-729C-1B8DF030C461}"/>
              </a:ext>
            </a:extLst>
          </p:cNvPr>
          <p:cNvSpPr txBox="1">
            <a:spLocks/>
          </p:cNvSpPr>
          <p:nvPr/>
        </p:nvSpPr>
        <p:spPr>
          <a:xfrm>
            <a:off x="317078" y="844267"/>
            <a:ext cx="7886700" cy="299244"/>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Clarifying the problem before proposing AI</a:t>
            </a:r>
          </a:p>
        </p:txBody>
      </p:sp>
      <p:sp>
        <p:nvSpPr>
          <p:cNvPr id="3" name="Content Placeholder 2">
            <a:extLst>
              <a:ext uri="{FF2B5EF4-FFF2-40B4-BE49-F238E27FC236}">
                <a16:creationId xmlns:a16="http://schemas.microsoft.com/office/drawing/2014/main" id="{7F451F4A-CD24-A023-B23B-7052C7F0B573}"/>
              </a:ext>
            </a:extLst>
          </p:cNvPr>
          <p:cNvSpPr txBox="1">
            <a:spLocks/>
          </p:cNvSpPr>
          <p:nvPr/>
        </p:nvSpPr>
        <p:spPr>
          <a:xfrm>
            <a:off x="360622" y="1606332"/>
            <a:ext cx="7886700" cy="158267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b="1" dirty="0">
                <a:solidFill>
                  <a:srgbClr val="021836"/>
                </a:solidFill>
              </a:rPr>
              <a:t>Questions</a:t>
            </a:r>
          </a:p>
          <a:p>
            <a:pPr>
              <a:lnSpc>
                <a:spcPct val="110000"/>
              </a:lnSpc>
              <a:spcBef>
                <a:spcPts val="600"/>
              </a:spcBef>
            </a:pPr>
            <a:r>
              <a:rPr lang="en-US" sz="1200" dirty="0"/>
              <a:t>What work is painful, slow, costly, risky, or inconsistent?</a:t>
            </a:r>
          </a:p>
          <a:p>
            <a:pPr>
              <a:lnSpc>
                <a:spcPct val="110000"/>
              </a:lnSpc>
              <a:spcBef>
                <a:spcPts val="600"/>
              </a:spcBef>
            </a:pPr>
            <a:r>
              <a:rPr lang="en-US" sz="1200" dirty="0"/>
              <a:t>Who is affected?</a:t>
            </a:r>
          </a:p>
          <a:p>
            <a:pPr>
              <a:lnSpc>
                <a:spcPct val="110000"/>
              </a:lnSpc>
              <a:spcBef>
                <a:spcPts val="600"/>
              </a:spcBef>
            </a:pPr>
            <a:r>
              <a:rPr lang="en-US" sz="1200" dirty="0"/>
              <a:t>What happens if this problem remains unresolved?</a:t>
            </a:r>
          </a:p>
          <a:p>
            <a:pPr>
              <a:lnSpc>
                <a:spcPct val="110000"/>
              </a:lnSpc>
              <a:spcBef>
                <a:spcPts val="600"/>
              </a:spcBef>
            </a:pPr>
            <a:r>
              <a:rPr lang="en-US" sz="1200" dirty="0"/>
              <a:t>What evidence supports the problem?</a:t>
            </a:r>
            <a:endParaRPr lang="en-US" sz="1600" dirty="0"/>
          </a:p>
        </p:txBody>
      </p:sp>
      <p:cxnSp>
        <p:nvCxnSpPr>
          <p:cNvPr id="14" name="Straight Connector 13">
            <a:extLst>
              <a:ext uri="{FF2B5EF4-FFF2-40B4-BE49-F238E27FC236}">
                <a16:creationId xmlns:a16="http://schemas.microsoft.com/office/drawing/2014/main" id="{861F1DC6-BFD0-4254-E129-009425AE63C6}"/>
              </a:ext>
            </a:extLst>
          </p:cNvPr>
          <p:cNvCxnSpPr>
            <a:cxnSpLocks/>
          </p:cNvCxnSpPr>
          <p:nvPr/>
        </p:nvCxnSpPr>
        <p:spPr>
          <a:xfrm>
            <a:off x="171450" y="4527390"/>
            <a:ext cx="8801100" cy="0"/>
          </a:xfrm>
          <a:prstGeom prst="line">
            <a:avLst/>
          </a:prstGeom>
          <a:ln w="9525">
            <a:solidFill>
              <a:srgbClr val="0396A6"/>
            </a:solidFill>
          </a:ln>
        </p:spPr>
        <p:style>
          <a:lnRef idx="2">
            <a:schemeClr val="accent1"/>
          </a:lnRef>
          <a:fillRef idx="0">
            <a:schemeClr val="accent1"/>
          </a:fillRef>
          <a:effectRef idx="1">
            <a:schemeClr val="accent1"/>
          </a:effectRef>
          <a:fontRef idx="minor">
            <a:schemeClr val="tx1"/>
          </a:fontRef>
        </p:style>
      </p:cxnSp>
      <p:sp>
        <p:nvSpPr>
          <p:cNvPr id="16" name="Content Placeholder 2">
            <a:extLst>
              <a:ext uri="{FF2B5EF4-FFF2-40B4-BE49-F238E27FC236}">
                <a16:creationId xmlns:a16="http://schemas.microsoft.com/office/drawing/2014/main" id="{F70C66AC-E3BF-16DC-2ECE-EC89A9DD3B51}"/>
              </a:ext>
            </a:extLst>
          </p:cNvPr>
          <p:cNvSpPr txBox="1">
            <a:spLocks/>
          </p:cNvSpPr>
          <p:nvPr/>
        </p:nvSpPr>
        <p:spPr>
          <a:xfrm>
            <a:off x="338850" y="347346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Problem Signals</a:t>
            </a:r>
          </a:p>
        </p:txBody>
      </p:sp>
      <p:sp>
        <p:nvSpPr>
          <p:cNvPr id="17" name="Content Placeholder 2">
            <a:extLst>
              <a:ext uri="{FF2B5EF4-FFF2-40B4-BE49-F238E27FC236}">
                <a16:creationId xmlns:a16="http://schemas.microsoft.com/office/drawing/2014/main" id="{63697B9B-9AE4-EE1E-5160-FB97A55DB4B5}"/>
              </a:ext>
            </a:extLst>
          </p:cNvPr>
          <p:cNvSpPr txBox="1">
            <a:spLocks/>
          </p:cNvSpPr>
          <p:nvPr/>
        </p:nvSpPr>
        <p:spPr>
          <a:xfrm>
            <a:off x="338850" y="3727690"/>
            <a:ext cx="7660853" cy="566737"/>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Clr>
                <a:srgbClr val="021836"/>
              </a:buClr>
              <a:buNone/>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Rework • Delays • </a:t>
            </a:r>
            <a:r>
              <a:rPr lang="en-US" sz="1200" i="1" dirty="0">
                <a:solidFill>
                  <a:prstClr val="white">
                    <a:lumMod val="50000"/>
                  </a:prstClr>
                </a:solidFill>
                <a:latin typeface="Aptos" panose="02110004020202020204"/>
              </a:rPr>
              <a:t>Manual effort</a:t>
            </a: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 • Search burden • </a:t>
            </a:r>
            <a:r>
              <a:rPr lang="en-US" sz="1200" i="1" dirty="0">
                <a:solidFill>
                  <a:prstClr val="white">
                    <a:lumMod val="50000"/>
                  </a:prstClr>
                </a:solidFill>
              </a:rPr>
              <a:t>Review burden • Customer impact • Compliance exposure • Bottlenecks</a:t>
            </a:r>
            <a:endPar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endParaRPr>
          </a:p>
        </p:txBody>
      </p:sp>
      <p:grpSp>
        <p:nvGrpSpPr>
          <p:cNvPr id="18" name="Group 17">
            <a:extLst>
              <a:ext uri="{FF2B5EF4-FFF2-40B4-BE49-F238E27FC236}">
                <a16:creationId xmlns:a16="http://schemas.microsoft.com/office/drawing/2014/main" id="{F97B14ED-664B-E3A1-6C8D-A79E532C8005}"/>
              </a:ext>
            </a:extLst>
          </p:cNvPr>
          <p:cNvGrpSpPr/>
          <p:nvPr/>
        </p:nvGrpSpPr>
        <p:grpSpPr>
          <a:xfrm>
            <a:off x="317078" y="4709270"/>
            <a:ext cx="7886700" cy="595537"/>
            <a:chOff x="628650" y="4778376"/>
            <a:chExt cx="7886700" cy="595537"/>
          </a:xfrm>
        </p:grpSpPr>
        <p:sp>
          <p:nvSpPr>
            <p:cNvPr id="19" name="Content Placeholder 2">
              <a:extLst>
                <a:ext uri="{FF2B5EF4-FFF2-40B4-BE49-F238E27FC236}">
                  <a16:creationId xmlns:a16="http://schemas.microsoft.com/office/drawing/2014/main" id="{67E4405E-1FA0-C75D-AFB7-A5E1B4C990CF}"/>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Guiding Principle</a:t>
              </a:r>
            </a:p>
          </p:txBody>
        </p:sp>
        <p:sp>
          <p:nvSpPr>
            <p:cNvPr id="20" name="Content Placeholder 2">
              <a:extLst>
                <a:ext uri="{FF2B5EF4-FFF2-40B4-BE49-F238E27FC236}">
                  <a16:creationId xmlns:a16="http://schemas.microsoft.com/office/drawing/2014/main" id="{86C1A09B-CA75-40EF-43DD-BE2CEF663546}"/>
                </a:ext>
              </a:extLst>
            </p:cNvPr>
            <p:cNvSpPr txBox="1">
              <a:spLocks/>
            </p:cNvSpPr>
            <p:nvPr/>
          </p:nvSpPr>
          <p:spPr>
            <a:xfrm>
              <a:off x="628650" y="5032601"/>
              <a:ext cx="7886700" cy="341312"/>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lang="en-US" sz="1200" dirty="0">
                  <a:solidFill>
                    <a:srgbClr val="021836"/>
                  </a:solidFill>
                  <a:latin typeface="Aptos" panose="02110004020202020204"/>
                </a:rPr>
                <a:t>AI should be proposed in response to a business problem, not as a standalone capability.</a:t>
              </a:r>
              <a:endPar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endParaRPr>
            </a:p>
          </p:txBody>
        </p:sp>
      </p:grpSp>
      <p:sp>
        <p:nvSpPr>
          <p:cNvPr id="5" name="TextBox 4">
            <a:extLst>
              <a:ext uri="{FF2B5EF4-FFF2-40B4-BE49-F238E27FC236}">
                <a16:creationId xmlns:a16="http://schemas.microsoft.com/office/drawing/2014/main" id="{B315A02E-F7AB-FC10-BA8D-A89AD6F89231}"/>
              </a:ext>
            </a:extLst>
          </p:cNvPr>
          <p:cNvSpPr txBox="1"/>
          <p:nvPr/>
        </p:nvSpPr>
        <p:spPr>
          <a:xfrm>
            <a:off x="4408714" y="64309"/>
            <a:ext cx="4628748" cy="276999"/>
          </a:xfrm>
          <a:prstGeom prst="rect">
            <a:avLst/>
          </a:prstGeom>
          <a:noFill/>
        </p:spPr>
        <p:txBody>
          <a:bodyPr wrap="square" rtlCol="0">
            <a:spAutoFit/>
          </a:bodyPr>
          <a:lstStyle/>
          <a:p>
            <a:pPr algn="r"/>
            <a:r>
              <a:rPr lang="en-US" sz="1200" dirty="0">
                <a:solidFill>
                  <a:schemeClr val="bg1">
                    <a:lumMod val="50000"/>
                  </a:schemeClr>
                </a:solidFill>
              </a:rPr>
              <a:t>AI Operational Readiness • Executive Briefing</a:t>
            </a:r>
          </a:p>
        </p:txBody>
      </p:sp>
    </p:spTree>
    <p:extLst>
      <p:ext uri="{BB962C8B-B14F-4D97-AF65-F5344CB8AC3E}">
        <p14:creationId xmlns:p14="http://schemas.microsoft.com/office/powerpoint/2010/main" val="184158087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59DFF-2554-80B4-C060-A07C4CA639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90D10B-DC03-F67B-A6F3-A103F1C84D25}"/>
              </a:ext>
            </a:extLst>
          </p:cNvPr>
          <p:cNvSpPr>
            <a:spLocks noGrp="1"/>
          </p:cNvSpPr>
          <p:nvPr>
            <p:ph type="title"/>
          </p:nvPr>
        </p:nvSpPr>
        <p:spPr>
          <a:xfrm>
            <a:off x="273534" y="-86630"/>
            <a:ext cx="7886700" cy="1325563"/>
          </a:xfrm>
        </p:spPr>
        <p:txBody>
          <a:bodyPr>
            <a:normAutofit/>
          </a:bodyPr>
          <a:lstStyle/>
          <a:p>
            <a:r>
              <a:rPr lang="en-US" sz="4000" dirty="0"/>
              <a:t>Current State</a:t>
            </a:r>
          </a:p>
        </p:txBody>
      </p:sp>
      <p:sp>
        <p:nvSpPr>
          <p:cNvPr id="9" name="Content Placeholder 2">
            <a:extLst>
              <a:ext uri="{FF2B5EF4-FFF2-40B4-BE49-F238E27FC236}">
                <a16:creationId xmlns:a16="http://schemas.microsoft.com/office/drawing/2014/main" id="{366E8A36-BBC6-E548-1FAF-93E48057BC17}"/>
              </a:ext>
            </a:extLst>
          </p:cNvPr>
          <p:cNvSpPr txBox="1">
            <a:spLocks/>
          </p:cNvSpPr>
          <p:nvPr/>
        </p:nvSpPr>
        <p:spPr>
          <a:xfrm>
            <a:off x="317078" y="844267"/>
            <a:ext cx="7886700" cy="299244"/>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lang="en-US" sz="1200" i="1" dirty="0">
                <a:solidFill>
                  <a:prstClr val="white">
                    <a:lumMod val="50000"/>
                  </a:prstClr>
                </a:solidFill>
                <a:latin typeface="Aptos" panose="02110004020202020204"/>
              </a:rPr>
              <a:t>Showing how the work happens</a:t>
            </a:r>
            <a:endPar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endParaRPr>
          </a:p>
        </p:txBody>
      </p:sp>
      <p:graphicFrame>
        <p:nvGraphicFramePr>
          <p:cNvPr id="13" name="Table 12">
            <a:extLst>
              <a:ext uri="{FF2B5EF4-FFF2-40B4-BE49-F238E27FC236}">
                <a16:creationId xmlns:a16="http://schemas.microsoft.com/office/drawing/2014/main" id="{6C0A3636-3D17-FF18-2826-3D1002D0191E}"/>
              </a:ext>
            </a:extLst>
          </p:cNvPr>
          <p:cNvGraphicFramePr>
            <a:graphicFrameLocks noGrp="1"/>
          </p:cNvGraphicFramePr>
          <p:nvPr/>
        </p:nvGraphicFramePr>
        <p:xfrm>
          <a:off x="360622" y="1665806"/>
          <a:ext cx="8218714" cy="2380460"/>
        </p:xfrm>
        <a:graphic>
          <a:graphicData uri="http://schemas.openxmlformats.org/drawingml/2006/table">
            <a:tbl>
              <a:tblPr firstRow="1" bandRow="1">
                <a:tableStyleId>{2D5ABB26-0587-4C30-8999-92F81FD0307C}</a:tableStyleId>
              </a:tblPr>
              <a:tblGrid>
                <a:gridCol w="3287487">
                  <a:extLst>
                    <a:ext uri="{9D8B030D-6E8A-4147-A177-3AD203B41FA5}">
                      <a16:colId xmlns:a16="http://schemas.microsoft.com/office/drawing/2014/main" val="2470210094"/>
                    </a:ext>
                  </a:extLst>
                </a:gridCol>
                <a:gridCol w="4931227">
                  <a:extLst>
                    <a:ext uri="{9D8B030D-6E8A-4147-A177-3AD203B41FA5}">
                      <a16:colId xmlns:a16="http://schemas.microsoft.com/office/drawing/2014/main" val="72878264"/>
                    </a:ext>
                  </a:extLst>
                </a:gridCol>
              </a:tblGrid>
              <a:tr h="229524">
                <a:tc>
                  <a:txBody>
                    <a:bodyPr/>
                    <a:lstStyle/>
                    <a:p>
                      <a:r>
                        <a:rPr lang="en-US" sz="1400" b="1" dirty="0">
                          <a:solidFill>
                            <a:srgbClr val="021836"/>
                          </a:solidFill>
                        </a:rPr>
                        <a:t>Current-State Area</a:t>
                      </a:r>
                    </a:p>
                  </a:txBody>
                  <a:tcPr>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rgbClr val="0396A6"/>
                      </a:solidFill>
                      <a:prstDash val="solid"/>
                      <a:round/>
                      <a:headEnd type="none" w="med" len="med"/>
                      <a:tailEnd type="none" w="med" len="med"/>
                    </a:lnB>
                  </a:tcPr>
                </a:tc>
                <a:tc>
                  <a:txBody>
                    <a:bodyPr/>
                    <a:lstStyle/>
                    <a:p>
                      <a:r>
                        <a:rPr lang="en-US" sz="1400" b="1" dirty="0">
                          <a:solidFill>
                            <a:srgbClr val="021836"/>
                          </a:solidFill>
                        </a:rPr>
                        <a:t>Summary</a:t>
                      </a:r>
                    </a:p>
                  </a:txBody>
                  <a:tcPr>
                    <a:lnL w="12700" cap="flat" cmpd="sng" algn="ctr">
                      <a:solidFill>
                        <a:schemeClr val="bg1">
                          <a:lumMod val="75000"/>
                        </a:schemeClr>
                      </a:solidFill>
                      <a:prstDash val="solid"/>
                      <a:round/>
                      <a:headEnd type="none" w="med" len="med"/>
                      <a:tailEnd type="none" w="med" len="med"/>
                    </a:lnL>
                    <a:lnT w="12700" cap="flat" cmpd="sng" algn="ctr">
                      <a:solidFill>
                        <a:srgbClr val="0396A6"/>
                      </a:solidFill>
                      <a:prstDash val="solid"/>
                      <a:round/>
                      <a:headEnd type="none" w="med" len="med"/>
                      <a:tailEnd type="none" w="med" len="med"/>
                    </a:lnT>
                    <a:lnB w="12700" cap="flat" cmpd="sng" algn="ctr">
                      <a:solidFill>
                        <a:srgbClr val="0396A6"/>
                      </a:solidFill>
                      <a:prstDash val="solid"/>
                      <a:round/>
                      <a:headEnd type="none" w="med" len="med"/>
                      <a:tailEnd type="none" w="med" len="med"/>
                    </a:lnB>
                  </a:tcPr>
                </a:tc>
                <a:extLst>
                  <a:ext uri="{0D108BD9-81ED-4DB2-BD59-A6C34878D82A}">
                    <a16:rowId xmlns:a16="http://schemas.microsoft.com/office/drawing/2014/main" val="2061593276"/>
                  </a:ext>
                </a:extLst>
              </a:tr>
              <a:tr h="311500">
                <a:tc>
                  <a:txBody>
                    <a:bodyPr/>
                    <a:lstStyle/>
                    <a:p>
                      <a:pPr>
                        <a:buClr>
                          <a:schemeClr val="bg1">
                            <a:lumMod val="50000"/>
                          </a:schemeClr>
                        </a:buClr>
                      </a:pPr>
                      <a:r>
                        <a:rPr lang="en-US" sz="1400" dirty="0"/>
                        <a:t>Workflow</a:t>
                      </a:r>
                    </a:p>
                  </a:txBody>
                  <a:tcPr>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marL="0" algn="l" defTabSz="914400" rtl="0" eaLnBrk="1" latinLnBrk="0" hangingPunct="1">
                        <a:buClr>
                          <a:schemeClr val="bg1">
                            <a:lumMod val="50000"/>
                          </a:schemeClr>
                        </a:buClr>
                      </a:pPr>
                      <a:r>
                        <a:rPr lang="en-US" sz="1400" kern="1200" dirty="0">
                          <a:solidFill>
                            <a:schemeClr val="tx1"/>
                          </a:solidFill>
                          <a:latin typeface="+mn-lt"/>
                          <a:ea typeface="+mn-ea"/>
                          <a:cs typeface="+mn-cs"/>
                        </a:rPr>
                        <a:t>How work happens today</a:t>
                      </a:r>
                    </a:p>
                  </a:txBody>
                  <a:tcPr>
                    <a:lnL w="12700" cap="flat" cmpd="sng" algn="ctr">
                      <a:solidFill>
                        <a:schemeClr val="bg1">
                          <a:lumMod val="75000"/>
                        </a:schemeClr>
                      </a:solidFill>
                      <a:prstDash val="solid"/>
                      <a:round/>
                      <a:headEnd type="none" w="med" len="med"/>
                      <a:tailEnd type="none" w="med" len="med"/>
                    </a:lnL>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493753442"/>
                  </a:ext>
                </a:extLst>
              </a:tr>
              <a:tr h="311500">
                <a:tc>
                  <a:txBody>
                    <a:bodyPr/>
                    <a:lstStyle/>
                    <a:p>
                      <a:pPr>
                        <a:buClr>
                          <a:schemeClr val="bg1">
                            <a:lumMod val="50000"/>
                          </a:schemeClr>
                        </a:buClr>
                      </a:pPr>
                      <a:r>
                        <a:rPr lang="en-US" sz="1400" dirty="0"/>
                        <a:t>Inputs</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marL="0" algn="l" defTabSz="914400" rtl="0" eaLnBrk="1" latinLnBrk="0" hangingPunct="1">
                        <a:buClr>
                          <a:schemeClr val="bg1">
                            <a:lumMod val="50000"/>
                          </a:schemeClr>
                        </a:buClr>
                      </a:pPr>
                      <a:r>
                        <a:rPr lang="en-US" sz="1400" kern="1200" dirty="0">
                          <a:solidFill>
                            <a:schemeClr val="tx1"/>
                          </a:solidFill>
                          <a:latin typeface="+mn-lt"/>
                          <a:ea typeface="+mn-ea"/>
                          <a:cs typeface="+mn-cs"/>
                        </a:rPr>
                        <a:t>Information, documents, systems, or data used</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23325965"/>
                  </a:ext>
                </a:extLst>
              </a:tr>
              <a:tr h="311500">
                <a:tc>
                  <a:txBody>
                    <a:bodyPr/>
                    <a:lstStyle/>
                    <a:p>
                      <a:pPr>
                        <a:buClr>
                          <a:schemeClr val="bg1">
                            <a:lumMod val="50000"/>
                          </a:schemeClr>
                        </a:buClr>
                      </a:pPr>
                      <a:r>
                        <a:rPr lang="en-US" sz="1400" dirty="0"/>
                        <a:t>Outputs</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marL="0" algn="l" defTabSz="914400" rtl="0" eaLnBrk="1" latinLnBrk="0" hangingPunct="1">
                        <a:buClr>
                          <a:schemeClr val="bg1">
                            <a:lumMod val="50000"/>
                          </a:schemeClr>
                        </a:buClr>
                      </a:pPr>
                      <a:r>
                        <a:rPr lang="en-US" sz="1400" kern="1200" dirty="0">
                          <a:solidFill>
                            <a:schemeClr val="tx1"/>
                          </a:solidFill>
                          <a:latin typeface="+mn-lt"/>
                          <a:ea typeface="+mn-ea"/>
                          <a:cs typeface="+mn-cs"/>
                        </a:rPr>
                        <a:t>What the process produces</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845834834"/>
                  </a:ext>
                </a:extLst>
              </a:tr>
              <a:tr h="311500">
                <a:tc>
                  <a:txBody>
                    <a:bodyPr/>
                    <a:lstStyle/>
                    <a:p>
                      <a:pPr>
                        <a:buClr>
                          <a:schemeClr val="bg1">
                            <a:lumMod val="50000"/>
                          </a:schemeClr>
                        </a:buClr>
                      </a:pPr>
                      <a:r>
                        <a:rPr lang="en-US" sz="1400" dirty="0"/>
                        <a:t>Dependencies</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marL="0" algn="l" defTabSz="914400" rtl="0" eaLnBrk="1" latinLnBrk="0" hangingPunct="1">
                        <a:buClr>
                          <a:schemeClr val="bg1">
                            <a:lumMod val="50000"/>
                          </a:schemeClr>
                        </a:buClr>
                      </a:pPr>
                      <a:r>
                        <a:rPr lang="en-US" sz="1400" kern="1200" dirty="0">
                          <a:solidFill>
                            <a:schemeClr val="tx1"/>
                          </a:solidFill>
                          <a:latin typeface="+mn-lt"/>
                          <a:ea typeface="+mn-ea"/>
                          <a:cs typeface="+mn-cs"/>
                        </a:rPr>
                        <a:t>People, approvals, systems, or teams involved</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012176639"/>
                  </a:ext>
                </a:extLst>
              </a:tr>
              <a:tr h="311500">
                <a:tc>
                  <a:txBody>
                    <a:bodyPr/>
                    <a:lstStyle/>
                    <a:p>
                      <a:pPr>
                        <a:buClr>
                          <a:schemeClr val="bg1">
                            <a:lumMod val="50000"/>
                          </a:schemeClr>
                        </a:buClr>
                      </a:pPr>
                      <a:r>
                        <a:rPr lang="en-US" sz="1400" dirty="0"/>
                        <a:t>Continuity/ Criticality</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marL="0" algn="l" defTabSz="914400" rtl="0" eaLnBrk="1" latinLnBrk="0" hangingPunct="1">
                        <a:buClr>
                          <a:schemeClr val="bg1">
                            <a:lumMod val="50000"/>
                          </a:schemeClr>
                        </a:buClr>
                      </a:pPr>
                      <a:r>
                        <a:rPr lang="en-US" sz="1400" kern="1200" dirty="0">
                          <a:solidFill>
                            <a:schemeClr val="tx1"/>
                          </a:solidFill>
                          <a:latin typeface="+mn-lt"/>
                          <a:ea typeface="+mn-ea"/>
                          <a:cs typeface="+mn-cs"/>
                        </a:rPr>
                        <a:t>What work must continue if AI or a supporting dependency is unavailable?</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162098870"/>
                  </a:ext>
                </a:extLst>
              </a:tr>
              <a:tr h="311500">
                <a:tc>
                  <a:txBody>
                    <a:bodyPr/>
                    <a:lstStyle/>
                    <a:p>
                      <a:pPr>
                        <a:buClr>
                          <a:schemeClr val="bg1">
                            <a:lumMod val="50000"/>
                          </a:schemeClr>
                        </a:buClr>
                      </a:pPr>
                      <a:r>
                        <a:rPr lang="en-US" sz="1400" dirty="0"/>
                        <a:t>Constraints</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marL="0" algn="l" defTabSz="914400" rtl="0" eaLnBrk="1" latinLnBrk="0" hangingPunct="1">
                        <a:buClr>
                          <a:schemeClr val="bg1">
                            <a:lumMod val="50000"/>
                          </a:schemeClr>
                        </a:buClr>
                      </a:pPr>
                      <a:r>
                        <a:rPr lang="en-US" sz="1400" kern="1200" dirty="0">
                          <a:solidFill>
                            <a:schemeClr val="tx1"/>
                          </a:solidFill>
                          <a:latin typeface="+mn-lt"/>
                          <a:ea typeface="+mn-ea"/>
                          <a:cs typeface="+mn-cs"/>
                        </a:rPr>
                        <a:t>Pain points, delays, bottlenecks, or limitations</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775192655"/>
                  </a:ext>
                </a:extLst>
              </a:tr>
            </a:tbl>
          </a:graphicData>
        </a:graphic>
      </p:graphicFrame>
      <p:cxnSp>
        <p:nvCxnSpPr>
          <p:cNvPr id="14" name="Straight Connector 13">
            <a:extLst>
              <a:ext uri="{FF2B5EF4-FFF2-40B4-BE49-F238E27FC236}">
                <a16:creationId xmlns:a16="http://schemas.microsoft.com/office/drawing/2014/main" id="{ECD6FAAF-892C-DB64-E679-87E8E5B697E7}"/>
              </a:ext>
            </a:extLst>
          </p:cNvPr>
          <p:cNvCxnSpPr>
            <a:cxnSpLocks/>
          </p:cNvCxnSpPr>
          <p:nvPr/>
        </p:nvCxnSpPr>
        <p:spPr>
          <a:xfrm>
            <a:off x="171450" y="4383799"/>
            <a:ext cx="8801100" cy="0"/>
          </a:xfrm>
          <a:prstGeom prst="line">
            <a:avLst/>
          </a:prstGeom>
          <a:ln w="9525">
            <a:solidFill>
              <a:srgbClr val="0396A6"/>
            </a:solidFill>
          </a:ln>
        </p:spPr>
        <p:style>
          <a:lnRef idx="2">
            <a:schemeClr val="accent1"/>
          </a:lnRef>
          <a:fillRef idx="0">
            <a:schemeClr val="accent1"/>
          </a:fillRef>
          <a:effectRef idx="1">
            <a:schemeClr val="accent1"/>
          </a:effectRef>
          <a:fontRef idx="minor">
            <a:schemeClr val="tx1"/>
          </a:fontRef>
        </p:style>
      </p:cxnSp>
      <p:grpSp>
        <p:nvGrpSpPr>
          <p:cNvPr id="18" name="Group 17">
            <a:extLst>
              <a:ext uri="{FF2B5EF4-FFF2-40B4-BE49-F238E27FC236}">
                <a16:creationId xmlns:a16="http://schemas.microsoft.com/office/drawing/2014/main" id="{F53ACE5F-EBF8-A95A-B927-F92F8CF13352}"/>
              </a:ext>
            </a:extLst>
          </p:cNvPr>
          <p:cNvGrpSpPr/>
          <p:nvPr/>
        </p:nvGrpSpPr>
        <p:grpSpPr>
          <a:xfrm>
            <a:off x="317078" y="4754167"/>
            <a:ext cx="7886700" cy="595537"/>
            <a:chOff x="628650" y="4778376"/>
            <a:chExt cx="7886700" cy="595537"/>
          </a:xfrm>
        </p:grpSpPr>
        <p:sp>
          <p:nvSpPr>
            <p:cNvPr id="19" name="Content Placeholder 2">
              <a:extLst>
                <a:ext uri="{FF2B5EF4-FFF2-40B4-BE49-F238E27FC236}">
                  <a16:creationId xmlns:a16="http://schemas.microsoft.com/office/drawing/2014/main" id="{355FBD61-2475-5606-8676-65C968EFB569}"/>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Guiding Principle</a:t>
              </a:r>
            </a:p>
          </p:txBody>
        </p:sp>
        <p:sp>
          <p:nvSpPr>
            <p:cNvPr id="20" name="Content Placeholder 2">
              <a:extLst>
                <a:ext uri="{FF2B5EF4-FFF2-40B4-BE49-F238E27FC236}">
                  <a16:creationId xmlns:a16="http://schemas.microsoft.com/office/drawing/2014/main" id="{45C57B34-1EAE-00C5-66F1-551571FD85DA}"/>
                </a:ext>
              </a:extLst>
            </p:cNvPr>
            <p:cNvSpPr txBox="1">
              <a:spLocks/>
            </p:cNvSpPr>
            <p:nvPr/>
          </p:nvSpPr>
          <p:spPr>
            <a:xfrm>
              <a:off x="628650" y="5032601"/>
              <a:ext cx="7886700" cy="341312"/>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kumimoji="0" lang="en-US" sz="1200" b="0" i="0" u="none" strike="noStrike" kern="1200" cap="none" spc="0" normalizeH="0" baseline="0" noProof="0" dirty="0">
                  <a:ln>
                    <a:noFill/>
                  </a:ln>
                  <a:solidFill>
                    <a:srgbClr val="021836"/>
                  </a:solidFill>
                  <a:effectLst/>
                  <a:uLnTx/>
                  <a:uFillTx/>
                  <a:latin typeface="Aptos" panose="02110004020202020204"/>
                  <a:ea typeface="+mn-ea"/>
                  <a:cs typeface="+mn-cs"/>
                </a:rPr>
                <a:t>Executives should see the work before they approve changing it.</a:t>
              </a:r>
              <a:endPar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endParaRPr>
            </a:p>
          </p:txBody>
        </p:sp>
      </p:grpSp>
      <p:sp>
        <p:nvSpPr>
          <p:cNvPr id="4" name="TextBox 3">
            <a:extLst>
              <a:ext uri="{FF2B5EF4-FFF2-40B4-BE49-F238E27FC236}">
                <a16:creationId xmlns:a16="http://schemas.microsoft.com/office/drawing/2014/main" id="{C2089E78-4860-AFDD-2338-5F4EDD55CF20}"/>
              </a:ext>
            </a:extLst>
          </p:cNvPr>
          <p:cNvSpPr txBox="1"/>
          <p:nvPr/>
        </p:nvSpPr>
        <p:spPr>
          <a:xfrm>
            <a:off x="4408714" y="64309"/>
            <a:ext cx="4628748" cy="276999"/>
          </a:xfrm>
          <a:prstGeom prst="rect">
            <a:avLst/>
          </a:prstGeom>
          <a:noFill/>
        </p:spPr>
        <p:txBody>
          <a:bodyPr wrap="square" rtlCol="0">
            <a:spAutoFit/>
          </a:bodyPr>
          <a:lstStyle/>
          <a:p>
            <a:pPr algn="r"/>
            <a:r>
              <a:rPr lang="en-US" sz="1200" dirty="0">
                <a:solidFill>
                  <a:schemeClr val="bg1">
                    <a:lumMod val="50000"/>
                  </a:schemeClr>
                </a:solidFill>
              </a:rPr>
              <a:t>AI Operational Readiness • Executive Briefing</a:t>
            </a:r>
          </a:p>
        </p:txBody>
      </p:sp>
    </p:spTree>
    <p:extLst>
      <p:ext uri="{BB962C8B-B14F-4D97-AF65-F5344CB8AC3E}">
        <p14:creationId xmlns:p14="http://schemas.microsoft.com/office/powerpoint/2010/main" val="270730629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566683-2927-A8F1-FDC1-5F295E3632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6BD141-BF55-1BB6-1E48-1F78556581A1}"/>
              </a:ext>
            </a:extLst>
          </p:cNvPr>
          <p:cNvSpPr>
            <a:spLocks noGrp="1"/>
          </p:cNvSpPr>
          <p:nvPr>
            <p:ph type="title"/>
          </p:nvPr>
        </p:nvSpPr>
        <p:spPr>
          <a:xfrm>
            <a:off x="273534" y="-86630"/>
            <a:ext cx="7886700" cy="1325563"/>
          </a:xfrm>
        </p:spPr>
        <p:txBody>
          <a:bodyPr>
            <a:normAutofit/>
          </a:bodyPr>
          <a:lstStyle/>
          <a:p>
            <a:r>
              <a:rPr lang="en-US" sz="4000" dirty="0"/>
              <a:t>Recommended AI Opportunity</a:t>
            </a:r>
          </a:p>
        </p:txBody>
      </p:sp>
      <p:sp>
        <p:nvSpPr>
          <p:cNvPr id="9" name="Content Placeholder 2">
            <a:extLst>
              <a:ext uri="{FF2B5EF4-FFF2-40B4-BE49-F238E27FC236}">
                <a16:creationId xmlns:a16="http://schemas.microsoft.com/office/drawing/2014/main" id="{B84C08A4-E2CF-BD8A-CB7C-13224398ABDE}"/>
              </a:ext>
            </a:extLst>
          </p:cNvPr>
          <p:cNvSpPr txBox="1">
            <a:spLocks/>
          </p:cNvSpPr>
          <p:nvPr/>
        </p:nvSpPr>
        <p:spPr>
          <a:xfrm>
            <a:off x="317078" y="844267"/>
            <a:ext cx="7886700" cy="299244"/>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Explaining what should change and why this opportunity was selected</a:t>
            </a:r>
          </a:p>
        </p:txBody>
      </p:sp>
      <p:graphicFrame>
        <p:nvGraphicFramePr>
          <p:cNvPr id="13" name="Table 12">
            <a:extLst>
              <a:ext uri="{FF2B5EF4-FFF2-40B4-BE49-F238E27FC236}">
                <a16:creationId xmlns:a16="http://schemas.microsoft.com/office/drawing/2014/main" id="{8A80A944-12F2-12BF-0840-02F8D09ECB63}"/>
              </a:ext>
            </a:extLst>
          </p:cNvPr>
          <p:cNvGraphicFramePr>
            <a:graphicFrameLocks noGrp="1"/>
          </p:cNvGraphicFramePr>
          <p:nvPr/>
        </p:nvGraphicFramePr>
        <p:xfrm>
          <a:off x="360622" y="1562661"/>
          <a:ext cx="8218714" cy="2173800"/>
        </p:xfrm>
        <a:graphic>
          <a:graphicData uri="http://schemas.openxmlformats.org/drawingml/2006/table">
            <a:tbl>
              <a:tblPr firstRow="1" bandRow="1">
                <a:tableStyleId>{2D5ABB26-0587-4C30-8999-92F81FD0307C}</a:tableStyleId>
              </a:tblPr>
              <a:tblGrid>
                <a:gridCol w="3287487">
                  <a:extLst>
                    <a:ext uri="{9D8B030D-6E8A-4147-A177-3AD203B41FA5}">
                      <a16:colId xmlns:a16="http://schemas.microsoft.com/office/drawing/2014/main" val="2470210094"/>
                    </a:ext>
                  </a:extLst>
                </a:gridCol>
                <a:gridCol w="4931227">
                  <a:extLst>
                    <a:ext uri="{9D8B030D-6E8A-4147-A177-3AD203B41FA5}">
                      <a16:colId xmlns:a16="http://schemas.microsoft.com/office/drawing/2014/main" val="72878264"/>
                    </a:ext>
                  </a:extLst>
                </a:gridCol>
              </a:tblGrid>
              <a:tr h="229524">
                <a:tc>
                  <a:txBody>
                    <a:bodyPr/>
                    <a:lstStyle/>
                    <a:p>
                      <a:r>
                        <a:rPr lang="en-US" sz="1400" b="1" dirty="0">
                          <a:solidFill>
                            <a:srgbClr val="021836"/>
                          </a:solidFill>
                        </a:rPr>
                        <a:t>Opportunity Area</a:t>
                      </a:r>
                    </a:p>
                  </a:txBody>
                  <a:tcPr>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rgbClr val="0396A6"/>
                      </a:solidFill>
                      <a:prstDash val="solid"/>
                      <a:round/>
                      <a:headEnd type="none" w="med" len="med"/>
                      <a:tailEnd type="none" w="med" len="med"/>
                    </a:lnB>
                  </a:tcPr>
                </a:tc>
                <a:tc>
                  <a:txBody>
                    <a:bodyPr/>
                    <a:lstStyle/>
                    <a:p>
                      <a:r>
                        <a:rPr lang="en-US" sz="1400" b="1" dirty="0">
                          <a:solidFill>
                            <a:srgbClr val="021836"/>
                          </a:solidFill>
                        </a:rPr>
                        <a:t>Summary</a:t>
                      </a:r>
                    </a:p>
                  </a:txBody>
                  <a:tcPr>
                    <a:lnL w="12700" cap="flat" cmpd="sng" algn="ctr">
                      <a:solidFill>
                        <a:schemeClr val="bg1">
                          <a:lumMod val="75000"/>
                        </a:schemeClr>
                      </a:solidFill>
                      <a:prstDash val="solid"/>
                      <a:round/>
                      <a:headEnd type="none" w="med" len="med"/>
                      <a:tailEnd type="none" w="med" len="med"/>
                    </a:lnL>
                    <a:lnT w="12700" cap="flat" cmpd="sng" algn="ctr">
                      <a:solidFill>
                        <a:srgbClr val="0396A6"/>
                      </a:solidFill>
                      <a:prstDash val="solid"/>
                      <a:round/>
                      <a:headEnd type="none" w="med" len="med"/>
                      <a:tailEnd type="none" w="med" len="med"/>
                    </a:lnT>
                    <a:lnB w="12700" cap="flat" cmpd="sng" algn="ctr">
                      <a:solidFill>
                        <a:srgbClr val="0396A6"/>
                      </a:solidFill>
                      <a:prstDash val="solid"/>
                      <a:round/>
                      <a:headEnd type="none" w="med" len="med"/>
                      <a:tailEnd type="none" w="med" len="med"/>
                    </a:lnB>
                  </a:tcPr>
                </a:tc>
                <a:extLst>
                  <a:ext uri="{0D108BD9-81ED-4DB2-BD59-A6C34878D82A}">
                    <a16:rowId xmlns:a16="http://schemas.microsoft.com/office/drawing/2014/main" val="2061593276"/>
                  </a:ext>
                </a:extLst>
              </a:tr>
              <a:tr h="311500">
                <a:tc>
                  <a:txBody>
                    <a:bodyPr/>
                    <a:lstStyle/>
                    <a:p>
                      <a:pPr>
                        <a:buClr>
                          <a:schemeClr val="bg1">
                            <a:lumMod val="50000"/>
                          </a:schemeClr>
                        </a:buClr>
                      </a:pPr>
                      <a:r>
                        <a:rPr lang="en-US" sz="1400" dirty="0"/>
                        <a:t>Opportunity</a:t>
                      </a:r>
                    </a:p>
                  </a:txBody>
                  <a:tcPr>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marL="0" algn="l" defTabSz="914400" rtl="0" eaLnBrk="1" latinLnBrk="0" hangingPunct="1">
                        <a:buClr>
                          <a:schemeClr val="bg1">
                            <a:lumMod val="50000"/>
                          </a:schemeClr>
                        </a:buClr>
                      </a:pPr>
                      <a:r>
                        <a:rPr lang="en-US" sz="1400" kern="1200" dirty="0">
                          <a:solidFill>
                            <a:schemeClr val="tx1"/>
                          </a:solidFill>
                          <a:latin typeface="+mn-lt"/>
                          <a:ea typeface="+mn-ea"/>
                          <a:cs typeface="+mn-cs"/>
                        </a:rPr>
                        <a:t>Proposed AI-enabled use case</a:t>
                      </a:r>
                    </a:p>
                  </a:txBody>
                  <a:tcPr>
                    <a:lnL w="12700" cap="flat" cmpd="sng" algn="ctr">
                      <a:solidFill>
                        <a:schemeClr val="bg1">
                          <a:lumMod val="75000"/>
                        </a:schemeClr>
                      </a:solidFill>
                      <a:prstDash val="solid"/>
                      <a:round/>
                      <a:headEnd type="none" w="med" len="med"/>
                      <a:tailEnd type="none" w="med" len="med"/>
                    </a:lnL>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493753442"/>
                  </a:ext>
                </a:extLst>
              </a:tr>
              <a:tr h="311500">
                <a:tc>
                  <a:txBody>
                    <a:bodyPr/>
                    <a:lstStyle/>
                    <a:p>
                      <a:pPr>
                        <a:buClr>
                          <a:schemeClr val="bg1">
                            <a:lumMod val="50000"/>
                          </a:schemeClr>
                        </a:buClr>
                      </a:pPr>
                      <a:r>
                        <a:rPr lang="en-US" sz="1400" dirty="0"/>
                        <a:t>Source Theme</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marL="0" algn="l" defTabSz="914400" rtl="0" eaLnBrk="1" latinLnBrk="0" hangingPunct="1">
                        <a:buClr>
                          <a:schemeClr val="bg1">
                            <a:lumMod val="50000"/>
                          </a:schemeClr>
                        </a:buClr>
                      </a:pPr>
                      <a:r>
                        <a:rPr lang="en-US" sz="1400" kern="1200" dirty="0">
                          <a:solidFill>
                            <a:schemeClr val="tx1"/>
                          </a:solidFill>
                          <a:latin typeface="+mn-lt"/>
                          <a:ea typeface="+mn-ea"/>
                          <a:cs typeface="+mn-cs"/>
                        </a:rPr>
                        <a:t>Where it emerged from discovery</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23325965"/>
                  </a:ext>
                </a:extLst>
              </a:tr>
              <a:tr h="311500">
                <a:tc>
                  <a:txBody>
                    <a:bodyPr/>
                    <a:lstStyle/>
                    <a:p>
                      <a:pPr>
                        <a:buClr>
                          <a:schemeClr val="bg1">
                            <a:lumMod val="50000"/>
                          </a:schemeClr>
                        </a:buClr>
                      </a:pPr>
                      <a:r>
                        <a:rPr lang="en-US" sz="1400" dirty="0"/>
                        <a:t>Priority Rationale</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marL="0" algn="l" defTabSz="914400" rtl="0" eaLnBrk="1" latinLnBrk="0" hangingPunct="1">
                        <a:buClr>
                          <a:schemeClr val="bg1">
                            <a:lumMod val="50000"/>
                          </a:schemeClr>
                        </a:buClr>
                      </a:pPr>
                      <a:r>
                        <a:rPr lang="en-US" sz="1400" kern="1200" dirty="0">
                          <a:solidFill>
                            <a:schemeClr val="tx1"/>
                          </a:solidFill>
                          <a:latin typeface="+mn-lt"/>
                          <a:ea typeface="+mn-ea"/>
                          <a:cs typeface="+mn-cs"/>
                        </a:rPr>
                        <a:t>Why it scored high or was selected</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845834834"/>
                  </a:ext>
                </a:extLst>
              </a:tr>
              <a:tr h="311500">
                <a:tc>
                  <a:txBody>
                    <a:bodyPr/>
                    <a:lstStyle/>
                    <a:p>
                      <a:pPr>
                        <a:buClr>
                          <a:schemeClr val="bg1">
                            <a:lumMod val="50000"/>
                          </a:schemeClr>
                        </a:buClr>
                      </a:pPr>
                      <a:r>
                        <a:rPr lang="en-US" sz="1400" dirty="0"/>
                        <a:t>AI Pattern</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marL="0" algn="l" defTabSz="914400" rtl="0" eaLnBrk="1" latinLnBrk="0" hangingPunct="1">
                        <a:buClr>
                          <a:schemeClr val="bg1">
                            <a:lumMod val="50000"/>
                          </a:schemeClr>
                        </a:buClr>
                      </a:pPr>
                      <a:r>
                        <a:rPr lang="en-US" sz="1400" kern="1200" dirty="0">
                          <a:solidFill>
                            <a:schemeClr val="tx1"/>
                          </a:solidFill>
                          <a:latin typeface="+mn-lt"/>
                          <a:ea typeface="+mn-ea"/>
                          <a:cs typeface="+mn-cs"/>
                        </a:rPr>
                        <a:t>Primary AI pattern and supporting pattern(s)</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012176639"/>
                  </a:ext>
                </a:extLst>
              </a:tr>
              <a:tr h="311500">
                <a:tc>
                  <a:txBody>
                    <a:bodyPr/>
                    <a:lstStyle/>
                    <a:p>
                      <a:pPr>
                        <a:buClr>
                          <a:schemeClr val="bg1">
                            <a:lumMod val="50000"/>
                          </a:schemeClr>
                        </a:buClr>
                      </a:pPr>
                      <a:r>
                        <a:rPr lang="en-US" sz="1400" dirty="0"/>
                        <a:t>Action/Authority Implication</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marL="0" algn="l" defTabSz="914400" rtl="0" eaLnBrk="1" latinLnBrk="0" hangingPunct="1">
                        <a:buClr>
                          <a:schemeClr val="bg1">
                            <a:lumMod val="50000"/>
                          </a:schemeClr>
                        </a:buClr>
                      </a:pPr>
                      <a:r>
                        <a:rPr lang="en-US" sz="1400" kern="1200" dirty="0">
                          <a:solidFill>
                            <a:schemeClr val="tx1"/>
                          </a:solidFill>
                          <a:latin typeface="+mn-lt"/>
                          <a:ea typeface="+mn-ea"/>
                          <a:cs typeface="+mn-cs"/>
                        </a:rPr>
                        <a:t>Inform/Recommend/Coordinate/Act</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878544540"/>
                  </a:ext>
                </a:extLst>
              </a:tr>
              <a:tr h="311500">
                <a:tc>
                  <a:txBody>
                    <a:bodyPr/>
                    <a:lstStyle/>
                    <a:p>
                      <a:pPr>
                        <a:buClr>
                          <a:schemeClr val="bg1">
                            <a:lumMod val="50000"/>
                          </a:schemeClr>
                        </a:buClr>
                      </a:pPr>
                      <a:r>
                        <a:rPr lang="en-US" sz="1400" dirty="0"/>
                        <a:t>Expected Improvement</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marL="0" algn="l" defTabSz="914400" rtl="0" eaLnBrk="1" latinLnBrk="0" hangingPunct="1">
                        <a:buClr>
                          <a:schemeClr val="bg1">
                            <a:lumMod val="50000"/>
                          </a:schemeClr>
                        </a:buClr>
                      </a:pPr>
                      <a:r>
                        <a:rPr lang="en-US" sz="1400" kern="1200" dirty="0">
                          <a:solidFill>
                            <a:schemeClr val="tx1"/>
                          </a:solidFill>
                          <a:latin typeface="+mn-lt"/>
                          <a:ea typeface="+mn-ea"/>
                          <a:cs typeface="+mn-cs"/>
                        </a:rPr>
                        <a:t>What should become faster, easier, safer, or more consistent.</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854945902"/>
                  </a:ext>
                </a:extLst>
              </a:tr>
            </a:tbl>
          </a:graphicData>
        </a:graphic>
      </p:graphicFrame>
      <p:cxnSp>
        <p:nvCxnSpPr>
          <p:cNvPr id="14" name="Straight Connector 13">
            <a:extLst>
              <a:ext uri="{FF2B5EF4-FFF2-40B4-BE49-F238E27FC236}">
                <a16:creationId xmlns:a16="http://schemas.microsoft.com/office/drawing/2014/main" id="{14BB890B-BCB9-A232-B775-23A905835CE4}"/>
              </a:ext>
            </a:extLst>
          </p:cNvPr>
          <p:cNvCxnSpPr>
            <a:cxnSpLocks/>
          </p:cNvCxnSpPr>
          <p:nvPr/>
        </p:nvCxnSpPr>
        <p:spPr>
          <a:xfrm>
            <a:off x="171450" y="4002800"/>
            <a:ext cx="8801100" cy="0"/>
          </a:xfrm>
          <a:prstGeom prst="line">
            <a:avLst/>
          </a:prstGeom>
          <a:ln w="9525">
            <a:solidFill>
              <a:srgbClr val="0396A6"/>
            </a:solidFill>
          </a:ln>
        </p:spPr>
        <p:style>
          <a:lnRef idx="2">
            <a:schemeClr val="accent1"/>
          </a:lnRef>
          <a:fillRef idx="0">
            <a:schemeClr val="accent1"/>
          </a:fillRef>
          <a:effectRef idx="1">
            <a:schemeClr val="accent1"/>
          </a:effectRef>
          <a:fontRef idx="minor">
            <a:schemeClr val="tx1"/>
          </a:fontRef>
        </p:style>
      </p:cxnSp>
      <p:grpSp>
        <p:nvGrpSpPr>
          <p:cNvPr id="21" name="Group 20">
            <a:extLst>
              <a:ext uri="{FF2B5EF4-FFF2-40B4-BE49-F238E27FC236}">
                <a16:creationId xmlns:a16="http://schemas.microsoft.com/office/drawing/2014/main" id="{E1C2ADFD-403C-59E9-2055-B2DD5FC39EEC}"/>
              </a:ext>
            </a:extLst>
          </p:cNvPr>
          <p:cNvGrpSpPr/>
          <p:nvPr/>
        </p:nvGrpSpPr>
        <p:grpSpPr>
          <a:xfrm>
            <a:off x="317078" y="4268932"/>
            <a:ext cx="7902996" cy="1279640"/>
            <a:chOff x="526629" y="5769213"/>
            <a:chExt cx="7902996" cy="1279640"/>
          </a:xfrm>
        </p:grpSpPr>
        <p:grpSp>
          <p:nvGrpSpPr>
            <p:cNvPr id="15" name="Group 14">
              <a:extLst>
                <a:ext uri="{FF2B5EF4-FFF2-40B4-BE49-F238E27FC236}">
                  <a16:creationId xmlns:a16="http://schemas.microsoft.com/office/drawing/2014/main" id="{DEBD223F-7046-3E1E-3B4E-8031D7CF780C}"/>
                </a:ext>
              </a:extLst>
            </p:cNvPr>
            <p:cNvGrpSpPr/>
            <p:nvPr/>
          </p:nvGrpSpPr>
          <p:grpSpPr>
            <a:xfrm>
              <a:off x="542925" y="5769213"/>
              <a:ext cx="7886700" cy="820961"/>
              <a:chOff x="628650" y="4778376"/>
              <a:chExt cx="7886700" cy="820961"/>
            </a:xfrm>
          </p:grpSpPr>
          <p:sp>
            <p:nvSpPr>
              <p:cNvPr id="16" name="Content Placeholder 2">
                <a:extLst>
                  <a:ext uri="{FF2B5EF4-FFF2-40B4-BE49-F238E27FC236}">
                    <a16:creationId xmlns:a16="http://schemas.microsoft.com/office/drawing/2014/main" id="{6D06D692-DC74-6792-0A1B-146C31736E62}"/>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400" b="1" dirty="0">
                    <a:solidFill>
                      <a:srgbClr val="021836"/>
                    </a:solidFill>
                    <a:latin typeface="Aptos" panose="02110004020202020204"/>
                  </a:rPr>
                  <a:t>Opportunity </a:t>
                </a: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Signals</a:t>
                </a:r>
              </a:p>
            </p:txBody>
          </p:sp>
          <p:sp>
            <p:nvSpPr>
              <p:cNvPr id="17" name="Content Placeholder 2">
                <a:extLst>
                  <a:ext uri="{FF2B5EF4-FFF2-40B4-BE49-F238E27FC236}">
                    <a16:creationId xmlns:a16="http://schemas.microsoft.com/office/drawing/2014/main" id="{D702B0C7-E48B-D5B9-3B61-3DBF08D02441}"/>
                  </a:ext>
                </a:extLst>
              </p:cNvPr>
              <p:cNvSpPr txBox="1">
                <a:spLocks/>
              </p:cNvSpPr>
              <p:nvPr/>
            </p:nvSpPr>
            <p:spPr>
              <a:xfrm>
                <a:off x="628650" y="5032600"/>
                <a:ext cx="7660853" cy="566737"/>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Clr>
                    <a:srgbClr val="021836"/>
                  </a:buClr>
                  <a:buNone/>
                  <a:defRPr/>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High frequency • High pain • Strong AI fit • Measurable value • Manageable risk</a:t>
                </a:r>
                <a:r>
                  <a:rPr lang="en-US" sz="1200" i="1" dirty="0">
                    <a:solidFill>
                      <a:prstClr val="white">
                        <a:lumMod val="50000"/>
                      </a:prstClr>
                    </a:solidFill>
                  </a:rPr>
                  <a:t> • Clear sponsor</a:t>
                </a:r>
                <a:endPar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endParaRPr>
              </a:p>
            </p:txBody>
          </p:sp>
        </p:grpSp>
        <p:grpSp>
          <p:nvGrpSpPr>
            <p:cNvPr id="18" name="Group 17">
              <a:extLst>
                <a:ext uri="{FF2B5EF4-FFF2-40B4-BE49-F238E27FC236}">
                  <a16:creationId xmlns:a16="http://schemas.microsoft.com/office/drawing/2014/main" id="{21F38550-0394-5D22-B14C-F9C88068C5FF}"/>
                </a:ext>
              </a:extLst>
            </p:cNvPr>
            <p:cNvGrpSpPr/>
            <p:nvPr/>
          </p:nvGrpSpPr>
          <p:grpSpPr>
            <a:xfrm>
              <a:off x="526629" y="6453316"/>
              <a:ext cx="7886700" cy="595537"/>
              <a:chOff x="628650" y="4778376"/>
              <a:chExt cx="7886700" cy="595537"/>
            </a:xfrm>
          </p:grpSpPr>
          <p:sp>
            <p:nvSpPr>
              <p:cNvPr id="19" name="Content Placeholder 2">
                <a:extLst>
                  <a:ext uri="{FF2B5EF4-FFF2-40B4-BE49-F238E27FC236}">
                    <a16:creationId xmlns:a16="http://schemas.microsoft.com/office/drawing/2014/main" id="{55A312A8-A50E-D253-703F-EE64FCF26F7C}"/>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Guiding Principle</a:t>
                </a:r>
              </a:p>
            </p:txBody>
          </p:sp>
          <p:sp>
            <p:nvSpPr>
              <p:cNvPr id="20" name="Content Placeholder 2">
                <a:extLst>
                  <a:ext uri="{FF2B5EF4-FFF2-40B4-BE49-F238E27FC236}">
                    <a16:creationId xmlns:a16="http://schemas.microsoft.com/office/drawing/2014/main" id="{AD17222E-1471-3942-0678-6D3F50478F7B}"/>
                  </a:ext>
                </a:extLst>
              </p:cNvPr>
              <p:cNvSpPr txBox="1">
                <a:spLocks/>
              </p:cNvSpPr>
              <p:nvPr/>
            </p:nvSpPr>
            <p:spPr>
              <a:xfrm>
                <a:off x="628650" y="5032601"/>
                <a:ext cx="7886700" cy="341312"/>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lang="en-US" sz="1200" dirty="0">
                    <a:solidFill>
                      <a:srgbClr val="021836"/>
                    </a:solidFill>
                    <a:latin typeface="Aptos" panose="02110004020202020204"/>
                  </a:rPr>
                  <a:t>The best AI opportunities balance value, fit, complexity, and risk.</a:t>
                </a:r>
                <a:endPar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endParaRPr>
              </a:p>
            </p:txBody>
          </p:sp>
        </p:grpSp>
      </p:grpSp>
      <p:sp>
        <p:nvSpPr>
          <p:cNvPr id="4" name="TextBox 3">
            <a:extLst>
              <a:ext uri="{FF2B5EF4-FFF2-40B4-BE49-F238E27FC236}">
                <a16:creationId xmlns:a16="http://schemas.microsoft.com/office/drawing/2014/main" id="{BBFD89D3-B46A-B57D-7254-FB03FEA59AA8}"/>
              </a:ext>
            </a:extLst>
          </p:cNvPr>
          <p:cNvSpPr txBox="1"/>
          <p:nvPr/>
        </p:nvSpPr>
        <p:spPr>
          <a:xfrm>
            <a:off x="4408714" y="64309"/>
            <a:ext cx="4628748" cy="276999"/>
          </a:xfrm>
          <a:prstGeom prst="rect">
            <a:avLst/>
          </a:prstGeom>
          <a:noFill/>
        </p:spPr>
        <p:txBody>
          <a:bodyPr wrap="square" rtlCol="0">
            <a:spAutoFit/>
          </a:bodyPr>
          <a:lstStyle/>
          <a:p>
            <a:pPr algn="r"/>
            <a:r>
              <a:rPr lang="en-US" sz="1200" dirty="0">
                <a:solidFill>
                  <a:schemeClr val="bg1">
                    <a:lumMod val="50000"/>
                  </a:schemeClr>
                </a:solidFill>
              </a:rPr>
              <a:t>AI Operational Readiness • Executive Briefing</a:t>
            </a:r>
          </a:p>
        </p:txBody>
      </p:sp>
    </p:spTree>
    <p:extLst>
      <p:ext uri="{BB962C8B-B14F-4D97-AF65-F5344CB8AC3E}">
        <p14:creationId xmlns:p14="http://schemas.microsoft.com/office/powerpoint/2010/main" val="180917462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5ACC30-EDE5-1DDE-2F66-AD713A4C1B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B6C30A-7B6A-E357-DCA1-153A7B3FC245}"/>
              </a:ext>
            </a:extLst>
          </p:cNvPr>
          <p:cNvSpPr>
            <a:spLocks noGrp="1"/>
          </p:cNvSpPr>
          <p:nvPr>
            <p:ph type="title"/>
          </p:nvPr>
        </p:nvSpPr>
        <p:spPr>
          <a:xfrm>
            <a:off x="273534" y="-86630"/>
            <a:ext cx="7886700" cy="1325563"/>
          </a:xfrm>
        </p:spPr>
        <p:txBody>
          <a:bodyPr>
            <a:normAutofit/>
          </a:bodyPr>
          <a:lstStyle/>
          <a:p>
            <a:r>
              <a:rPr lang="en-US" sz="4000" dirty="0"/>
              <a:t>Future-State Design</a:t>
            </a:r>
          </a:p>
        </p:txBody>
      </p:sp>
      <p:sp>
        <p:nvSpPr>
          <p:cNvPr id="9" name="Content Placeholder 2">
            <a:extLst>
              <a:ext uri="{FF2B5EF4-FFF2-40B4-BE49-F238E27FC236}">
                <a16:creationId xmlns:a16="http://schemas.microsoft.com/office/drawing/2014/main" id="{573A7026-361D-8D5B-7281-414695B2CD24}"/>
              </a:ext>
            </a:extLst>
          </p:cNvPr>
          <p:cNvSpPr txBox="1">
            <a:spLocks/>
          </p:cNvSpPr>
          <p:nvPr/>
        </p:nvSpPr>
        <p:spPr>
          <a:xfrm>
            <a:off x="317078" y="844267"/>
            <a:ext cx="7886700" cy="299244"/>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Showing how work will change with AI assistance</a:t>
            </a:r>
          </a:p>
        </p:txBody>
      </p:sp>
      <p:graphicFrame>
        <p:nvGraphicFramePr>
          <p:cNvPr id="13" name="Table 12">
            <a:extLst>
              <a:ext uri="{FF2B5EF4-FFF2-40B4-BE49-F238E27FC236}">
                <a16:creationId xmlns:a16="http://schemas.microsoft.com/office/drawing/2014/main" id="{6C2771F6-C765-2AF8-B3D1-00069AD4D724}"/>
              </a:ext>
            </a:extLst>
          </p:cNvPr>
          <p:cNvGraphicFramePr>
            <a:graphicFrameLocks noGrp="1"/>
          </p:cNvGraphicFramePr>
          <p:nvPr/>
        </p:nvGraphicFramePr>
        <p:xfrm>
          <a:off x="360622" y="1744978"/>
          <a:ext cx="8218714" cy="2691960"/>
        </p:xfrm>
        <a:graphic>
          <a:graphicData uri="http://schemas.openxmlformats.org/drawingml/2006/table">
            <a:tbl>
              <a:tblPr firstRow="1" bandRow="1">
                <a:tableStyleId>{2D5ABB26-0587-4C30-8999-92F81FD0307C}</a:tableStyleId>
              </a:tblPr>
              <a:tblGrid>
                <a:gridCol w="3287487">
                  <a:extLst>
                    <a:ext uri="{9D8B030D-6E8A-4147-A177-3AD203B41FA5}">
                      <a16:colId xmlns:a16="http://schemas.microsoft.com/office/drawing/2014/main" val="2470210094"/>
                    </a:ext>
                  </a:extLst>
                </a:gridCol>
                <a:gridCol w="4931227">
                  <a:extLst>
                    <a:ext uri="{9D8B030D-6E8A-4147-A177-3AD203B41FA5}">
                      <a16:colId xmlns:a16="http://schemas.microsoft.com/office/drawing/2014/main" val="72878264"/>
                    </a:ext>
                  </a:extLst>
                </a:gridCol>
              </a:tblGrid>
              <a:tr h="229524">
                <a:tc>
                  <a:txBody>
                    <a:bodyPr/>
                    <a:lstStyle/>
                    <a:p>
                      <a:r>
                        <a:rPr lang="en-US" sz="1400" b="1" dirty="0">
                          <a:solidFill>
                            <a:srgbClr val="021836"/>
                          </a:solidFill>
                        </a:rPr>
                        <a:t>Future-State Area</a:t>
                      </a:r>
                    </a:p>
                  </a:txBody>
                  <a:tcPr>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rgbClr val="0396A6"/>
                      </a:solidFill>
                      <a:prstDash val="solid"/>
                      <a:round/>
                      <a:headEnd type="none" w="med" len="med"/>
                      <a:tailEnd type="none" w="med" len="med"/>
                    </a:lnB>
                  </a:tcPr>
                </a:tc>
                <a:tc>
                  <a:txBody>
                    <a:bodyPr/>
                    <a:lstStyle/>
                    <a:p>
                      <a:r>
                        <a:rPr lang="en-US" sz="1400" b="1" dirty="0">
                          <a:solidFill>
                            <a:srgbClr val="021836"/>
                          </a:solidFill>
                        </a:rPr>
                        <a:t>Summary</a:t>
                      </a:r>
                    </a:p>
                  </a:txBody>
                  <a:tcPr>
                    <a:lnL w="12700" cap="flat" cmpd="sng" algn="ctr">
                      <a:solidFill>
                        <a:schemeClr val="bg1">
                          <a:lumMod val="75000"/>
                        </a:schemeClr>
                      </a:solidFill>
                      <a:prstDash val="solid"/>
                      <a:round/>
                      <a:headEnd type="none" w="med" len="med"/>
                      <a:tailEnd type="none" w="med" len="med"/>
                    </a:lnL>
                    <a:lnT w="12700" cap="flat" cmpd="sng" algn="ctr">
                      <a:solidFill>
                        <a:srgbClr val="0396A6"/>
                      </a:solidFill>
                      <a:prstDash val="solid"/>
                      <a:round/>
                      <a:headEnd type="none" w="med" len="med"/>
                      <a:tailEnd type="none" w="med" len="med"/>
                    </a:lnT>
                    <a:lnB w="12700" cap="flat" cmpd="sng" algn="ctr">
                      <a:solidFill>
                        <a:srgbClr val="0396A6"/>
                      </a:solidFill>
                      <a:prstDash val="solid"/>
                      <a:round/>
                      <a:headEnd type="none" w="med" len="med"/>
                      <a:tailEnd type="none" w="med" len="med"/>
                    </a:lnB>
                  </a:tcPr>
                </a:tc>
                <a:extLst>
                  <a:ext uri="{0D108BD9-81ED-4DB2-BD59-A6C34878D82A}">
                    <a16:rowId xmlns:a16="http://schemas.microsoft.com/office/drawing/2014/main" val="2061593276"/>
                  </a:ext>
                </a:extLst>
              </a:tr>
              <a:tr h="311500">
                <a:tc>
                  <a:txBody>
                    <a:bodyPr/>
                    <a:lstStyle/>
                    <a:p>
                      <a:pPr>
                        <a:buClr>
                          <a:schemeClr val="bg1">
                            <a:lumMod val="50000"/>
                          </a:schemeClr>
                        </a:buClr>
                      </a:pPr>
                      <a:r>
                        <a:rPr lang="en-US" sz="1400" dirty="0"/>
                        <a:t>AI Role</a:t>
                      </a:r>
                    </a:p>
                  </a:txBody>
                  <a:tcPr>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400" kern="1200" dirty="0">
                          <a:solidFill>
                            <a:schemeClr val="tx1"/>
                          </a:solidFill>
                          <a:latin typeface="+mn-lt"/>
                          <a:ea typeface="+mn-ea"/>
                          <a:cs typeface="+mn-cs"/>
                        </a:rPr>
                        <a:t>What AI will do</a:t>
                      </a:r>
                    </a:p>
                  </a:txBody>
                  <a:tcPr>
                    <a:lnL w="12700" cap="flat" cmpd="sng" algn="ctr">
                      <a:solidFill>
                        <a:schemeClr val="bg1">
                          <a:lumMod val="75000"/>
                        </a:schemeClr>
                      </a:solidFill>
                      <a:prstDash val="solid"/>
                      <a:round/>
                      <a:headEnd type="none" w="med" len="med"/>
                      <a:tailEnd type="none" w="med" len="med"/>
                    </a:lnL>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493753442"/>
                  </a:ext>
                </a:extLst>
              </a:tr>
              <a:tr h="311500">
                <a:tc>
                  <a:txBody>
                    <a:bodyPr/>
                    <a:lstStyle/>
                    <a:p>
                      <a:pPr>
                        <a:buClr>
                          <a:schemeClr val="bg1">
                            <a:lumMod val="50000"/>
                          </a:schemeClr>
                        </a:buClr>
                      </a:pPr>
                      <a:r>
                        <a:rPr lang="en-US" sz="1400" dirty="0"/>
                        <a:t>Human Role</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400" kern="1200" dirty="0">
                          <a:solidFill>
                            <a:schemeClr val="tx1"/>
                          </a:solidFill>
                          <a:latin typeface="+mn-lt"/>
                          <a:ea typeface="+mn-ea"/>
                          <a:cs typeface="+mn-cs"/>
                        </a:rPr>
                        <a:t>What humans will review, approve, or decide</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23325965"/>
                  </a:ext>
                </a:extLst>
              </a:tr>
              <a:tr h="311500">
                <a:tc>
                  <a:txBody>
                    <a:bodyPr/>
                    <a:lstStyle/>
                    <a:p>
                      <a:pPr>
                        <a:buClr>
                          <a:schemeClr val="bg1">
                            <a:lumMod val="50000"/>
                          </a:schemeClr>
                        </a:buClr>
                      </a:pPr>
                      <a:r>
                        <a:rPr lang="en-US" sz="1400" dirty="0"/>
                        <a:t>Workflow Change</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400" kern="1200" dirty="0">
                          <a:solidFill>
                            <a:schemeClr val="tx1"/>
                          </a:solidFill>
                          <a:latin typeface="+mn-lt"/>
                          <a:ea typeface="+mn-ea"/>
                          <a:cs typeface="+mn-cs"/>
                        </a:rPr>
                        <a:t>How the process changes</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845834834"/>
                  </a:ext>
                </a:extLst>
              </a:tr>
              <a:tr h="311500">
                <a:tc>
                  <a:txBody>
                    <a:bodyPr/>
                    <a:lstStyle/>
                    <a:p>
                      <a:pPr>
                        <a:buClr>
                          <a:schemeClr val="bg1">
                            <a:lumMod val="50000"/>
                          </a:schemeClr>
                        </a:buClr>
                      </a:pPr>
                      <a:r>
                        <a:rPr lang="en-US" sz="1400" dirty="0"/>
                        <a:t>Human Handoff</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400" kern="1200" dirty="0">
                          <a:solidFill>
                            <a:schemeClr val="tx1"/>
                          </a:solidFill>
                          <a:latin typeface="+mn-lt"/>
                          <a:ea typeface="+mn-ea"/>
                          <a:cs typeface="+mn-cs"/>
                        </a:rPr>
                        <a:t>Where AI assistance ends</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012176639"/>
                  </a:ext>
                </a:extLst>
              </a:tr>
              <a:tr h="311500">
                <a:tc>
                  <a:txBody>
                    <a:bodyPr/>
                    <a:lstStyle/>
                    <a:p>
                      <a:pPr>
                        <a:buClr>
                          <a:schemeClr val="bg1">
                            <a:lumMod val="50000"/>
                          </a:schemeClr>
                        </a:buClr>
                      </a:pPr>
                      <a:r>
                        <a:rPr lang="en-US" sz="1400" dirty="0"/>
                        <a:t>Fallback Path</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400" kern="1200" dirty="0">
                          <a:solidFill>
                            <a:schemeClr val="tx1"/>
                          </a:solidFill>
                          <a:latin typeface="+mn-lt"/>
                          <a:ea typeface="+mn-ea"/>
                          <a:cs typeface="+mn-cs"/>
                        </a:rPr>
                        <a:t>What happens if AI is unavailable or unsuitable</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225863231"/>
                  </a:ext>
                </a:extLst>
              </a:tr>
              <a:tr h="311500">
                <a:tc>
                  <a:txBody>
                    <a:bodyPr/>
                    <a:lstStyle/>
                    <a:p>
                      <a:pPr>
                        <a:buClr>
                          <a:schemeClr val="bg1">
                            <a:lumMod val="50000"/>
                          </a:schemeClr>
                        </a:buClr>
                      </a:pPr>
                      <a:r>
                        <a:rPr lang="en-US" sz="1400" dirty="0"/>
                        <a:t>Review/Approval Point</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400" kern="1200" dirty="0">
                          <a:solidFill>
                            <a:schemeClr val="tx1"/>
                          </a:solidFill>
                          <a:latin typeface="+mn-lt"/>
                          <a:ea typeface="+mn-ea"/>
                          <a:cs typeface="+mn-cs"/>
                        </a:rPr>
                        <a:t>Where review or authorization occurs before consequential action</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52767980"/>
                  </a:ext>
                </a:extLst>
              </a:tr>
              <a:tr h="311500">
                <a:tc>
                  <a:txBody>
                    <a:bodyPr/>
                    <a:lstStyle/>
                    <a:p>
                      <a:pPr>
                        <a:buClr>
                          <a:schemeClr val="bg1">
                            <a:lumMod val="50000"/>
                          </a:schemeClr>
                        </a:buClr>
                      </a:pPr>
                      <a:r>
                        <a:rPr lang="en-US" sz="1400" dirty="0"/>
                        <a:t>Success Outcome</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400" kern="1200" dirty="0">
                          <a:solidFill>
                            <a:schemeClr val="tx1"/>
                          </a:solidFill>
                          <a:latin typeface="+mn-lt"/>
                          <a:ea typeface="+mn-ea"/>
                          <a:cs typeface="+mn-cs"/>
                        </a:rPr>
                        <a:t>What should materially improve if the design works</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701791109"/>
                  </a:ext>
                </a:extLst>
              </a:tr>
            </a:tbl>
          </a:graphicData>
        </a:graphic>
      </p:graphicFrame>
      <p:cxnSp>
        <p:nvCxnSpPr>
          <p:cNvPr id="14" name="Straight Connector 13">
            <a:extLst>
              <a:ext uri="{FF2B5EF4-FFF2-40B4-BE49-F238E27FC236}">
                <a16:creationId xmlns:a16="http://schemas.microsoft.com/office/drawing/2014/main" id="{1BA9A79E-5FEE-8A9A-3D72-851EF4ED8551}"/>
              </a:ext>
            </a:extLst>
          </p:cNvPr>
          <p:cNvCxnSpPr>
            <a:cxnSpLocks/>
          </p:cNvCxnSpPr>
          <p:nvPr/>
        </p:nvCxnSpPr>
        <p:spPr>
          <a:xfrm>
            <a:off x="171450" y="4710387"/>
            <a:ext cx="8801100" cy="0"/>
          </a:xfrm>
          <a:prstGeom prst="line">
            <a:avLst/>
          </a:prstGeom>
          <a:ln w="9525">
            <a:solidFill>
              <a:srgbClr val="0396A6"/>
            </a:solidFill>
          </a:ln>
        </p:spPr>
        <p:style>
          <a:lnRef idx="2">
            <a:schemeClr val="accent1"/>
          </a:lnRef>
          <a:fillRef idx="0">
            <a:schemeClr val="accent1"/>
          </a:fillRef>
          <a:effectRef idx="1">
            <a:schemeClr val="accent1"/>
          </a:effectRef>
          <a:fontRef idx="minor">
            <a:schemeClr val="tx1"/>
          </a:fontRef>
        </p:style>
      </p:cxnSp>
      <p:grpSp>
        <p:nvGrpSpPr>
          <p:cNvPr id="18" name="Group 17">
            <a:extLst>
              <a:ext uri="{FF2B5EF4-FFF2-40B4-BE49-F238E27FC236}">
                <a16:creationId xmlns:a16="http://schemas.microsoft.com/office/drawing/2014/main" id="{6913FA25-8E48-4374-483D-C277FE755FC7}"/>
              </a:ext>
            </a:extLst>
          </p:cNvPr>
          <p:cNvGrpSpPr/>
          <p:nvPr/>
        </p:nvGrpSpPr>
        <p:grpSpPr>
          <a:xfrm>
            <a:off x="317078" y="5038405"/>
            <a:ext cx="7886700" cy="595537"/>
            <a:chOff x="628650" y="4778376"/>
            <a:chExt cx="7886700" cy="595537"/>
          </a:xfrm>
        </p:grpSpPr>
        <p:sp>
          <p:nvSpPr>
            <p:cNvPr id="19" name="Content Placeholder 2">
              <a:extLst>
                <a:ext uri="{FF2B5EF4-FFF2-40B4-BE49-F238E27FC236}">
                  <a16:creationId xmlns:a16="http://schemas.microsoft.com/office/drawing/2014/main" id="{ADFA418C-A5C8-2CBD-54A9-08A6BF85A70A}"/>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Guiding Principle</a:t>
              </a:r>
            </a:p>
          </p:txBody>
        </p:sp>
        <p:sp>
          <p:nvSpPr>
            <p:cNvPr id="20" name="Content Placeholder 2">
              <a:extLst>
                <a:ext uri="{FF2B5EF4-FFF2-40B4-BE49-F238E27FC236}">
                  <a16:creationId xmlns:a16="http://schemas.microsoft.com/office/drawing/2014/main" id="{3CA245C6-02DF-2700-6941-4DE535E7014B}"/>
                </a:ext>
              </a:extLst>
            </p:cNvPr>
            <p:cNvSpPr txBox="1">
              <a:spLocks/>
            </p:cNvSpPr>
            <p:nvPr/>
          </p:nvSpPr>
          <p:spPr>
            <a:xfrm>
              <a:off x="628650" y="5032601"/>
              <a:ext cx="7886700" cy="341312"/>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kumimoji="0" lang="en-US" sz="1200" b="0" i="0" u="none" strike="noStrike" kern="1200" cap="none" spc="0" normalizeH="0" baseline="0" noProof="0" dirty="0">
                  <a:ln>
                    <a:noFill/>
                  </a:ln>
                  <a:solidFill>
                    <a:srgbClr val="021836"/>
                  </a:solidFill>
                  <a:effectLst/>
                  <a:uLnTx/>
                  <a:uFillTx/>
                  <a:latin typeface="Aptos" panose="02110004020202020204"/>
                  <a:ea typeface="+mn-ea"/>
                  <a:cs typeface="+mn-cs"/>
                </a:rPr>
                <a:t>Future-state workflows should improve outcomes, not simply automate tasks.</a:t>
              </a:r>
              <a:endPar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endParaRPr>
            </a:p>
          </p:txBody>
        </p:sp>
      </p:grpSp>
      <p:sp>
        <p:nvSpPr>
          <p:cNvPr id="4" name="TextBox 3">
            <a:extLst>
              <a:ext uri="{FF2B5EF4-FFF2-40B4-BE49-F238E27FC236}">
                <a16:creationId xmlns:a16="http://schemas.microsoft.com/office/drawing/2014/main" id="{467731A5-B67D-57BD-990E-4DAA7170F986}"/>
              </a:ext>
            </a:extLst>
          </p:cNvPr>
          <p:cNvSpPr txBox="1"/>
          <p:nvPr/>
        </p:nvSpPr>
        <p:spPr>
          <a:xfrm>
            <a:off x="4408714" y="64309"/>
            <a:ext cx="4628748" cy="276999"/>
          </a:xfrm>
          <a:prstGeom prst="rect">
            <a:avLst/>
          </a:prstGeom>
          <a:noFill/>
        </p:spPr>
        <p:txBody>
          <a:bodyPr wrap="square" rtlCol="0">
            <a:spAutoFit/>
          </a:bodyPr>
          <a:lstStyle/>
          <a:p>
            <a:pPr algn="r"/>
            <a:r>
              <a:rPr lang="en-US" sz="1200" dirty="0">
                <a:solidFill>
                  <a:schemeClr val="bg1">
                    <a:lumMod val="50000"/>
                  </a:schemeClr>
                </a:solidFill>
              </a:rPr>
              <a:t>AI Operational Readiness • Executive Briefing</a:t>
            </a:r>
          </a:p>
        </p:txBody>
      </p:sp>
    </p:spTree>
    <p:extLst>
      <p:ext uri="{BB962C8B-B14F-4D97-AF65-F5344CB8AC3E}">
        <p14:creationId xmlns:p14="http://schemas.microsoft.com/office/powerpoint/2010/main" val="208240626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B5D6EB-207A-D489-11B1-EC9F68BAB5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9CD9ED-EE87-FF53-913F-A8AF87606A28}"/>
              </a:ext>
            </a:extLst>
          </p:cNvPr>
          <p:cNvSpPr>
            <a:spLocks noGrp="1"/>
          </p:cNvSpPr>
          <p:nvPr>
            <p:ph type="title"/>
          </p:nvPr>
        </p:nvSpPr>
        <p:spPr>
          <a:xfrm>
            <a:off x="273534" y="-86630"/>
            <a:ext cx="7886700" cy="1325563"/>
          </a:xfrm>
        </p:spPr>
        <p:txBody>
          <a:bodyPr>
            <a:normAutofit/>
          </a:bodyPr>
          <a:lstStyle/>
          <a:p>
            <a:r>
              <a:rPr lang="en-US" sz="4000" dirty="0"/>
              <a:t>Governance Model</a:t>
            </a:r>
          </a:p>
        </p:txBody>
      </p:sp>
      <p:sp>
        <p:nvSpPr>
          <p:cNvPr id="9" name="Content Placeholder 2">
            <a:extLst>
              <a:ext uri="{FF2B5EF4-FFF2-40B4-BE49-F238E27FC236}">
                <a16:creationId xmlns:a16="http://schemas.microsoft.com/office/drawing/2014/main" id="{104ECF77-1299-CFF6-6157-22FB7E46AB62}"/>
              </a:ext>
            </a:extLst>
          </p:cNvPr>
          <p:cNvSpPr txBox="1">
            <a:spLocks/>
          </p:cNvSpPr>
          <p:nvPr/>
        </p:nvSpPr>
        <p:spPr>
          <a:xfrm>
            <a:off x="317078" y="844267"/>
            <a:ext cx="7886700" cy="299244"/>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Defining who decides and where accountability remains</a:t>
            </a:r>
          </a:p>
        </p:txBody>
      </p:sp>
      <p:graphicFrame>
        <p:nvGraphicFramePr>
          <p:cNvPr id="13" name="Table 12">
            <a:extLst>
              <a:ext uri="{FF2B5EF4-FFF2-40B4-BE49-F238E27FC236}">
                <a16:creationId xmlns:a16="http://schemas.microsoft.com/office/drawing/2014/main" id="{C1C3C6ED-6BC1-44E4-45FD-F97E40CBF219}"/>
              </a:ext>
            </a:extLst>
          </p:cNvPr>
          <p:cNvGraphicFramePr>
            <a:graphicFrameLocks noGrp="1"/>
          </p:cNvGraphicFramePr>
          <p:nvPr/>
        </p:nvGraphicFramePr>
        <p:xfrm>
          <a:off x="371508" y="1595804"/>
          <a:ext cx="8218714" cy="2691960"/>
        </p:xfrm>
        <a:graphic>
          <a:graphicData uri="http://schemas.openxmlformats.org/drawingml/2006/table">
            <a:tbl>
              <a:tblPr firstRow="1" bandRow="1">
                <a:tableStyleId>{2D5ABB26-0587-4C30-8999-92F81FD0307C}</a:tableStyleId>
              </a:tblPr>
              <a:tblGrid>
                <a:gridCol w="3287487">
                  <a:extLst>
                    <a:ext uri="{9D8B030D-6E8A-4147-A177-3AD203B41FA5}">
                      <a16:colId xmlns:a16="http://schemas.microsoft.com/office/drawing/2014/main" val="2470210094"/>
                    </a:ext>
                  </a:extLst>
                </a:gridCol>
                <a:gridCol w="4931227">
                  <a:extLst>
                    <a:ext uri="{9D8B030D-6E8A-4147-A177-3AD203B41FA5}">
                      <a16:colId xmlns:a16="http://schemas.microsoft.com/office/drawing/2014/main" val="72878264"/>
                    </a:ext>
                  </a:extLst>
                </a:gridCol>
              </a:tblGrid>
              <a:tr h="229524">
                <a:tc>
                  <a:txBody>
                    <a:bodyPr/>
                    <a:lstStyle/>
                    <a:p>
                      <a:r>
                        <a:rPr lang="en-US" sz="1400" b="1" dirty="0">
                          <a:solidFill>
                            <a:srgbClr val="021836"/>
                          </a:solidFill>
                        </a:rPr>
                        <a:t>Decision Area</a:t>
                      </a:r>
                    </a:p>
                  </a:txBody>
                  <a:tcPr>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rgbClr val="0396A6"/>
                      </a:solidFill>
                      <a:prstDash val="solid"/>
                      <a:round/>
                      <a:headEnd type="none" w="med" len="med"/>
                      <a:tailEnd type="none" w="med" len="med"/>
                    </a:lnB>
                  </a:tcPr>
                </a:tc>
                <a:tc>
                  <a:txBody>
                    <a:bodyPr/>
                    <a:lstStyle/>
                    <a:p>
                      <a:r>
                        <a:rPr lang="en-US" sz="1400" b="1" dirty="0">
                          <a:solidFill>
                            <a:srgbClr val="021836"/>
                          </a:solidFill>
                        </a:rPr>
                        <a:t>Proposed Design</a:t>
                      </a:r>
                    </a:p>
                  </a:txBody>
                  <a:tcPr>
                    <a:lnL w="12700" cap="flat" cmpd="sng" algn="ctr">
                      <a:solidFill>
                        <a:schemeClr val="bg1">
                          <a:lumMod val="75000"/>
                        </a:schemeClr>
                      </a:solidFill>
                      <a:prstDash val="solid"/>
                      <a:round/>
                      <a:headEnd type="none" w="med" len="med"/>
                      <a:tailEnd type="none" w="med" len="med"/>
                    </a:lnL>
                    <a:lnT w="12700" cap="flat" cmpd="sng" algn="ctr">
                      <a:solidFill>
                        <a:srgbClr val="0396A6"/>
                      </a:solidFill>
                      <a:prstDash val="solid"/>
                      <a:round/>
                      <a:headEnd type="none" w="med" len="med"/>
                      <a:tailEnd type="none" w="med" len="med"/>
                    </a:lnT>
                    <a:lnB w="12700" cap="flat" cmpd="sng" algn="ctr">
                      <a:solidFill>
                        <a:srgbClr val="0396A6"/>
                      </a:solidFill>
                      <a:prstDash val="solid"/>
                      <a:round/>
                      <a:headEnd type="none" w="med" len="med"/>
                      <a:tailEnd type="none" w="med" len="med"/>
                    </a:lnB>
                  </a:tcPr>
                </a:tc>
                <a:extLst>
                  <a:ext uri="{0D108BD9-81ED-4DB2-BD59-A6C34878D82A}">
                    <a16:rowId xmlns:a16="http://schemas.microsoft.com/office/drawing/2014/main" val="2061593276"/>
                  </a:ext>
                </a:extLst>
              </a:tr>
              <a:tr h="311500">
                <a:tc>
                  <a:txBody>
                    <a:bodyPr/>
                    <a:lstStyle/>
                    <a:p>
                      <a:pPr>
                        <a:buClr>
                          <a:schemeClr val="bg1">
                            <a:lumMod val="50000"/>
                          </a:schemeClr>
                        </a:buClr>
                      </a:pPr>
                      <a:r>
                        <a:rPr lang="en-US" sz="1400" dirty="0"/>
                        <a:t>Review</a:t>
                      </a:r>
                    </a:p>
                  </a:txBody>
                  <a:tcPr>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400" dirty="0"/>
                        <a:t>Who verifies outputs</a:t>
                      </a:r>
                    </a:p>
                  </a:txBody>
                  <a:tcPr>
                    <a:lnL w="12700" cap="flat" cmpd="sng" algn="ctr">
                      <a:solidFill>
                        <a:schemeClr val="bg1">
                          <a:lumMod val="75000"/>
                        </a:schemeClr>
                      </a:solidFill>
                      <a:prstDash val="solid"/>
                      <a:round/>
                      <a:headEnd type="none" w="med" len="med"/>
                      <a:tailEnd type="none" w="med" len="med"/>
                    </a:lnL>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493753442"/>
                  </a:ext>
                </a:extLst>
              </a:tr>
              <a:tr h="311500">
                <a:tc>
                  <a:txBody>
                    <a:bodyPr/>
                    <a:lstStyle/>
                    <a:p>
                      <a:pPr>
                        <a:buClr>
                          <a:schemeClr val="bg1">
                            <a:lumMod val="50000"/>
                          </a:schemeClr>
                        </a:buClr>
                      </a:pPr>
                      <a:r>
                        <a:rPr lang="en-US" sz="1400" dirty="0"/>
                        <a:t>Approval</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400" dirty="0"/>
                        <a:t>Who authorizes use or distribution</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23325965"/>
                  </a:ext>
                </a:extLst>
              </a:tr>
              <a:tr h="311500">
                <a:tc>
                  <a:txBody>
                    <a:bodyPr/>
                    <a:lstStyle/>
                    <a:p>
                      <a:pPr>
                        <a:buClr>
                          <a:schemeClr val="bg1">
                            <a:lumMod val="50000"/>
                          </a:schemeClr>
                        </a:buClr>
                      </a:pPr>
                      <a:r>
                        <a:rPr lang="en-US" sz="1400" dirty="0"/>
                        <a:t>Escalation</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400" dirty="0"/>
                        <a:t>What triggers escalation and who receives it</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845834834"/>
                  </a:ext>
                </a:extLst>
              </a:tr>
              <a:tr h="311500">
                <a:tc>
                  <a:txBody>
                    <a:bodyPr/>
                    <a:lstStyle/>
                    <a:p>
                      <a:pPr>
                        <a:buClr>
                          <a:schemeClr val="bg1">
                            <a:lumMod val="50000"/>
                          </a:schemeClr>
                        </a:buClr>
                      </a:pPr>
                      <a:r>
                        <a:rPr lang="en-US" sz="1400" dirty="0"/>
                        <a:t>Intervention Authority</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400" dirty="0"/>
                        <a:t>Who can pause, override, or stop the process</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012176639"/>
                  </a:ext>
                </a:extLst>
              </a:tr>
              <a:tr h="311500">
                <a:tc>
                  <a:txBody>
                    <a:bodyPr/>
                    <a:lstStyle/>
                    <a:p>
                      <a:pPr>
                        <a:buClr>
                          <a:schemeClr val="bg1">
                            <a:lumMod val="50000"/>
                          </a:schemeClr>
                        </a:buClr>
                      </a:pPr>
                      <a:r>
                        <a:rPr lang="en-US" sz="1400" dirty="0"/>
                        <a:t>Accountability</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400" dirty="0"/>
                        <a:t>Who owns outcomes and consequences</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645799316"/>
                  </a:ext>
                </a:extLst>
              </a:tr>
              <a:tr h="311500">
                <a:tc>
                  <a:txBody>
                    <a:bodyPr/>
                    <a:lstStyle/>
                    <a:p>
                      <a:pPr>
                        <a:buClr>
                          <a:schemeClr val="bg1">
                            <a:lumMod val="50000"/>
                          </a:schemeClr>
                        </a:buClr>
                      </a:pPr>
                      <a:r>
                        <a:rPr lang="en-US" sz="1400" dirty="0"/>
                        <a:t>AI Action Boundary</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400" dirty="0"/>
                        <a:t>What AI may do without additional authorization</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174099931"/>
                  </a:ext>
                </a:extLst>
              </a:tr>
              <a:tr h="311500">
                <a:tc>
                  <a:txBody>
                    <a:bodyPr/>
                    <a:lstStyle/>
                    <a:p>
                      <a:pPr>
                        <a:buClr>
                          <a:schemeClr val="bg1">
                            <a:lumMod val="50000"/>
                          </a:schemeClr>
                        </a:buClr>
                      </a:pPr>
                      <a:r>
                        <a:rPr lang="en-US" sz="1400" dirty="0"/>
                        <a:t>Authority Modification/ Restoration</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400" dirty="0"/>
                        <a:t>Who may narrow, suspend, restore, or expand AI operating authority</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356237201"/>
                  </a:ext>
                </a:extLst>
              </a:tr>
            </a:tbl>
          </a:graphicData>
        </a:graphic>
      </p:graphicFrame>
      <p:cxnSp>
        <p:nvCxnSpPr>
          <p:cNvPr id="14" name="Straight Connector 13">
            <a:extLst>
              <a:ext uri="{FF2B5EF4-FFF2-40B4-BE49-F238E27FC236}">
                <a16:creationId xmlns:a16="http://schemas.microsoft.com/office/drawing/2014/main" id="{449E1938-1737-3564-5EEB-EBD950095A32}"/>
              </a:ext>
            </a:extLst>
          </p:cNvPr>
          <p:cNvCxnSpPr>
            <a:cxnSpLocks/>
          </p:cNvCxnSpPr>
          <p:nvPr/>
        </p:nvCxnSpPr>
        <p:spPr>
          <a:xfrm>
            <a:off x="171450" y="4802685"/>
            <a:ext cx="8801100" cy="0"/>
          </a:xfrm>
          <a:prstGeom prst="line">
            <a:avLst/>
          </a:prstGeom>
          <a:ln w="9525">
            <a:solidFill>
              <a:srgbClr val="0396A6"/>
            </a:solidFill>
          </a:ln>
        </p:spPr>
        <p:style>
          <a:lnRef idx="2">
            <a:schemeClr val="accent1"/>
          </a:lnRef>
          <a:fillRef idx="0">
            <a:schemeClr val="accent1"/>
          </a:fillRef>
          <a:effectRef idx="1">
            <a:schemeClr val="accent1"/>
          </a:effectRef>
          <a:fontRef idx="minor">
            <a:schemeClr val="tx1"/>
          </a:fontRef>
        </p:style>
      </p:cxnSp>
      <p:grpSp>
        <p:nvGrpSpPr>
          <p:cNvPr id="15" name="Group 14">
            <a:extLst>
              <a:ext uri="{FF2B5EF4-FFF2-40B4-BE49-F238E27FC236}">
                <a16:creationId xmlns:a16="http://schemas.microsoft.com/office/drawing/2014/main" id="{ABA89E5D-5C8B-F718-5D93-35F644D20348}"/>
              </a:ext>
            </a:extLst>
          </p:cNvPr>
          <p:cNvGrpSpPr/>
          <p:nvPr/>
        </p:nvGrpSpPr>
        <p:grpSpPr>
          <a:xfrm>
            <a:off x="333374" y="4996027"/>
            <a:ext cx="7913948" cy="820961"/>
            <a:chOff x="628650" y="4778376"/>
            <a:chExt cx="7913948" cy="820961"/>
          </a:xfrm>
        </p:grpSpPr>
        <p:sp>
          <p:nvSpPr>
            <p:cNvPr id="16" name="Content Placeholder 2">
              <a:extLst>
                <a:ext uri="{FF2B5EF4-FFF2-40B4-BE49-F238E27FC236}">
                  <a16:creationId xmlns:a16="http://schemas.microsoft.com/office/drawing/2014/main" id="{2A99AF3D-E4B0-38BD-FD92-4B91D94E6293}"/>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Governance Signals</a:t>
              </a:r>
            </a:p>
          </p:txBody>
        </p:sp>
        <p:sp>
          <p:nvSpPr>
            <p:cNvPr id="17" name="Content Placeholder 2">
              <a:extLst>
                <a:ext uri="{FF2B5EF4-FFF2-40B4-BE49-F238E27FC236}">
                  <a16:creationId xmlns:a16="http://schemas.microsoft.com/office/drawing/2014/main" id="{23766EA0-3511-160E-C454-E770416BBFBE}"/>
                </a:ext>
              </a:extLst>
            </p:cNvPr>
            <p:cNvSpPr txBox="1">
              <a:spLocks/>
            </p:cNvSpPr>
            <p:nvPr/>
          </p:nvSpPr>
          <p:spPr>
            <a:xfrm>
              <a:off x="628650" y="5032600"/>
              <a:ext cx="7913948" cy="566737"/>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Clr>
                  <a:srgbClr val="021836"/>
                </a:buClr>
                <a:buNone/>
                <a:defRPr/>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Sensitive information • External-facing outputs • High-consequence decisions • Shared ownership </a:t>
              </a:r>
              <a:r>
                <a:rPr lang="en-US" sz="1200" i="1" dirty="0">
                  <a:solidFill>
                    <a:prstClr val="white">
                      <a:lumMod val="50000"/>
                    </a:prstClr>
                  </a:solidFill>
                </a:rPr>
                <a:t>• Escalation triggers • Compliance exposure</a:t>
              </a:r>
              <a:endPar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endParaRPr>
            </a:p>
          </p:txBody>
        </p:sp>
      </p:grpSp>
      <p:grpSp>
        <p:nvGrpSpPr>
          <p:cNvPr id="18" name="Group 17">
            <a:extLst>
              <a:ext uri="{FF2B5EF4-FFF2-40B4-BE49-F238E27FC236}">
                <a16:creationId xmlns:a16="http://schemas.microsoft.com/office/drawing/2014/main" id="{32B761AE-23B9-752B-1D04-928587AF77B6}"/>
              </a:ext>
            </a:extLst>
          </p:cNvPr>
          <p:cNvGrpSpPr/>
          <p:nvPr/>
        </p:nvGrpSpPr>
        <p:grpSpPr>
          <a:xfrm>
            <a:off x="317078" y="5832529"/>
            <a:ext cx="7886700" cy="595537"/>
            <a:chOff x="628650" y="4778376"/>
            <a:chExt cx="7886700" cy="595537"/>
          </a:xfrm>
        </p:grpSpPr>
        <p:sp>
          <p:nvSpPr>
            <p:cNvPr id="19" name="Content Placeholder 2">
              <a:extLst>
                <a:ext uri="{FF2B5EF4-FFF2-40B4-BE49-F238E27FC236}">
                  <a16:creationId xmlns:a16="http://schemas.microsoft.com/office/drawing/2014/main" id="{021EC05A-D62A-546D-1AE1-2C15A51A7256}"/>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Guiding Principle</a:t>
              </a:r>
            </a:p>
          </p:txBody>
        </p:sp>
        <p:sp>
          <p:nvSpPr>
            <p:cNvPr id="20" name="Content Placeholder 2">
              <a:extLst>
                <a:ext uri="{FF2B5EF4-FFF2-40B4-BE49-F238E27FC236}">
                  <a16:creationId xmlns:a16="http://schemas.microsoft.com/office/drawing/2014/main" id="{B89A9417-4DDD-EE94-BFB7-C63FBD09381E}"/>
                </a:ext>
              </a:extLst>
            </p:cNvPr>
            <p:cNvSpPr txBox="1">
              <a:spLocks/>
            </p:cNvSpPr>
            <p:nvPr/>
          </p:nvSpPr>
          <p:spPr>
            <a:xfrm>
              <a:off x="628650" y="5032601"/>
              <a:ext cx="7886700" cy="341312"/>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kumimoji="0" lang="en-US" sz="1200" b="0" i="0" u="none" strike="noStrike" kern="1200" cap="none" spc="0" normalizeH="0" baseline="0" noProof="0" dirty="0">
                  <a:ln>
                    <a:noFill/>
                  </a:ln>
                  <a:solidFill>
                    <a:srgbClr val="021836"/>
                  </a:solidFill>
                  <a:effectLst/>
                  <a:uLnTx/>
                  <a:uFillTx/>
                  <a:latin typeface="Aptos" panose="02110004020202020204"/>
                  <a:ea typeface="+mn-ea"/>
                  <a:cs typeface="+mn-cs"/>
                </a:rPr>
                <a:t>Human involvement without decision rights is participation, not governance.</a:t>
              </a:r>
              <a:endPar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endParaRPr>
            </a:p>
          </p:txBody>
        </p:sp>
      </p:grpSp>
      <p:sp>
        <p:nvSpPr>
          <p:cNvPr id="4" name="TextBox 3">
            <a:extLst>
              <a:ext uri="{FF2B5EF4-FFF2-40B4-BE49-F238E27FC236}">
                <a16:creationId xmlns:a16="http://schemas.microsoft.com/office/drawing/2014/main" id="{7E273F54-117D-7785-E281-D35F93BB13F2}"/>
              </a:ext>
            </a:extLst>
          </p:cNvPr>
          <p:cNvSpPr txBox="1"/>
          <p:nvPr/>
        </p:nvSpPr>
        <p:spPr>
          <a:xfrm>
            <a:off x="4408714" y="64309"/>
            <a:ext cx="4628748" cy="276999"/>
          </a:xfrm>
          <a:prstGeom prst="rect">
            <a:avLst/>
          </a:prstGeom>
          <a:noFill/>
        </p:spPr>
        <p:txBody>
          <a:bodyPr wrap="square" rtlCol="0">
            <a:spAutoFit/>
          </a:bodyPr>
          <a:lstStyle/>
          <a:p>
            <a:pPr algn="r"/>
            <a:r>
              <a:rPr lang="en-US" sz="1200" dirty="0">
                <a:solidFill>
                  <a:schemeClr val="bg1">
                    <a:lumMod val="50000"/>
                  </a:schemeClr>
                </a:solidFill>
              </a:rPr>
              <a:t>AI Operational Readiness • Executive Briefing</a:t>
            </a:r>
          </a:p>
        </p:txBody>
      </p:sp>
    </p:spTree>
    <p:extLst>
      <p:ext uri="{BB962C8B-B14F-4D97-AF65-F5344CB8AC3E}">
        <p14:creationId xmlns:p14="http://schemas.microsoft.com/office/powerpoint/2010/main" val="3451996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C505B0-AC46-4CDE-48A8-14FA3A2ABF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7ADB01-3B95-6F8C-F74D-DA1C13202910}"/>
              </a:ext>
            </a:extLst>
          </p:cNvPr>
          <p:cNvSpPr>
            <a:spLocks noGrp="1"/>
          </p:cNvSpPr>
          <p:nvPr>
            <p:ph type="title"/>
          </p:nvPr>
        </p:nvSpPr>
        <p:spPr>
          <a:xfrm>
            <a:off x="273534" y="-86630"/>
            <a:ext cx="7886700" cy="1325563"/>
          </a:xfrm>
        </p:spPr>
        <p:txBody>
          <a:bodyPr>
            <a:normAutofit/>
          </a:bodyPr>
          <a:lstStyle/>
          <a:p>
            <a:r>
              <a:rPr lang="en-US" sz="4000" dirty="0"/>
              <a:t>Evidence Plan</a:t>
            </a:r>
          </a:p>
        </p:txBody>
      </p:sp>
      <p:sp>
        <p:nvSpPr>
          <p:cNvPr id="9" name="Content Placeholder 2">
            <a:extLst>
              <a:ext uri="{FF2B5EF4-FFF2-40B4-BE49-F238E27FC236}">
                <a16:creationId xmlns:a16="http://schemas.microsoft.com/office/drawing/2014/main" id="{73786CEE-B39C-7502-1531-C16F3EEF2371}"/>
              </a:ext>
            </a:extLst>
          </p:cNvPr>
          <p:cNvSpPr txBox="1">
            <a:spLocks/>
          </p:cNvSpPr>
          <p:nvPr/>
        </p:nvSpPr>
        <p:spPr>
          <a:xfrm>
            <a:off x="317078" y="844267"/>
            <a:ext cx="7886700" cy="299244"/>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Defining how success, quality, risk, and adoption will be measured</a:t>
            </a:r>
          </a:p>
        </p:txBody>
      </p:sp>
      <p:graphicFrame>
        <p:nvGraphicFramePr>
          <p:cNvPr id="13" name="Table 12">
            <a:extLst>
              <a:ext uri="{FF2B5EF4-FFF2-40B4-BE49-F238E27FC236}">
                <a16:creationId xmlns:a16="http://schemas.microsoft.com/office/drawing/2014/main" id="{21E76BF7-D47A-0807-FB23-3BEFC5C3AB8F}"/>
              </a:ext>
            </a:extLst>
          </p:cNvPr>
          <p:cNvGraphicFramePr>
            <a:graphicFrameLocks noGrp="1"/>
          </p:cNvGraphicFramePr>
          <p:nvPr/>
        </p:nvGraphicFramePr>
        <p:xfrm>
          <a:off x="371508" y="1592577"/>
          <a:ext cx="8218714" cy="2793780"/>
        </p:xfrm>
        <a:graphic>
          <a:graphicData uri="http://schemas.openxmlformats.org/drawingml/2006/table">
            <a:tbl>
              <a:tblPr firstRow="1" bandRow="1">
                <a:tableStyleId>{2D5ABB26-0587-4C30-8999-92F81FD0307C}</a:tableStyleId>
              </a:tblPr>
              <a:tblGrid>
                <a:gridCol w="3287487">
                  <a:extLst>
                    <a:ext uri="{9D8B030D-6E8A-4147-A177-3AD203B41FA5}">
                      <a16:colId xmlns:a16="http://schemas.microsoft.com/office/drawing/2014/main" val="2470210094"/>
                    </a:ext>
                  </a:extLst>
                </a:gridCol>
                <a:gridCol w="4931227">
                  <a:extLst>
                    <a:ext uri="{9D8B030D-6E8A-4147-A177-3AD203B41FA5}">
                      <a16:colId xmlns:a16="http://schemas.microsoft.com/office/drawing/2014/main" val="72878264"/>
                    </a:ext>
                  </a:extLst>
                </a:gridCol>
              </a:tblGrid>
              <a:tr h="229524">
                <a:tc>
                  <a:txBody>
                    <a:bodyPr/>
                    <a:lstStyle/>
                    <a:p>
                      <a:r>
                        <a:rPr lang="en-US" sz="1400" b="1" dirty="0">
                          <a:solidFill>
                            <a:srgbClr val="021836"/>
                          </a:solidFill>
                        </a:rPr>
                        <a:t>Evidence Area</a:t>
                      </a:r>
                    </a:p>
                  </a:txBody>
                  <a:tcPr>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rgbClr val="0396A6"/>
                      </a:solidFill>
                      <a:prstDash val="solid"/>
                      <a:round/>
                      <a:headEnd type="none" w="med" len="med"/>
                      <a:tailEnd type="none" w="med" len="med"/>
                    </a:lnB>
                  </a:tcPr>
                </a:tc>
                <a:tc>
                  <a:txBody>
                    <a:bodyPr/>
                    <a:lstStyle/>
                    <a:p>
                      <a:r>
                        <a:rPr lang="en-US" sz="1400" b="1" dirty="0">
                          <a:solidFill>
                            <a:srgbClr val="021836"/>
                          </a:solidFill>
                        </a:rPr>
                        <a:t>Measure</a:t>
                      </a:r>
                    </a:p>
                  </a:txBody>
                  <a:tcPr>
                    <a:lnL w="12700" cap="flat" cmpd="sng" algn="ctr">
                      <a:solidFill>
                        <a:schemeClr val="bg1">
                          <a:lumMod val="75000"/>
                        </a:schemeClr>
                      </a:solidFill>
                      <a:prstDash val="solid"/>
                      <a:round/>
                      <a:headEnd type="none" w="med" len="med"/>
                      <a:tailEnd type="none" w="med" len="med"/>
                    </a:lnL>
                    <a:lnT w="12700" cap="flat" cmpd="sng" algn="ctr">
                      <a:solidFill>
                        <a:srgbClr val="0396A6"/>
                      </a:solidFill>
                      <a:prstDash val="solid"/>
                      <a:round/>
                      <a:headEnd type="none" w="med" len="med"/>
                      <a:tailEnd type="none" w="med" len="med"/>
                    </a:lnT>
                    <a:lnB w="12700" cap="flat" cmpd="sng" algn="ctr">
                      <a:solidFill>
                        <a:srgbClr val="0396A6"/>
                      </a:solidFill>
                      <a:prstDash val="solid"/>
                      <a:round/>
                      <a:headEnd type="none" w="med" len="med"/>
                      <a:tailEnd type="none" w="med" len="med"/>
                    </a:lnB>
                  </a:tcPr>
                </a:tc>
                <a:extLst>
                  <a:ext uri="{0D108BD9-81ED-4DB2-BD59-A6C34878D82A}">
                    <a16:rowId xmlns:a16="http://schemas.microsoft.com/office/drawing/2014/main" val="2061593276"/>
                  </a:ext>
                </a:extLst>
              </a:tr>
              <a:tr h="311500">
                <a:tc>
                  <a:txBody>
                    <a:bodyPr/>
                    <a:lstStyle/>
                    <a:p>
                      <a:pPr>
                        <a:buClr>
                          <a:schemeClr val="bg1">
                            <a:lumMod val="50000"/>
                          </a:schemeClr>
                        </a:buClr>
                      </a:pPr>
                      <a:r>
                        <a:rPr lang="en-US" sz="1400" dirty="0"/>
                        <a:t>Value</a:t>
                      </a:r>
                    </a:p>
                  </a:txBody>
                  <a:tcPr>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400" dirty="0"/>
                        <a:t>Time saved, cost reduced, throughput increased, quality improved</a:t>
                      </a:r>
                    </a:p>
                  </a:txBody>
                  <a:tcPr>
                    <a:lnL w="12700" cap="flat" cmpd="sng" algn="ctr">
                      <a:solidFill>
                        <a:schemeClr val="bg1">
                          <a:lumMod val="75000"/>
                        </a:schemeClr>
                      </a:solidFill>
                      <a:prstDash val="solid"/>
                      <a:round/>
                      <a:headEnd type="none" w="med" len="med"/>
                      <a:tailEnd type="none" w="med" len="med"/>
                    </a:lnL>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493753442"/>
                  </a:ext>
                </a:extLst>
              </a:tr>
              <a:tr h="311500">
                <a:tc>
                  <a:txBody>
                    <a:bodyPr/>
                    <a:lstStyle/>
                    <a:p>
                      <a:pPr>
                        <a:buClr>
                          <a:schemeClr val="bg1">
                            <a:lumMod val="50000"/>
                          </a:schemeClr>
                        </a:buClr>
                      </a:pPr>
                      <a:r>
                        <a:rPr lang="en-US" sz="1400" dirty="0"/>
                        <a:t>Quality</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400" dirty="0"/>
                        <a:t>Accuracy, correction rate, acceptance rate, rework</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23325965"/>
                  </a:ext>
                </a:extLst>
              </a:tr>
              <a:tr h="311500">
                <a:tc>
                  <a:txBody>
                    <a:bodyPr/>
                    <a:lstStyle/>
                    <a:p>
                      <a:pPr>
                        <a:buClr>
                          <a:schemeClr val="bg1">
                            <a:lumMod val="50000"/>
                          </a:schemeClr>
                        </a:buClr>
                      </a:pPr>
                      <a:r>
                        <a:rPr lang="en-US" sz="1400" dirty="0"/>
                        <a:t>Risk</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400" dirty="0"/>
                        <a:t>Escalations, incidents, sensitive outputs, unexpected behavior</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845834834"/>
                  </a:ext>
                </a:extLst>
              </a:tr>
              <a:tr h="311500">
                <a:tc>
                  <a:txBody>
                    <a:bodyPr/>
                    <a:lstStyle/>
                    <a:p>
                      <a:pPr>
                        <a:buClr>
                          <a:schemeClr val="bg1">
                            <a:lumMod val="50000"/>
                          </a:schemeClr>
                        </a:buClr>
                      </a:pPr>
                      <a:r>
                        <a:rPr lang="en-US" sz="1400" dirty="0"/>
                        <a:t>Adoption</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400" dirty="0"/>
                        <a:t>Usage, satisfaction, workarounds, trust</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012176639"/>
                  </a:ext>
                </a:extLst>
              </a:tr>
              <a:tr h="311500">
                <a:tc>
                  <a:txBody>
                    <a:bodyPr/>
                    <a:lstStyle/>
                    <a:p>
                      <a:pPr>
                        <a:buClr>
                          <a:schemeClr val="bg1">
                            <a:lumMod val="50000"/>
                          </a:schemeClr>
                        </a:buClr>
                      </a:pPr>
                      <a:r>
                        <a:rPr lang="en-US" sz="1400" dirty="0"/>
                        <a:t>Decision Evidence</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400" dirty="0"/>
                        <a:t>Evidence required to scale, pause, redesign, or retire</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645799316"/>
                  </a:ext>
                </a:extLst>
              </a:tr>
              <a:tr h="311500">
                <a:tc>
                  <a:txBody>
                    <a:bodyPr/>
                    <a:lstStyle/>
                    <a:p>
                      <a:pPr>
                        <a:buClr>
                          <a:schemeClr val="bg1">
                            <a:lumMod val="50000"/>
                          </a:schemeClr>
                        </a:buClr>
                      </a:pPr>
                      <a:r>
                        <a:rPr lang="en-US" sz="1400" dirty="0"/>
                        <a:t>Governance</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400" dirty="0"/>
                        <a:t>Approvals, escalations, interventions, exceptions, and authority changes</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35964750"/>
                  </a:ext>
                </a:extLst>
              </a:tr>
            </a:tbl>
          </a:graphicData>
        </a:graphic>
      </p:graphicFrame>
      <p:cxnSp>
        <p:nvCxnSpPr>
          <p:cNvPr id="14" name="Straight Connector 13">
            <a:extLst>
              <a:ext uri="{FF2B5EF4-FFF2-40B4-BE49-F238E27FC236}">
                <a16:creationId xmlns:a16="http://schemas.microsoft.com/office/drawing/2014/main" id="{7C257200-0E78-1388-487A-2B9CC5E5D729}"/>
              </a:ext>
            </a:extLst>
          </p:cNvPr>
          <p:cNvCxnSpPr>
            <a:cxnSpLocks/>
          </p:cNvCxnSpPr>
          <p:nvPr/>
        </p:nvCxnSpPr>
        <p:spPr>
          <a:xfrm>
            <a:off x="171450" y="4796553"/>
            <a:ext cx="8801100" cy="0"/>
          </a:xfrm>
          <a:prstGeom prst="line">
            <a:avLst/>
          </a:prstGeom>
          <a:ln w="9525">
            <a:solidFill>
              <a:srgbClr val="0396A6"/>
            </a:solidFill>
          </a:ln>
        </p:spPr>
        <p:style>
          <a:lnRef idx="2">
            <a:schemeClr val="accent1"/>
          </a:lnRef>
          <a:fillRef idx="0">
            <a:schemeClr val="accent1"/>
          </a:fillRef>
          <a:effectRef idx="1">
            <a:schemeClr val="accent1"/>
          </a:effectRef>
          <a:fontRef idx="minor">
            <a:schemeClr val="tx1"/>
          </a:fontRef>
        </p:style>
      </p:cxnSp>
      <p:grpSp>
        <p:nvGrpSpPr>
          <p:cNvPr id="18" name="Group 17">
            <a:extLst>
              <a:ext uri="{FF2B5EF4-FFF2-40B4-BE49-F238E27FC236}">
                <a16:creationId xmlns:a16="http://schemas.microsoft.com/office/drawing/2014/main" id="{EE3A5447-7BD1-6837-C8F6-BF6010F31585}"/>
              </a:ext>
            </a:extLst>
          </p:cNvPr>
          <p:cNvGrpSpPr/>
          <p:nvPr/>
        </p:nvGrpSpPr>
        <p:grpSpPr>
          <a:xfrm>
            <a:off x="317078" y="5043970"/>
            <a:ext cx="7886700" cy="682624"/>
            <a:chOff x="628650" y="4170118"/>
            <a:chExt cx="7886700" cy="682624"/>
          </a:xfrm>
        </p:grpSpPr>
        <p:sp>
          <p:nvSpPr>
            <p:cNvPr id="19" name="Content Placeholder 2">
              <a:extLst>
                <a:ext uri="{FF2B5EF4-FFF2-40B4-BE49-F238E27FC236}">
                  <a16:creationId xmlns:a16="http://schemas.microsoft.com/office/drawing/2014/main" id="{7474F0C7-C595-F8F8-7759-EFD81F5F6BBF}"/>
                </a:ext>
              </a:extLst>
            </p:cNvPr>
            <p:cNvSpPr txBox="1">
              <a:spLocks/>
            </p:cNvSpPr>
            <p:nvPr/>
          </p:nvSpPr>
          <p:spPr>
            <a:xfrm>
              <a:off x="628650" y="4170118"/>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Guiding Principle</a:t>
              </a:r>
            </a:p>
          </p:txBody>
        </p:sp>
        <p:sp>
          <p:nvSpPr>
            <p:cNvPr id="20" name="Content Placeholder 2">
              <a:extLst>
                <a:ext uri="{FF2B5EF4-FFF2-40B4-BE49-F238E27FC236}">
                  <a16:creationId xmlns:a16="http://schemas.microsoft.com/office/drawing/2014/main" id="{D32A5A40-4144-2F4E-FBC4-97EAD681ED30}"/>
                </a:ext>
              </a:extLst>
            </p:cNvPr>
            <p:cNvSpPr txBox="1">
              <a:spLocks/>
            </p:cNvSpPr>
            <p:nvPr/>
          </p:nvSpPr>
          <p:spPr>
            <a:xfrm>
              <a:off x="628650" y="4511430"/>
              <a:ext cx="7886700" cy="341312"/>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kumimoji="0" lang="en-US" sz="1200" b="0" i="0" u="none" strike="noStrike" kern="1200" cap="none" spc="0" normalizeH="0" baseline="0" noProof="0" dirty="0">
                  <a:ln>
                    <a:noFill/>
                  </a:ln>
                  <a:solidFill>
                    <a:srgbClr val="021836"/>
                  </a:solidFill>
                  <a:effectLst/>
                  <a:uLnTx/>
                  <a:uFillTx/>
                  <a:latin typeface="Aptos" panose="02110004020202020204"/>
                  <a:ea typeface="+mn-ea"/>
                  <a:cs typeface="+mn-cs"/>
                </a:rPr>
                <a:t>Governance decisions should rely on sufficient, trustworthy evidence – not optimism.</a:t>
              </a:r>
              <a:endPar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endParaRPr>
            </a:p>
          </p:txBody>
        </p:sp>
      </p:grpSp>
      <p:sp>
        <p:nvSpPr>
          <p:cNvPr id="4" name="TextBox 3">
            <a:extLst>
              <a:ext uri="{FF2B5EF4-FFF2-40B4-BE49-F238E27FC236}">
                <a16:creationId xmlns:a16="http://schemas.microsoft.com/office/drawing/2014/main" id="{71D8CE3B-399C-4385-8D82-AF1290CF70F9}"/>
              </a:ext>
            </a:extLst>
          </p:cNvPr>
          <p:cNvSpPr txBox="1"/>
          <p:nvPr/>
        </p:nvSpPr>
        <p:spPr>
          <a:xfrm>
            <a:off x="4408714" y="64309"/>
            <a:ext cx="4628748" cy="276999"/>
          </a:xfrm>
          <a:prstGeom prst="rect">
            <a:avLst/>
          </a:prstGeom>
          <a:noFill/>
        </p:spPr>
        <p:txBody>
          <a:bodyPr wrap="square" rtlCol="0">
            <a:spAutoFit/>
          </a:bodyPr>
          <a:lstStyle/>
          <a:p>
            <a:pPr algn="r"/>
            <a:r>
              <a:rPr lang="en-US" sz="1200" dirty="0">
                <a:solidFill>
                  <a:schemeClr val="bg1">
                    <a:lumMod val="50000"/>
                  </a:schemeClr>
                </a:solidFill>
              </a:rPr>
              <a:t>AI Operational Readiness • Executive Briefing</a:t>
            </a:r>
          </a:p>
        </p:txBody>
      </p:sp>
    </p:spTree>
    <p:extLst>
      <p:ext uri="{BB962C8B-B14F-4D97-AF65-F5344CB8AC3E}">
        <p14:creationId xmlns:p14="http://schemas.microsoft.com/office/powerpoint/2010/main" val="229516641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27A7E-267F-E943-FA01-B1970E7BDD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28B1DF-B016-E56A-C78B-FC91FDC1E9FF}"/>
              </a:ext>
            </a:extLst>
          </p:cNvPr>
          <p:cNvSpPr>
            <a:spLocks noGrp="1"/>
          </p:cNvSpPr>
          <p:nvPr>
            <p:ph type="title"/>
          </p:nvPr>
        </p:nvSpPr>
        <p:spPr>
          <a:xfrm>
            <a:off x="273534" y="-86630"/>
            <a:ext cx="7886700" cy="1325563"/>
          </a:xfrm>
        </p:spPr>
        <p:txBody>
          <a:bodyPr>
            <a:normAutofit/>
          </a:bodyPr>
          <a:lstStyle/>
          <a:p>
            <a:r>
              <a:rPr lang="en-US" sz="4000" dirty="0"/>
              <a:t>Pilot Readiness &amp; Recommendation</a:t>
            </a:r>
          </a:p>
        </p:txBody>
      </p:sp>
      <p:sp>
        <p:nvSpPr>
          <p:cNvPr id="9" name="Content Placeholder 2">
            <a:extLst>
              <a:ext uri="{FF2B5EF4-FFF2-40B4-BE49-F238E27FC236}">
                <a16:creationId xmlns:a16="http://schemas.microsoft.com/office/drawing/2014/main" id="{157333D5-0112-695F-B8A9-6B225AAE4BA5}"/>
              </a:ext>
            </a:extLst>
          </p:cNvPr>
          <p:cNvSpPr txBox="1">
            <a:spLocks/>
          </p:cNvSpPr>
          <p:nvPr/>
        </p:nvSpPr>
        <p:spPr>
          <a:xfrm>
            <a:off x="317078" y="844267"/>
            <a:ext cx="7886700" cy="299244"/>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Defining </a:t>
            </a:r>
            <a:r>
              <a:rPr lang="en-US" sz="1200" i="1" dirty="0">
                <a:solidFill>
                  <a:prstClr val="white">
                    <a:lumMod val="50000"/>
                  </a:prstClr>
                </a:solidFill>
                <a:latin typeface="Aptos" panose="02110004020202020204"/>
              </a:rPr>
              <a:t>w</a:t>
            </a:r>
            <a:r>
              <a:rPr kumimoji="0" lang="en-US" sz="1200" b="0" i="1" u="none" strike="noStrike" kern="1200" cap="none" spc="0" normalizeH="0" baseline="0" noProof="0" dirty="0" err="1">
                <a:ln>
                  <a:noFill/>
                </a:ln>
                <a:solidFill>
                  <a:prstClr val="white">
                    <a:lumMod val="50000"/>
                  </a:prstClr>
                </a:solidFill>
                <a:effectLst/>
                <a:uLnTx/>
                <a:uFillTx/>
                <a:latin typeface="Aptos" panose="02110004020202020204"/>
                <a:ea typeface="+mn-ea"/>
                <a:cs typeface="+mn-cs"/>
              </a:rPr>
              <a:t>hether</a:t>
            </a: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 the organization is ready to test and what the pilot should learn</a:t>
            </a:r>
          </a:p>
        </p:txBody>
      </p:sp>
      <p:graphicFrame>
        <p:nvGraphicFramePr>
          <p:cNvPr id="13" name="Table 12">
            <a:extLst>
              <a:ext uri="{FF2B5EF4-FFF2-40B4-BE49-F238E27FC236}">
                <a16:creationId xmlns:a16="http://schemas.microsoft.com/office/drawing/2014/main" id="{390E436A-C355-1643-8C85-26E4774CC2B2}"/>
              </a:ext>
            </a:extLst>
          </p:cNvPr>
          <p:cNvGraphicFramePr>
            <a:graphicFrameLocks noGrp="1"/>
          </p:cNvGraphicFramePr>
          <p:nvPr/>
        </p:nvGraphicFramePr>
        <p:xfrm>
          <a:off x="371508" y="1583762"/>
          <a:ext cx="8218714" cy="2796800"/>
        </p:xfrm>
        <a:graphic>
          <a:graphicData uri="http://schemas.openxmlformats.org/drawingml/2006/table">
            <a:tbl>
              <a:tblPr firstRow="1" bandRow="1">
                <a:tableStyleId>{2D5ABB26-0587-4C30-8999-92F81FD0307C}</a:tableStyleId>
              </a:tblPr>
              <a:tblGrid>
                <a:gridCol w="3287487">
                  <a:extLst>
                    <a:ext uri="{9D8B030D-6E8A-4147-A177-3AD203B41FA5}">
                      <a16:colId xmlns:a16="http://schemas.microsoft.com/office/drawing/2014/main" val="2470210094"/>
                    </a:ext>
                  </a:extLst>
                </a:gridCol>
                <a:gridCol w="4931227">
                  <a:extLst>
                    <a:ext uri="{9D8B030D-6E8A-4147-A177-3AD203B41FA5}">
                      <a16:colId xmlns:a16="http://schemas.microsoft.com/office/drawing/2014/main" val="72878264"/>
                    </a:ext>
                  </a:extLst>
                </a:gridCol>
              </a:tblGrid>
              <a:tr h="229524">
                <a:tc>
                  <a:txBody>
                    <a:bodyPr/>
                    <a:lstStyle/>
                    <a:p>
                      <a:r>
                        <a:rPr lang="en-US" sz="1400" b="1" dirty="0">
                          <a:solidFill>
                            <a:srgbClr val="021836"/>
                          </a:solidFill>
                        </a:rPr>
                        <a:t>Pilot Area</a:t>
                      </a:r>
                    </a:p>
                  </a:txBody>
                  <a:tcPr>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rgbClr val="0396A6"/>
                      </a:solidFill>
                      <a:prstDash val="solid"/>
                      <a:round/>
                      <a:headEnd type="none" w="med" len="med"/>
                      <a:tailEnd type="none" w="med" len="med"/>
                    </a:lnB>
                  </a:tcPr>
                </a:tc>
                <a:tc>
                  <a:txBody>
                    <a:bodyPr/>
                    <a:lstStyle/>
                    <a:p>
                      <a:r>
                        <a:rPr lang="en-US" sz="1400" b="1" dirty="0">
                          <a:solidFill>
                            <a:srgbClr val="021836"/>
                          </a:solidFill>
                        </a:rPr>
                        <a:t>Recommendation</a:t>
                      </a:r>
                    </a:p>
                  </a:txBody>
                  <a:tcPr>
                    <a:lnL w="12700" cap="flat" cmpd="sng" algn="ctr">
                      <a:solidFill>
                        <a:schemeClr val="bg1">
                          <a:lumMod val="75000"/>
                        </a:schemeClr>
                      </a:solidFill>
                      <a:prstDash val="solid"/>
                      <a:round/>
                      <a:headEnd type="none" w="med" len="med"/>
                      <a:tailEnd type="none" w="med" len="med"/>
                    </a:lnL>
                    <a:lnT w="12700" cap="flat" cmpd="sng" algn="ctr">
                      <a:solidFill>
                        <a:srgbClr val="0396A6"/>
                      </a:solidFill>
                      <a:prstDash val="solid"/>
                      <a:round/>
                      <a:headEnd type="none" w="med" len="med"/>
                      <a:tailEnd type="none" w="med" len="med"/>
                    </a:lnT>
                    <a:lnB w="12700" cap="flat" cmpd="sng" algn="ctr">
                      <a:solidFill>
                        <a:srgbClr val="0396A6"/>
                      </a:solidFill>
                      <a:prstDash val="solid"/>
                      <a:round/>
                      <a:headEnd type="none" w="med" len="med"/>
                      <a:tailEnd type="none" w="med" len="med"/>
                    </a:lnB>
                  </a:tcPr>
                </a:tc>
                <a:extLst>
                  <a:ext uri="{0D108BD9-81ED-4DB2-BD59-A6C34878D82A}">
                    <a16:rowId xmlns:a16="http://schemas.microsoft.com/office/drawing/2014/main" val="2061593276"/>
                  </a:ext>
                </a:extLst>
              </a:tr>
              <a:tr h="311500">
                <a:tc>
                  <a:txBody>
                    <a:bodyPr/>
                    <a:lstStyle/>
                    <a:p>
                      <a:pPr>
                        <a:buClr>
                          <a:schemeClr val="bg1">
                            <a:lumMod val="50000"/>
                          </a:schemeClr>
                        </a:buClr>
                      </a:pPr>
                      <a:r>
                        <a:rPr lang="en-US" sz="1200" kern="1200" dirty="0">
                          <a:solidFill>
                            <a:schemeClr val="tx1"/>
                          </a:solidFill>
                          <a:latin typeface="+mn-lt"/>
                          <a:ea typeface="+mn-ea"/>
                          <a:cs typeface="+mn-cs"/>
                        </a:rPr>
                        <a:t>Scope</a:t>
                      </a:r>
                    </a:p>
                  </a:txBody>
                  <a:tcPr>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200" kern="1200" dirty="0">
                          <a:solidFill>
                            <a:schemeClr val="tx1"/>
                          </a:solidFill>
                          <a:latin typeface="+mn-lt"/>
                          <a:ea typeface="+mn-ea"/>
                          <a:cs typeface="+mn-cs"/>
                        </a:rPr>
                        <a:t>Team, process, use case, or timeframe</a:t>
                      </a:r>
                    </a:p>
                  </a:txBody>
                  <a:tcPr>
                    <a:lnL w="12700" cap="flat" cmpd="sng" algn="ctr">
                      <a:solidFill>
                        <a:schemeClr val="bg1">
                          <a:lumMod val="75000"/>
                        </a:schemeClr>
                      </a:solidFill>
                      <a:prstDash val="solid"/>
                      <a:round/>
                      <a:headEnd type="none" w="med" len="med"/>
                      <a:tailEnd type="none" w="med" len="med"/>
                    </a:lnL>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493753442"/>
                  </a:ext>
                </a:extLst>
              </a:tr>
              <a:tr h="311500">
                <a:tc>
                  <a:txBody>
                    <a:bodyPr/>
                    <a:lstStyle/>
                    <a:p>
                      <a:pPr>
                        <a:buClr>
                          <a:schemeClr val="bg1">
                            <a:lumMod val="50000"/>
                          </a:schemeClr>
                        </a:buClr>
                      </a:pPr>
                      <a:r>
                        <a:rPr lang="en-US" sz="1200" kern="1200" dirty="0">
                          <a:solidFill>
                            <a:schemeClr val="tx1"/>
                          </a:solidFill>
                          <a:latin typeface="+mn-lt"/>
                          <a:ea typeface="+mn-ea"/>
                          <a:cs typeface="+mn-cs"/>
                        </a:rPr>
                        <a:t>Participants</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200" kern="1200" dirty="0">
                          <a:solidFill>
                            <a:schemeClr val="tx1"/>
                          </a:solidFill>
                          <a:latin typeface="+mn-lt"/>
                          <a:ea typeface="+mn-ea"/>
                          <a:cs typeface="+mn-cs"/>
                        </a:rPr>
                        <a:t>Pilot users and support owners</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23325965"/>
                  </a:ext>
                </a:extLst>
              </a:tr>
              <a:tr h="311500">
                <a:tc>
                  <a:txBody>
                    <a:bodyPr/>
                    <a:lstStyle/>
                    <a:p>
                      <a:pPr>
                        <a:buClr>
                          <a:schemeClr val="bg1">
                            <a:lumMod val="50000"/>
                          </a:schemeClr>
                        </a:buClr>
                      </a:pPr>
                      <a:r>
                        <a:rPr lang="en-US" sz="1200" kern="1200" dirty="0">
                          <a:solidFill>
                            <a:schemeClr val="tx1"/>
                          </a:solidFill>
                          <a:latin typeface="+mn-lt"/>
                          <a:ea typeface="+mn-ea"/>
                          <a:cs typeface="+mn-cs"/>
                        </a:rPr>
                        <a:t>Duration</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200" kern="1200" dirty="0">
                          <a:solidFill>
                            <a:schemeClr val="tx1"/>
                          </a:solidFill>
                          <a:latin typeface="+mn-lt"/>
                          <a:ea typeface="+mn-ea"/>
                          <a:cs typeface="+mn-cs"/>
                        </a:rPr>
                        <a:t>Proposed pilot length</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845834834"/>
                  </a:ext>
                </a:extLst>
              </a:tr>
              <a:tr h="311500">
                <a:tc>
                  <a:txBody>
                    <a:bodyPr/>
                    <a:lstStyle/>
                    <a:p>
                      <a:pPr>
                        <a:buClr>
                          <a:schemeClr val="bg1">
                            <a:lumMod val="50000"/>
                          </a:schemeClr>
                        </a:buClr>
                      </a:pPr>
                      <a:r>
                        <a:rPr lang="en-US" sz="1200" kern="1200" dirty="0">
                          <a:solidFill>
                            <a:schemeClr val="tx1"/>
                          </a:solidFill>
                          <a:latin typeface="+mn-lt"/>
                          <a:ea typeface="+mn-ea"/>
                          <a:cs typeface="+mn-cs"/>
                        </a:rPr>
                        <a:t>Success Criteria</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200" kern="1200" dirty="0">
                          <a:solidFill>
                            <a:schemeClr val="tx1"/>
                          </a:solidFill>
                          <a:latin typeface="+mn-lt"/>
                          <a:ea typeface="+mn-ea"/>
                          <a:cs typeface="+mn-cs"/>
                        </a:rPr>
                        <a:t>What would justify scaling</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012176639"/>
                  </a:ext>
                </a:extLst>
              </a:tr>
              <a:tr h="311500">
                <a:tc>
                  <a:txBody>
                    <a:bodyPr/>
                    <a:lstStyle/>
                    <a:p>
                      <a:pPr>
                        <a:buClr>
                          <a:schemeClr val="bg1">
                            <a:lumMod val="50000"/>
                          </a:schemeClr>
                        </a:buClr>
                      </a:pPr>
                      <a:r>
                        <a:rPr lang="en-US" sz="1200" kern="1200" dirty="0">
                          <a:solidFill>
                            <a:schemeClr val="tx1"/>
                          </a:solidFill>
                          <a:latin typeface="+mn-lt"/>
                          <a:ea typeface="+mn-ea"/>
                          <a:cs typeface="+mn-cs"/>
                        </a:rPr>
                        <a:t>Pause Criteria</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200" kern="1200" dirty="0">
                          <a:solidFill>
                            <a:schemeClr val="tx1"/>
                          </a:solidFill>
                          <a:latin typeface="+mn-lt"/>
                          <a:ea typeface="+mn-ea"/>
                          <a:cs typeface="+mn-cs"/>
                        </a:rPr>
                        <a:t>What would require stopping or redesign</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645799316"/>
                  </a:ext>
                </a:extLst>
              </a:tr>
              <a:tr h="311500">
                <a:tc>
                  <a:txBody>
                    <a:bodyPr/>
                    <a:lstStyle/>
                    <a:p>
                      <a:pPr>
                        <a:buClr>
                          <a:schemeClr val="bg1">
                            <a:lumMod val="50000"/>
                          </a:schemeClr>
                        </a:buClr>
                      </a:pPr>
                      <a:r>
                        <a:rPr lang="en-US" sz="1200" kern="1200" dirty="0">
                          <a:solidFill>
                            <a:schemeClr val="tx1"/>
                          </a:solidFill>
                          <a:latin typeface="+mn-lt"/>
                          <a:ea typeface="+mn-ea"/>
                          <a:cs typeface="+mn-cs"/>
                        </a:rPr>
                        <a:t>Learning Goals</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200" kern="1200" dirty="0">
                          <a:solidFill>
                            <a:schemeClr val="tx1"/>
                          </a:solidFill>
                          <a:latin typeface="+mn-lt"/>
                          <a:ea typeface="+mn-ea"/>
                          <a:cs typeface="+mn-cs"/>
                        </a:rPr>
                        <a:t>What the pilot is designed to teach the organization</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192754049"/>
                  </a:ext>
                </a:extLst>
              </a:tr>
              <a:tr h="311500">
                <a:tc>
                  <a:txBody>
                    <a:bodyPr/>
                    <a:lstStyle/>
                    <a:p>
                      <a:pPr>
                        <a:buClr>
                          <a:schemeClr val="bg1">
                            <a:lumMod val="50000"/>
                          </a:schemeClr>
                        </a:buClr>
                      </a:pPr>
                      <a:r>
                        <a:rPr lang="en-US" sz="1200" kern="1200" dirty="0">
                          <a:solidFill>
                            <a:schemeClr val="tx1"/>
                          </a:solidFill>
                          <a:latin typeface="+mn-lt"/>
                          <a:ea typeface="+mn-ea"/>
                          <a:cs typeface="+mn-cs"/>
                        </a:rPr>
                        <a:t>Readiness Conditions</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200" kern="1200" dirty="0">
                          <a:solidFill>
                            <a:schemeClr val="tx1"/>
                          </a:solidFill>
                          <a:latin typeface="+mn-lt"/>
                          <a:ea typeface="+mn-ea"/>
                          <a:cs typeface="+mn-cs"/>
                        </a:rPr>
                        <a:t>What must be true before the pilot begins</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729647474"/>
                  </a:ext>
                </a:extLst>
              </a:tr>
              <a:tr h="311500">
                <a:tc>
                  <a:txBody>
                    <a:bodyPr/>
                    <a:lstStyle/>
                    <a:p>
                      <a:pPr>
                        <a:buClr>
                          <a:schemeClr val="bg1">
                            <a:lumMod val="50000"/>
                          </a:schemeClr>
                        </a:buClr>
                      </a:pPr>
                      <a:r>
                        <a:rPr lang="en-US" sz="1200" kern="1200" dirty="0">
                          <a:solidFill>
                            <a:schemeClr val="tx1"/>
                          </a:solidFill>
                          <a:latin typeface="+mn-lt"/>
                          <a:ea typeface="+mn-ea"/>
                          <a:cs typeface="+mn-cs"/>
                        </a:rPr>
                        <a:t>Review Point</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200" kern="1200" dirty="0">
                          <a:solidFill>
                            <a:schemeClr val="tx1"/>
                          </a:solidFill>
                          <a:latin typeface="+mn-lt"/>
                          <a:ea typeface="+mn-ea"/>
                          <a:cs typeface="+mn-cs"/>
                        </a:rPr>
                        <a:t>When evidence will be reviewed and who decides what happens next</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418207980"/>
                  </a:ext>
                </a:extLst>
              </a:tr>
            </a:tbl>
          </a:graphicData>
        </a:graphic>
      </p:graphicFrame>
      <p:cxnSp>
        <p:nvCxnSpPr>
          <p:cNvPr id="14" name="Straight Connector 13">
            <a:extLst>
              <a:ext uri="{FF2B5EF4-FFF2-40B4-BE49-F238E27FC236}">
                <a16:creationId xmlns:a16="http://schemas.microsoft.com/office/drawing/2014/main" id="{6BB44AE2-624D-4617-A391-C2F69580E966}"/>
              </a:ext>
            </a:extLst>
          </p:cNvPr>
          <p:cNvCxnSpPr>
            <a:cxnSpLocks/>
          </p:cNvCxnSpPr>
          <p:nvPr/>
        </p:nvCxnSpPr>
        <p:spPr>
          <a:xfrm>
            <a:off x="171450" y="4529499"/>
            <a:ext cx="8801100" cy="0"/>
          </a:xfrm>
          <a:prstGeom prst="line">
            <a:avLst/>
          </a:prstGeom>
          <a:ln w="9525">
            <a:solidFill>
              <a:srgbClr val="0396A6"/>
            </a:solidFill>
          </a:ln>
        </p:spPr>
        <p:style>
          <a:lnRef idx="2">
            <a:schemeClr val="accent1"/>
          </a:lnRef>
          <a:fillRef idx="0">
            <a:schemeClr val="accent1"/>
          </a:fillRef>
          <a:effectRef idx="1">
            <a:schemeClr val="accent1"/>
          </a:effectRef>
          <a:fontRef idx="minor">
            <a:schemeClr val="tx1"/>
          </a:fontRef>
        </p:style>
      </p:cxnSp>
      <p:grpSp>
        <p:nvGrpSpPr>
          <p:cNvPr id="15" name="Group 14">
            <a:extLst>
              <a:ext uri="{FF2B5EF4-FFF2-40B4-BE49-F238E27FC236}">
                <a16:creationId xmlns:a16="http://schemas.microsoft.com/office/drawing/2014/main" id="{95CC8390-C655-BBA3-D8F5-6C3AF1F26414}"/>
              </a:ext>
            </a:extLst>
          </p:cNvPr>
          <p:cNvGrpSpPr/>
          <p:nvPr/>
        </p:nvGrpSpPr>
        <p:grpSpPr>
          <a:xfrm>
            <a:off x="333374" y="4820813"/>
            <a:ext cx="7913948" cy="820961"/>
            <a:chOff x="628650" y="4778376"/>
            <a:chExt cx="7913948" cy="820961"/>
          </a:xfrm>
        </p:grpSpPr>
        <p:sp>
          <p:nvSpPr>
            <p:cNvPr id="16" name="Content Placeholder 2">
              <a:extLst>
                <a:ext uri="{FF2B5EF4-FFF2-40B4-BE49-F238E27FC236}">
                  <a16:creationId xmlns:a16="http://schemas.microsoft.com/office/drawing/2014/main" id="{2F093245-D43A-EA38-C5AA-2E2C91F01908}"/>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400" b="1" dirty="0">
                  <a:solidFill>
                    <a:srgbClr val="021836"/>
                  </a:solidFill>
                  <a:latin typeface="Aptos" panose="02110004020202020204"/>
                </a:rPr>
                <a:t>Pilot</a:t>
              </a: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 Signals</a:t>
              </a:r>
            </a:p>
          </p:txBody>
        </p:sp>
        <p:sp>
          <p:nvSpPr>
            <p:cNvPr id="17" name="Content Placeholder 2">
              <a:extLst>
                <a:ext uri="{FF2B5EF4-FFF2-40B4-BE49-F238E27FC236}">
                  <a16:creationId xmlns:a16="http://schemas.microsoft.com/office/drawing/2014/main" id="{96236C15-D096-EADD-8B0C-1FE1FC292112}"/>
                </a:ext>
              </a:extLst>
            </p:cNvPr>
            <p:cNvSpPr txBox="1">
              <a:spLocks/>
            </p:cNvSpPr>
            <p:nvPr/>
          </p:nvSpPr>
          <p:spPr>
            <a:xfrm>
              <a:off x="628650" y="5032600"/>
              <a:ext cx="7913948" cy="566737"/>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Clr>
                  <a:srgbClr val="021836"/>
                </a:buClr>
                <a:buNone/>
                <a:defRPr/>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Defined scope • Clear sponsor • Assigned decision rights • Evidence plan ready • Support path defined</a:t>
              </a:r>
              <a:r>
                <a:rPr lang="en-US" sz="1200" i="1" dirty="0">
                  <a:solidFill>
                    <a:prstClr val="white">
                      <a:lumMod val="50000"/>
                    </a:prstClr>
                  </a:solidFill>
                </a:rPr>
                <a:t> • Fallback path available</a:t>
              </a:r>
              <a:endPar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endParaRPr>
            </a:p>
          </p:txBody>
        </p:sp>
      </p:grpSp>
      <p:grpSp>
        <p:nvGrpSpPr>
          <p:cNvPr id="18" name="Group 17">
            <a:extLst>
              <a:ext uri="{FF2B5EF4-FFF2-40B4-BE49-F238E27FC236}">
                <a16:creationId xmlns:a16="http://schemas.microsoft.com/office/drawing/2014/main" id="{820A7A7C-F56F-902C-5FF4-85E94D14360C}"/>
              </a:ext>
            </a:extLst>
          </p:cNvPr>
          <p:cNvGrpSpPr/>
          <p:nvPr/>
        </p:nvGrpSpPr>
        <p:grpSpPr>
          <a:xfrm>
            <a:off x="317078" y="5744402"/>
            <a:ext cx="7886700" cy="595537"/>
            <a:chOff x="628650" y="4778376"/>
            <a:chExt cx="7886700" cy="595537"/>
          </a:xfrm>
        </p:grpSpPr>
        <p:sp>
          <p:nvSpPr>
            <p:cNvPr id="19" name="Content Placeholder 2">
              <a:extLst>
                <a:ext uri="{FF2B5EF4-FFF2-40B4-BE49-F238E27FC236}">
                  <a16:creationId xmlns:a16="http://schemas.microsoft.com/office/drawing/2014/main" id="{F43208BA-4413-26FB-63ED-9401D03999C8}"/>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Guiding Principle</a:t>
              </a:r>
            </a:p>
          </p:txBody>
        </p:sp>
        <p:sp>
          <p:nvSpPr>
            <p:cNvPr id="20" name="Content Placeholder 2">
              <a:extLst>
                <a:ext uri="{FF2B5EF4-FFF2-40B4-BE49-F238E27FC236}">
                  <a16:creationId xmlns:a16="http://schemas.microsoft.com/office/drawing/2014/main" id="{50BEF9E2-CC9E-9B10-C75D-D228827CBF4B}"/>
                </a:ext>
              </a:extLst>
            </p:cNvPr>
            <p:cNvSpPr txBox="1">
              <a:spLocks/>
            </p:cNvSpPr>
            <p:nvPr/>
          </p:nvSpPr>
          <p:spPr>
            <a:xfrm>
              <a:off x="628650" y="5032601"/>
              <a:ext cx="7886700" cy="341312"/>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kumimoji="0" lang="en-US" sz="1200" b="0" i="0" u="none" strike="noStrike" kern="1200" cap="none" spc="0" normalizeH="0" baseline="0" noProof="0" dirty="0">
                  <a:ln>
                    <a:noFill/>
                  </a:ln>
                  <a:solidFill>
                    <a:srgbClr val="021836"/>
                  </a:solidFill>
                  <a:effectLst/>
                  <a:uLnTx/>
                  <a:uFillTx/>
                  <a:latin typeface="Aptos" panose="02110004020202020204"/>
                  <a:ea typeface="+mn-ea"/>
                  <a:cs typeface="+mn-cs"/>
                </a:rPr>
                <a:t>A pilot should validate the workflow controls, evidence, and value, not just the technology.</a:t>
              </a:r>
              <a:endPar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endParaRPr>
            </a:p>
          </p:txBody>
        </p:sp>
      </p:grpSp>
      <p:sp>
        <p:nvSpPr>
          <p:cNvPr id="4" name="TextBox 3">
            <a:extLst>
              <a:ext uri="{FF2B5EF4-FFF2-40B4-BE49-F238E27FC236}">
                <a16:creationId xmlns:a16="http://schemas.microsoft.com/office/drawing/2014/main" id="{88006A1D-DD5D-A76B-96BF-B94C8734E864}"/>
              </a:ext>
            </a:extLst>
          </p:cNvPr>
          <p:cNvSpPr txBox="1"/>
          <p:nvPr/>
        </p:nvSpPr>
        <p:spPr>
          <a:xfrm>
            <a:off x="4408714" y="64309"/>
            <a:ext cx="4628748" cy="276999"/>
          </a:xfrm>
          <a:prstGeom prst="rect">
            <a:avLst/>
          </a:prstGeom>
          <a:noFill/>
        </p:spPr>
        <p:txBody>
          <a:bodyPr wrap="square" rtlCol="0">
            <a:spAutoFit/>
          </a:bodyPr>
          <a:lstStyle/>
          <a:p>
            <a:pPr algn="r"/>
            <a:r>
              <a:rPr lang="en-US" sz="1200" dirty="0">
                <a:solidFill>
                  <a:schemeClr val="bg1">
                    <a:lumMod val="50000"/>
                  </a:schemeClr>
                </a:solidFill>
              </a:rPr>
              <a:t>AI Operational Readiness • Executive Briefing</a:t>
            </a:r>
          </a:p>
        </p:txBody>
      </p:sp>
    </p:spTree>
    <p:extLst>
      <p:ext uri="{BB962C8B-B14F-4D97-AF65-F5344CB8AC3E}">
        <p14:creationId xmlns:p14="http://schemas.microsoft.com/office/powerpoint/2010/main" val="248240444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BC152-D77E-272F-50F0-DA8BC4AE31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201440-84C8-24CD-E259-2451F8074DD4}"/>
              </a:ext>
            </a:extLst>
          </p:cNvPr>
          <p:cNvSpPr>
            <a:spLocks noGrp="1"/>
          </p:cNvSpPr>
          <p:nvPr>
            <p:ph type="title"/>
          </p:nvPr>
        </p:nvSpPr>
        <p:spPr>
          <a:xfrm>
            <a:off x="273534" y="131090"/>
            <a:ext cx="7886700" cy="1325563"/>
          </a:xfrm>
        </p:spPr>
        <p:txBody>
          <a:bodyPr>
            <a:normAutofit/>
          </a:bodyPr>
          <a:lstStyle/>
          <a:p>
            <a:r>
              <a:rPr lang="en-US" sz="3600" dirty="0"/>
              <a:t>Risk, Dependencies, and Open Questions</a:t>
            </a:r>
          </a:p>
        </p:txBody>
      </p:sp>
      <p:sp>
        <p:nvSpPr>
          <p:cNvPr id="9" name="Content Placeholder 2">
            <a:extLst>
              <a:ext uri="{FF2B5EF4-FFF2-40B4-BE49-F238E27FC236}">
                <a16:creationId xmlns:a16="http://schemas.microsoft.com/office/drawing/2014/main" id="{E275B4CB-735A-C66D-9392-D29DD89C603E}"/>
              </a:ext>
            </a:extLst>
          </p:cNvPr>
          <p:cNvSpPr txBox="1">
            <a:spLocks/>
          </p:cNvSpPr>
          <p:nvPr/>
        </p:nvSpPr>
        <p:spPr>
          <a:xfrm>
            <a:off x="317078" y="1061987"/>
            <a:ext cx="7886700" cy="299244"/>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lang="en-US" sz="1200" i="1" dirty="0">
                <a:solidFill>
                  <a:prstClr val="white">
                    <a:lumMod val="50000"/>
                  </a:prstClr>
                </a:solidFill>
                <a:latin typeface="Aptos" panose="02110004020202020204"/>
              </a:rPr>
              <a:t>Clarifying what must be managed before approval</a:t>
            </a:r>
            <a:endPar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endParaRPr>
          </a:p>
        </p:txBody>
      </p:sp>
      <p:graphicFrame>
        <p:nvGraphicFramePr>
          <p:cNvPr id="15" name="Table 14">
            <a:extLst>
              <a:ext uri="{FF2B5EF4-FFF2-40B4-BE49-F238E27FC236}">
                <a16:creationId xmlns:a16="http://schemas.microsoft.com/office/drawing/2014/main" id="{9B1EA67E-F289-87C1-F433-FA009AA5D3F5}"/>
              </a:ext>
            </a:extLst>
          </p:cNvPr>
          <p:cNvGraphicFramePr>
            <a:graphicFrameLocks noGrp="1"/>
          </p:cNvGraphicFramePr>
          <p:nvPr/>
        </p:nvGraphicFramePr>
        <p:xfrm>
          <a:off x="317078" y="1914224"/>
          <a:ext cx="8218713" cy="2368755"/>
        </p:xfrm>
        <a:graphic>
          <a:graphicData uri="http://schemas.openxmlformats.org/drawingml/2006/table">
            <a:tbl>
              <a:tblPr firstRow="1" bandRow="1">
                <a:tableStyleId>{2D5ABB26-0587-4C30-8999-92F81FD0307C}</a:tableStyleId>
              </a:tblPr>
              <a:tblGrid>
                <a:gridCol w="2739571">
                  <a:extLst>
                    <a:ext uri="{9D8B030D-6E8A-4147-A177-3AD203B41FA5}">
                      <a16:colId xmlns:a16="http://schemas.microsoft.com/office/drawing/2014/main" val="2470210094"/>
                    </a:ext>
                  </a:extLst>
                </a:gridCol>
                <a:gridCol w="2739571">
                  <a:extLst>
                    <a:ext uri="{9D8B030D-6E8A-4147-A177-3AD203B41FA5}">
                      <a16:colId xmlns:a16="http://schemas.microsoft.com/office/drawing/2014/main" val="72878264"/>
                    </a:ext>
                  </a:extLst>
                </a:gridCol>
                <a:gridCol w="2739571">
                  <a:extLst>
                    <a:ext uri="{9D8B030D-6E8A-4147-A177-3AD203B41FA5}">
                      <a16:colId xmlns:a16="http://schemas.microsoft.com/office/drawing/2014/main" val="3026238187"/>
                    </a:ext>
                  </a:extLst>
                </a:gridCol>
              </a:tblGrid>
              <a:tr h="364899">
                <a:tc>
                  <a:txBody>
                    <a:bodyPr/>
                    <a:lstStyle/>
                    <a:p>
                      <a:r>
                        <a:rPr lang="en-US" sz="1400" b="1" dirty="0">
                          <a:solidFill>
                            <a:srgbClr val="021836"/>
                          </a:solidFill>
                        </a:rPr>
                        <a:t>Area</a:t>
                      </a:r>
                    </a:p>
                  </a:txBody>
                  <a:tcPr marT="27432" marB="27432">
                    <a:lnR w="12700" cap="flat" cmpd="sng" algn="ctr">
                      <a:solidFill>
                        <a:schemeClr val="bg1">
                          <a:lumMod val="75000"/>
                        </a:schemeClr>
                      </a:solidFill>
                      <a:prstDash val="solid"/>
                      <a:round/>
                      <a:headEnd type="none" w="med" len="med"/>
                      <a:tailEnd type="none" w="med" len="med"/>
                    </a:lnR>
                    <a:lnB w="12700" cap="flat" cmpd="sng" algn="ctr">
                      <a:solidFill>
                        <a:srgbClr val="0396A6"/>
                      </a:solidFill>
                      <a:prstDash val="solid"/>
                      <a:round/>
                      <a:headEnd type="none" w="med" len="med"/>
                      <a:tailEnd type="none" w="med" len="med"/>
                    </a:lnB>
                  </a:tcPr>
                </a:tc>
                <a:tc>
                  <a:txBody>
                    <a:bodyPr/>
                    <a:lstStyle/>
                    <a:p>
                      <a:r>
                        <a:rPr lang="en-US" sz="1400" b="1" dirty="0">
                          <a:solidFill>
                            <a:srgbClr val="021836"/>
                          </a:solidFill>
                        </a:rPr>
                        <a:t>Consideration</a:t>
                      </a:r>
                    </a:p>
                  </a:txBody>
                  <a:tcPr marT="27432" marB="27432">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B w="12700" cap="flat" cmpd="sng" algn="ctr">
                      <a:solidFill>
                        <a:srgbClr val="0396A6"/>
                      </a:solidFill>
                      <a:prstDash val="solid"/>
                      <a:round/>
                      <a:headEnd type="none" w="med" len="med"/>
                      <a:tailEnd type="none" w="med" len="med"/>
                    </a:lnB>
                  </a:tcPr>
                </a:tc>
                <a:tc>
                  <a:txBody>
                    <a:bodyPr/>
                    <a:lstStyle/>
                    <a:p>
                      <a:r>
                        <a:rPr lang="en-US" sz="1400" b="1" dirty="0">
                          <a:solidFill>
                            <a:srgbClr val="021836"/>
                          </a:solidFill>
                        </a:rPr>
                        <a:t>Owner / Next Step</a:t>
                      </a:r>
                    </a:p>
                  </a:txBody>
                  <a:tcPr marT="27432" marB="27432">
                    <a:lnL w="12700" cap="flat" cmpd="sng" algn="ctr">
                      <a:solidFill>
                        <a:schemeClr val="bg1">
                          <a:lumMod val="75000"/>
                        </a:schemeClr>
                      </a:solidFill>
                      <a:prstDash val="solid"/>
                      <a:round/>
                      <a:headEnd type="none" w="med" len="med"/>
                      <a:tailEnd type="none" w="med" len="med"/>
                    </a:lnL>
                    <a:lnB w="12700" cap="flat" cmpd="sng" algn="ctr">
                      <a:solidFill>
                        <a:srgbClr val="0396A6"/>
                      </a:solidFill>
                      <a:prstDash val="solid"/>
                      <a:round/>
                      <a:headEnd type="none" w="med" len="med"/>
                      <a:tailEnd type="none" w="med" len="med"/>
                    </a:lnB>
                  </a:tcPr>
                </a:tc>
                <a:extLst>
                  <a:ext uri="{0D108BD9-81ED-4DB2-BD59-A6C34878D82A}">
                    <a16:rowId xmlns:a16="http://schemas.microsoft.com/office/drawing/2014/main" val="2061593276"/>
                  </a:ext>
                </a:extLst>
              </a:tr>
              <a:tr h="387536">
                <a:tc>
                  <a:txBody>
                    <a:bodyPr/>
                    <a:lstStyle/>
                    <a:p>
                      <a:pPr>
                        <a:buClr>
                          <a:schemeClr val="bg1">
                            <a:lumMod val="50000"/>
                          </a:schemeClr>
                        </a:buClr>
                      </a:pPr>
                      <a:r>
                        <a:rPr lang="en-US" sz="1200" dirty="0"/>
                        <a:t>Risk</a:t>
                      </a:r>
                    </a:p>
                  </a:txBody>
                  <a:tcPr marT="27432" marB="27432">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200" dirty="0"/>
                        <a:t>Key risk or concern</a:t>
                      </a:r>
                    </a:p>
                  </a:txBody>
                  <a:tcPr marT="27432" marB="27432">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200" dirty="0"/>
                    </a:p>
                  </a:txBody>
                  <a:tcPr marT="27432" marB="27432">
                    <a:lnL w="12700" cap="flat" cmpd="sng" algn="ctr">
                      <a:solidFill>
                        <a:schemeClr val="bg1">
                          <a:lumMod val="75000"/>
                        </a:schemeClr>
                      </a:solidFill>
                      <a:prstDash val="solid"/>
                      <a:round/>
                      <a:headEnd type="none" w="med" len="med"/>
                      <a:tailEnd type="none" w="med" len="med"/>
                    </a:lnL>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493753442"/>
                  </a:ext>
                </a:extLst>
              </a:tr>
              <a:tr h="387536">
                <a:tc>
                  <a:txBody>
                    <a:bodyPr/>
                    <a:lstStyle/>
                    <a:p>
                      <a:pPr>
                        <a:buClr>
                          <a:schemeClr val="bg1">
                            <a:lumMod val="50000"/>
                          </a:schemeClr>
                        </a:buClr>
                      </a:pPr>
                      <a:r>
                        <a:rPr lang="en-US" sz="1200" b="0" dirty="0">
                          <a:solidFill>
                            <a:srgbClr val="021836"/>
                          </a:solidFill>
                        </a:rPr>
                        <a:t>Dependency</a:t>
                      </a:r>
                    </a:p>
                  </a:txBody>
                  <a:tcPr marT="27432" marB="27432">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200" dirty="0"/>
                        <a:t>System, data, team, vendor, or policy dependency</a:t>
                      </a:r>
                    </a:p>
                  </a:txBody>
                  <a:tcPr marT="27432" marB="27432">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200" dirty="0"/>
                    </a:p>
                  </a:txBody>
                  <a:tcPr marT="27432" marB="27432">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23325965"/>
                  </a:ext>
                </a:extLst>
              </a:tr>
              <a:tr h="387536">
                <a:tc>
                  <a:txBody>
                    <a:bodyPr/>
                    <a:lstStyle/>
                    <a:p>
                      <a:pPr>
                        <a:buClr>
                          <a:schemeClr val="bg1">
                            <a:lumMod val="50000"/>
                          </a:schemeClr>
                        </a:buClr>
                      </a:pPr>
                      <a:r>
                        <a:rPr lang="en-US" sz="1200" b="0" dirty="0">
                          <a:solidFill>
                            <a:srgbClr val="021836"/>
                          </a:solidFill>
                        </a:rPr>
                        <a:t>Open Question</a:t>
                      </a:r>
                    </a:p>
                  </a:txBody>
                  <a:tcPr marT="27432" marB="27432">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200" dirty="0"/>
                        <a:t>Decision or clarification needed</a:t>
                      </a:r>
                    </a:p>
                  </a:txBody>
                  <a:tcPr marT="27432" marB="27432">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200" dirty="0"/>
                    </a:p>
                  </a:txBody>
                  <a:tcPr marT="27432" marB="27432">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845834834"/>
                  </a:ext>
                </a:extLst>
              </a:tr>
              <a:tr h="387536">
                <a:tc>
                  <a:txBody>
                    <a:bodyPr/>
                    <a:lstStyle/>
                    <a:p>
                      <a:pPr>
                        <a:buClr>
                          <a:schemeClr val="bg1">
                            <a:lumMod val="50000"/>
                          </a:schemeClr>
                        </a:buClr>
                      </a:pPr>
                      <a:r>
                        <a:rPr lang="en-US" sz="1200" b="0" dirty="0">
                          <a:solidFill>
                            <a:srgbClr val="021836"/>
                          </a:solidFill>
                        </a:rPr>
                        <a:t>Mitigation</a:t>
                      </a:r>
                    </a:p>
                  </a:txBody>
                  <a:tcPr marT="27432" marB="27432">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200" dirty="0"/>
                        <a:t>Planned control or response</a:t>
                      </a:r>
                    </a:p>
                  </a:txBody>
                  <a:tcPr marT="27432" marB="27432">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200" dirty="0"/>
                    </a:p>
                  </a:txBody>
                  <a:tcPr marT="27432" marB="27432">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012176639"/>
                  </a:ext>
                </a:extLst>
              </a:tr>
              <a:tr h="387536">
                <a:tc>
                  <a:txBody>
                    <a:bodyPr/>
                    <a:lstStyle/>
                    <a:p>
                      <a:pPr>
                        <a:buClr>
                          <a:schemeClr val="bg1">
                            <a:lumMod val="50000"/>
                          </a:schemeClr>
                        </a:buClr>
                      </a:pPr>
                      <a:r>
                        <a:rPr lang="en-US" sz="1200" b="0" dirty="0">
                          <a:solidFill>
                            <a:srgbClr val="021836"/>
                          </a:solidFill>
                        </a:rPr>
                        <a:t>Continuity</a:t>
                      </a:r>
                    </a:p>
                  </a:txBody>
                  <a:tcPr marT="27432" marB="27432">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200" dirty="0"/>
                        <a:t>Critical dependency, fallback, or recovery concern.</a:t>
                      </a:r>
                    </a:p>
                  </a:txBody>
                  <a:tcPr marT="27432" marB="27432">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200" dirty="0"/>
                    </a:p>
                  </a:txBody>
                  <a:tcPr marT="27432" marB="27432">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524830516"/>
                  </a:ext>
                </a:extLst>
              </a:tr>
            </a:tbl>
          </a:graphicData>
        </a:graphic>
      </p:graphicFrame>
      <p:grpSp>
        <p:nvGrpSpPr>
          <p:cNvPr id="3" name="Group 2">
            <a:extLst>
              <a:ext uri="{FF2B5EF4-FFF2-40B4-BE49-F238E27FC236}">
                <a16:creationId xmlns:a16="http://schemas.microsoft.com/office/drawing/2014/main" id="{D9775A52-848F-D50F-A41D-5C37DFD3E67E}"/>
              </a:ext>
            </a:extLst>
          </p:cNvPr>
          <p:cNvGrpSpPr/>
          <p:nvPr/>
        </p:nvGrpSpPr>
        <p:grpSpPr>
          <a:xfrm>
            <a:off x="317078" y="4680706"/>
            <a:ext cx="7886700" cy="595537"/>
            <a:chOff x="628650" y="4778376"/>
            <a:chExt cx="7886700" cy="595537"/>
          </a:xfrm>
        </p:grpSpPr>
        <p:sp>
          <p:nvSpPr>
            <p:cNvPr id="4" name="Content Placeholder 2">
              <a:extLst>
                <a:ext uri="{FF2B5EF4-FFF2-40B4-BE49-F238E27FC236}">
                  <a16:creationId xmlns:a16="http://schemas.microsoft.com/office/drawing/2014/main" id="{A31EEF3A-C6D2-F8F2-8B70-5A055D8D26B0}"/>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Guiding Principle</a:t>
              </a:r>
            </a:p>
          </p:txBody>
        </p:sp>
        <p:sp>
          <p:nvSpPr>
            <p:cNvPr id="6" name="Content Placeholder 2">
              <a:extLst>
                <a:ext uri="{FF2B5EF4-FFF2-40B4-BE49-F238E27FC236}">
                  <a16:creationId xmlns:a16="http://schemas.microsoft.com/office/drawing/2014/main" id="{88385E0A-70DA-525E-6AFA-C0581A2D771C}"/>
                </a:ext>
              </a:extLst>
            </p:cNvPr>
            <p:cNvSpPr txBox="1">
              <a:spLocks/>
            </p:cNvSpPr>
            <p:nvPr/>
          </p:nvSpPr>
          <p:spPr>
            <a:xfrm>
              <a:off x="628650" y="5032601"/>
              <a:ext cx="7886700" cy="341312"/>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kumimoji="0" lang="en-US" sz="1200" b="0" i="0" u="none" strike="noStrike" kern="1200" cap="none" spc="0" normalizeH="0" baseline="0" noProof="0" dirty="0">
                  <a:ln>
                    <a:noFill/>
                  </a:ln>
                  <a:solidFill>
                    <a:srgbClr val="021836"/>
                  </a:solidFill>
                  <a:effectLst/>
                  <a:uLnTx/>
                  <a:uFillTx/>
                  <a:latin typeface="Aptos" panose="02110004020202020204"/>
                  <a:ea typeface="+mn-ea"/>
                  <a:cs typeface="+mn-cs"/>
                </a:rPr>
                <a:t>Unresolved risks should be visible before decisions are made.</a:t>
              </a:r>
              <a:endPar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endParaRPr>
            </a:p>
          </p:txBody>
        </p:sp>
      </p:grpSp>
      <p:cxnSp>
        <p:nvCxnSpPr>
          <p:cNvPr id="8" name="Straight Connector 7">
            <a:extLst>
              <a:ext uri="{FF2B5EF4-FFF2-40B4-BE49-F238E27FC236}">
                <a16:creationId xmlns:a16="http://schemas.microsoft.com/office/drawing/2014/main" id="{E8CD09B8-BA71-66E7-19DA-0D9FE5DA33C4}"/>
              </a:ext>
            </a:extLst>
          </p:cNvPr>
          <p:cNvCxnSpPr>
            <a:cxnSpLocks/>
          </p:cNvCxnSpPr>
          <p:nvPr/>
        </p:nvCxnSpPr>
        <p:spPr>
          <a:xfrm>
            <a:off x="171450" y="4467473"/>
            <a:ext cx="8801100" cy="0"/>
          </a:xfrm>
          <a:prstGeom prst="line">
            <a:avLst/>
          </a:prstGeom>
          <a:ln w="9525">
            <a:solidFill>
              <a:srgbClr val="0396A6"/>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6AABDB15-0B46-9107-71A9-2E5D3938B2CE}"/>
              </a:ext>
            </a:extLst>
          </p:cNvPr>
          <p:cNvSpPr txBox="1"/>
          <p:nvPr/>
        </p:nvSpPr>
        <p:spPr>
          <a:xfrm>
            <a:off x="4408714" y="64309"/>
            <a:ext cx="4628748" cy="276999"/>
          </a:xfrm>
          <a:prstGeom prst="rect">
            <a:avLst/>
          </a:prstGeom>
          <a:noFill/>
        </p:spPr>
        <p:txBody>
          <a:bodyPr wrap="square" rtlCol="0">
            <a:spAutoFit/>
          </a:bodyPr>
          <a:lstStyle/>
          <a:p>
            <a:pPr algn="r"/>
            <a:r>
              <a:rPr lang="en-US" sz="1200" dirty="0">
                <a:solidFill>
                  <a:schemeClr val="bg1">
                    <a:lumMod val="50000"/>
                  </a:schemeClr>
                </a:solidFill>
              </a:rPr>
              <a:t>AI Operational Readiness • Executive Briefing</a:t>
            </a:r>
          </a:p>
        </p:txBody>
      </p:sp>
    </p:spTree>
    <p:extLst>
      <p:ext uri="{BB962C8B-B14F-4D97-AF65-F5344CB8AC3E}">
        <p14:creationId xmlns:p14="http://schemas.microsoft.com/office/powerpoint/2010/main" val="136731962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059B72-0C51-B842-9A1F-C29B0EDD32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3D52A3-5A32-231D-5131-8278031F2ED6}"/>
              </a:ext>
            </a:extLst>
          </p:cNvPr>
          <p:cNvSpPr>
            <a:spLocks noGrp="1"/>
          </p:cNvSpPr>
          <p:nvPr>
            <p:ph type="title"/>
          </p:nvPr>
        </p:nvSpPr>
        <p:spPr>
          <a:xfrm>
            <a:off x="273534" y="131090"/>
            <a:ext cx="7886700" cy="1325563"/>
          </a:xfrm>
        </p:spPr>
        <p:txBody>
          <a:bodyPr>
            <a:normAutofit/>
          </a:bodyPr>
          <a:lstStyle/>
          <a:p>
            <a:r>
              <a:rPr lang="en-US" sz="4000" dirty="0"/>
              <a:t>Decision Requested</a:t>
            </a:r>
          </a:p>
        </p:txBody>
      </p:sp>
      <p:sp>
        <p:nvSpPr>
          <p:cNvPr id="9" name="Content Placeholder 2">
            <a:extLst>
              <a:ext uri="{FF2B5EF4-FFF2-40B4-BE49-F238E27FC236}">
                <a16:creationId xmlns:a16="http://schemas.microsoft.com/office/drawing/2014/main" id="{674E0312-2A55-0446-1C89-713F5E488CD3}"/>
              </a:ext>
            </a:extLst>
          </p:cNvPr>
          <p:cNvSpPr txBox="1">
            <a:spLocks/>
          </p:cNvSpPr>
          <p:nvPr/>
        </p:nvSpPr>
        <p:spPr>
          <a:xfrm>
            <a:off x="317078" y="1061987"/>
            <a:ext cx="7886700" cy="299244"/>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Making the executive ask explicit</a:t>
            </a:r>
          </a:p>
        </p:txBody>
      </p:sp>
      <p:graphicFrame>
        <p:nvGraphicFramePr>
          <p:cNvPr id="15" name="Table 14">
            <a:extLst>
              <a:ext uri="{FF2B5EF4-FFF2-40B4-BE49-F238E27FC236}">
                <a16:creationId xmlns:a16="http://schemas.microsoft.com/office/drawing/2014/main" id="{D87DC7B0-3BD7-4F5F-D2A9-99AB805F3BCA}"/>
              </a:ext>
            </a:extLst>
          </p:cNvPr>
          <p:cNvGraphicFramePr>
            <a:graphicFrameLocks noGrp="1"/>
          </p:cNvGraphicFramePr>
          <p:nvPr/>
        </p:nvGraphicFramePr>
        <p:xfrm>
          <a:off x="317078" y="1824392"/>
          <a:ext cx="8445922" cy="2690115"/>
        </p:xfrm>
        <a:graphic>
          <a:graphicData uri="http://schemas.openxmlformats.org/drawingml/2006/table">
            <a:tbl>
              <a:tblPr firstRow="1" bandRow="1">
                <a:tableStyleId>{2D5ABB26-0587-4C30-8999-92F81FD0307C}</a:tableStyleId>
              </a:tblPr>
              <a:tblGrid>
                <a:gridCol w="4222961">
                  <a:extLst>
                    <a:ext uri="{9D8B030D-6E8A-4147-A177-3AD203B41FA5}">
                      <a16:colId xmlns:a16="http://schemas.microsoft.com/office/drawing/2014/main" val="2470210094"/>
                    </a:ext>
                  </a:extLst>
                </a:gridCol>
                <a:gridCol w="4222961">
                  <a:extLst>
                    <a:ext uri="{9D8B030D-6E8A-4147-A177-3AD203B41FA5}">
                      <a16:colId xmlns:a16="http://schemas.microsoft.com/office/drawing/2014/main" val="72878264"/>
                    </a:ext>
                  </a:extLst>
                </a:gridCol>
              </a:tblGrid>
              <a:tr h="364899">
                <a:tc>
                  <a:txBody>
                    <a:bodyPr/>
                    <a:lstStyle/>
                    <a:p>
                      <a:r>
                        <a:rPr lang="en-US" sz="1400" b="1" dirty="0">
                          <a:solidFill>
                            <a:srgbClr val="021836"/>
                          </a:solidFill>
                        </a:rPr>
                        <a:t>Decision Needed</a:t>
                      </a:r>
                    </a:p>
                  </a:txBody>
                  <a:tcPr marT="27432" marB="27432">
                    <a:lnR w="12700" cap="flat" cmpd="sng" algn="ctr">
                      <a:solidFill>
                        <a:schemeClr val="bg1">
                          <a:lumMod val="75000"/>
                        </a:schemeClr>
                      </a:solidFill>
                      <a:prstDash val="solid"/>
                      <a:round/>
                      <a:headEnd type="none" w="med" len="med"/>
                      <a:tailEnd type="none" w="med" len="med"/>
                    </a:lnR>
                    <a:lnB w="12700" cap="flat" cmpd="sng" algn="ctr">
                      <a:solidFill>
                        <a:srgbClr val="0396A6"/>
                      </a:solidFill>
                      <a:prstDash val="solid"/>
                      <a:round/>
                      <a:headEnd type="none" w="med" len="med"/>
                      <a:tailEnd type="none" w="med" len="med"/>
                    </a:lnB>
                  </a:tcPr>
                </a:tc>
                <a:tc>
                  <a:txBody>
                    <a:bodyPr/>
                    <a:lstStyle/>
                    <a:p>
                      <a:r>
                        <a:rPr lang="en-US" sz="1400" b="1" dirty="0">
                          <a:solidFill>
                            <a:srgbClr val="021836"/>
                          </a:solidFill>
                        </a:rPr>
                        <a:t>Recommendation</a:t>
                      </a:r>
                    </a:p>
                  </a:txBody>
                  <a:tcPr marT="27432" marB="27432">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B w="12700" cap="flat" cmpd="sng" algn="ctr">
                      <a:solidFill>
                        <a:srgbClr val="0396A6"/>
                      </a:solidFill>
                      <a:prstDash val="solid"/>
                      <a:round/>
                      <a:headEnd type="none" w="med" len="med"/>
                      <a:tailEnd type="none" w="med" len="med"/>
                    </a:lnB>
                  </a:tcPr>
                </a:tc>
                <a:extLst>
                  <a:ext uri="{0D108BD9-81ED-4DB2-BD59-A6C34878D82A}">
                    <a16:rowId xmlns:a16="http://schemas.microsoft.com/office/drawing/2014/main" val="2061593276"/>
                  </a:ext>
                </a:extLst>
              </a:tr>
              <a:tr h="387536">
                <a:tc>
                  <a:txBody>
                    <a:bodyPr/>
                    <a:lstStyle/>
                    <a:p>
                      <a:pPr>
                        <a:buClr>
                          <a:schemeClr val="bg1">
                            <a:lumMod val="50000"/>
                          </a:schemeClr>
                        </a:buClr>
                      </a:pPr>
                      <a:r>
                        <a:rPr lang="en-US" sz="1200" dirty="0"/>
                        <a:t>Proceed / Pause / Redesign / Defer</a:t>
                      </a:r>
                    </a:p>
                  </a:txBody>
                  <a:tcPr marT="27432" marB="27432">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200" dirty="0"/>
                        <a:t>Recommended decision</a:t>
                      </a:r>
                    </a:p>
                  </a:txBody>
                  <a:tcPr marT="27432" marB="27432">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493753442"/>
                  </a:ext>
                </a:extLst>
              </a:tr>
              <a:tr h="387536">
                <a:tc>
                  <a:txBody>
                    <a:bodyPr/>
                    <a:lstStyle/>
                    <a:p>
                      <a:pPr>
                        <a:buClr>
                          <a:schemeClr val="bg1">
                            <a:lumMod val="50000"/>
                          </a:schemeClr>
                        </a:buClr>
                      </a:pPr>
                      <a:r>
                        <a:rPr lang="en-US" sz="1200" b="0" dirty="0">
                          <a:solidFill>
                            <a:srgbClr val="021836"/>
                          </a:solidFill>
                        </a:rPr>
                        <a:t>Approve Pilot Scope</a:t>
                      </a:r>
                    </a:p>
                  </a:txBody>
                  <a:tcPr marT="27432" marB="27432">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200" dirty="0"/>
                        <a:t>Scope and boundaries</a:t>
                      </a:r>
                    </a:p>
                  </a:txBody>
                  <a:tcPr marT="27432" marB="27432">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23325965"/>
                  </a:ext>
                </a:extLst>
              </a:tr>
              <a:tr h="387536">
                <a:tc>
                  <a:txBody>
                    <a:bodyPr/>
                    <a:lstStyle/>
                    <a:p>
                      <a:pPr>
                        <a:buClr>
                          <a:schemeClr val="bg1">
                            <a:lumMod val="50000"/>
                          </a:schemeClr>
                        </a:buClr>
                      </a:pPr>
                      <a:r>
                        <a:rPr lang="en-US" sz="1200" b="0" dirty="0">
                          <a:solidFill>
                            <a:srgbClr val="021836"/>
                          </a:solidFill>
                        </a:rPr>
                        <a:t>Confirm Sponsor</a:t>
                      </a:r>
                    </a:p>
                  </a:txBody>
                  <a:tcPr marT="27432" marB="27432">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200" dirty="0"/>
                        <a:t>Executive or business sponsor</a:t>
                      </a:r>
                    </a:p>
                  </a:txBody>
                  <a:tcPr marT="27432" marB="27432">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845834834"/>
                  </a:ext>
                </a:extLst>
              </a:tr>
              <a:tr h="387536">
                <a:tc>
                  <a:txBody>
                    <a:bodyPr/>
                    <a:lstStyle/>
                    <a:p>
                      <a:pPr>
                        <a:buClr>
                          <a:schemeClr val="bg1">
                            <a:lumMod val="50000"/>
                          </a:schemeClr>
                        </a:buClr>
                      </a:pPr>
                      <a:r>
                        <a:rPr lang="en-US" sz="1200" b="0" dirty="0">
                          <a:solidFill>
                            <a:srgbClr val="021836"/>
                          </a:solidFill>
                        </a:rPr>
                        <a:t>Confirm Owners</a:t>
                      </a:r>
                    </a:p>
                  </a:txBody>
                  <a:tcPr marT="27432" marB="27432">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200" dirty="0"/>
                        <a:t>Process, governance, technical, and support owners</a:t>
                      </a:r>
                    </a:p>
                  </a:txBody>
                  <a:tcPr marT="27432" marB="27432">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012176639"/>
                  </a:ext>
                </a:extLst>
              </a:tr>
              <a:tr h="387536">
                <a:tc>
                  <a:txBody>
                    <a:bodyPr/>
                    <a:lstStyle/>
                    <a:p>
                      <a:pPr>
                        <a:buClr>
                          <a:schemeClr val="bg1">
                            <a:lumMod val="50000"/>
                          </a:schemeClr>
                        </a:buClr>
                      </a:pPr>
                      <a:r>
                        <a:rPr lang="en-US" sz="1200" b="0" dirty="0">
                          <a:solidFill>
                            <a:srgbClr val="021836"/>
                          </a:solidFill>
                        </a:rPr>
                        <a:t>Confirm Next Step</a:t>
                      </a:r>
                    </a:p>
                  </a:txBody>
                  <a:tcPr marT="27432" marB="27432">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200" dirty="0"/>
                        <a:t>Workshop, pilot, funding, or design completion</a:t>
                      </a:r>
                    </a:p>
                  </a:txBody>
                  <a:tcPr marT="27432" marB="27432">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48210947"/>
                  </a:ext>
                </a:extLst>
              </a:tr>
              <a:tr h="387536">
                <a:tc>
                  <a:txBody>
                    <a:bodyPr/>
                    <a:lstStyle/>
                    <a:p>
                      <a:pPr>
                        <a:buClr>
                          <a:schemeClr val="bg1">
                            <a:lumMod val="50000"/>
                          </a:schemeClr>
                        </a:buClr>
                      </a:pPr>
                      <a:r>
                        <a:rPr lang="en-US" sz="1200" b="0" dirty="0">
                          <a:solidFill>
                            <a:srgbClr val="021836"/>
                          </a:solidFill>
                        </a:rPr>
                        <a:t>Confirm Decision Authority</a:t>
                      </a:r>
                    </a:p>
                  </a:txBody>
                  <a:tcPr marT="27432" marB="27432">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200" dirty="0"/>
                        <a:t>Who can approve, pause, redesign, scale or retire</a:t>
                      </a:r>
                    </a:p>
                  </a:txBody>
                  <a:tcPr marT="27432" marB="27432">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541709162"/>
                  </a:ext>
                </a:extLst>
              </a:tr>
            </a:tbl>
          </a:graphicData>
        </a:graphic>
      </p:graphicFrame>
      <p:grpSp>
        <p:nvGrpSpPr>
          <p:cNvPr id="3" name="Group 2">
            <a:extLst>
              <a:ext uri="{FF2B5EF4-FFF2-40B4-BE49-F238E27FC236}">
                <a16:creationId xmlns:a16="http://schemas.microsoft.com/office/drawing/2014/main" id="{6B4ADEFF-01BB-0FC5-A2F9-821F1636C2AD}"/>
              </a:ext>
            </a:extLst>
          </p:cNvPr>
          <p:cNvGrpSpPr/>
          <p:nvPr/>
        </p:nvGrpSpPr>
        <p:grpSpPr>
          <a:xfrm>
            <a:off x="317078" y="4863018"/>
            <a:ext cx="7886700" cy="595537"/>
            <a:chOff x="628650" y="4778376"/>
            <a:chExt cx="7886700" cy="595537"/>
          </a:xfrm>
        </p:grpSpPr>
        <p:sp>
          <p:nvSpPr>
            <p:cNvPr id="4" name="Content Placeholder 2">
              <a:extLst>
                <a:ext uri="{FF2B5EF4-FFF2-40B4-BE49-F238E27FC236}">
                  <a16:creationId xmlns:a16="http://schemas.microsoft.com/office/drawing/2014/main" id="{1FA5D3F5-0C35-C125-7F7F-9BD810D242FF}"/>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Guiding Principle</a:t>
              </a:r>
            </a:p>
          </p:txBody>
        </p:sp>
        <p:sp>
          <p:nvSpPr>
            <p:cNvPr id="6" name="Content Placeholder 2">
              <a:extLst>
                <a:ext uri="{FF2B5EF4-FFF2-40B4-BE49-F238E27FC236}">
                  <a16:creationId xmlns:a16="http://schemas.microsoft.com/office/drawing/2014/main" id="{C6B0EE08-E197-5143-EDF2-EED9A7730BC7}"/>
                </a:ext>
              </a:extLst>
            </p:cNvPr>
            <p:cNvSpPr txBox="1">
              <a:spLocks/>
            </p:cNvSpPr>
            <p:nvPr/>
          </p:nvSpPr>
          <p:spPr>
            <a:xfrm>
              <a:off x="628650" y="5032601"/>
              <a:ext cx="7886700" cy="341312"/>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kumimoji="0" lang="en-US" sz="1200" b="0" i="0" u="none" strike="noStrike" kern="1200" cap="none" spc="0" normalizeH="0" baseline="0" noProof="0" dirty="0">
                  <a:ln>
                    <a:noFill/>
                  </a:ln>
                  <a:solidFill>
                    <a:srgbClr val="021836"/>
                  </a:solidFill>
                  <a:effectLst/>
                  <a:uLnTx/>
                  <a:uFillTx/>
                  <a:latin typeface="Aptos" panose="02110004020202020204"/>
                  <a:ea typeface="+mn-ea"/>
                  <a:cs typeface="+mn-cs"/>
                </a:rPr>
                <a:t>Executive briefings should end with a clear decision, not a general discussion.</a:t>
              </a:r>
              <a:endPar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endParaRPr>
            </a:p>
          </p:txBody>
        </p:sp>
      </p:grpSp>
      <p:cxnSp>
        <p:nvCxnSpPr>
          <p:cNvPr id="8" name="Straight Connector 7">
            <a:extLst>
              <a:ext uri="{FF2B5EF4-FFF2-40B4-BE49-F238E27FC236}">
                <a16:creationId xmlns:a16="http://schemas.microsoft.com/office/drawing/2014/main" id="{D917A096-D81E-3F53-8EAD-B8DB6BE38888}"/>
              </a:ext>
            </a:extLst>
          </p:cNvPr>
          <p:cNvCxnSpPr>
            <a:cxnSpLocks/>
          </p:cNvCxnSpPr>
          <p:nvPr/>
        </p:nvCxnSpPr>
        <p:spPr>
          <a:xfrm>
            <a:off x="171450" y="4693334"/>
            <a:ext cx="8801100" cy="0"/>
          </a:xfrm>
          <a:prstGeom prst="line">
            <a:avLst/>
          </a:prstGeom>
          <a:ln w="9525">
            <a:solidFill>
              <a:srgbClr val="0396A6"/>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747D3465-6154-F865-3E2F-0FC09CBE51EC}"/>
              </a:ext>
            </a:extLst>
          </p:cNvPr>
          <p:cNvSpPr txBox="1"/>
          <p:nvPr/>
        </p:nvSpPr>
        <p:spPr>
          <a:xfrm>
            <a:off x="4408714" y="64309"/>
            <a:ext cx="4628748" cy="276999"/>
          </a:xfrm>
          <a:prstGeom prst="rect">
            <a:avLst/>
          </a:prstGeom>
          <a:noFill/>
        </p:spPr>
        <p:txBody>
          <a:bodyPr wrap="square" rtlCol="0">
            <a:spAutoFit/>
          </a:bodyPr>
          <a:lstStyle/>
          <a:p>
            <a:pPr algn="r"/>
            <a:r>
              <a:rPr lang="en-US" sz="1200" dirty="0">
                <a:solidFill>
                  <a:schemeClr val="bg1">
                    <a:lumMod val="50000"/>
                  </a:schemeClr>
                </a:solidFill>
              </a:rPr>
              <a:t>AI Operational Readiness • Executive Briefing</a:t>
            </a:r>
          </a:p>
        </p:txBody>
      </p:sp>
    </p:spTree>
    <p:extLst>
      <p:ext uri="{BB962C8B-B14F-4D97-AF65-F5344CB8AC3E}">
        <p14:creationId xmlns:p14="http://schemas.microsoft.com/office/powerpoint/2010/main" val="168408669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0C674-53DB-E97F-E933-1E4F91F3F0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EC060F-9538-BFD2-5BFA-13874D490DAE}"/>
              </a:ext>
            </a:extLst>
          </p:cNvPr>
          <p:cNvSpPr>
            <a:spLocks noGrp="1"/>
          </p:cNvSpPr>
          <p:nvPr>
            <p:ph type="title"/>
          </p:nvPr>
        </p:nvSpPr>
        <p:spPr>
          <a:xfrm>
            <a:off x="273534" y="131090"/>
            <a:ext cx="7886700" cy="1325563"/>
          </a:xfrm>
        </p:spPr>
        <p:txBody>
          <a:bodyPr>
            <a:normAutofit/>
          </a:bodyPr>
          <a:lstStyle/>
          <a:p>
            <a:r>
              <a:rPr lang="en-US" sz="4000" dirty="0"/>
              <a:t>Next Steps</a:t>
            </a:r>
          </a:p>
        </p:txBody>
      </p:sp>
      <p:sp>
        <p:nvSpPr>
          <p:cNvPr id="9" name="Content Placeholder 2">
            <a:extLst>
              <a:ext uri="{FF2B5EF4-FFF2-40B4-BE49-F238E27FC236}">
                <a16:creationId xmlns:a16="http://schemas.microsoft.com/office/drawing/2014/main" id="{745FC4A3-65C6-1338-0807-1AA54835F159}"/>
              </a:ext>
            </a:extLst>
          </p:cNvPr>
          <p:cNvSpPr txBox="1">
            <a:spLocks/>
          </p:cNvSpPr>
          <p:nvPr/>
        </p:nvSpPr>
        <p:spPr>
          <a:xfrm>
            <a:off x="317078" y="1061987"/>
            <a:ext cx="7886700" cy="299244"/>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Translating executive direction into action</a:t>
            </a:r>
          </a:p>
        </p:txBody>
      </p:sp>
      <p:graphicFrame>
        <p:nvGraphicFramePr>
          <p:cNvPr id="15" name="Table 14">
            <a:extLst>
              <a:ext uri="{FF2B5EF4-FFF2-40B4-BE49-F238E27FC236}">
                <a16:creationId xmlns:a16="http://schemas.microsoft.com/office/drawing/2014/main" id="{021973A8-90B9-A2FB-7E3D-A46F1356E84A}"/>
              </a:ext>
            </a:extLst>
          </p:cNvPr>
          <p:cNvGraphicFramePr>
            <a:graphicFrameLocks noGrp="1"/>
          </p:cNvGraphicFramePr>
          <p:nvPr/>
        </p:nvGraphicFramePr>
        <p:xfrm>
          <a:off x="317078" y="1802622"/>
          <a:ext cx="8445921" cy="2335667"/>
        </p:xfrm>
        <a:graphic>
          <a:graphicData uri="http://schemas.openxmlformats.org/drawingml/2006/table">
            <a:tbl>
              <a:tblPr firstRow="1" bandRow="1">
                <a:tableStyleId>{2D5ABB26-0587-4C30-8999-92F81FD0307C}</a:tableStyleId>
              </a:tblPr>
              <a:tblGrid>
                <a:gridCol w="2815307">
                  <a:extLst>
                    <a:ext uri="{9D8B030D-6E8A-4147-A177-3AD203B41FA5}">
                      <a16:colId xmlns:a16="http://schemas.microsoft.com/office/drawing/2014/main" val="2470210094"/>
                    </a:ext>
                  </a:extLst>
                </a:gridCol>
                <a:gridCol w="2815307">
                  <a:extLst>
                    <a:ext uri="{9D8B030D-6E8A-4147-A177-3AD203B41FA5}">
                      <a16:colId xmlns:a16="http://schemas.microsoft.com/office/drawing/2014/main" val="72878264"/>
                    </a:ext>
                  </a:extLst>
                </a:gridCol>
                <a:gridCol w="2815307">
                  <a:extLst>
                    <a:ext uri="{9D8B030D-6E8A-4147-A177-3AD203B41FA5}">
                      <a16:colId xmlns:a16="http://schemas.microsoft.com/office/drawing/2014/main" val="1905899520"/>
                    </a:ext>
                  </a:extLst>
                </a:gridCol>
              </a:tblGrid>
              <a:tr h="364899">
                <a:tc>
                  <a:txBody>
                    <a:bodyPr/>
                    <a:lstStyle/>
                    <a:p>
                      <a:r>
                        <a:rPr lang="en-US" sz="1400" b="1" dirty="0">
                          <a:solidFill>
                            <a:srgbClr val="021836"/>
                          </a:solidFill>
                        </a:rPr>
                        <a:t>Next Step</a:t>
                      </a:r>
                    </a:p>
                  </a:txBody>
                  <a:tcPr marT="27432" marB="27432">
                    <a:lnR w="12700" cap="flat" cmpd="sng" algn="ctr">
                      <a:solidFill>
                        <a:schemeClr val="bg1">
                          <a:lumMod val="75000"/>
                        </a:schemeClr>
                      </a:solidFill>
                      <a:prstDash val="solid"/>
                      <a:round/>
                      <a:headEnd type="none" w="med" len="med"/>
                      <a:tailEnd type="none" w="med" len="med"/>
                    </a:lnR>
                    <a:lnB w="12700" cap="flat" cmpd="sng" algn="ctr">
                      <a:solidFill>
                        <a:srgbClr val="0396A6"/>
                      </a:solidFill>
                      <a:prstDash val="solid"/>
                      <a:round/>
                      <a:headEnd type="none" w="med" len="med"/>
                      <a:tailEnd type="none" w="med" len="med"/>
                    </a:lnB>
                  </a:tcPr>
                </a:tc>
                <a:tc>
                  <a:txBody>
                    <a:bodyPr/>
                    <a:lstStyle/>
                    <a:p>
                      <a:r>
                        <a:rPr lang="en-US" sz="1400" b="1" dirty="0">
                          <a:solidFill>
                            <a:srgbClr val="021836"/>
                          </a:solidFill>
                        </a:rPr>
                        <a:t>Owner</a:t>
                      </a:r>
                    </a:p>
                  </a:txBody>
                  <a:tcPr marT="27432" marB="27432">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B w="12700" cap="flat" cmpd="sng" algn="ctr">
                      <a:solidFill>
                        <a:srgbClr val="0396A6"/>
                      </a:solidFill>
                      <a:prstDash val="solid"/>
                      <a:round/>
                      <a:headEnd type="none" w="med" len="med"/>
                      <a:tailEnd type="none" w="med" len="med"/>
                    </a:lnB>
                  </a:tcPr>
                </a:tc>
                <a:tc>
                  <a:txBody>
                    <a:bodyPr/>
                    <a:lstStyle/>
                    <a:p>
                      <a:r>
                        <a:rPr lang="en-US" sz="1400" b="1" dirty="0">
                          <a:solidFill>
                            <a:srgbClr val="021836"/>
                          </a:solidFill>
                        </a:rPr>
                        <a:t>Timing</a:t>
                      </a:r>
                    </a:p>
                  </a:txBody>
                  <a:tcPr marT="27432" marB="27432">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B w="12700" cap="flat" cmpd="sng" algn="ctr">
                      <a:solidFill>
                        <a:srgbClr val="0396A6"/>
                      </a:solidFill>
                      <a:prstDash val="solid"/>
                      <a:round/>
                      <a:headEnd type="none" w="med" len="med"/>
                      <a:tailEnd type="none" w="med" len="med"/>
                    </a:lnB>
                  </a:tcPr>
                </a:tc>
                <a:extLst>
                  <a:ext uri="{0D108BD9-81ED-4DB2-BD59-A6C34878D82A}">
                    <a16:rowId xmlns:a16="http://schemas.microsoft.com/office/drawing/2014/main" val="2061593276"/>
                  </a:ext>
                </a:extLst>
              </a:tr>
              <a:tr h="387536">
                <a:tc>
                  <a:txBody>
                    <a:bodyPr/>
                    <a:lstStyle/>
                    <a:p>
                      <a:pPr>
                        <a:buClr>
                          <a:schemeClr val="bg1">
                            <a:lumMod val="50000"/>
                          </a:schemeClr>
                        </a:buClr>
                      </a:pPr>
                      <a:r>
                        <a:rPr lang="en-US" sz="1200" dirty="0"/>
                        <a:t>Finalize pilot scope</a:t>
                      </a:r>
                    </a:p>
                  </a:txBody>
                  <a:tcPr marT="27432" marB="27432">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200" dirty="0"/>
                    </a:p>
                  </a:txBody>
                  <a:tcPr marT="27432" marB="27432">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200" dirty="0"/>
                    </a:p>
                  </a:txBody>
                  <a:tcPr marT="27432" marB="27432">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493753442"/>
                  </a:ext>
                </a:extLst>
              </a:tr>
              <a:tr h="387536">
                <a:tc>
                  <a:txBody>
                    <a:bodyPr/>
                    <a:lstStyle/>
                    <a:p>
                      <a:pPr>
                        <a:buClr>
                          <a:schemeClr val="bg1">
                            <a:lumMod val="50000"/>
                          </a:schemeClr>
                        </a:buClr>
                      </a:pPr>
                      <a:r>
                        <a:rPr lang="en-US" sz="1200" b="0" dirty="0">
                          <a:solidFill>
                            <a:srgbClr val="021836"/>
                          </a:solidFill>
                        </a:rPr>
                        <a:t>Confirm decision rights</a:t>
                      </a:r>
                    </a:p>
                  </a:txBody>
                  <a:tcPr marT="27432" marB="27432">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200" dirty="0"/>
                    </a:p>
                  </a:txBody>
                  <a:tcPr marT="27432" marB="27432">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200" dirty="0"/>
                    </a:p>
                  </a:txBody>
                  <a:tcPr marT="27432" marB="27432">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23325965"/>
                  </a:ext>
                </a:extLst>
              </a:tr>
              <a:tr h="387536">
                <a:tc>
                  <a:txBody>
                    <a:bodyPr/>
                    <a:lstStyle/>
                    <a:p>
                      <a:pPr>
                        <a:buClr>
                          <a:schemeClr val="bg1">
                            <a:lumMod val="50000"/>
                          </a:schemeClr>
                        </a:buClr>
                      </a:pPr>
                      <a:r>
                        <a:rPr lang="en-US" sz="1200" b="0" dirty="0">
                          <a:solidFill>
                            <a:srgbClr val="021836"/>
                          </a:solidFill>
                        </a:rPr>
                        <a:t>Define evidence collection</a:t>
                      </a:r>
                    </a:p>
                  </a:txBody>
                  <a:tcPr marT="27432" marB="27432">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200" dirty="0"/>
                    </a:p>
                  </a:txBody>
                  <a:tcPr marT="27432" marB="27432">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200" dirty="0"/>
                    </a:p>
                  </a:txBody>
                  <a:tcPr marT="27432" marB="27432">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845834834"/>
                  </a:ext>
                </a:extLst>
              </a:tr>
              <a:tr h="387536">
                <a:tc>
                  <a:txBody>
                    <a:bodyPr/>
                    <a:lstStyle/>
                    <a:p>
                      <a:pPr>
                        <a:buClr>
                          <a:schemeClr val="bg1">
                            <a:lumMod val="50000"/>
                          </a:schemeClr>
                        </a:buClr>
                      </a:pPr>
                      <a:r>
                        <a:rPr lang="en-US" sz="1200" b="0" dirty="0">
                          <a:solidFill>
                            <a:srgbClr val="021836"/>
                          </a:solidFill>
                        </a:rPr>
                        <a:t>Prepare support, fallback, and continuity paths</a:t>
                      </a:r>
                    </a:p>
                  </a:txBody>
                  <a:tcPr marT="27432" marB="27432">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200" dirty="0"/>
                    </a:p>
                  </a:txBody>
                  <a:tcPr marT="27432" marB="27432">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200" dirty="0"/>
                    </a:p>
                  </a:txBody>
                  <a:tcPr marT="27432" marB="27432">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012176639"/>
                  </a:ext>
                </a:extLst>
              </a:tr>
              <a:tr h="387536">
                <a:tc>
                  <a:txBody>
                    <a:bodyPr/>
                    <a:lstStyle/>
                    <a:p>
                      <a:pPr>
                        <a:buClr>
                          <a:schemeClr val="bg1">
                            <a:lumMod val="50000"/>
                          </a:schemeClr>
                        </a:buClr>
                      </a:pPr>
                      <a:r>
                        <a:rPr lang="en-US" sz="1200" b="0" dirty="0">
                          <a:solidFill>
                            <a:srgbClr val="021836"/>
                          </a:solidFill>
                        </a:rPr>
                        <a:t>Schedule pilot review</a:t>
                      </a:r>
                    </a:p>
                  </a:txBody>
                  <a:tcPr marT="27432" marB="27432">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200" dirty="0"/>
                    </a:p>
                  </a:txBody>
                  <a:tcPr marT="27432" marB="27432">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sz="1200" dirty="0"/>
                    </a:p>
                  </a:txBody>
                  <a:tcPr marT="27432" marB="27432">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48210947"/>
                  </a:ext>
                </a:extLst>
              </a:tr>
            </a:tbl>
          </a:graphicData>
        </a:graphic>
      </p:graphicFrame>
      <p:grpSp>
        <p:nvGrpSpPr>
          <p:cNvPr id="3" name="Group 2">
            <a:extLst>
              <a:ext uri="{FF2B5EF4-FFF2-40B4-BE49-F238E27FC236}">
                <a16:creationId xmlns:a16="http://schemas.microsoft.com/office/drawing/2014/main" id="{5BA9AF3B-E62A-3BCC-E55A-665FBFAE7972}"/>
              </a:ext>
            </a:extLst>
          </p:cNvPr>
          <p:cNvGrpSpPr/>
          <p:nvPr/>
        </p:nvGrpSpPr>
        <p:grpSpPr>
          <a:xfrm>
            <a:off x="317078" y="4841248"/>
            <a:ext cx="7886700" cy="693511"/>
            <a:chOff x="628650" y="4778376"/>
            <a:chExt cx="7886700" cy="693511"/>
          </a:xfrm>
        </p:grpSpPr>
        <p:sp>
          <p:nvSpPr>
            <p:cNvPr id="4" name="Content Placeholder 2">
              <a:extLst>
                <a:ext uri="{FF2B5EF4-FFF2-40B4-BE49-F238E27FC236}">
                  <a16:creationId xmlns:a16="http://schemas.microsoft.com/office/drawing/2014/main" id="{B31EB4BF-488C-664A-A2E8-C595E7739250}"/>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21836"/>
                  </a:solidFill>
                  <a:effectLst/>
                  <a:uLnTx/>
                  <a:uFillTx/>
                  <a:latin typeface="Aptos" panose="02110004020202020204"/>
                  <a:ea typeface="+mn-ea"/>
                  <a:cs typeface="+mn-cs"/>
                </a:rPr>
                <a:t>Guiding Principle</a:t>
              </a:r>
            </a:p>
          </p:txBody>
        </p:sp>
        <p:sp>
          <p:nvSpPr>
            <p:cNvPr id="6" name="Content Placeholder 2">
              <a:extLst>
                <a:ext uri="{FF2B5EF4-FFF2-40B4-BE49-F238E27FC236}">
                  <a16:creationId xmlns:a16="http://schemas.microsoft.com/office/drawing/2014/main" id="{9F649119-FD4E-3810-FF12-A5387F653D6F}"/>
                </a:ext>
              </a:extLst>
            </p:cNvPr>
            <p:cNvSpPr txBox="1">
              <a:spLocks/>
            </p:cNvSpPr>
            <p:nvPr/>
          </p:nvSpPr>
          <p:spPr>
            <a:xfrm>
              <a:off x="628650" y="5130575"/>
              <a:ext cx="7886700" cy="341312"/>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kumimoji="0" lang="en-US" sz="1200" b="0" i="0" u="none" strike="noStrike" kern="1200" cap="none" spc="0" normalizeH="0" baseline="0" noProof="0" dirty="0">
                  <a:ln>
                    <a:noFill/>
                  </a:ln>
                  <a:solidFill>
                    <a:srgbClr val="021836"/>
                  </a:solidFill>
                  <a:effectLst/>
                  <a:uLnTx/>
                  <a:uFillTx/>
                  <a:latin typeface="Aptos" panose="02110004020202020204"/>
                  <a:ea typeface="+mn-ea"/>
                  <a:cs typeface="+mn-cs"/>
                </a:rPr>
                <a:t>The value of an executive briefing is measured by the clarity of </a:t>
              </a:r>
              <a:r>
                <a:rPr kumimoji="0" lang="en-US" sz="1200" b="0" i="0" u="none" strike="noStrike" kern="1200" cap="none" spc="0" normalizeH="0" baseline="0" noProof="0" dirty="0" err="1">
                  <a:ln>
                    <a:noFill/>
                  </a:ln>
                  <a:solidFill>
                    <a:srgbClr val="021836"/>
                  </a:solidFill>
                  <a:effectLst/>
                  <a:uLnTx/>
                  <a:uFillTx/>
                  <a:latin typeface="Aptos" panose="02110004020202020204"/>
                  <a:ea typeface="+mn-ea"/>
                  <a:cs typeface="+mn-cs"/>
                </a:rPr>
                <a:t>th</a:t>
              </a:r>
              <a:r>
                <a:rPr lang="en-US" sz="1200" dirty="0">
                  <a:solidFill>
                    <a:srgbClr val="021836"/>
                  </a:solidFill>
                  <a:latin typeface="Aptos" panose="02110004020202020204"/>
                </a:rPr>
                <a:t>e next action.</a:t>
              </a:r>
              <a:endPar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endParaRPr>
            </a:p>
          </p:txBody>
        </p:sp>
      </p:grpSp>
      <p:cxnSp>
        <p:nvCxnSpPr>
          <p:cNvPr id="8" name="Straight Connector 7">
            <a:extLst>
              <a:ext uri="{FF2B5EF4-FFF2-40B4-BE49-F238E27FC236}">
                <a16:creationId xmlns:a16="http://schemas.microsoft.com/office/drawing/2014/main" id="{EFC69470-3FD3-B893-C711-545CE97656D8}"/>
              </a:ext>
            </a:extLst>
          </p:cNvPr>
          <p:cNvCxnSpPr>
            <a:cxnSpLocks/>
          </p:cNvCxnSpPr>
          <p:nvPr/>
        </p:nvCxnSpPr>
        <p:spPr>
          <a:xfrm>
            <a:off x="171450" y="4486502"/>
            <a:ext cx="8801100" cy="0"/>
          </a:xfrm>
          <a:prstGeom prst="line">
            <a:avLst/>
          </a:prstGeom>
          <a:ln w="9525">
            <a:solidFill>
              <a:srgbClr val="0396A6"/>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09CDD908-3448-3476-EC5F-F777EE768A33}"/>
              </a:ext>
            </a:extLst>
          </p:cNvPr>
          <p:cNvSpPr txBox="1"/>
          <p:nvPr/>
        </p:nvSpPr>
        <p:spPr>
          <a:xfrm>
            <a:off x="4408714" y="64309"/>
            <a:ext cx="4628748" cy="276999"/>
          </a:xfrm>
          <a:prstGeom prst="rect">
            <a:avLst/>
          </a:prstGeom>
          <a:noFill/>
        </p:spPr>
        <p:txBody>
          <a:bodyPr wrap="square" rtlCol="0">
            <a:spAutoFit/>
          </a:bodyPr>
          <a:lstStyle/>
          <a:p>
            <a:pPr algn="r"/>
            <a:r>
              <a:rPr lang="en-US" sz="1200" dirty="0">
                <a:solidFill>
                  <a:schemeClr val="bg1">
                    <a:lumMod val="50000"/>
                  </a:schemeClr>
                </a:solidFill>
              </a:rPr>
              <a:t>AI Operational Readiness • Executive Briefing</a:t>
            </a:r>
          </a:p>
        </p:txBody>
      </p:sp>
    </p:spTree>
    <p:extLst>
      <p:ext uri="{BB962C8B-B14F-4D97-AF65-F5344CB8AC3E}">
        <p14:creationId xmlns:p14="http://schemas.microsoft.com/office/powerpoint/2010/main" val="259395582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28860C-3C96-91D2-DC39-7E9FBC3113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1A6201-4469-B78E-E758-10F534CF0C5D}"/>
              </a:ext>
            </a:extLst>
          </p:cNvPr>
          <p:cNvSpPr>
            <a:spLocks noGrp="1"/>
          </p:cNvSpPr>
          <p:nvPr>
            <p:ph type="title"/>
          </p:nvPr>
        </p:nvSpPr>
        <p:spPr>
          <a:xfrm>
            <a:off x="273534" y="458"/>
            <a:ext cx="7886700" cy="1325563"/>
          </a:xfrm>
        </p:spPr>
        <p:txBody>
          <a:bodyPr/>
          <a:lstStyle/>
          <a:p>
            <a:r>
              <a:rPr lang="en-US" dirty="0"/>
              <a:t>About this Toolkit</a:t>
            </a:r>
          </a:p>
        </p:txBody>
      </p:sp>
      <p:sp>
        <p:nvSpPr>
          <p:cNvPr id="8" name="Content Placeholder 2">
            <a:extLst>
              <a:ext uri="{FF2B5EF4-FFF2-40B4-BE49-F238E27FC236}">
                <a16:creationId xmlns:a16="http://schemas.microsoft.com/office/drawing/2014/main" id="{A3926D50-2573-B5C3-CD8A-53C4DE4DD9D9}"/>
              </a:ext>
            </a:extLst>
          </p:cNvPr>
          <p:cNvSpPr txBox="1">
            <a:spLocks/>
          </p:cNvSpPr>
          <p:nvPr/>
        </p:nvSpPr>
        <p:spPr>
          <a:xfrm>
            <a:off x="456520" y="999452"/>
            <a:ext cx="8230960" cy="566737"/>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b="1" dirty="0">
                <a:solidFill>
                  <a:srgbClr val="021836"/>
                </a:solidFill>
              </a:rPr>
              <a:t>Companion Resource</a:t>
            </a:r>
            <a:br>
              <a:rPr lang="en-US" sz="1400" dirty="0"/>
            </a:br>
            <a:r>
              <a:rPr lang="en-US" sz="1400" dirty="0"/>
              <a:t>This toolkit is designed to be used with the </a:t>
            </a:r>
            <a:r>
              <a:rPr lang="en-US" sz="1400" i="1" dirty="0"/>
              <a:t>AI Operational Readiness and Governance Practitioner Guide</a:t>
            </a:r>
            <a:r>
              <a:rPr lang="en-US" sz="1400" dirty="0"/>
              <a:t>. </a:t>
            </a:r>
            <a:br>
              <a:rPr lang="en-US" sz="1400" dirty="0"/>
            </a:br>
            <a:br>
              <a:rPr lang="en-US" sz="1400" dirty="0"/>
            </a:br>
            <a:r>
              <a:rPr lang="en-US" sz="1400" dirty="0"/>
              <a:t>For the complete methodology, principles, and lifecycle content, access the Practitioner Guide here: </a:t>
            </a:r>
            <a:r>
              <a:rPr lang="en-US" sz="1400" dirty="0">
                <a:hlinkClick r:id="rId3"/>
              </a:rPr>
              <a:t>Access the AI Operational Readiness &amp; Governance Practitioner Guide on </a:t>
            </a:r>
            <a:r>
              <a:rPr lang="en-US" sz="1400" dirty="0" err="1">
                <a:hlinkClick r:id="rId3"/>
              </a:rPr>
              <a:t>Zenodo</a:t>
            </a:r>
            <a:endParaRPr lang="en-US" sz="1400" dirty="0"/>
          </a:p>
          <a:p>
            <a:pPr marL="0" indent="0">
              <a:buNone/>
            </a:pPr>
            <a:r>
              <a:rPr lang="en-US" sz="1400" b="1" dirty="0">
                <a:solidFill>
                  <a:srgbClr val="021836"/>
                </a:solidFill>
              </a:rPr>
              <a:t>Use &amp; Attribution</a:t>
            </a:r>
            <a:br>
              <a:rPr lang="en-US" sz="1400" dirty="0"/>
            </a:br>
            <a:r>
              <a:rPr lang="en-US" sz="1400" dirty="0"/>
              <a:t>© 2026 Chloe C. Devine. All rights reserved. You may use this resource in its original form for practitioner reference and application. When referenced, reproduced, presented, or incorporated into other work, attribution to Chloe C. Devine and the </a:t>
            </a:r>
            <a:r>
              <a:rPr lang="en-US" sz="1400" i="1" dirty="0"/>
              <a:t>AI Operational Readiness and Governance Practitioner Guide</a:t>
            </a:r>
            <a:r>
              <a:rPr lang="en-US" sz="1400" dirty="0"/>
              <a:t> is required. </a:t>
            </a:r>
          </a:p>
          <a:p>
            <a:pPr marL="0" indent="0">
              <a:buNone/>
            </a:pPr>
            <a:r>
              <a:rPr lang="en-US" sz="1400" dirty="0"/>
              <a:t>Practitioners may complete and use the provided fields/templates for their own internal application. You may not alter or republish the underlying framework, instructional content, attribution, or methodology as a modified work without permission.</a:t>
            </a:r>
          </a:p>
          <a:p>
            <a:pPr marL="0" indent="0">
              <a:buNone/>
            </a:pPr>
            <a:r>
              <a:rPr lang="en-US" sz="1400" b="1" dirty="0">
                <a:solidFill>
                  <a:srgbClr val="021836"/>
                </a:solidFill>
              </a:rPr>
              <a:t>AI Assistance Disclosure</a:t>
            </a:r>
            <a:br>
              <a:rPr lang="en-US" sz="1400" dirty="0"/>
            </a:br>
            <a:r>
              <a:rPr lang="en-US" sz="1400" dirty="0"/>
              <a:t>AI tools supported research synthesis, content organization, editing, and design assistance in developing this resource. The framework, methodology, practitioner guidance, and final editorial decisions were developed and reviewed by Chloe C. Devine.</a:t>
            </a:r>
          </a:p>
          <a:p>
            <a:pPr marL="0" indent="0">
              <a:buNone/>
            </a:pPr>
            <a:r>
              <a:rPr lang="en-US" sz="1400" b="1" dirty="0">
                <a:solidFill>
                  <a:srgbClr val="021836"/>
                </a:solidFill>
              </a:rPr>
              <a:t>Practitioner Notice</a:t>
            </a:r>
            <a:br>
              <a:rPr lang="en-US" sz="1400" dirty="0"/>
            </a:br>
            <a:r>
              <a:rPr lang="en-US" sz="1400" dirty="0"/>
              <a:t>This resource provides practical guidance and templates and is not a substitute for legal, regulatory, security, compliance, or other professional advice. Organizations should adapt its application to their specific context, risks, policies, and obligations.</a:t>
            </a:r>
          </a:p>
          <a:p>
            <a:pPr marL="0" indent="0" algn="r">
              <a:buNone/>
            </a:pPr>
            <a:r>
              <a:rPr lang="en-US" sz="1400" dirty="0"/>
              <a:t>AI Operational Readiness &amp; Governance Toolkit | Version 2.0 | September 2026</a:t>
            </a:r>
          </a:p>
          <a:p>
            <a:pPr marL="0" indent="0" algn="r">
              <a:buNone/>
            </a:pPr>
            <a:r>
              <a:rPr lang="en-US" sz="1400" dirty="0"/>
              <a:t>DOI: 10.5281/zenodo.22973254</a:t>
            </a:r>
          </a:p>
          <a:p>
            <a:pPr marL="0" indent="0" algn="r">
              <a:buNone/>
            </a:pPr>
            <a:r>
              <a:rPr lang="en-US" sz="1400" dirty="0"/>
              <a:t>https://doi.org/10.5281/zenodo.22973254</a:t>
            </a:r>
          </a:p>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endParaRPr kumimoji="0" lang="en-US" sz="1200" i="0" u="none" strike="noStrike" kern="1200" cap="none" spc="0" normalizeH="0" baseline="0" noProof="0" dirty="0">
              <a:ln>
                <a:noFill/>
              </a:ln>
              <a:solidFill>
                <a:srgbClr val="021836"/>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6099261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6654</TotalTime>
  <Words>10776</Words>
  <Application>Microsoft Office PowerPoint</Application>
  <PresentationFormat>On-screen Show (4:3)</PresentationFormat>
  <Paragraphs>2204</Paragraphs>
  <Slides>89</Slides>
  <Notes>49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89</vt:i4>
      </vt:variant>
    </vt:vector>
  </HeadingPairs>
  <TitlesOfParts>
    <vt:vector size="94" baseType="lpstr">
      <vt:lpstr>Aptos</vt:lpstr>
      <vt:lpstr>Aptos Display</vt:lpstr>
      <vt:lpstr>Arial</vt:lpstr>
      <vt:lpstr>Wingdings</vt:lpstr>
      <vt:lpstr>Office Theme</vt:lpstr>
      <vt:lpstr>PowerPoint Presentation</vt:lpstr>
      <vt:lpstr>Discovery Overview</vt:lpstr>
      <vt:lpstr>Discovery Mode</vt:lpstr>
      <vt:lpstr>People</vt:lpstr>
      <vt:lpstr>Process</vt:lpstr>
      <vt:lpstr>Technology</vt:lpstr>
      <vt:lpstr>Governance</vt:lpstr>
      <vt:lpstr>Measurement</vt:lpstr>
      <vt:lpstr>Adoption</vt:lpstr>
      <vt:lpstr>AI Continuity &amp; Resilience</vt:lpstr>
      <vt:lpstr>Escalation &amp; Response</vt:lpstr>
      <vt:lpstr>Ownership</vt:lpstr>
      <vt:lpstr>AI Operational Readiness Themes</vt:lpstr>
      <vt:lpstr>PowerPoint Presentation</vt:lpstr>
      <vt:lpstr>Prioritization Matrix Overview</vt:lpstr>
      <vt:lpstr>Scoring</vt:lpstr>
      <vt:lpstr>Complexity Score</vt:lpstr>
      <vt:lpstr>Risk Score</vt:lpstr>
      <vt:lpstr>Opportunity Drivers vs Implementation Friction</vt:lpstr>
      <vt:lpstr>PowerPoint Presentation</vt:lpstr>
      <vt:lpstr>PowerPoint Presentation</vt:lpstr>
      <vt:lpstr>Framework Overview</vt:lpstr>
      <vt:lpstr>Knowledge Use Cases</vt:lpstr>
      <vt:lpstr>Content Use Cases</vt:lpstr>
      <vt:lpstr>Analysis Use Cases</vt:lpstr>
      <vt:lpstr>Workflow Use Cases</vt:lpstr>
      <vt:lpstr>Agentic Use Cases</vt:lpstr>
      <vt:lpstr>Extraction Explained</vt:lpstr>
      <vt:lpstr>Capability &amp; Agency Spectrum</vt:lpstr>
      <vt:lpstr>Relationship to AI Operational Readiness</vt:lpstr>
      <vt:lpstr>Business Problem → AI Pattern</vt:lpstr>
      <vt:lpstr>PowerPoint Presentation</vt:lpstr>
      <vt:lpstr>Framework Overview</vt:lpstr>
      <vt:lpstr>The Flow</vt:lpstr>
      <vt:lpstr>Current State</vt:lpstr>
      <vt:lpstr>Opportunity</vt:lpstr>
      <vt:lpstr>AI Assistance</vt:lpstr>
      <vt:lpstr>Human Oversight</vt:lpstr>
      <vt:lpstr>Business Outcome</vt:lpstr>
      <vt:lpstr>Future-State Blueprint</vt:lpstr>
      <vt:lpstr>Example Future-State Profile</vt:lpstr>
      <vt:lpstr>PowerPoint Presentation</vt:lpstr>
      <vt:lpstr>Framework Overview</vt:lpstr>
      <vt:lpstr>Why Human-in-the-Loop Isn’t Enough</vt:lpstr>
      <vt:lpstr>Review</vt:lpstr>
      <vt:lpstr>Approval</vt:lpstr>
      <vt:lpstr>Escalation</vt:lpstr>
      <vt:lpstr>Intervention Authority</vt:lpstr>
      <vt:lpstr>Accountability</vt:lpstr>
      <vt:lpstr>Lifecycle &amp; Authority Decisions</vt:lpstr>
      <vt:lpstr>Example Decision Rights Profile</vt:lpstr>
      <vt:lpstr>Decision Rights in the AI Operational Readiness Journey</vt:lpstr>
      <vt:lpstr>PowerPoint Presentation</vt:lpstr>
      <vt:lpstr>Framework Overview</vt:lpstr>
      <vt:lpstr>Why Evidence Isn’t Optional</vt:lpstr>
      <vt:lpstr>Value Evidence</vt:lpstr>
      <vt:lpstr>Quality Evidence</vt:lpstr>
      <vt:lpstr>Risk Evidence</vt:lpstr>
      <vt:lpstr>Adoption Evidence</vt:lpstr>
      <vt:lpstr>Decision Evidence</vt:lpstr>
      <vt:lpstr>Governance &amp; Decision Provenance</vt:lpstr>
      <vt:lpstr>Example Evidence Profile</vt:lpstr>
      <vt:lpstr>PowerPoint Presentation</vt:lpstr>
      <vt:lpstr>Framework Overview</vt:lpstr>
      <vt:lpstr>Why Pilots Fail</vt:lpstr>
      <vt:lpstr>Business Fit</vt:lpstr>
      <vt:lpstr>Workflow Readiness</vt:lpstr>
      <vt:lpstr>Technical Readiness</vt:lpstr>
      <vt:lpstr>Governance Readiness</vt:lpstr>
      <vt:lpstr>Evidence Readiness</vt:lpstr>
      <vt:lpstr>Operational Support</vt:lpstr>
      <vt:lpstr>Pilot Boundaries &amp; Learning Plan</vt:lpstr>
      <vt:lpstr>Pilot Decision</vt:lpstr>
      <vt:lpstr>Example Pilot Readiness Profile</vt:lpstr>
      <vt:lpstr>Pilot Readiness in the AI Operational Readiness Journey</vt:lpstr>
      <vt:lpstr>PowerPoint Presentation</vt:lpstr>
      <vt:lpstr>Briefing Overview</vt:lpstr>
      <vt:lpstr>Executive Summary</vt:lpstr>
      <vt:lpstr>Business Problem</vt:lpstr>
      <vt:lpstr>Current State</vt:lpstr>
      <vt:lpstr>Recommended AI Opportunity</vt:lpstr>
      <vt:lpstr>Future-State Design</vt:lpstr>
      <vt:lpstr>Governance Model</vt:lpstr>
      <vt:lpstr>Evidence Plan</vt:lpstr>
      <vt:lpstr>Pilot Readiness &amp; Recommendation</vt:lpstr>
      <vt:lpstr>Risk, Dependencies, and Open Questions</vt:lpstr>
      <vt:lpstr>Decision Requested</vt:lpstr>
      <vt:lpstr>Next Steps</vt:lpstr>
      <vt:lpstr>About this Toolkit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Chloe Devine</dc:creator>
  <cp:lastModifiedBy>Chloe Devine</cp:lastModifiedBy>
  <cp:revision>19</cp:revision>
  <dcterms:created xsi:type="dcterms:W3CDTF">2026-06-10T23:49:53Z</dcterms:created>
  <dcterms:modified xsi:type="dcterms:W3CDTF">2026-09-26T07:43:40Z</dcterms:modified>
</cp:coreProperties>
</file>