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1"/>
  </p:notesMasterIdLst>
  <p:sldIdLst>
    <p:sldId id="256" r:id="rId3"/>
    <p:sldId id="257" r:id="rId4"/>
    <p:sldId id="295" r:id="rId5"/>
    <p:sldId id="268" r:id="rId6"/>
    <p:sldId id="270" r:id="rId7"/>
    <p:sldId id="287" r:id="rId8"/>
    <p:sldId id="294" r:id="rId9"/>
    <p:sldId id="26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836"/>
    <a:srgbClr val="B8F7FE"/>
    <a:srgbClr val="039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3414" autoAdjust="0"/>
  </p:normalViewPr>
  <p:slideViewPr>
    <p:cSldViewPr snapToGrid="0">
      <p:cViewPr varScale="1">
        <p:scale>
          <a:sx n="88" d="100"/>
          <a:sy n="88" d="100"/>
        </p:scale>
        <p:origin x="3864"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AAA174-5B9F-4F33-A9A5-AB3E46EB36D0}" type="datetimeFigureOut">
              <a:rPr lang="en-US" smtClean="0"/>
              <a:t>9/26/2026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129AA-2745-4BF0-814C-26B881CAE40E}" type="slidenum">
              <a:rPr lang="en-US" smtClean="0"/>
              <a:t>‹#›</a:t>
            </a:fld>
            <a:endParaRPr lang="en-US"/>
          </a:p>
        </p:txBody>
      </p:sp>
    </p:spTree>
    <p:extLst>
      <p:ext uri="{BB962C8B-B14F-4D97-AF65-F5344CB8AC3E}">
        <p14:creationId xmlns:p14="http://schemas.microsoft.com/office/powerpoint/2010/main" val="2332422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2</a:t>
            </a:fld>
            <a:endParaRPr lang="en-US"/>
          </a:p>
        </p:txBody>
      </p:sp>
    </p:spTree>
    <p:extLst>
      <p:ext uri="{BB962C8B-B14F-4D97-AF65-F5344CB8AC3E}">
        <p14:creationId xmlns:p14="http://schemas.microsoft.com/office/powerpoint/2010/main" val="1591152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9129AA-2745-4BF0-814C-26B881CAE40E}" type="slidenum">
              <a:rPr lang="en-US" smtClean="0"/>
              <a:t>5</a:t>
            </a:fld>
            <a:endParaRPr lang="en-US"/>
          </a:p>
        </p:txBody>
      </p:sp>
    </p:spTree>
    <p:extLst>
      <p:ext uri="{BB962C8B-B14F-4D97-AF65-F5344CB8AC3E}">
        <p14:creationId xmlns:p14="http://schemas.microsoft.com/office/powerpoint/2010/main" val="3860339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15F34-B405-1B2F-270D-D5BF4171F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372CF-8252-4E0A-3F43-9C163A6B8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9D250-A06F-257A-6296-B9D0750F69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49C77F-92AD-D705-9C7B-3E31ACEC2ED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9167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CF088-516F-E654-D1DD-A33931F83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7C391-C44E-3831-3334-5599B9EF2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2AD52-8A38-3BF8-C02D-4648C19835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C6EC08-E7DD-0CC6-0DAB-21A2FB678A1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9629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F32C5-E4D8-CC47-111D-2C54652E0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DABB5-3352-CCF8-46A6-FC9A56CCE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CA2E9-F9A5-8F71-57C9-EA311FDDE80D}"/>
              </a:ext>
            </a:extLst>
          </p:cNvPr>
          <p:cNvSpPr>
            <a:spLocks noGrp="1"/>
          </p:cNvSpPr>
          <p:nvPr>
            <p:ph type="body" idx="1"/>
          </p:nvPr>
        </p:nvSpPr>
        <p:spPr/>
        <p:txBody>
          <a:bodyPr/>
          <a:lstStyle/>
          <a:p>
            <a:pPr marL="0" indent="0">
              <a:buFontTx/>
              <a:buNone/>
            </a:pPr>
            <a:endParaRPr lang="en-US" dirty="0"/>
          </a:p>
        </p:txBody>
      </p:sp>
      <p:sp>
        <p:nvSpPr>
          <p:cNvPr id="4" name="Slide Number Placeholder 3">
            <a:extLst>
              <a:ext uri="{FF2B5EF4-FFF2-40B4-BE49-F238E27FC236}">
                <a16:creationId xmlns:a16="http://schemas.microsoft.com/office/drawing/2014/main" id="{789D51DB-BD74-A77F-2AFC-68863415257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9129AA-2745-4BF0-814C-26B881CAE40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5253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2465978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C688469-2F7E-8E4A-16B5-43A299F616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968" y="4517261"/>
            <a:ext cx="3844031" cy="2562688"/>
          </a:xfrm>
          <a:prstGeom prst="rect">
            <a:avLst/>
          </a:prstGeom>
        </p:spPr>
      </p:pic>
      <p:sp>
        <p:nvSpPr>
          <p:cNvPr id="2" name="Title 1"/>
          <p:cNvSpPr>
            <a:spLocks noGrp="1"/>
          </p:cNvSpPr>
          <p:nvPr>
            <p:ph type="title"/>
          </p:nvPr>
        </p:nvSpPr>
        <p:spPr>
          <a:xfrm>
            <a:off x="273534" y="-16617"/>
            <a:ext cx="7886700" cy="1325563"/>
          </a:xfrm>
        </p:spPr>
        <p:txBody>
          <a:bodyPr/>
          <a:lstStyle>
            <a:lvl1pPr>
              <a:defRPr>
                <a:solidFill>
                  <a:srgbClr val="021836"/>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2">
            <a:extLst>
              <a:ext uri="{FF2B5EF4-FFF2-40B4-BE49-F238E27FC236}">
                <a16:creationId xmlns:a16="http://schemas.microsoft.com/office/drawing/2014/main" id="{CD2E863B-5172-FD91-226D-99BBE9A11257}"/>
              </a:ext>
            </a:extLst>
          </p:cNvPr>
          <p:cNvSpPr txBox="1">
            <a:spLocks/>
          </p:cNvSpPr>
          <p:nvPr userDrawn="1"/>
        </p:nvSpPr>
        <p:spPr>
          <a:xfrm>
            <a:off x="7356702" y="6515438"/>
            <a:ext cx="1787298" cy="3203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a:solidFill>
                  <a:schemeClr val="bg1">
                    <a:lumMod val="65000"/>
                  </a:schemeClr>
                </a:solidFill>
              </a:rPr>
              <a:t>© 2026 Chloe C. Devine</a:t>
            </a:r>
          </a:p>
          <a:p>
            <a:pPr algn="l">
              <a:lnSpc>
                <a:spcPct val="100000"/>
              </a:lnSpc>
              <a:spcBef>
                <a:spcPts val="0"/>
              </a:spcBef>
            </a:pPr>
            <a:endParaRPr lang="en-US" sz="1200" dirty="0">
              <a:solidFill>
                <a:schemeClr val="bg1">
                  <a:lumMod val="65000"/>
                </a:schemeClr>
              </a:solidFill>
            </a:endParaRPr>
          </a:p>
        </p:txBody>
      </p:sp>
      <p:sp>
        <p:nvSpPr>
          <p:cNvPr id="6" name="TextBox 5">
            <a:extLst>
              <a:ext uri="{FF2B5EF4-FFF2-40B4-BE49-F238E27FC236}">
                <a16:creationId xmlns:a16="http://schemas.microsoft.com/office/drawing/2014/main" id="{CFB80EA3-F67F-966B-0112-ED61D1736C36}"/>
              </a:ext>
            </a:extLst>
          </p:cNvPr>
          <p:cNvSpPr txBox="1"/>
          <p:nvPr userDrawn="1"/>
        </p:nvSpPr>
        <p:spPr>
          <a:xfrm>
            <a:off x="3737499" y="64309"/>
            <a:ext cx="5299963" cy="276999"/>
          </a:xfrm>
          <a:prstGeom prst="rect">
            <a:avLst/>
          </a:prstGeom>
          <a:noFill/>
        </p:spPr>
        <p:txBody>
          <a:bodyPr wrap="square" rtlCol="0">
            <a:spAutoFit/>
          </a:bodyPr>
          <a:lstStyle/>
          <a:p>
            <a:pPr algn="r"/>
            <a:r>
              <a:rPr lang="en-US" sz="1200" dirty="0">
                <a:solidFill>
                  <a:schemeClr val="bg1">
                    <a:lumMod val="50000"/>
                  </a:schemeClr>
                </a:solidFill>
              </a:rPr>
              <a:t>AI Operational Readiness &amp; Governance • </a:t>
            </a:r>
            <a:r>
              <a:rPr lang="en-US" sz="1200" kern="1200" dirty="0">
                <a:solidFill>
                  <a:schemeClr val="bg1">
                    <a:lumMod val="50000"/>
                  </a:schemeClr>
                </a:solidFill>
                <a:latin typeface="+mn-lt"/>
                <a:ea typeface="+mn-ea"/>
                <a:cs typeface="+mn-cs"/>
              </a:rPr>
              <a:t>Orientation &amp; Methodology Map</a:t>
            </a:r>
            <a:endParaRPr lang="en-US" sz="1200" dirty="0">
              <a:solidFill>
                <a:schemeClr val="bg1">
                  <a:lumMod val="50000"/>
                </a:schemeClr>
              </a:solidFill>
            </a:endParaRPr>
          </a:p>
        </p:txBody>
      </p:sp>
    </p:spTree>
    <p:extLst>
      <p:ext uri="{BB962C8B-B14F-4D97-AF65-F5344CB8AC3E}">
        <p14:creationId xmlns:p14="http://schemas.microsoft.com/office/powerpoint/2010/main" val="1706822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993389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1836"/>
                </a:solidFill>
              </a:defRPr>
            </a:lvl1pPr>
          </a:lstStyle>
          <a:p>
            <a:r>
              <a:rPr lang="en-US" dirty="0"/>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64754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solidFill>
                  <a:srgbClr val="021836"/>
                </a:solidFill>
              </a:defRPr>
            </a:lvl1pPr>
          </a:lstStyle>
          <a:p>
            <a:r>
              <a:rPr lang="en-US" dirty="0"/>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DE212E-65C1-48F8-8266-FF33E8107007}"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1008913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1836"/>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ABDE212E-65C1-48F8-8266-FF33E8107007}"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1339752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DE212E-65C1-48F8-8266-FF33E8107007}"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9874016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1263506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357412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576733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120241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44714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C688469-2F7E-8E4A-16B5-43A299F616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99968" y="4517261"/>
            <a:ext cx="3844031" cy="2562688"/>
          </a:xfrm>
          <a:prstGeom prst="rect">
            <a:avLst/>
          </a:prstGeom>
        </p:spPr>
      </p:pic>
      <p:sp>
        <p:nvSpPr>
          <p:cNvPr id="2" name="Title 1"/>
          <p:cNvSpPr>
            <a:spLocks noGrp="1"/>
          </p:cNvSpPr>
          <p:nvPr>
            <p:ph type="title"/>
          </p:nvPr>
        </p:nvSpPr>
        <p:spPr>
          <a:xfrm>
            <a:off x="273534" y="-96519"/>
            <a:ext cx="7886700" cy="1325563"/>
          </a:xfrm>
        </p:spPr>
        <p:txBody>
          <a:bodyPr/>
          <a:lstStyle>
            <a:lvl1pPr>
              <a:defRPr>
                <a:solidFill>
                  <a:srgbClr val="021836"/>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Box 10">
            <a:extLst>
              <a:ext uri="{FF2B5EF4-FFF2-40B4-BE49-F238E27FC236}">
                <a16:creationId xmlns:a16="http://schemas.microsoft.com/office/drawing/2014/main" id="{EB13D94C-61E9-7196-7672-DE2A1E212AB0}"/>
              </a:ext>
            </a:extLst>
          </p:cNvPr>
          <p:cNvSpPr txBox="1"/>
          <p:nvPr userDrawn="1"/>
        </p:nvSpPr>
        <p:spPr>
          <a:xfrm>
            <a:off x="3737499" y="64309"/>
            <a:ext cx="5299963" cy="276999"/>
          </a:xfrm>
          <a:prstGeom prst="rect">
            <a:avLst/>
          </a:prstGeom>
          <a:noFill/>
        </p:spPr>
        <p:txBody>
          <a:bodyPr wrap="square" rtlCol="0">
            <a:spAutoFit/>
          </a:bodyPr>
          <a:lstStyle/>
          <a:p>
            <a:pPr algn="r"/>
            <a:r>
              <a:rPr lang="en-US" sz="1200" dirty="0">
                <a:solidFill>
                  <a:schemeClr val="bg1">
                    <a:lumMod val="50000"/>
                  </a:schemeClr>
                </a:solidFill>
              </a:rPr>
              <a:t>AI Operational Readiness &amp; Governance • </a:t>
            </a:r>
            <a:r>
              <a:rPr lang="en-US" sz="1200" kern="1200" dirty="0">
                <a:solidFill>
                  <a:schemeClr val="bg1">
                    <a:lumMod val="50000"/>
                  </a:schemeClr>
                </a:solidFill>
                <a:latin typeface="+mn-lt"/>
                <a:ea typeface="+mn-ea"/>
                <a:cs typeface="+mn-cs"/>
              </a:rPr>
              <a:t>Orientation &amp; Methodology Map</a:t>
            </a:r>
            <a:endParaRPr lang="en-US" sz="1200" dirty="0">
              <a:solidFill>
                <a:schemeClr val="bg1">
                  <a:lumMod val="50000"/>
                </a:schemeClr>
              </a:solidFill>
            </a:endParaRPr>
          </a:p>
        </p:txBody>
      </p:sp>
      <p:sp>
        <p:nvSpPr>
          <p:cNvPr id="5" name="Subtitle 2">
            <a:extLst>
              <a:ext uri="{FF2B5EF4-FFF2-40B4-BE49-F238E27FC236}">
                <a16:creationId xmlns:a16="http://schemas.microsoft.com/office/drawing/2014/main" id="{5DC07A94-48D1-51D1-F844-D27A6AF8CBF1}"/>
              </a:ext>
            </a:extLst>
          </p:cNvPr>
          <p:cNvSpPr txBox="1">
            <a:spLocks/>
          </p:cNvSpPr>
          <p:nvPr userDrawn="1"/>
        </p:nvSpPr>
        <p:spPr>
          <a:xfrm>
            <a:off x="7356702" y="6515438"/>
            <a:ext cx="1787298" cy="3203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a:solidFill>
                  <a:schemeClr val="bg1">
                    <a:lumMod val="65000"/>
                  </a:schemeClr>
                </a:solidFill>
              </a:rPr>
              <a:t>© 2026 Chloe C. Devine</a:t>
            </a:r>
          </a:p>
          <a:p>
            <a:pPr algn="l">
              <a:lnSpc>
                <a:spcPct val="100000"/>
              </a:lnSpc>
              <a:spcBef>
                <a:spcPts val="0"/>
              </a:spcBef>
            </a:pPr>
            <a:endParaRPr lang="en-US" sz="1200" dirty="0">
              <a:solidFill>
                <a:schemeClr val="bg1">
                  <a:lumMod val="65000"/>
                </a:schemeClr>
              </a:solidFill>
            </a:endParaRPr>
          </a:p>
        </p:txBody>
      </p:sp>
    </p:spTree>
    <p:extLst>
      <p:ext uri="{BB962C8B-B14F-4D97-AF65-F5344CB8AC3E}">
        <p14:creationId xmlns:p14="http://schemas.microsoft.com/office/powerpoint/2010/main" val="2513599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2264042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1836"/>
                </a:solidFill>
              </a:defRPr>
            </a:lvl1pPr>
          </a:lstStyle>
          <a:p>
            <a:r>
              <a:rPr lang="en-US" dirty="0"/>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263173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solidFill>
                  <a:srgbClr val="021836"/>
                </a:solidFill>
              </a:defRPr>
            </a:lvl1pPr>
          </a:lstStyle>
          <a:p>
            <a:r>
              <a:rPr lang="en-US" dirty="0"/>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DE212E-65C1-48F8-8266-FF33E8107007}"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3303504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1836"/>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ABDE212E-65C1-48F8-8266-FF33E8107007}"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21127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DE212E-65C1-48F8-8266-FF33E8107007}"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2200354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750852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DE212E-65C1-48F8-8266-FF33E8107007}"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25580000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24990165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DE212E-65C1-48F8-8266-FF33E8107007}"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AC9175-A530-4057-9A12-63CB091A0A4D}" type="slidenum">
              <a:rPr lang="en-US" smtClean="0"/>
              <a:t>‹#›</a:t>
            </a:fld>
            <a:endParaRPr lang="en-US"/>
          </a:p>
        </p:txBody>
      </p:sp>
    </p:spTree>
    <p:extLst>
      <p:ext uri="{BB962C8B-B14F-4D97-AF65-F5344CB8AC3E}">
        <p14:creationId xmlns:p14="http://schemas.microsoft.com/office/powerpoint/2010/main" val="1050618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E212E-65C1-48F8-8266-FF33E8107007}" type="datetimeFigureOut">
              <a:rPr lang="en-US" smtClean="0"/>
              <a:t>9/26/2026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AC9175-A530-4057-9A12-63CB091A0A4D}" type="slidenum">
              <a:rPr lang="en-US" smtClean="0"/>
              <a:t>‹#›</a:t>
            </a:fld>
            <a:endParaRPr lang="en-US"/>
          </a:p>
        </p:txBody>
      </p:sp>
    </p:spTree>
    <p:extLst>
      <p:ext uri="{BB962C8B-B14F-4D97-AF65-F5344CB8AC3E}">
        <p14:creationId xmlns:p14="http://schemas.microsoft.com/office/powerpoint/2010/main" val="33884071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E212E-65C1-48F8-8266-FF33E8107007}" type="datetimeFigureOut">
              <a:rPr lang="en-US" smtClean="0"/>
              <a:t>9/26/2026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AC9175-A530-4057-9A12-63CB091A0A4D}" type="slidenum">
              <a:rPr lang="en-US" smtClean="0"/>
              <a:t>‹#›</a:t>
            </a:fld>
            <a:endParaRPr lang="en-US"/>
          </a:p>
        </p:txBody>
      </p:sp>
    </p:spTree>
    <p:extLst>
      <p:ext uri="{BB962C8B-B14F-4D97-AF65-F5344CB8AC3E}">
        <p14:creationId xmlns:p14="http://schemas.microsoft.com/office/powerpoint/2010/main" val="2301416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s://zenodo.org/records/22911433"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hyperlink" Target="https://zenodo.org/records/2297325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573CF1-7D70-0157-9FB3-C3185402C7B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6858000"/>
          </a:xfrm>
          <a:prstGeom prst="rect">
            <a:avLst/>
          </a:prstGeom>
        </p:spPr>
      </p:pic>
    </p:spTree>
    <p:extLst>
      <p:ext uri="{BB962C8B-B14F-4D97-AF65-F5344CB8AC3E}">
        <p14:creationId xmlns:p14="http://schemas.microsoft.com/office/powerpoint/2010/main" val="1101407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44F6-AAF9-F6E6-B3DC-C2D8FC3F68FB}"/>
              </a:ext>
            </a:extLst>
          </p:cNvPr>
          <p:cNvSpPr>
            <a:spLocks noGrp="1"/>
          </p:cNvSpPr>
          <p:nvPr>
            <p:ph type="title"/>
          </p:nvPr>
        </p:nvSpPr>
        <p:spPr>
          <a:xfrm>
            <a:off x="285750" y="434017"/>
            <a:ext cx="7886700" cy="362276"/>
          </a:xfrm>
        </p:spPr>
        <p:txBody>
          <a:bodyPr>
            <a:normAutofit fontScale="90000"/>
          </a:bodyPr>
          <a:lstStyle/>
          <a:p>
            <a:r>
              <a:rPr lang="en-US" dirty="0"/>
              <a:t>Methodology Overview</a:t>
            </a:r>
          </a:p>
        </p:txBody>
      </p:sp>
      <p:cxnSp>
        <p:nvCxnSpPr>
          <p:cNvPr id="10" name="Straight Connector 9">
            <a:extLst>
              <a:ext uri="{FF2B5EF4-FFF2-40B4-BE49-F238E27FC236}">
                <a16:creationId xmlns:a16="http://schemas.microsoft.com/office/drawing/2014/main" id="{C0020D96-D985-F85D-9155-2AFC35B6AE59}"/>
              </a:ext>
            </a:extLst>
          </p:cNvPr>
          <p:cNvCxnSpPr>
            <a:cxnSpLocks/>
          </p:cNvCxnSpPr>
          <p:nvPr/>
        </p:nvCxnSpPr>
        <p:spPr>
          <a:xfrm>
            <a:off x="171450" y="5516257"/>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07427C67-24F8-34E3-16AD-56FCB95CE120}"/>
              </a:ext>
            </a:extLst>
          </p:cNvPr>
          <p:cNvGrpSpPr/>
          <p:nvPr/>
        </p:nvGrpSpPr>
        <p:grpSpPr>
          <a:xfrm>
            <a:off x="381675" y="2211107"/>
            <a:ext cx="8583386" cy="464569"/>
            <a:chOff x="628650" y="4778376"/>
            <a:chExt cx="7886700" cy="464569"/>
          </a:xfrm>
        </p:grpSpPr>
        <p:sp>
          <p:nvSpPr>
            <p:cNvPr id="9" name="Content Placeholder 2">
              <a:extLst>
                <a:ext uri="{FF2B5EF4-FFF2-40B4-BE49-F238E27FC236}">
                  <a16:creationId xmlns:a16="http://schemas.microsoft.com/office/drawing/2014/main" id="{8C9AC330-2344-BEDA-9EC6-BFB62190E7E3}"/>
                </a:ext>
              </a:extLst>
            </p:cNvPr>
            <p:cNvSpPr txBox="1">
              <a:spLocks/>
            </p:cNvSpPr>
            <p:nvPr/>
          </p:nvSpPr>
          <p:spPr>
            <a:xfrm>
              <a:off x="628650" y="4778376"/>
              <a:ext cx="7886700"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Core Flow</a:t>
              </a:r>
            </a:p>
          </p:txBody>
        </p:sp>
        <p:sp>
          <p:nvSpPr>
            <p:cNvPr id="11" name="Content Placeholder 2">
              <a:extLst>
                <a:ext uri="{FF2B5EF4-FFF2-40B4-BE49-F238E27FC236}">
                  <a16:creationId xmlns:a16="http://schemas.microsoft.com/office/drawing/2014/main" id="{FD78CC86-2052-A718-2145-5489B68A5D91}"/>
                </a:ext>
              </a:extLst>
            </p:cNvPr>
            <p:cNvSpPr txBox="1">
              <a:spLocks/>
            </p:cNvSpPr>
            <p:nvPr/>
          </p:nvSpPr>
          <p:spPr>
            <a:xfrm>
              <a:off x="628650" y="5032601"/>
              <a:ext cx="7886700" cy="2103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dirty="0"/>
                <a:t>Discover → Prioritize → Classify → Design → Govern → Evidence → Prepare → Operate</a:t>
              </a:r>
            </a:p>
          </p:txBody>
        </p:sp>
      </p:grpSp>
      <p:sp>
        <p:nvSpPr>
          <p:cNvPr id="32" name="Content Placeholder 2">
            <a:extLst>
              <a:ext uri="{FF2B5EF4-FFF2-40B4-BE49-F238E27FC236}">
                <a16:creationId xmlns:a16="http://schemas.microsoft.com/office/drawing/2014/main" id="{3100EC29-4DE1-0548-69CA-66C82A4659A2}"/>
              </a:ext>
            </a:extLst>
          </p:cNvPr>
          <p:cNvSpPr txBox="1">
            <a:spLocks/>
          </p:cNvSpPr>
          <p:nvPr/>
        </p:nvSpPr>
        <p:spPr>
          <a:xfrm>
            <a:off x="389164" y="1171412"/>
            <a:ext cx="8188778" cy="10396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Purpose</a:t>
            </a:r>
          </a:p>
          <a:p>
            <a:pPr marL="0" indent="0">
              <a:spcBef>
                <a:spcPts val="600"/>
              </a:spcBef>
              <a:buNone/>
            </a:pPr>
            <a:r>
              <a:rPr lang="en-US" sz="1200" dirty="0"/>
              <a:t>The AI Operational Readiness &amp; Governance Toolkit provides a structured approach for helping organizations move from AI experimentation to accountable operations. Each asset supports a different part of understanding the work, evaluating opportunities, designing AI-enabled workflows, establishing governance and evidence requirements, preparing for implementation, and sustaining accountability in operation.</a:t>
            </a:r>
            <a:endParaRPr lang="en-US" sz="1600" dirty="0"/>
          </a:p>
        </p:txBody>
      </p:sp>
      <p:sp>
        <p:nvSpPr>
          <p:cNvPr id="5" name="Content Placeholder 2">
            <a:extLst>
              <a:ext uri="{FF2B5EF4-FFF2-40B4-BE49-F238E27FC236}">
                <a16:creationId xmlns:a16="http://schemas.microsoft.com/office/drawing/2014/main" id="{292B2336-1FA0-A3C8-A2A8-5A573F50113B}"/>
              </a:ext>
            </a:extLst>
          </p:cNvPr>
          <p:cNvSpPr txBox="1">
            <a:spLocks/>
          </p:cNvSpPr>
          <p:nvPr/>
        </p:nvSpPr>
        <p:spPr>
          <a:xfrm>
            <a:off x="381675" y="868186"/>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21836"/>
              </a:buClr>
              <a:buNone/>
            </a:pPr>
            <a:r>
              <a:rPr lang="en-US" sz="1200" i="1" dirty="0">
                <a:solidFill>
                  <a:schemeClr val="bg1">
                    <a:lumMod val="50000"/>
                  </a:schemeClr>
                </a:solidFill>
              </a:rPr>
              <a:t>Understanding how the assets work together</a:t>
            </a:r>
          </a:p>
        </p:txBody>
      </p:sp>
      <p:sp>
        <p:nvSpPr>
          <p:cNvPr id="15" name="Content Placeholder 2">
            <a:extLst>
              <a:ext uri="{FF2B5EF4-FFF2-40B4-BE49-F238E27FC236}">
                <a16:creationId xmlns:a16="http://schemas.microsoft.com/office/drawing/2014/main" id="{AFDCFB66-CE04-E353-63C3-854399711881}"/>
              </a:ext>
            </a:extLst>
          </p:cNvPr>
          <p:cNvSpPr txBox="1">
            <a:spLocks/>
          </p:cNvSpPr>
          <p:nvPr/>
        </p:nvSpPr>
        <p:spPr>
          <a:xfrm>
            <a:off x="381675" y="2844877"/>
            <a:ext cx="8583386" cy="341312"/>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What This Methodology Helps Define</a:t>
            </a:r>
          </a:p>
        </p:txBody>
      </p:sp>
      <p:graphicFrame>
        <p:nvGraphicFramePr>
          <p:cNvPr id="18" name="Table 17">
            <a:extLst>
              <a:ext uri="{FF2B5EF4-FFF2-40B4-BE49-F238E27FC236}">
                <a16:creationId xmlns:a16="http://schemas.microsoft.com/office/drawing/2014/main" id="{E2F20037-47B8-8828-9FAB-CD803A7B47B2}"/>
              </a:ext>
            </a:extLst>
          </p:cNvPr>
          <p:cNvGraphicFramePr>
            <a:graphicFrameLocks noGrp="1"/>
          </p:cNvGraphicFramePr>
          <p:nvPr>
            <p:extLst>
              <p:ext uri="{D42A27DB-BD31-4B8C-83A1-F6EECF244321}">
                <p14:modId xmlns:p14="http://schemas.microsoft.com/office/powerpoint/2010/main" val="3092386558"/>
              </p:ext>
            </p:extLst>
          </p:nvPr>
        </p:nvGraphicFramePr>
        <p:xfrm>
          <a:off x="466638" y="3073678"/>
          <a:ext cx="8210723" cy="2331720"/>
        </p:xfrm>
        <a:graphic>
          <a:graphicData uri="http://schemas.openxmlformats.org/drawingml/2006/table">
            <a:tbl>
              <a:tblPr firstRow="1" bandRow="1">
                <a:effectLst/>
                <a:tableStyleId>{2D5ABB26-0587-4C30-8999-92F81FD0307C}</a:tableStyleId>
              </a:tblPr>
              <a:tblGrid>
                <a:gridCol w="3116867">
                  <a:extLst>
                    <a:ext uri="{9D8B030D-6E8A-4147-A177-3AD203B41FA5}">
                      <a16:colId xmlns:a16="http://schemas.microsoft.com/office/drawing/2014/main" val="2728554600"/>
                    </a:ext>
                  </a:extLst>
                </a:gridCol>
                <a:gridCol w="5093856">
                  <a:extLst>
                    <a:ext uri="{9D8B030D-6E8A-4147-A177-3AD203B41FA5}">
                      <a16:colId xmlns:a16="http://schemas.microsoft.com/office/drawing/2014/main" val="682756451"/>
                    </a:ext>
                  </a:extLst>
                </a:gridCol>
              </a:tblGrid>
              <a:tr h="220027">
                <a:tc>
                  <a:txBody>
                    <a:bodyPr/>
                    <a:lstStyle/>
                    <a:p>
                      <a:pPr algn="l"/>
                      <a:r>
                        <a:rPr lang="en-US" sz="1100" b="1" dirty="0">
                          <a:solidFill>
                            <a:srgbClr val="021836"/>
                          </a:solidFill>
                        </a:rPr>
                        <a:t>Toolkit Asset</a:t>
                      </a:r>
                    </a:p>
                  </a:txBody>
                  <a:tcPr marL="45720" marR="45720">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tc>
                  <a:txBody>
                    <a:bodyPr/>
                    <a:lstStyle/>
                    <a:p>
                      <a:r>
                        <a:rPr lang="en-US" sz="1100" b="1" dirty="0">
                          <a:solidFill>
                            <a:srgbClr val="021836"/>
                          </a:solidFill>
                        </a:rPr>
                        <a:t>Question It Answers</a:t>
                      </a:r>
                    </a:p>
                  </a:txBody>
                  <a:tcPr marL="45720" marR="4572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396A6"/>
                      </a:solidFill>
                      <a:prstDash val="solid"/>
                      <a:round/>
                      <a:headEnd type="none" w="med" len="med"/>
                      <a:tailEnd type="none" w="med" len="med"/>
                    </a:lnB>
                  </a:tcPr>
                </a:tc>
                <a:extLst>
                  <a:ext uri="{0D108BD9-81ED-4DB2-BD59-A6C34878D82A}">
                    <a16:rowId xmlns:a16="http://schemas.microsoft.com/office/drawing/2014/main" val="3173400939"/>
                  </a:ext>
                </a:extLst>
              </a:tr>
              <a:tr h="220027">
                <a:tc>
                  <a:txBody>
                    <a:bodyPr/>
                    <a:lstStyle/>
                    <a:p>
                      <a:pPr algn="l"/>
                      <a:r>
                        <a:rPr lang="en-US" sz="1100" dirty="0"/>
                        <a:t>AI Opportunity Discovery Workbook</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is happening today, and where are the opportunities, constraints, and risks?</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396A6"/>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85261034"/>
                  </a:ext>
                </a:extLst>
              </a:tr>
              <a:tr h="220027">
                <a:tc>
                  <a:txBody>
                    <a:bodyPr/>
                    <a:lstStyle/>
                    <a:p>
                      <a:pPr algn="l"/>
                      <a:r>
                        <a:rPr lang="en-US" sz="1100" dirty="0"/>
                        <a:t>Opportunity Prioritization Matrix</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Which opportunities deserve further attention?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8643947"/>
                  </a:ext>
                </a:extLst>
              </a:tr>
              <a:tr h="220027">
                <a:tc>
                  <a:txBody>
                    <a:bodyPr/>
                    <a:lstStyle/>
                    <a:p>
                      <a:pPr algn="l"/>
                      <a:r>
                        <a:rPr lang="en-US" sz="1100" dirty="0"/>
                        <a:t>AI Use Case Categories</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AI capability pattern does the work require?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1764621"/>
                  </a:ext>
                </a:extLst>
              </a:tr>
              <a:tr h="220027">
                <a:tc>
                  <a:txBody>
                    <a:bodyPr/>
                    <a:lstStyle/>
                    <a:p>
                      <a:pPr algn="l"/>
                      <a:r>
                        <a:rPr lang="en-US" sz="1100" dirty="0"/>
                        <a:t>Current-State → Future-State Framework</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How should the work change?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2030300"/>
                  </a:ext>
                </a:extLst>
              </a:tr>
              <a:tr h="220027">
                <a:tc>
                  <a:txBody>
                    <a:bodyPr/>
                    <a:lstStyle/>
                    <a:p>
                      <a:pPr algn="l"/>
                      <a:r>
                        <a:rPr lang="en-US" sz="1100" dirty="0"/>
                        <a:t>Decision Rights Framework</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Who reviews, approves, escalates, intervenes, and remains accountable?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9336270"/>
                  </a:ext>
                </a:extLst>
              </a:tr>
              <a:tr h="220027">
                <a:tc>
                  <a:txBody>
                    <a:bodyPr/>
                    <a:lstStyle/>
                    <a:p>
                      <a:pPr algn="l"/>
                      <a:r>
                        <a:rPr lang="en-US" sz="1100" dirty="0"/>
                        <a:t>Evidence Framework</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must be observed, retained, and verified?</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19325056"/>
                  </a:ext>
                </a:extLst>
              </a:tr>
              <a:tr h="220027">
                <a:tc>
                  <a:txBody>
                    <a:bodyPr/>
                    <a:lstStyle/>
                    <a:p>
                      <a:pPr algn="l"/>
                      <a:r>
                        <a:rPr lang="en-US" sz="1100" dirty="0"/>
                        <a:t>Pilot Readiness Framework</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Is the operating model ready to test and learn?</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37362747"/>
                  </a:ext>
                </a:extLst>
              </a:tr>
              <a:tr h="220027">
                <a:tc>
                  <a:txBody>
                    <a:bodyPr/>
                    <a:lstStyle/>
                    <a:p>
                      <a:pPr algn="l"/>
                      <a:r>
                        <a:rPr lang="en-US" sz="1100" dirty="0"/>
                        <a:t>AI Opportunity Executive Briefing</a:t>
                      </a:r>
                    </a:p>
                  </a:txBody>
                  <a:tcPr marL="45720" marR="45720">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r>
                        <a:rPr lang="en-US" sz="1100" dirty="0"/>
                        <a:t>What does leadership need to understand to decide?</a:t>
                      </a:r>
                    </a:p>
                  </a:txBody>
                  <a:tcPr marL="45720" marR="4572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73901688"/>
                  </a:ext>
                </a:extLst>
              </a:tr>
            </a:tbl>
          </a:graphicData>
        </a:graphic>
      </p:graphicFrame>
      <p:sp>
        <p:nvSpPr>
          <p:cNvPr id="21" name="Content Placeholder 2">
            <a:extLst>
              <a:ext uri="{FF2B5EF4-FFF2-40B4-BE49-F238E27FC236}">
                <a16:creationId xmlns:a16="http://schemas.microsoft.com/office/drawing/2014/main" id="{C3E6CD39-95FF-9E31-7FA7-E1A32D5D642E}"/>
              </a:ext>
            </a:extLst>
          </p:cNvPr>
          <p:cNvSpPr txBox="1">
            <a:spLocks/>
          </p:cNvSpPr>
          <p:nvPr/>
        </p:nvSpPr>
        <p:spPr>
          <a:xfrm>
            <a:off x="389164" y="5605493"/>
            <a:ext cx="7886700" cy="1165421"/>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buNone/>
            </a:pPr>
            <a:r>
              <a:rPr lang="en-US" sz="1400" dirty="0">
                <a:solidFill>
                  <a:schemeClr val="bg1">
                    <a:lumMod val="50000"/>
                  </a:schemeClr>
                </a:solidFill>
              </a:rPr>
              <a:t>AI Operational Readiness &amp; Governance is a connected methodology for moving from uncertainty to accountable operations. The assets support the lifecycle; they are not intended to operate as isolated checklists.</a:t>
            </a:r>
            <a:endParaRPr lang="en-US" sz="1400" i="1" dirty="0">
              <a:solidFill>
                <a:schemeClr val="bg1">
                  <a:lumMod val="50000"/>
                </a:schemeClr>
              </a:solidFill>
            </a:endParaRPr>
          </a:p>
        </p:txBody>
      </p:sp>
    </p:spTree>
    <p:extLst>
      <p:ext uri="{BB962C8B-B14F-4D97-AF65-F5344CB8AC3E}">
        <p14:creationId xmlns:p14="http://schemas.microsoft.com/office/powerpoint/2010/main" val="196971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FA5C0-BBDC-4A58-4C8E-BDB00268317B}"/>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E816C965-920E-C4CC-71A0-7C5D4182F625}"/>
              </a:ext>
            </a:extLst>
          </p:cNvPr>
          <p:cNvGrpSpPr/>
          <p:nvPr/>
        </p:nvGrpSpPr>
        <p:grpSpPr>
          <a:xfrm>
            <a:off x="391886" y="3058886"/>
            <a:ext cx="5242856" cy="881743"/>
            <a:chOff x="702128" y="3842657"/>
            <a:chExt cx="5242856" cy="1382486"/>
          </a:xfrm>
          <a:solidFill>
            <a:schemeClr val="tx2">
              <a:lumMod val="25000"/>
              <a:lumOff val="75000"/>
            </a:schemeClr>
          </a:solidFill>
        </p:grpSpPr>
        <p:sp>
          <p:nvSpPr>
            <p:cNvPr id="25" name="Rectangle: Rounded Corners 24">
              <a:extLst>
                <a:ext uri="{FF2B5EF4-FFF2-40B4-BE49-F238E27FC236}">
                  <a16:creationId xmlns:a16="http://schemas.microsoft.com/office/drawing/2014/main" id="{81B5067E-0F6A-3CBD-D220-107A5C534ADC}"/>
                </a:ext>
              </a:extLst>
            </p:cNvPr>
            <p:cNvSpPr/>
            <p:nvPr/>
          </p:nvSpPr>
          <p:spPr>
            <a:xfrm>
              <a:off x="702128" y="3842657"/>
              <a:ext cx="5242856" cy="1382486"/>
            </a:xfrm>
            <a:prstGeom prst="roundRect">
              <a:avLst>
                <a:gd name="adj" fmla="val 933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F7D9A7F-C03B-9753-3AE8-981507F8E2B1}"/>
                </a:ext>
              </a:extLst>
            </p:cNvPr>
            <p:cNvSpPr txBox="1"/>
            <p:nvPr/>
          </p:nvSpPr>
          <p:spPr>
            <a:xfrm>
              <a:off x="802391" y="4166505"/>
              <a:ext cx="1589315" cy="723845"/>
            </a:xfrm>
            <a:prstGeom prst="rect">
              <a:avLst/>
            </a:prstGeom>
            <a:grpFill/>
          </p:spPr>
          <p:txBody>
            <a:bodyPr wrap="square" rtlCol="0">
              <a:spAutoFit/>
            </a:bodyPr>
            <a:lstStyle/>
            <a:p>
              <a:r>
                <a:rPr lang="en-US" sz="2400" b="1" dirty="0">
                  <a:solidFill>
                    <a:schemeClr val="accent6">
                      <a:lumMod val="20000"/>
                      <a:lumOff val="80000"/>
                    </a:schemeClr>
                  </a:solidFill>
                </a:rPr>
                <a:t>Design</a:t>
              </a:r>
              <a:r>
                <a:rPr lang="en-US" sz="2400" b="1" dirty="0">
                  <a:solidFill>
                    <a:srgbClr val="002060"/>
                  </a:solidFill>
                </a:rPr>
                <a:t>	</a:t>
              </a:r>
            </a:p>
          </p:txBody>
        </p:sp>
      </p:grpSp>
      <p:grpSp>
        <p:nvGrpSpPr>
          <p:cNvPr id="21" name="Group 20">
            <a:extLst>
              <a:ext uri="{FF2B5EF4-FFF2-40B4-BE49-F238E27FC236}">
                <a16:creationId xmlns:a16="http://schemas.microsoft.com/office/drawing/2014/main" id="{133E636A-360F-6FAA-1C51-684A18CB7473}"/>
              </a:ext>
            </a:extLst>
          </p:cNvPr>
          <p:cNvGrpSpPr/>
          <p:nvPr/>
        </p:nvGrpSpPr>
        <p:grpSpPr>
          <a:xfrm>
            <a:off x="391886" y="1023765"/>
            <a:ext cx="5242856" cy="2035121"/>
            <a:chOff x="707571" y="1023765"/>
            <a:chExt cx="5242856" cy="2035121"/>
          </a:xfrm>
        </p:grpSpPr>
        <p:sp>
          <p:nvSpPr>
            <p:cNvPr id="12" name="Rectangle: Rounded Corners 11">
              <a:extLst>
                <a:ext uri="{FF2B5EF4-FFF2-40B4-BE49-F238E27FC236}">
                  <a16:creationId xmlns:a16="http://schemas.microsoft.com/office/drawing/2014/main" id="{FB8B1ED0-665A-5815-4A25-30E36D379A23}"/>
                </a:ext>
              </a:extLst>
            </p:cNvPr>
            <p:cNvSpPr/>
            <p:nvPr/>
          </p:nvSpPr>
          <p:spPr>
            <a:xfrm>
              <a:off x="707571" y="1023765"/>
              <a:ext cx="5242856" cy="2035121"/>
            </a:xfrm>
            <a:prstGeom prst="roundRect">
              <a:avLst>
                <a:gd name="adj" fmla="val 4310"/>
              </a:avLst>
            </a:prstGeom>
            <a:solidFill>
              <a:srgbClr val="B8F7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FD3AD4F-461E-B7A5-DE36-D3BE667BEDF3}"/>
                </a:ext>
              </a:extLst>
            </p:cNvPr>
            <p:cNvSpPr txBox="1"/>
            <p:nvPr/>
          </p:nvSpPr>
          <p:spPr>
            <a:xfrm>
              <a:off x="802391" y="1856992"/>
              <a:ext cx="2015605" cy="461665"/>
            </a:xfrm>
            <a:prstGeom prst="rect">
              <a:avLst/>
            </a:prstGeom>
            <a:noFill/>
          </p:spPr>
          <p:txBody>
            <a:bodyPr wrap="square" rtlCol="0">
              <a:spAutoFit/>
            </a:bodyPr>
            <a:lstStyle/>
            <a:p>
              <a:r>
                <a:rPr lang="en-US" sz="2400" b="1" dirty="0">
                  <a:solidFill>
                    <a:srgbClr val="0396A6"/>
                  </a:solidFill>
                </a:rPr>
                <a:t>Understand</a:t>
              </a:r>
            </a:p>
          </p:txBody>
        </p:sp>
      </p:grpSp>
      <p:grpSp>
        <p:nvGrpSpPr>
          <p:cNvPr id="20" name="Group 19">
            <a:extLst>
              <a:ext uri="{FF2B5EF4-FFF2-40B4-BE49-F238E27FC236}">
                <a16:creationId xmlns:a16="http://schemas.microsoft.com/office/drawing/2014/main" id="{5DC15D22-CAEA-40DF-4486-31DBAA0CAEC3}"/>
              </a:ext>
            </a:extLst>
          </p:cNvPr>
          <p:cNvGrpSpPr/>
          <p:nvPr/>
        </p:nvGrpSpPr>
        <p:grpSpPr>
          <a:xfrm>
            <a:off x="391886" y="3940629"/>
            <a:ext cx="5242856" cy="1382486"/>
            <a:chOff x="702128" y="3842657"/>
            <a:chExt cx="5242856" cy="1382486"/>
          </a:xfrm>
        </p:grpSpPr>
        <p:sp>
          <p:nvSpPr>
            <p:cNvPr id="15" name="Rectangle: Rounded Corners 14">
              <a:extLst>
                <a:ext uri="{FF2B5EF4-FFF2-40B4-BE49-F238E27FC236}">
                  <a16:creationId xmlns:a16="http://schemas.microsoft.com/office/drawing/2014/main" id="{0734ED60-1372-39AF-82ED-661AA582AD51}"/>
                </a:ext>
              </a:extLst>
            </p:cNvPr>
            <p:cNvSpPr/>
            <p:nvPr/>
          </p:nvSpPr>
          <p:spPr>
            <a:xfrm>
              <a:off x="702128" y="3842657"/>
              <a:ext cx="5242856" cy="1382486"/>
            </a:xfrm>
            <a:prstGeom prst="roundRect">
              <a:avLst>
                <a:gd name="adj" fmla="val 93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E3AFED2-2F2A-78A8-1AC9-3793100F96D8}"/>
                </a:ext>
              </a:extLst>
            </p:cNvPr>
            <p:cNvSpPr txBox="1"/>
            <p:nvPr/>
          </p:nvSpPr>
          <p:spPr>
            <a:xfrm>
              <a:off x="802391" y="4303067"/>
              <a:ext cx="1589315" cy="461665"/>
            </a:xfrm>
            <a:prstGeom prst="rect">
              <a:avLst/>
            </a:prstGeom>
            <a:noFill/>
          </p:spPr>
          <p:txBody>
            <a:bodyPr wrap="square" rtlCol="0">
              <a:spAutoFit/>
            </a:bodyPr>
            <a:lstStyle/>
            <a:p>
              <a:r>
                <a:rPr lang="en-US" sz="2400" b="1" dirty="0">
                  <a:solidFill>
                    <a:srgbClr val="002060"/>
                  </a:solidFill>
                </a:rPr>
                <a:t>Govern</a:t>
              </a:r>
            </a:p>
          </p:txBody>
        </p:sp>
      </p:grpSp>
      <p:grpSp>
        <p:nvGrpSpPr>
          <p:cNvPr id="19" name="Group 18">
            <a:extLst>
              <a:ext uri="{FF2B5EF4-FFF2-40B4-BE49-F238E27FC236}">
                <a16:creationId xmlns:a16="http://schemas.microsoft.com/office/drawing/2014/main" id="{DBA4B49B-CA16-31FF-2159-841301A97B2A}"/>
              </a:ext>
            </a:extLst>
          </p:cNvPr>
          <p:cNvGrpSpPr/>
          <p:nvPr/>
        </p:nvGrpSpPr>
        <p:grpSpPr>
          <a:xfrm>
            <a:off x="391886" y="5301343"/>
            <a:ext cx="5242856" cy="762001"/>
            <a:chOff x="696685" y="5225142"/>
            <a:chExt cx="5242856" cy="762001"/>
          </a:xfrm>
        </p:grpSpPr>
        <p:sp>
          <p:nvSpPr>
            <p:cNvPr id="16" name="Rectangle: Rounded Corners 15">
              <a:extLst>
                <a:ext uri="{FF2B5EF4-FFF2-40B4-BE49-F238E27FC236}">
                  <a16:creationId xmlns:a16="http://schemas.microsoft.com/office/drawing/2014/main" id="{7DF6A770-4F27-27D5-68D5-5B372A33375C}"/>
                </a:ext>
              </a:extLst>
            </p:cNvPr>
            <p:cNvSpPr/>
            <p:nvPr/>
          </p:nvSpPr>
          <p:spPr>
            <a:xfrm>
              <a:off x="696685" y="5225142"/>
              <a:ext cx="5242856" cy="762001"/>
            </a:xfrm>
            <a:prstGeom prst="roundRect">
              <a:avLst>
                <a:gd name="adj" fmla="val 9330"/>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10000"/>
                    <a:lumOff val="90000"/>
                  </a:schemeClr>
                </a:solidFill>
              </a:endParaRPr>
            </a:p>
          </p:txBody>
        </p:sp>
        <p:sp>
          <p:nvSpPr>
            <p:cNvPr id="8" name="TextBox 7">
              <a:extLst>
                <a:ext uri="{FF2B5EF4-FFF2-40B4-BE49-F238E27FC236}">
                  <a16:creationId xmlns:a16="http://schemas.microsoft.com/office/drawing/2014/main" id="{816064B5-7364-1D5F-5B29-183A8EE6C865}"/>
                </a:ext>
              </a:extLst>
            </p:cNvPr>
            <p:cNvSpPr txBox="1"/>
            <p:nvPr/>
          </p:nvSpPr>
          <p:spPr>
            <a:xfrm>
              <a:off x="813277" y="5375310"/>
              <a:ext cx="1589315" cy="461665"/>
            </a:xfrm>
            <a:prstGeom prst="rect">
              <a:avLst/>
            </a:prstGeom>
            <a:noFill/>
          </p:spPr>
          <p:txBody>
            <a:bodyPr wrap="square" rtlCol="0">
              <a:spAutoFit/>
            </a:bodyPr>
            <a:lstStyle/>
            <a:p>
              <a:r>
                <a:rPr lang="en-US" sz="2400" b="1" dirty="0">
                  <a:solidFill>
                    <a:schemeClr val="bg1">
                      <a:lumMod val="50000"/>
                    </a:schemeClr>
                  </a:solidFill>
                </a:rPr>
                <a:t>Prepare</a:t>
              </a:r>
            </a:p>
          </p:txBody>
        </p:sp>
      </p:grpSp>
      <p:grpSp>
        <p:nvGrpSpPr>
          <p:cNvPr id="18" name="Group 17">
            <a:extLst>
              <a:ext uri="{FF2B5EF4-FFF2-40B4-BE49-F238E27FC236}">
                <a16:creationId xmlns:a16="http://schemas.microsoft.com/office/drawing/2014/main" id="{91C04BED-DC67-A273-A1D2-BF61DCA67540}"/>
              </a:ext>
            </a:extLst>
          </p:cNvPr>
          <p:cNvGrpSpPr/>
          <p:nvPr/>
        </p:nvGrpSpPr>
        <p:grpSpPr>
          <a:xfrm>
            <a:off x="391886" y="6063343"/>
            <a:ext cx="5242856" cy="762001"/>
            <a:chOff x="707571" y="5987142"/>
            <a:chExt cx="5242856" cy="762001"/>
          </a:xfrm>
        </p:grpSpPr>
        <p:sp>
          <p:nvSpPr>
            <p:cNvPr id="17" name="Rectangle: Rounded Corners 16">
              <a:extLst>
                <a:ext uri="{FF2B5EF4-FFF2-40B4-BE49-F238E27FC236}">
                  <a16:creationId xmlns:a16="http://schemas.microsoft.com/office/drawing/2014/main" id="{84D368DE-6EEB-A5AA-506A-00EC1BDB1E3E}"/>
                </a:ext>
              </a:extLst>
            </p:cNvPr>
            <p:cNvSpPr/>
            <p:nvPr/>
          </p:nvSpPr>
          <p:spPr>
            <a:xfrm>
              <a:off x="707571" y="5987142"/>
              <a:ext cx="5242856" cy="762001"/>
            </a:xfrm>
            <a:prstGeom prst="roundRect">
              <a:avLst>
                <a:gd name="adj" fmla="val 9330"/>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10000"/>
                    <a:lumOff val="90000"/>
                  </a:schemeClr>
                </a:solidFill>
              </a:endParaRPr>
            </a:p>
          </p:txBody>
        </p:sp>
        <p:sp>
          <p:nvSpPr>
            <p:cNvPr id="10" name="TextBox 9">
              <a:extLst>
                <a:ext uri="{FF2B5EF4-FFF2-40B4-BE49-F238E27FC236}">
                  <a16:creationId xmlns:a16="http://schemas.microsoft.com/office/drawing/2014/main" id="{68004980-21FC-44FE-EA44-9F17858AE909}"/>
                </a:ext>
              </a:extLst>
            </p:cNvPr>
            <p:cNvSpPr txBox="1"/>
            <p:nvPr/>
          </p:nvSpPr>
          <p:spPr>
            <a:xfrm>
              <a:off x="813277" y="6137310"/>
              <a:ext cx="2354463" cy="461665"/>
            </a:xfrm>
            <a:prstGeom prst="rect">
              <a:avLst/>
            </a:prstGeom>
            <a:noFill/>
          </p:spPr>
          <p:txBody>
            <a:bodyPr wrap="square" rtlCol="0">
              <a:spAutoFit/>
            </a:bodyPr>
            <a:lstStyle/>
            <a:p>
              <a:r>
                <a:rPr lang="en-US" sz="2400" b="1" dirty="0">
                  <a:solidFill>
                    <a:srgbClr val="0396A6"/>
                  </a:solidFill>
                </a:rPr>
                <a:t>Operate</a:t>
              </a:r>
            </a:p>
          </p:txBody>
        </p:sp>
      </p:grpSp>
      <p:sp>
        <p:nvSpPr>
          <p:cNvPr id="2" name="Title 1">
            <a:extLst>
              <a:ext uri="{FF2B5EF4-FFF2-40B4-BE49-F238E27FC236}">
                <a16:creationId xmlns:a16="http://schemas.microsoft.com/office/drawing/2014/main" id="{D84AE9BE-88BB-6016-F6DB-68849C2F82CB}"/>
              </a:ext>
            </a:extLst>
          </p:cNvPr>
          <p:cNvSpPr>
            <a:spLocks noGrp="1"/>
          </p:cNvSpPr>
          <p:nvPr>
            <p:ph type="title"/>
          </p:nvPr>
        </p:nvSpPr>
        <p:spPr>
          <a:xfrm>
            <a:off x="273534" y="183222"/>
            <a:ext cx="7886700" cy="622318"/>
          </a:xfrm>
        </p:spPr>
        <p:txBody>
          <a:bodyPr>
            <a:normAutofit fontScale="90000"/>
          </a:bodyPr>
          <a:lstStyle/>
          <a:p>
            <a:r>
              <a:rPr lang="en-US" dirty="0"/>
              <a:t>Methodology Map</a:t>
            </a:r>
          </a:p>
        </p:txBody>
      </p:sp>
      <p:graphicFrame>
        <p:nvGraphicFramePr>
          <p:cNvPr id="3" name="Table 2">
            <a:extLst>
              <a:ext uri="{FF2B5EF4-FFF2-40B4-BE49-F238E27FC236}">
                <a16:creationId xmlns:a16="http://schemas.microsoft.com/office/drawing/2014/main" id="{33338494-2A0B-A260-C87E-84C877060D56}"/>
              </a:ext>
            </a:extLst>
          </p:cNvPr>
          <p:cNvGraphicFramePr>
            <a:graphicFrameLocks noGrp="1"/>
          </p:cNvGraphicFramePr>
          <p:nvPr>
            <p:extLst>
              <p:ext uri="{D42A27DB-BD31-4B8C-83A1-F6EECF244321}">
                <p14:modId xmlns:p14="http://schemas.microsoft.com/office/powerpoint/2010/main" val="1365981625"/>
              </p:ext>
            </p:extLst>
          </p:nvPr>
        </p:nvGraphicFramePr>
        <p:xfrm>
          <a:off x="2694215" y="1056423"/>
          <a:ext cx="3102428" cy="5822668"/>
        </p:xfrm>
        <a:graphic>
          <a:graphicData uri="http://schemas.openxmlformats.org/drawingml/2006/table">
            <a:tbl>
              <a:tblPr firstRow="1" bandRow="1">
                <a:tableStyleId>{2D5ABB26-0587-4C30-8999-92F81FD0307C}</a:tableStyleId>
              </a:tblPr>
              <a:tblGrid>
                <a:gridCol w="3102428">
                  <a:extLst>
                    <a:ext uri="{9D8B030D-6E8A-4147-A177-3AD203B41FA5}">
                      <a16:colId xmlns:a16="http://schemas.microsoft.com/office/drawing/2014/main" val="2240749041"/>
                    </a:ext>
                  </a:extLst>
                </a:gridCol>
              </a:tblGrid>
              <a:tr h="400293">
                <a:tc>
                  <a:txBody>
                    <a:bodyPr/>
                    <a:lstStyle/>
                    <a:p>
                      <a:pPr algn="ctr"/>
                      <a:r>
                        <a:rPr lang="en-US" sz="1400" b="1" dirty="0">
                          <a:solidFill>
                            <a:srgbClr val="021836"/>
                          </a:solidFill>
                        </a:rPr>
                        <a:t>Discover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Discovery Workbook</a:t>
                      </a:r>
                    </a:p>
                  </a:txBody>
                  <a:tcPr marT="9144" marB="18288"/>
                </a:tc>
                <a:extLst>
                  <a:ext uri="{0D108BD9-81ED-4DB2-BD59-A6C34878D82A}">
                    <a16:rowId xmlns:a16="http://schemas.microsoft.com/office/drawing/2014/main" val="2227360274"/>
                  </a:ext>
                </a:extLst>
              </a:tr>
              <a:tr h="215948">
                <a:tc>
                  <a:txBody>
                    <a:bodyPr/>
                    <a:lstStyle/>
                    <a:p>
                      <a:pPr algn="ctr"/>
                      <a:r>
                        <a:rPr lang="en-US" sz="1400" dirty="0">
                          <a:solidFill>
                            <a:schemeClr val="tx1"/>
                          </a:solidFill>
                        </a:rPr>
                        <a:t>↓</a:t>
                      </a:r>
                    </a:p>
                  </a:txBody>
                  <a:tcPr marT="9144" marB="9144"/>
                </a:tc>
                <a:extLst>
                  <a:ext uri="{0D108BD9-81ED-4DB2-BD59-A6C34878D82A}">
                    <a16:rowId xmlns:a16="http://schemas.microsoft.com/office/drawing/2014/main" val="3140674848"/>
                  </a:ext>
                </a:extLst>
              </a:tr>
              <a:tr h="400293">
                <a:tc>
                  <a:txBody>
                    <a:bodyPr/>
                    <a:lstStyle/>
                    <a:p>
                      <a:pPr algn="ctr"/>
                      <a:r>
                        <a:rPr lang="en-US" sz="1400" b="1" dirty="0">
                          <a:solidFill>
                            <a:srgbClr val="021836"/>
                          </a:solidFill>
                        </a:rPr>
                        <a:t>Prioritize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Opportunity Prioritization Matrix</a:t>
                      </a:r>
                    </a:p>
                  </a:txBody>
                  <a:tcPr marT="9144" marB="18288"/>
                </a:tc>
                <a:extLst>
                  <a:ext uri="{0D108BD9-81ED-4DB2-BD59-A6C34878D82A}">
                    <a16:rowId xmlns:a16="http://schemas.microsoft.com/office/drawing/2014/main" val="1232233979"/>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4196322439"/>
                  </a:ext>
                </a:extLst>
              </a:tr>
              <a:tr h="400293">
                <a:tc>
                  <a:txBody>
                    <a:bodyPr/>
                    <a:lstStyle/>
                    <a:p>
                      <a:pPr algn="ctr"/>
                      <a:r>
                        <a:rPr lang="en-US" sz="1400" b="1" dirty="0">
                          <a:solidFill>
                            <a:srgbClr val="021836"/>
                          </a:solidFill>
                        </a:rPr>
                        <a:t>Classify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AI Use Case Categories</a:t>
                      </a:r>
                    </a:p>
                  </a:txBody>
                  <a:tcPr marT="9144" marB="18288"/>
                </a:tc>
                <a:extLst>
                  <a:ext uri="{0D108BD9-81ED-4DB2-BD59-A6C34878D82A}">
                    <a16:rowId xmlns:a16="http://schemas.microsoft.com/office/drawing/2014/main" val="2021164355"/>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9144" marB="9144"/>
                </a:tc>
                <a:extLst>
                  <a:ext uri="{0D108BD9-81ED-4DB2-BD59-A6C34878D82A}">
                    <a16:rowId xmlns:a16="http://schemas.microsoft.com/office/drawing/2014/main" val="3482703872"/>
                  </a:ext>
                </a:extLst>
              </a:tr>
              <a:tr h="584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Design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Current-State → Future-State Framework</a:t>
                      </a:r>
                    </a:p>
                  </a:txBody>
                  <a:tcPr marT="9144" marB="18288"/>
                </a:tc>
                <a:extLst>
                  <a:ext uri="{0D108BD9-81ED-4DB2-BD59-A6C34878D82A}">
                    <a16:rowId xmlns:a16="http://schemas.microsoft.com/office/drawing/2014/main" val="3132301756"/>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2523848684"/>
                  </a:ext>
                </a:extLst>
              </a:tr>
              <a:tr h="400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Govern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Decision Rights Framework</a:t>
                      </a:r>
                    </a:p>
                  </a:txBody>
                  <a:tcPr marT="9144" marB="18288"/>
                </a:tc>
                <a:extLst>
                  <a:ext uri="{0D108BD9-81ED-4DB2-BD59-A6C34878D82A}">
                    <a16:rowId xmlns:a16="http://schemas.microsoft.com/office/drawing/2014/main" val="1271560361"/>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3840834462"/>
                  </a:ext>
                </a:extLst>
              </a:tr>
              <a:tr h="400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Evidence</a:t>
                      </a:r>
                    </a:p>
                    <a:p>
                      <a:pPr algn="ctr"/>
                      <a:r>
                        <a:rPr lang="en-US" sz="1400" i="1" dirty="0">
                          <a:solidFill>
                            <a:srgbClr val="0396A6"/>
                          </a:solidFill>
                        </a:rPr>
                        <a:t>Evidence Framework</a:t>
                      </a:r>
                    </a:p>
                  </a:txBody>
                  <a:tcPr marT="9144" marB="18288"/>
                </a:tc>
                <a:extLst>
                  <a:ext uri="{0D108BD9-81ED-4DB2-BD59-A6C34878D82A}">
                    <a16:rowId xmlns:a16="http://schemas.microsoft.com/office/drawing/2014/main" val="3977405499"/>
                  </a:ext>
                </a:extLst>
              </a:tr>
              <a:tr h="3022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4024254032"/>
                  </a:ext>
                </a:extLst>
              </a:tr>
              <a:tr h="400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Prepare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Pilot Readiness Framework</a:t>
                      </a:r>
                    </a:p>
                  </a:txBody>
                  <a:tcPr marT="9144" marB="18288"/>
                </a:tc>
                <a:extLst>
                  <a:ext uri="{0D108BD9-81ED-4DB2-BD59-A6C34878D82A}">
                    <a16:rowId xmlns:a16="http://schemas.microsoft.com/office/drawing/2014/main" val="1841148710"/>
                  </a:ext>
                </a:extLst>
              </a:tr>
              <a:tr h="3022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a:t>
                      </a:r>
                    </a:p>
                  </a:txBody>
                  <a:tcPr marT="9144" marB="9144"/>
                </a:tc>
                <a:extLst>
                  <a:ext uri="{0D108BD9-81ED-4DB2-BD59-A6C34878D82A}">
                    <a16:rowId xmlns:a16="http://schemas.microsoft.com/office/drawing/2014/main" val="1718225647"/>
                  </a:ext>
                </a:extLst>
              </a:tr>
              <a:tr h="400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Operate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kern="1200" dirty="0">
                          <a:solidFill>
                            <a:srgbClr val="0396A6"/>
                          </a:solidFill>
                          <a:latin typeface="+mn-lt"/>
                          <a:ea typeface="+mn-ea"/>
                          <a:cs typeface="+mn-cs"/>
                        </a:rPr>
                        <a:t>↺ Monitor • Learn • Change • Reassess</a:t>
                      </a:r>
                    </a:p>
                  </a:txBody>
                  <a:tcPr marT="9144" marB="18288"/>
                </a:tc>
                <a:extLst>
                  <a:ext uri="{0D108BD9-81ED-4DB2-BD59-A6C34878D82A}">
                    <a16:rowId xmlns:a16="http://schemas.microsoft.com/office/drawing/2014/main" val="3856900525"/>
                  </a:ext>
                </a:extLst>
              </a:tr>
            </a:tbl>
          </a:graphicData>
        </a:graphic>
      </p:graphicFrame>
      <p:sp>
        <p:nvSpPr>
          <p:cNvPr id="9" name="Right Brace 8">
            <a:extLst>
              <a:ext uri="{FF2B5EF4-FFF2-40B4-BE49-F238E27FC236}">
                <a16:creationId xmlns:a16="http://schemas.microsoft.com/office/drawing/2014/main" id="{61C157A3-D165-220B-D221-789CA2484E5B}"/>
              </a:ext>
            </a:extLst>
          </p:cNvPr>
          <p:cNvSpPr/>
          <p:nvPr/>
        </p:nvSpPr>
        <p:spPr>
          <a:xfrm>
            <a:off x="5623856" y="1056423"/>
            <a:ext cx="822791" cy="5692720"/>
          </a:xfrm>
          <a:prstGeom prst="rightBrace">
            <a:avLst>
              <a:gd name="adj1" fmla="val 8333"/>
              <a:gd name="adj2" fmla="val 37379"/>
            </a:avLst>
          </a:prstGeom>
          <a:ln>
            <a:solidFill>
              <a:srgbClr val="021836"/>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38" name="Group 37">
            <a:extLst>
              <a:ext uri="{FF2B5EF4-FFF2-40B4-BE49-F238E27FC236}">
                <a16:creationId xmlns:a16="http://schemas.microsoft.com/office/drawing/2014/main" id="{5655323D-92B1-0D51-1B18-C4F4EEA8F454}"/>
              </a:ext>
            </a:extLst>
          </p:cNvPr>
          <p:cNvGrpSpPr/>
          <p:nvPr/>
        </p:nvGrpSpPr>
        <p:grpSpPr>
          <a:xfrm>
            <a:off x="6296480" y="3470016"/>
            <a:ext cx="2818010" cy="2264515"/>
            <a:chOff x="6205914" y="3696139"/>
            <a:chExt cx="2818010" cy="2264515"/>
          </a:xfrm>
        </p:grpSpPr>
        <p:sp>
          <p:nvSpPr>
            <p:cNvPr id="6" name="Content Placeholder 2">
              <a:extLst>
                <a:ext uri="{FF2B5EF4-FFF2-40B4-BE49-F238E27FC236}">
                  <a16:creationId xmlns:a16="http://schemas.microsoft.com/office/drawing/2014/main" id="{2860B35B-F8B0-87E1-405A-59A4A7609B12}"/>
                </a:ext>
              </a:extLst>
            </p:cNvPr>
            <p:cNvSpPr txBox="1">
              <a:spLocks/>
            </p:cNvSpPr>
            <p:nvPr/>
          </p:nvSpPr>
          <p:spPr>
            <a:xfrm>
              <a:off x="6205914" y="4156979"/>
              <a:ext cx="2818010" cy="1803675"/>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400" b="0" i="0" u="none" strike="noStrike" kern="1200" cap="none" spc="0" normalizeH="0" baseline="0" noProof="0" dirty="0">
                  <a:ln>
                    <a:noFill/>
                  </a:ln>
                  <a:effectLst/>
                  <a:uLnTx/>
                  <a:uFillTx/>
                  <a:latin typeface="Aptos" panose="02110004020202020204"/>
                  <a:ea typeface="+mn-ea"/>
                  <a:cs typeface="+mn-cs"/>
                </a:rPr>
                <a:t>AI Operational Readiness </a:t>
              </a:r>
              <a:r>
                <a:rPr kumimoji="0" lang="en-US" sz="1400" b="0" i="0" u="none" strike="noStrike" kern="1200" cap="none" spc="0" normalizeH="0" baseline="0" noProof="0">
                  <a:ln>
                    <a:noFill/>
                  </a:ln>
                  <a:effectLst/>
                  <a:uLnTx/>
                  <a:uFillTx/>
                  <a:latin typeface="Aptos" panose="02110004020202020204"/>
                  <a:ea typeface="+mn-ea"/>
                  <a:cs typeface="+mn-cs"/>
                </a:rPr>
                <a:t>&amp; Governance is </a:t>
              </a:r>
              <a:r>
                <a:rPr kumimoji="0" lang="en-US" sz="1400" b="0" i="0" u="none" strike="noStrike" kern="1200" cap="none" spc="0" normalizeH="0" baseline="0" noProof="0" dirty="0">
                  <a:ln>
                    <a:noFill/>
                  </a:ln>
                  <a:effectLst/>
                  <a:uLnTx/>
                  <a:uFillTx/>
                  <a:latin typeface="Aptos" panose="02110004020202020204"/>
                  <a:ea typeface="+mn-ea"/>
                  <a:cs typeface="+mn-cs"/>
                </a:rPr>
                <a:t>a connected methodology, not a collection of independent frameworks.</a:t>
              </a:r>
            </a:p>
            <a:p>
              <a:pPr marL="0" marR="0" lvl="0" indent="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400" b="0" i="0" u="none" strike="noStrike" kern="1200" cap="none" spc="0" normalizeH="0" baseline="0" noProof="0" dirty="0">
                  <a:ln>
                    <a:noFill/>
                  </a:ln>
                  <a:effectLst/>
                  <a:uLnTx/>
                  <a:uFillTx/>
                  <a:latin typeface="Aptos" panose="02110004020202020204"/>
                  <a:ea typeface="+mn-ea"/>
                  <a:cs typeface="+mn-cs"/>
                </a:rPr>
                <a:t>The lifecycle is connected, not strictly linear. New evidence, changing conditions, or material changes may return the organization to an earlier stage. </a:t>
              </a:r>
            </a:p>
          </p:txBody>
        </p:sp>
        <p:grpSp>
          <p:nvGrpSpPr>
            <p:cNvPr id="14" name="Group 13">
              <a:extLst>
                <a:ext uri="{FF2B5EF4-FFF2-40B4-BE49-F238E27FC236}">
                  <a16:creationId xmlns:a16="http://schemas.microsoft.com/office/drawing/2014/main" id="{C9B1699D-DCB0-C58E-63C7-88C3B78E5AAB}"/>
                </a:ext>
              </a:extLst>
            </p:cNvPr>
            <p:cNvGrpSpPr/>
            <p:nvPr/>
          </p:nvGrpSpPr>
          <p:grpSpPr>
            <a:xfrm>
              <a:off x="6240796" y="3696139"/>
              <a:ext cx="2319428" cy="626609"/>
              <a:chOff x="4642223" y="736770"/>
              <a:chExt cx="2319428" cy="626609"/>
            </a:xfrm>
          </p:grpSpPr>
          <p:sp>
            <p:nvSpPr>
              <p:cNvPr id="13" name="Rectangle: Rounded Corners 12">
                <a:extLst>
                  <a:ext uri="{FF2B5EF4-FFF2-40B4-BE49-F238E27FC236}">
                    <a16:creationId xmlns:a16="http://schemas.microsoft.com/office/drawing/2014/main" id="{53667B16-9A8F-813D-DFF5-DEB90A0142D3}"/>
                  </a:ext>
                </a:extLst>
              </p:cNvPr>
              <p:cNvSpPr/>
              <p:nvPr/>
            </p:nvSpPr>
            <p:spPr>
              <a:xfrm>
                <a:off x="4653109" y="736770"/>
                <a:ext cx="2221456" cy="396888"/>
              </a:xfrm>
              <a:prstGeom prst="roundRect">
                <a:avLst/>
              </a:prstGeom>
              <a:solidFill>
                <a:srgbClr val="0218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Content Placeholder 2">
                <a:extLst>
                  <a:ext uri="{FF2B5EF4-FFF2-40B4-BE49-F238E27FC236}">
                    <a16:creationId xmlns:a16="http://schemas.microsoft.com/office/drawing/2014/main" id="{F76A5D51-8424-37E9-8DA3-D3CA70A56AC3}"/>
                  </a:ext>
                </a:extLst>
              </p:cNvPr>
              <p:cNvSpPr txBox="1">
                <a:spLocks/>
              </p:cNvSpPr>
              <p:nvPr/>
            </p:nvSpPr>
            <p:spPr>
              <a:xfrm>
                <a:off x="4642223" y="791200"/>
                <a:ext cx="2319428" cy="572179"/>
              </a:xfrm>
              <a:prstGeom prst="rect">
                <a:avLst/>
              </a:prstGeom>
            </p:spPr>
            <p:txBody>
              <a:bodyPr vert="horz" lIns="45720" tIns="45720" rIns="4572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Aptos" panose="02110004020202020204"/>
                    <a:ea typeface="+mn-ea"/>
                    <a:cs typeface="+mn-cs"/>
                  </a:rPr>
                  <a:t>Guiding Philosophy: </a:t>
                </a:r>
                <a:endParaRPr kumimoji="0" lang="en-US"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sp>
        <p:nvSpPr>
          <p:cNvPr id="4" name="Content Placeholder 2">
            <a:extLst>
              <a:ext uri="{FF2B5EF4-FFF2-40B4-BE49-F238E27FC236}">
                <a16:creationId xmlns:a16="http://schemas.microsoft.com/office/drawing/2014/main" id="{415487DA-DA8F-EECD-6C08-0F4D6428C2AA}"/>
              </a:ext>
            </a:extLst>
          </p:cNvPr>
          <p:cNvSpPr txBox="1">
            <a:spLocks/>
          </p:cNvSpPr>
          <p:nvPr/>
        </p:nvSpPr>
        <p:spPr>
          <a:xfrm>
            <a:off x="317078" y="724521"/>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r>
              <a:rPr kumimoji="0" lang="en-US" sz="1200" b="0" i="1" u="none" strike="noStrike" kern="1200" cap="none" spc="0" normalizeH="0" baseline="0" noProof="0" dirty="0">
                <a:ln>
                  <a:noFill/>
                </a:ln>
                <a:solidFill>
                  <a:prstClr val="white">
                    <a:lumMod val="50000"/>
                  </a:prstClr>
                </a:solidFill>
                <a:effectLst/>
                <a:uLnTx/>
                <a:uFillTx/>
                <a:latin typeface="Aptos" panose="02110004020202020204"/>
                <a:ea typeface="+mn-ea"/>
                <a:cs typeface="+mn-cs"/>
              </a:rPr>
              <a:t>Understanding the sequence of the assets</a:t>
            </a:r>
          </a:p>
        </p:txBody>
      </p:sp>
      <p:cxnSp>
        <p:nvCxnSpPr>
          <p:cNvPr id="23" name="Straight Connector 22">
            <a:extLst>
              <a:ext uri="{FF2B5EF4-FFF2-40B4-BE49-F238E27FC236}">
                <a16:creationId xmlns:a16="http://schemas.microsoft.com/office/drawing/2014/main" id="{61A00E6A-D766-6FE3-5A77-0050CCC474E3}"/>
              </a:ext>
            </a:extLst>
          </p:cNvPr>
          <p:cNvCxnSpPr>
            <a:cxnSpLocks/>
          </p:cNvCxnSpPr>
          <p:nvPr/>
        </p:nvCxnSpPr>
        <p:spPr>
          <a:xfrm>
            <a:off x="2698256" y="1056423"/>
            <a:ext cx="0" cy="5674621"/>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FA3C7F6-056B-4B82-51DD-DEC6FB8B981A}"/>
              </a:ext>
            </a:extLst>
          </p:cNvPr>
          <p:cNvCxnSpPr>
            <a:cxnSpLocks/>
          </p:cNvCxnSpPr>
          <p:nvPr/>
        </p:nvCxnSpPr>
        <p:spPr>
          <a:xfrm>
            <a:off x="-3593687" y="4125682"/>
            <a:ext cx="0" cy="977231"/>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010C0D8-67BB-3E7E-375F-A73BCE93A753}"/>
              </a:ext>
            </a:extLst>
          </p:cNvPr>
          <p:cNvCxnSpPr>
            <a:cxnSpLocks/>
          </p:cNvCxnSpPr>
          <p:nvPr/>
        </p:nvCxnSpPr>
        <p:spPr>
          <a:xfrm>
            <a:off x="-3593687" y="5413672"/>
            <a:ext cx="0" cy="488616"/>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33A73EF-3518-6BD3-AB82-33A7F36D6BBC}"/>
              </a:ext>
            </a:extLst>
          </p:cNvPr>
          <p:cNvCxnSpPr>
            <a:cxnSpLocks/>
          </p:cNvCxnSpPr>
          <p:nvPr/>
        </p:nvCxnSpPr>
        <p:spPr>
          <a:xfrm>
            <a:off x="-3593687" y="6242428"/>
            <a:ext cx="0" cy="488616"/>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132B1931-77FA-ACC1-5530-13D1028F9D14}"/>
              </a:ext>
            </a:extLst>
          </p:cNvPr>
          <p:cNvCxnSpPr>
            <a:cxnSpLocks/>
          </p:cNvCxnSpPr>
          <p:nvPr/>
        </p:nvCxnSpPr>
        <p:spPr>
          <a:xfrm>
            <a:off x="-3588244" y="2676440"/>
            <a:ext cx="0" cy="977231"/>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grpSp>
        <p:nvGrpSpPr>
          <p:cNvPr id="37" name="Group 36">
            <a:extLst>
              <a:ext uri="{FF2B5EF4-FFF2-40B4-BE49-F238E27FC236}">
                <a16:creationId xmlns:a16="http://schemas.microsoft.com/office/drawing/2014/main" id="{1C8AA3A3-C43B-3F5F-BCE5-24E8340AFF54}"/>
              </a:ext>
            </a:extLst>
          </p:cNvPr>
          <p:cNvGrpSpPr/>
          <p:nvPr/>
        </p:nvGrpSpPr>
        <p:grpSpPr>
          <a:xfrm>
            <a:off x="6231164" y="2036855"/>
            <a:ext cx="2735664" cy="1374119"/>
            <a:chOff x="6231164" y="1875428"/>
            <a:chExt cx="2735664" cy="1374119"/>
          </a:xfrm>
        </p:grpSpPr>
        <p:sp>
          <p:nvSpPr>
            <p:cNvPr id="32" name="Content Placeholder 2">
              <a:extLst>
                <a:ext uri="{FF2B5EF4-FFF2-40B4-BE49-F238E27FC236}">
                  <a16:creationId xmlns:a16="http://schemas.microsoft.com/office/drawing/2014/main" id="{A7594FBF-E50B-4D66-0C31-75F4018DE809}"/>
                </a:ext>
              </a:extLst>
            </p:cNvPr>
            <p:cNvSpPr txBox="1">
              <a:spLocks/>
            </p:cNvSpPr>
            <p:nvPr/>
          </p:nvSpPr>
          <p:spPr>
            <a:xfrm>
              <a:off x="6231164" y="2336269"/>
              <a:ext cx="2735664" cy="913278"/>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prstClr val="white">
                    <a:lumMod val="50000"/>
                  </a:prstClr>
                </a:buClr>
                <a:buNone/>
                <a:defRPr/>
              </a:pPr>
              <a:r>
                <a:rPr kumimoji="0" lang="en-US" sz="1400" i="0" u="none" strike="noStrike" kern="1200" cap="none" spc="0" normalizeH="0" baseline="0" noProof="0" dirty="0">
                  <a:ln>
                    <a:noFill/>
                  </a:ln>
                  <a:solidFill>
                    <a:prstClr val="black"/>
                  </a:solidFill>
                  <a:effectLst/>
                  <a:uLnTx/>
                  <a:uFillTx/>
                  <a:latin typeface="Aptos" panose="02110004020202020204"/>
                  <a:ea typeface="+mn-ea"/>
                  <a:cs typeface="+mn-cs"/>
                </a:rPr>
                <a:t>Lifecycle → Evidence </a:t>
              </a:r>
              <a:r>
                <a:rPr lang="en-US" sz="1400" dirty="0">
                  <a:solidFill>
                    <a:prstClr val="black"/>
                  </a:solidFill>
                </a:rPr>
                <a:t>and decisions → Executive Briefing</a:t>
              </a:r>
              <a:endParaRPr lang="en-US" sz="1400" dirty="0">
                <a:solidFill>
                  <a:srgbClr val="FFC000"/>
                </a:solidFill>
              </a:endParaRPr>
            </a:p>
            <a:p>
              <a:pPr marL="0" marR="0" lvl="0" indent="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endParaRPr kumimoji="0" lang="en-US" sz="1400" i="0" u="none" strike="noStrike" kern="1200" cap="none" spc="0" normalizeH="0" baseline="0" noProof="0" dirty="0">
                <a:ln>
                  <a:noFill/>
                </a:ln>
                <a:solidFill>
                  <a:srgbClr val="FFC000"/>
                </a:solidFill>
                <a:effectLst/>
                <a:uLnTx/>
                <a:uFillTx/>
                <a:latin typeface="Aptos" panose="02110004020202020204"/>
                <a:ea typeface="+mn-ea"/>
                <a:cs typeface="+mn-cs"/>
              </a:endParaRPr>
            </a:p>
          </p:txBody>
        </p:sp>
        <p:grpSp>
          <p:nvGrpSpPr>
            <p:cNvPr id="33" name="Group 32">
              <a:extLst>
                <a:ext uri="{FF2B5EF4-FFF2-40B4-BE49-F238E27FC236}">
                  <a16:creationId xmlns:a16="http://schemas.microsoft.com/office/drawing/2014/main" id="{CB5A311B-5B4F-421C-C2B8-4D5EE9B6D5BD}"/>
                </a:ext>
              </a:extLst>
            </p:cNvPr>
            <p:cNvGrpSpPr/>
            <p:nvPr/>
          </p:nvGrpSpPr>
          <p:grpSpPr>
            <a:xfrm>
              <a:off x="6249016" y="1875428"/>
              <a:ext cx="2319428" cy="626609"/>
              <a:chOff x="4642223" y="736770"/>
              <a:chExt cx="2319428" cy="626609"/>
            </a:xfrm>
          </p:grpSpPr>
          <p:sp>
            <p:nvSpPr>
              <p:cNvPr id="34" name="Rectangle: Rounded Corners 33">
                <a:extLst>
                  <a:ext uri="{FF2B5EF4-FFF2-40B4-BE49-F238E27FC236}">
                    <a16:creationId xmlns:a16="http://schemas.microsoft.com/office/drawing/2014/main" id="{4F5201B0-F621-28A9-8B8D-8AE62852624D}"/>
                  </a:ext>
                </a:extLst>
              </p:cNvPr>
              <p:cNvSpPr/>
              <p:nvPr/>
            </p:nvSpPr>
            <p:spPr>
              <a:xfrm>
                <a:off x="4653109" y="736770"/>
                <a:ext cx="2221456" cy="396888"/>
              </a:xfrm>
              <a:prstGeom prst="roundRect">
                <a:avLst/>
              </a:prstGeom>
              <a:solidFill>
                <a:srgbClr val="0218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Content Placeholder 2">
                <a:extLst>
                  <a:ext uri="{FF2B5EF4-FFF2-40B4-BE49-F238E27FC236}">
                    <a16:creationId xmlns:a16="http://schemas.microsoft.com/office/drawing/2014/main" id="{3A7A266B-445B-4703-574D-7F4A16876674}"/>
                  </a:ext>
                </a:extLst>
              </p:cNvPr>
              <p:cNvSpPr txBox="1">
                <a:spLocks/>
              </p:cNvSpPr>
              <p:nvPr/>
            </p:nvSpPr>
            <p:spPr>
              <a:xfrm>
                <a:off x="4642223" y="791200"/>
                <a:ext cx="2319428" cy="572179"/>
              </a:xfrm>
              <a:prstGeom prst="rect">
                <a:avLst/>
              </a:prstGeom>
            </p:spPr>
            <p:txBody>
              <a:bodyPr vert="horz" lIns="45720" tIns="45720" rIns="4572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Aptos" panose="02110004020202020204"/>
                    <a:ea typeface="+mn-ea"/>
                    <a:cs typeface="+mn-cs"/>
                  </a:rPr>
                  <a:t>Executive Briefing:</a:t>
                </a:r>
              </a:p>
            </p:txBody>
          </p:sp>
        </p:grpSp>
      </p:grpSp>
    </p:spTree>
    <p:extLst>
      <p:ext uri="{BB962C8B-B14F-4D97-AF65-F5344CB8AC3E}">
        <p14:creationId xmlns:p14="http://schemas.microsoft.com/office/powerpoint/2010/main" val="2415502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71BA3-B71C-0F6C-5DCC-2BDE8C41B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3337-A53D-43FB-1D3A-AFB5942472E9}"/>
              </a:ext>
            </a:extLst>
          </p:cNvPr>
          <p:cNvSpPr>
            <a:spLocks noGrp="1"/>
          </p:cNvSpPr>
          <p:nvPr>
            <p:ph type="title"/>
          </p:nvPr>
        </p:nvSpPr>
        <p:spPr>
          <a:xfrm>
            <a:off x="273534" y="87541"/>
            <a:ext cx="8957552" cy="1325563"/>
          </a:xfrm>
        </p:spPr>
        <p:txBody>
          <a:bodyPr>
            <a:normAutofit/>
          </a:bodyPr>
          <a:lstStyle/>
          <a:p>
            <a:r>
              <a:rPr lang="en-US" sz="4000" dirty="0"/>
              <a:t>How the Toolkit Assets Work</a:t>
            </a:r>
          </a:p>
        </p:txBody>
      </p:sp>
      <p:graphicFrame>
        <p:nvGraphicFramePr>
          <p:cNvPr id="5" name="Table 4">
            <a:extLst>
              <a:ext uri="{FF2B5EF4-FFF2-40B4-BE49-F238E27FC236}">
                <a16:creationId xmlns:a16="http://schemas.microsoft.com/office/drawing/2014/main" id="{F994AF61-6667-2BA4-09C4-B97277C8F078}"/>
              </a:ext>
            </a:extLst>
          </p:cNvPr>
          <p:cNvGraphicFramePr>
            <a:graphicFrameLocks noGrp="1"/>
          </p:cNvGraphicFramePr>
          <p:nvPr>
            <p:extLst>
              <p:ext uri="{D42A27DB-BD31-4B8C-83A1-F6EECF244321}">
                <p14:modId xmlns:p14="http://schemas.microsoft.com/office/powerpoint/2010/main" val="3073888627"/>
              </p:ext>
            </p:extLst>
          </p:nvPr>
        </p:nvGraphicFramePr>
        <p:xfrm>
          <a:off x="435427" y="1863626"/>
          <a:ext cx="8218715" cy="2072640"/>
        </p:xfrm>
        <a:graphic>
          <a:graphicData uri="http://schemas.openxmlformats.org/drawingml/2006/table">
            <a:tbl>
              <a:tblPr firstRow="1" bandRow="1">
                <a:tableStyleId>{2D5ABB26-0587-4C30-8999-92F81FD0307C}</a:tableStyleId>
              </a:tblPr>
              <a:tblGrid>
                <a:gridCol w="1643743">
                  <a:extLst>
                    <a:ext uri="{9D8B030D-6E8A-4147-A177-3AD203B41FA5}">
                      <a16:colId xmlns:a16="http://schemas.microsoft.com/office/drawing/2014/main" val="2470210094"/>
                    </a:ext>
                  </a:extLst>
                </a:gridCol>
                <a:gridCol w="1643743">
                  <a:extLst>
                    <a:ext uri="{9D8B030D-6E8A-4147-A177-3AD203B41FA5}">
                      <a16:colId xmlns:a16="http://schemas.microsoft.com/office/drawing/2014/main" val="72878264"/>
                    </a:ext>
                  </a:extLst>
                </a:gridCol>
                <a:gridCol w="1643743">
                  <a:extLst>
                    <a:ext uri="{9D8B030D-6E8A-4147-A177-3AD203B41FA5}">
                      <a16:colId xmlns:a16="http://schemas.microsoft.com/office/drawing/2014/main" val="2827067993"/>
                    </a:ext>
                  </a:extLst>
                </a:gridCol>
                <a:gridCol w="1643743">
                  <a:extLst>
                    <a:ext uri="{9D8B030D-6E8A-4147-A177-3AD203B41FA5}">
                      <a16:colId xmlns:a16="http://schemas.microsoft.com/office/drawing/2014/main" val="3106654572"/>
                    </a:ext>
                  </a:extLst>
                </a:gridCol>
                <a:gridCol w="1643743">
                  <a:extLst>
                    <a:ext uri="{9D8B030D-6E8A-4147-A177-3AD203B41FA5}">
                      <a16:colId xmlns:a16="http://schemas.microsoft.com/office/drawing/2014/main" val="1566229287"/>
                    </a:ext>
                  </a:extLst>
                </a:gridCol>
              </a:tblGrid>
              <a:tr h="442374">
                <a:tc>
                  <a:txBody>
                    <a:bodyPr/>
                    <a:lstStyle/>
                    <a:p>
                      <a:r>
                        <a:rPr lang="en-US" sz="1400" b="1" dirty="0">
                          <a:solidFill>
                            <a:schemeClr val="bg1"/>
                          </a:solidFill>
                        </a:rPr>
                        <a:t>Understand the Work</a:t>
                      </a:r>
                    </a:p>
                  </a:txBody>
                  <a:tcPr>
                    <a:lnL>
                      <a:noFill/>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tc>
                  <a:txBody>
                    <a:bodyPr/>
                    <a:lstStyle/>
                    <a:p>
                      <a:r>
                        <a:rPr lang="en-US" sz="1400" b="1" dirty="0">
                          <a:solidFill>
                            <a:schemeClr val="bg1"/>
                          </a:solidFill>
                        </a:rPr>
                        <a:t>Design the Operating Model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tc>
                  <a:txBody>
                    <a:bodyPr/>
                    <a:lstStyle/>
                    <a:p>
                      <a:r>
                        <a:rPr lang="en-US" sz="1400" b="1" dirty="0">
                          <a:solidFill>
                            <a:schemeClr val="bg1"/>
                          </a:solidFill>
                        </a:rPr>
                        <a:t>Establish Accountability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tc>
                  <a:txBody>
                    <a:bodyPr/>
                    <a:lstStyle/>
                    <a:p>
                      <a:r>
                        <a:rPr lang="en-US" sz="1400" b="1" dirty="0">
                          <a:solidFill>
                            <a:schemeClr val="bg1"/>
                          </a:solidFill>
                        </a:rPr>
                        <a:t>Prepare to Learn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tc>
                  <a:txBody>
                    <a:bodyPr/>
                    <a:lstStyle/>
                    <a:p>
                      <a:r>
                        <a:rPr lang="en-US" sz="1400" b="1" dirty="0">
                          <a:solidFill>
                            <a:schemeClr val="bg1"/>
                          </a:solidFill>
                        </a:rPr>
                        <a:t>Synthesize the Decision</a:t>
                      </a:r>
                    </a:p>
                  </a:txBody>
                  <a:tcPr>
                    <a:lnL w="12700" cap="flat" cmpd="sng" algn="ctr">
                      <a:solidFill>
                        <a:schemeClr val="bg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extLst>
                  <a:ext uri="{0D108BD9-81ED-4DB2-BD59-A6C34878D82A}">
                    <a16:rowId xmlns:a16="http://schemas.microsoft.com/office/drawing/2014/main" val="2061593276"/>
                  </a:ext>
                </a:extLst>
              </a:tr>
              <a:tr h="402158">
                <a:tc>
                  <a:txBody>
                    <a:bodyPr/>
                    <a:lstStyle/>
                    <a:p>
                      <a:pPr marL="119063" indent="-119063">
                        <a:buClr>
                          <a:schemeClr val="bg1">
                            <a:lumMod val="50000"/>
                          </a:schemeClr>
                        </a:buClr>
                        <a:buFont typeface="Arial" panose="020B0604020202020204" pitchFamily="34" charset="0"/>
                        <a:buChar char="•"/>
                      </a:pPr>
                      <a:r>
                        <a:rPr lang="en-US" sz="1200" b="0" dirty="0"/>
                        <a:t>Discover Workbook</a:t>
                      </a:r>
                    </a:p>
                  </a:txBody>
                  <a:tcPr>
                    <a:lnL>
                      <a:noFill/>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buFont typeface="Arial" panose="020B0604020202020204" pitchFamily="34" charset="0"/>
                        <a:buChar char="•"/>
                      </a:pPr>
                      <a:r>
                        <a:rPr lang="en-US" sz="1200" b="0" kern="1200" dirty="0">
                          <a:solidFill>
                            <a:srgbClr val="021836"/>
                          </a:solidFill>
                          <a:latin typeface="+mn-lt"/>
                          <a:ea typeface="+mn-ea"/>
                          <a:cs typeface="+mn-cs"/>
                        </a:rPr>
                        <a:t>Current-State → Future State Framework </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buFont typeface="Arial" panose="020B0604020202020204" pitchFamily="34" charset="0"/>
                        <a:buChar char="•"/>
                      </a:pPr>
                      <a:r>
                        <a:rPr lang="en-US" sz="1200" b="0" kern="1200" dirty="0">
                          <a:solidFill>
                            <a:srgbClr val="021836"/>
                          </a:solidFill>
                          <a:latin typeface="+mn-lt"/>
                          <a:ea typeface="+mn-ea"/>
                          <a:cs typeface="+mn-cs"/>
                        </a:rPr>
                        <a:t>Decision Rights Framework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buFont typeface="Arial" panose="020B0604020202020204" pitchFamily="34" charset="0"/>
                        <a:buChar char="•"/>
                      </a:pPr>
                      <a:r>
                        <a:rPr lang="en-US" sz="1200" b="0" kern="1200" dirty="0">
                          <a:solidFill>
                            <a:srgbClr val="021836"/>
                          </a:solidFill>
                          <a:latin typeface="+mn-lt"/>
                          <a:ea typeface="+mn-ea"/>
                          <a:cs typeface="+mn-cs"/>
                        </a:rPr>
                        <a:t>Pilot Readiness Framework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buFont typeface="Arial" panose="020B0604020202020204" pitchFamily="34" charset="0"/>
                        <a:buChar char="•"/>
                      </a:pPr>
                      <a:r>
                        <a:rPr lang="en-US" sz="1200" b="0" kern="1200" dirty="0">
                          <a:solidFill>
                            <a:srgbClr val="021836"/>
                          </a:solidFill>
                          <a:latin typeface="+mn-lt"/>
                          <a:ea typeface="+mn-ea"/>
                          <a:cs typeface="+mn-cs"/>
                        </a:rPr>
                        <a:t>AI Opportunity Executive Briefing</a:t>
                      </a:r>
                    </a:p>
                  </a:txBody>
                  <a:tcPr>
                    <a:lnL w="12700" cap="flat" cmpd="sng" algn="ctr">
                      <a:solidFill>
                        <a:srgbClr val="021836"/>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3753442"/>
                  </a:ext>
                </a:extLst>
              </a:tr>
              <a:tr h="402158">
                <a:tc>
                  <a:txBody>
                    <a:bodyPr/>
                    <a:lstStyle/>
                    <a:p>
                      <a:pPr marL="119063" indent="-119063">
                        <a:buClr>
                          <a:schemeClr val="bg1">
                            <a:lumMod val="50000"/>
                          </a:schemeClr>
                        </a:buClr>
                        <a:buFont typeface="Arial" panose="020B0604020202020204" pitchFamily="34" charset="0"/>
                        <a:buChar char="•"/>
                      </a:pPr>
                      <a:r>
                        <a:rPr lang="en-US" sz="1200" b="0" dirty="0"/>
                        <a:t>Opportunity Prioritization Matrix</a:t>
                      </a:r>
                    </a:p>
                  </a:txBody>
                  <a:tcPr>
                    <a:lnL>
                      <a:noFill/>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19063" indent="-119063">
                        <a:buFont typeface="Arial" panose="020B0604020202020204" pitchFamily="34" charset="0"/>
                        <a:buChar char="•"/>
                      </a:pPr>
                      <a:r>
                        <a:rPr lang="en-US" sz="1200" b="0" kern="1200" dirty="0">
                          <a:solidFill>
                            <a:srgbClr val="021836"/>
                          </a:solidFill>
                          <a:latin typeface="+mn-lt"/>
                          <a:ea typeface="+mn-ea"/>
                          <a:cs typeface="+mn-cs"/>
                        </a:rPr>
                        <a:t>Evidence Framework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325965"/>
                  </a:ext>
                </a:extLst>
              </a:tr>
              <a:tr h="402158">
                <a:tc>
                  <a:txBody>
                    <a:bodyPr/>
                    <a:lstStyle/>
                    <a:p>
                      <a:pPr marL="119063" indent="-119063">
                        <a:buClr>
                          <a:schemeClr val="bg1">
                            <a:lumMod val="50000"/>
                          </a:schemeClr>
                        </a:buClr>
                        <a:buFont typeface="Arial" panose="020B0604020202020204" pitchFamily="34" charset="0"/>
                        <a:buChar char="•"/>
                      </a:pPr>
                      <a:r>
                        <a:rPr lang="en-US" sz="1200" b="0" dirty="0"/>
                        <a:t>AI Use Case Categories</a:t>
                      </a:r>
                    </a:p>
                  </a:txBody>
                  <a:tcPr>
                    <a:lnL>
                      <a:noFill/>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2046718"/>
                  </a:ext>
                </a:extLst>
              </a:tr>
            </a:tbl>
          </a:graphicData>
        </a:graphic>
      </p:graphicFrame>
      <p:cxnSp>
        <p:nvCxnSpPr>
          <p:cNvPr id="3" name="Straight Connector 2">
            <a:extLst>
              <a:ext uri="{FF2B5EF4-FFF2-40B4-BE49-F238E27FC236}">
                <a16:creationId xmlns:a16="http://schemas.microsoft.com/office/drawing/2014/main" id="{31844D60-7277-099F-0D05-D9DA54CBB950}"/>
              </a:ext>
            </a:extLst>
          </p:cNvPr>
          <p:cNvCxnSpPr>
            <a:cxnSpLocks/>
          </p:cNvCxnSpPr>
          <p:nvPr/>
        </p:nvCxnSpPr>
        <p:spPr>
          <a:xfrm>
            <a:off x="273534" y="4199967"/>
            <a:ext cx="8801100" cy="0"/>
          </a:xfrm>
          <a:prstGeom prst="line">
            <a:avLst/>
          </a:prstGeom>
          <a:ln w="9525">
            <a:solidFill>
              <a:srgbClr val="0396A6"/>
            </a:solidFill>
          </a:ln>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CCF1B01-C70B-AC5C-93D1-79A28445C75F}"/>
              </a:ext>
            </a:extLst>
          </p:cNvPr>
          <p:cNvSpPr txBox="1">
            <a:spLocks/>
          </p:cNvSpPr>
          <p:nvPr/>
        </p:nvSpPr>
        <p:spPr>
          <a:xfrm>
            <a:off x="491248" y="4506919"/>
            <a:ext cx="8583386" cy="1066566"/>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dirty="0">
                <a:solidFill>
                  <a:srgbClr val="021836"/>
                </a:solidFill>
              </a:rPr>
              <a:t>Guiding Philosophy</a:t>
            </a:r>
          </a:p>
          <a:p>
            <a:pPr marL="0" indent="0">
              <a:lnSpc>
                <a:spcPct val="110000"/>
              </a:lnSpc>
              <a:buFont typeface="Arial" panose="020B0604020202020204" pitchFamily="34" charset="0"/>
              <a:buNone/>
            </a:pPr>
            <a:r>
              <a:rPr lang="en-US" sz="1400" i="1" dirty="0">
                <a:solidFill>
                  <a:schemeClr val="bg1">
                    <a:lumMod val="50000"/>
                  </a:schemeClr>
                </a:solidFill>
              </a:rPr>
              <a:t>The assets build on one another, but practitioners may return to earlier assets as evidence, risk, operating conditions, or design assumptions change. </a:t>
            </a:r>
          </a:p>
        </p:txBody>
      </p:sp>
    </p:spTree>
    <p:extLst>
      <p:ext uri="{BB962C8B-B14F-4D97-AF65-F5344CB8AC3E}">
        <p14:creationId xmlns:p14="http://schemas.microsoft.com/office/powerpoint/2010/main" val="3447776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20EB-F0F1-633E-A917-29CACC76D2DD}"/>
              </a:ext>
            </a:extLst>
          </p:cNvPr>
          <p:cNvSpPr>
            <a:spLocks noGrp="1"/>
          </p:cNvSpPr>
          <p:nvPr>
            <p:ph type="title"/>
          </p:nvPr>
        </p:nvSpPr>
        <p:spPr>
          <a:xfrm>
            <a:off x="273534" y="-86630"/>
            <a:ext cx="7886700" cy="1325563"/>
          </a:xfrm>
        </p:spPr>
        <p:txBody>
          <a:bodyPr>
            <a:normAutofit/>
          </a:bodyPr>
          <a:lstStyle/>
          <a:p>
            <a:r>
              <a:rPr lang="en-US" sz="4000" dirty="0"/>
              <a:t>Asset Map</a:t>
            </a:r>
          </a:p>
        </p:txBody>
      </p:sp>
      <p:graphicFrame>
        <p:nvGraphicFramePr>
          <p:cNvPr id="7" name="Table 6">
            <a:extLst>
              <a:ext uri="{FF2B5EF4-FFF2-40B4-BE49-F238E27FC236}">
                <a16:creationId xmlns:a16="http://schemas.microsoft.com/office/drawing/2014/main" id="{181F298B-3FB0-A0EA-8328-19364A4760D1}"/>
              </a:ext>
            </a:extLst>
          </p:cNvPr>
          <p:cNvGraphicFramePr>
            <a:graphicFrameLocks noGrp="1"/>
          </p:cNvGraphicFramePr>
          <p:nvPr>
            <p:extLst>
              <p:ext uri="{D42A27DB-BD31-4B8C-83A1-F6EECF244321}">
                <p14:modId xmlns:p14="http://schemas.microsoft.com/office/powerpoint/2010/main" val="24074908"/>
              </p:ext>
            </p:extLst>
          </p:nvPr>
        </p:nvGraphicFramePr>
        <p:xfrm>
          <a:off x="435427" y="1395541"/>
          <a:ext cx="8251374" cy="4465734"/>
        </p:xfrm>
        <a:graphic>
          <a:graphicData uri="http://schemas.openxmlformats.org/drawingml/2006/table">
            <a:tbl>
              <a:tblPr firstRow="1" bandRow="1">
                <a:tableStyleId>{2D5ABB26-0587-4C30-8999-92F81FD0307C}</a:tableStyleId>
              </a:tblPr>
              <a:tblGrid>
                <a:gridCol w="2750458">
                  <a:extLst>
                    <a:ext uri="{9D8B030D-6E8A-4147-A177-3AD203B41FA5}">
                      <a16:colId xmlns:a16="http://schemas.microsoft.com/office/drawing/2014/main" val="2470210094"/>
                    </a:ext>
                  </a:extLst>
                </a:gridCol>
                <a:gridCol w="2750458">
                  <a:extLst>
                    <a:ext uri="{9D8B030D-6E8A-4147-A177-3AD203B41FA5}">
                      <a16:colId xmlns:a16="http://schemas.microsoft.com/office/drawing/2014/main" val="72878264"/>
                    </a:ext>
                  </a:extLst>
                </a:gridCol>
                <a:gridCol w="2750458">
                  <a:extLst>
                    <a:ext uri="{9D8B030D-6E8A-4147-A177-3AD203B41FA5}">
                      <a16:colId xmlns:a16="http://schemas.microsoft.com/office/drawing/2014/main" val="2827067993"/>
                    </a:ext>
                  </a:extLst>
                </a:gridCol>
              </a:tblGrid>
              <a:tr h="442374">
                <a:tc>
                  <a:txBody>
                    <a:bodyPr/>
                    <a:lstStyle/>
                    <a:p>
                      <a:r>
                        <a:rPr lang="en-US" sz="1400" b="1" dirty="0">
                          <a:solidFill>
                            <a:schemeClr val="bg1"/>
                          </a:solidFill>
                        </a:rPr>
                        <a:t>Stage</a:t>
                      </a:r>
                    </a:p>
                  </a:txBody>
                  <a:tcPr>
                    <a:lnL>
                      <a:noFill/>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tc>
                  <a:txBody>
                    <a:bodyPr/>
                    <a:lstStyle/>
                    <a:p>
                      <a:r>
                        <a:rPr lang="en-US" sz="1400" b="1" dirty="0">
                          <a:solidFill>
                            <a:schemeClr val="bg1"/>
                          </a:solidFill>
                        </a:rPr>
                        <a:t>Asset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tc>
                  <a:txBody>
                    <a:bodyPr/>
                    <a:lstStyle/>
                    <a:p>
                      <a:r>
                        <a:rPr lang="en-US" sz="1400" b="1" dirty="0">
                          <a:solidFill>
                            <a:schemeClr val="bg1"/>
                          </a:solidFill>
                        </a:rPr>
                        <a:t>Primary Output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21836"/>
                    </a:solidFill>
                  </a:tcPr>
                </a:tc>
                <a:extLst>
                  <a:ext uri="{0D108BD9-81ED-4DB2-BD59-A6C34878D82A}">
                    <a16:rowId xmlns:a16="http://schemas.microsoft.com/office/drawing/2014/main" val="2061593276"/>
                  </a:ext>
                </a:extLst>
              </a:tr>
              <a:tr h="402158">
                <a:tc>
                  <a:txBody>
                    <a:bodyPr/>
                    <a:lstStyle/>
                    <a:p>
                      <a:pPr marL="0" indent="0">
                        <a:buClr>
                          <a:schemeClr val="bg1">
                            <a:lumMod val="50000"/>
                          </a:schemeClr>
                        </a:buClr>
                        <a:buFont typeface="Arial" panose="020B0604020202020204" pitchFamily="34" charset="0"/>
                        <a:buNone/>
                      </a:pPr>
                      <a:r>
                        <a:rPr lang="en-US" sz="1200" b="0" dirty="0"/>
                        <a:t>Discover</a:t>
                      </a:r>
                    </a:p>
                  </a:txBody>
                  <a:tcPr>
                    <a:lnL>
                      <a:noFill/>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Discovery Workbook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Operational themes, opportunities, constraints, risk, signals</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3753442"/>
                  </a:ext>
                </a:extLst>
              </a:tr>
              <a:tr h="402158">
                <a:tc>
                  <a:txBody>
                    <a:bodyPr/>
                    <a:lstStyle/>
                    <a:p>
                      <a:pPr marL="0" indent="0">
                        <a:buClr>
                          <a:schemeClr val="bg1">
                            <a:lumMod val="50000"/>
                          </a:schemeClr>
                        </a:buClr>
                        <a:buFont typeface="Arial" panose="020B0604020202020204" pitchFamily="34" charset="0"/>
                        <a:buNone/>
                      </a:pPr>
                      <a:r>
                        <a:rPr lang="en-US" sz="1200" b="0" dirty="0"/>
                        <a:t>Prioritize</a:t>
                      </a:r>
                    </a:p>
                  </a:txBody>
                  <a:tcPr>
                    <a:lnL>
                      <a:noFill/>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Opportunity Prioritization Matrix</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Prioritized opportunities and implementation considerations</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325965"/>
                  </a:ext>
                </a:extLst>
              </a:tr>
              <a:tr h="402158">
                <a:tc>
                  <a:txBody>
                    <a:bodyPr/>
                    <a:lstStyle/>
                    <a:p>
                      <a:pPr marL="0" indent="0">
                        <a:buClr>
                          <a:schemeClr val="bg1">
                            <a:lumMod val="50000"/>
                          </a:schemeClr>
                        </a:buClr>
                        <a:buFont typeface="Arial" panose="020B0604020202020204" pitchFamily="34" charset="0"/>
                        <a:buNone/>
                      </a:pPr>
                      <a:r>
                        <a:rPr lang="en-US" sz="1200" b="0" dirty="0"/>
                        <a:t>Classify</a:t>
                      </a:r>
                    </a:p>
                  </a:txBody>
                  <a:tcPr>
                    <a:lnL>
                      <a:noFill/>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AI Use Case Categories</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Primary/supporting AI capability patterns and action implications</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72046718"/>
                  </a:ext>
                </a:extLst>
              </a:tr>
              <a:tr h="402158">
                <a:tc>
                  <a:txBody>
                    <a:bodyPr/>
                    <a:lstStyle/>
                    <a:p>
                      <a:pPr marL="0" indent="0">
                        <a:buClr>
                          <a:schemeClr val="bg1">
                            <a:lumMod val="50000"/>
                          </a:schemeClr>
                        </a:buClr>
                        <a:buFont typeface="Arial" panose="020B0604020202020204" pitchFamily="34" charset="0"/>
                        <a:buNone/>
                      </a:pPr>
                      <a:r>
                        <a:rPr lang="en-US" sz="1200" b="0" dirty="0"/>
                        <a:t>Design</a:t>
                      </a:r>
                    </a:p>
                  </a:txBody>
                  <a:tcPr>
                    <a:lnL>
                      <a:noFill/>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Current-State → Future-State Framework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Proposed AI-enabled operating model</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87103410"/>
                  </a:ext>
                </a:extLst>
              </a:tr>
              <a:tr h="402158">
                <a:tc>
                  <a:txBody>
                    <a:bodyPr/>
                    <a:lstStyle/>
                    <a:p>
                      <a:pPr marL="0" indent="0">
                        <a:buClr>
                          <a:schemeClr val="bg1">
                            <a:lumMod val="50000"/>
                          </a:schemeClr>
                        </a:buClr>
                        <a:buFont typeface="Arial" panose="020B0604020202020204" pitchFamily="34" charset="0"/>
                        <a:buNone/>
                      </a:pPr>
                      <a:r>
                        <a:rPr lang="en-US" sz="1200" b="0" dirty="0"/>
                        <a:t>Govern</a:t>
                      </a:r>
                    </a:p>
                  </a:txBody>
                  <a:tcPr>
                    <a:lnL>
                      <a:noFill/>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Decision Rights Framework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kern="1200" dirty="0">
                          <a:solidFill>
                            <a:srgbClr val="021836"/>
                          </a:solidFill>
                          <a:latin typeface="+mn-lt"/>
                          <a:ea typeface="+mn-ea"/>
                          <a:cs typeface="+mn-cs"/>
                        </a:rPr>
                        <a:t>Review, approval, escalation, intervention, accountability and authority model</a:t>
                      </a:r>
                    </a:p>
                    <a:p>
                      <a:pPr marL="0" indent="0">
                        <a:buFont typeface="Arial" panose="020B0604020202020204" pitchFamily="34" charset="0"/>
                        <a:buNone/>
                      </a:pPr>
                      <a:endParaRPr lang="en-US" sz="1200" b="0" kern="1200" dirty="0">
                        <a:solidFill>
                          <a:srgbClr val="021836"/>
                        </a:solidFill>
                        <a:latin typeface="+mn-lt"/>
                        <a:ea typeface="+mn-ea"/>
                        <a:cs typeface="+mn-cs"/>
                      </a:endParaRP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2486800"/>
                  </a:ext>
                </a:extLst>
              </a:tr>
              <a:tr h="402158">
                <a:tc>
                  <a:txBody>
                    <a:bodyPr/>
                    <a:lstStyle/>
                    <a:p>
                      <a:pPr marL="0" indent="0">
                        <a:buClr>
                          <a:schemeClr val="bg1">
                            <a:lumMod val="50000"/>
                          </a:schemeClr>
                        </a:buClr>
                        <a:buFont typeface="Arial" panose="020B0604020202020204" pitchFamily="34" charset="0"/>
                        <a:buNone/>
                      </a:pPr>
                      <a:r>
                        <a:rPr lang="en-US" sz="1200" b="0" dirty="0"/>
                        <a:t>Evidence</a:t>
                      </a:r>
                    </a:p>
                  </a:txBody>
                  <a:tcPr>
                    <a:lnL>
                      <a:noFill/>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Evidence Framework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Evidence requirements, signals, provenance, and monitoring approach</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0147952"/>
                  </a:ext>
                </a:extLst>
              </a:tr>
              <a:tr h="402158">
                <a:tc>
                  <a:txBody>
                    <a:bodyPr/>
                    <a:lstStyle/>
                    <a:p>
                      <a:pPr marL="0" indent="0">
                        <a:buClr>
                          <a:schemeClr val="bg1">
                            <a:lumMod val="50000"/>
                          </a:schemeClr>
                        </a:buClr>
                        <a:buFont typeface="Arial" panose="020B0604020202020204" pitchFamily="34" charset="0"/>
                        <a:buNone/>
                      </a:pPr>
                      <a:r>
                        <a:rPr lang="en-US" sz="1200" b="0" dirty="0"/>
                        <a:t>Prepare</a:t>
                      </a:r>
                    </a:p>
                  </a:txBody>
                  <a:tcPr>
                    <a:lnL>
                      <a:noFill/>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Pilot Readiness Framework</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Pilot boundaries, learning plan, readiness conditions and exit criteria</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0943706"/>
                  </a:ext>
                </a:extLst>
              </a:tr>
              <a:tr h="402158">
                <a:tc>
                  <a:txBody>
                    <a:bodyPr/>
                    <a:lstStyle/>
                    <a:p>
                      <a:pPr marL="0" indent="0">
                        <a:buClr>
                          <a:schemeClr val="bg1">
                            <a:lumMod val="50000"/>
                          </a:schemeClr>
                        </a:buClr>
                        <a:buFont typeface="Arial" panose="020B0604020202020204" pitchFamily="34" charset="0"/>
                        <a:buNone/>
                      </a:pPr>
                      <a:r>
                        <a:rPr lang="en-US" sz="1200" b="0" dirty="0"/>
                        <a:t>Synthesize</a:t>
                      </a:r>
                    </a:p>
                  </a:txBody>
                  <a:tcPr>
                    <a:lnL>
                      <a:noFill/>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AI Opportunity Executive Briefing</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anose="020B0604020202020204" pitchFamily="34" charset="0"/>
                        <a:buNone/>
                      </a:pPr>
                      <a:r>
                        <a:rPr lang="en-US" sz="1200" b="0" kern="1200" dirty="0">
                          <a:solidFill>
                            <a:srgbClr val="021836"/>
                          </a:solidFill>
                          <a:latin typeface="+mn-lt"/>
                          <a:ea typeface="+mn-ea"/>
                          <a:cs typeface="+mn-cs"/>
                        </a:rPr>
                        <a:t>Executive recommendation and decisions required</a:t>
                      </a:r>
                    </a:p>
                  </a:txBody>
                  <a:tcPr>
                    <a:lnL w="12700" cap="flat" cmpd="sng" algn="ctr">
                      <a:solidFill>
                        <a:srgbClr val="021836"/>
                      </a:solidFill>
                      <a:prstDash val="solid"/>
                      <a:round/>
                      <a:headEnd type="none" w="med" len="med"/>
                      <a:tailEnd type="none" w="med" len="med"/>
                    </a:lnL>
                    <a:lnR w="12700" cap="flat" cmpd="sng" algn="ctr">
                      <a:solidFill>
                        <a:srgbClr val="021836"/>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3375210"/>
                  </a:ext>
                </a:extLst>
              </a:tr>
            </a:tbl>
          </a:graphicData>
        </a:graphic>
      </p:graphicFrame>
    </p:spTree>
    <p:extLst>
      <p:ext uri="{BB962C8B-B14F-4D97-AF65-F5344CB8AC3E}">
        <p14:creationId xmlns:p14="http://schemas.microsoft.com/office/powerpoint/2010/main" val="3071469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82D93-C6F9-0044-2A71-D8E239553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C3725-E121-5F03-AD49-7D1C7E135BF5}"/>
              </a:ext>
            </a:extLst>
          </p:cNvPr>
          <p:cNvSpPr>
            <a:spLocks noGrp="1"/>
          </p:cNvSpPr>
          <p:nvPr>
            <p:ph type="title"/>
          </p:nvPr>
        </p:nvSpPr>
        <p:spPr>
          <a:xfrm>
            <a:off x="273534" y="-86630"/>
            <a:ext cx="8870466" cy="1325563"/>
          </a:xfrm>
        </p:spPr>
        <p:txBody>
          <a:bodyPr>
            <a:normAutofit/>
          </a:bodyPr>
          <a:lstStyle/>
          <a:p>
            <a:r>
              <a:rPr lang="en-US" sz="3900" dirty="0"/>
              <a:t>From Discovery to Accountable Operations</a:t>
            </a:r>
          </a:p>
        </p:txBody>
      </p:sp>
      <p:graphicFrame>
        <p:nvGraphicFramePr>
          <p:cNvPr id="7" name="Table 6">
            <a:extLst>
              <a:ext uri="{FF2B5EF4-FFF2-40B4-BE49-F238E27FC236}">
                <a16:creationId xmlns:a16="http://schemas.microsoft.com/office/drawing/2014/main" id="{47291370-CA15-126B-E2FD-4A4BCBC4A362}"/>
              </a:ext>
            </a:extLst>
          </p:cNvPr>
          <p:cNvGraphicFramePr>
            <a:graphicFrameLocks noGrp="1"/>
          </p:cNvGraphicFramePr>
          <p:nvPr>
            <p:extLst>
              <p:ext uri="{D42A27DB-BD31-4B8C-83A1-F6EECF244321}">
                <p14:modId xmlns:p14="http://schemas.microsoft.com/office/powerpoint/2010/main" val="2925988687"/>
              </p:ext>
            </p:extLst>
          </p:nvPr>
        </p:nvGraphicFramePr>
        <p:xfrm>
          <a:off x="549729" y="1413530"/>
          <a:ext cx="4294414" cy="4770037"/>
        </p:xfrm>
        <a:graphic>
          <a:graphicData uri="http://schemas.openxmlformats.org/drawingml/2006/table">
            <a:tbl>
              <a:tblPr firstRow="1" bandRow="1">
                <a:tableStyleId>{2D5ABB26-0587-4C30-8999-92F81FD0307C}</a:tableStyleId>
              </a:tblPr>
              <a:tblGrid>
                <a:gridCol w="4294414">
                  <a:extLst>
                    <a:ext uri="{9D8B030D-6E8A-4147-A177-3AD203B41FA5}">
                      <a16:colId xmlns:a16="http://schemas.microsoft.com/office/drawing/2014/main" val="2240749041"/>
                    </a:ext>
                  </a:extLst>
                </a:gridCol>
              </a:tblGrid>
              <a:tr h="400293">
                <a:tc>
                  <a:txBody>
                    <a:bodyPr/>
                    <a:lstStyle/>
                    <a:p>
                      <a:pPr algn="ctr"/>
                      <a:r>
                        <a:rPr lang="en-US" sz="1400" b="1" dirty="0">
                          <a:solidFill>
                            <a:srgbClr val="021836"/>
                          </a:solidFill>
                        </a:rPr>
                        <a:t>Discovery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Operational Understanding</a:t>
                      </a:r>
                    </a:p>
                  </a:txBody>
                  <a:tcPr marT="9144" marB="18288"/>
                </a:tc>
                <a:extLst>
                  <a:ext uri="{0D108BD9-81ED-4DB2-BD59-A6C34878D82A}">
                    <a16:rowId xmlns:a16="http://schemas.microsoft.com/office/drawing/2014/main" val="2227360274"/>
                  </a:ext>
                </a:extLst>
              </a:tr>
              <a:tr h="215948">
                <a:tc>
                  <a:txBody>
                    <a:bodyPr/>
                    <a:lstStyle/>
                    <a:p>
                      <a:pPr algn="ctr"/>
                      <a:r>
                        <a:rPr lang="en-US" sz="1400" dirty="0">
                          <a:solidFill>
                            <a:schemeClr val="tx1"/>
                          </a:solidFill>
                        </a:rPr>
                        <a:t>↓</a:t>
                      </a:r>
                    </a:p>
                  </a:txBody>
                  <a:tcPr marT="9144" marB="9144"/>
                </a:tc>
                <a:extLst>
                  <a:ext uri="{0D108BD9-81ED-4DB2-BD59-A6C34878D82A}">
                    <a16:rowId xmlns:a16="http://schemas.microsoft.com/office/drawing/2014/main" val="3140674848"/>
                  </a:ext>
                </a:extLst>
              </a:tr>
              <a:tr h="400293">
                <a:tc>
                  <a:txBody>
                    <a:bodyPr/>
                    <a:lstStyle/>
                    <a:p>
                      <a:pPr algn="ctr"/>
                      <a:r>
                        <a:rPr lang="en-US" sz="1400" b="1" dirty="0">
                          <a:solidFill>
                            <a:srgbClr val="021836"/>
                          </a:solidFill>
                        </a:rPr>
                        <a:t>Prioritization &amp; Classification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Opportunity  + Capability Pattern</a:t>
                      </a:r>
                    </a:p>
                  </a:txBody>
                  <a:tcPr marT="9144" marB="18288"/>
                </a:tc>
                <a:extLst>
                  <a:ext uri="{0D108BD9-81ED-4DB2-BD59-A6C34878D82A}">
                    <a16:rowId xmlns:a16="http://schemas.microsoft.com/office/drawing/2014/main" val="1232233979"/>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4196322439"/>
                  </a:ext>
                </a:extLst>
              </a:tr>
              <a:tr h="400293">
                <a:tc>
                  <a:txBody>
                    <a:bodyPr/>
                    <a:lstStyle/>
                    <a:p>
                      <a:pPr algn="ctr"/>
                      <a:r>
                        <a:rPr lang="en-US" sz="1400" b="1" dirty="0">
                          <a:solidFill>
                            <a:srgbClr val="021836"/>
                          </a:solidFill>
                        </a:rPr>
                        <a:t>Future State Design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Proposed Operating Model</a:t>
                      </a:r>
                    </a:p>
                  </a:txBody>
                  <a:tcPr marT="9144" marB="18288"/>
                </a:tc>
                <a:extLst>
                  <a:ext uri="{0D108BD9-81ED-4DB2-BD59-A6C34878D82A}">
                    <a16:rowId xmlns:a16="http://schemas.microsoft.com/office/drawing/2014/main" val="2021164355"/>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T="9144" marB="9144"/>
                </a:tc>
                <a:extLst>
                  <a:ext uri="{0D108BD9-81ED-4DB2-BD59-A6C34878D82A}">
                    <a16:rowId xmlns:a16="http://schemas.microsoft.com/office/drawing/2014/main" val="3482703872"/>
                  </a:ext>
                </a:extLst>
              </a:tr>
              <a:tr h="5846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Decision Rights + Evidence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Accountability + Evidence Requirements</a:t>
                      </a:r>
                    </a:p>
                  </a:txBody>
                  <a:tcPr marT="9144" marB="18288"/>
                </a:tc>
                <a:extLst>
                  <a:ext uri="{0D108BD9-81ED-4DB2-BD59-A6C34878D82A}">
                    <a16:rowId xmlns:a16="http://schemas.microsoft.com/office/drawing/2014/main" val="3132301756"/>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2523848684"/>
                  </a:ext>
                </a:extLst>
              </a:tr>
              <a:tr h="400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Pilot Readiness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Bounded Learning Plan</a:t>
                      </a:r>
                    </a:p>
                  </a:txBody>
                  <a:tcPr marT="9144" marB="18288"/>
                </a:tc>
                <a:extLst>
                  <a:ext uri="{0D108BD9-81ED-4DB2-BD59-A6C34878D82A}">
                    <a16:rowId xmlns:a16="http://schemas.microsoft.com/office/drawing/2014/main" val="1271560361"/>
                  </a:ext>
                </a:extLst>
              </a:tr>
              <a:tr h="2159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3840834462"/>
                  </a:ext>
                </a:extLst>
              </a:tr>
              <a:tr h="400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Leadership Decision</a:t>
                      </a:r>
                    </a:p>
                    <a:p>
                      <a:pPr algn="ctr"/>
                      <a:r>
                        <a:rPr lang="en-US" sz="1400" i="1" dirty="0">
                          <a:solidFill>
                            <a:srgbClr val="0396A6"/>
                          </a:solidFill>
                        </a:rPr>
                        <a:t>Proceed • Revise • Hold • Stop</a:t>
                      </a:r>
                    </a:p>
                  </a:txBody>
                  <a:tcPr marT="9144" marB="18288"/>
                </a:tc>
                <a:extLst>
                  <a:ext uri="{0D108BD9-81ED-4DB2-BD59-A6C34878D82A}">
                    <a16:rowId xmlns:a16="http://schemas.microsoft.com/office/drawing/2014/main" val="3977405499"/>
                  </a:ext>
                </a:extLst>
              </a:tr>
              <a:tr h="3022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t>
                      </a:r>
                    </a:p>
                  </a:txBody>
                  <a:tcPr marT="9144" marB="9144"/>
                </a:tc>
                <a:extLst>
                  <a:ext uri="{0D108BD9-81ED-4DB2-BD59-A6C34878D82A}">
                    <a16:rowId xmlns:a16="http://schemas.microsoft.com/office/drawing/2014/main" val="4024254032"/>
                  </a:ext>
                </a:extLst>
              </a:tr>
              <a:tr h="4187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21836"/>
                          </a:solidFill>
                        </a:rPr>
                        <a:t>Operation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dirty="0">
                          <a:solidFill>
                            <a:srgbClr val="0396A6"/>
                          </a:solidFill>
                        </a:rPr>
                        <a:t>Monitor • Intervene • Learn • Change </a:t>
                      </a:r>
                      <a:r>
                        <a:rPr lang="en-US" sz="1400" i="1">
                          <a:solidFill>
                            <a:srgbClr val="0396A6"/>
                          </a:solidFill>
                        </a:rPr>
                        <a:t>• Reassess  </a:t>
                      </a:r>
                      <a:r>
                        <a:rPr lang="en-US" sz="1400" i="1" kern="1200">
                          <a:solidFill>
                            <a:srgbClr val="0396A6"/>
                          </a:solidFill>
                          <a:latin typeface="+mn-lt"/>
                          <a:ea typeface="+mn-ea"/>
                          <a:cs typeface="+mn-cs"/>
                        </a:rPr>
                        <a:t>↺ </a:t>
                      </a:r>
                      <a:endParaRPr lang="en-US" sz="1400" i="1" dirty="0">
                        <a:solidFill>
                          <a:srgbClr val="0396A6"/>
                        </a:solidFill>
                      </a:endParaRPr>
                    </a:p>
                  </a:txBody>
                  <a:tcPr marT="9144" marB="18288"/>
                </a:tc>
                <a:extLst>
                  <a:ext uri="{0D108BD9-81ED-4DB2-BD59-A6C34878D82A}">
                    <a16:rowId xmlns:a16="http://schemas.microsoft.com/office/drawing/2014/main" val="1841148710"/>
                  </a:ext>
                </a:extLst>
              </a:tr>
            </a:tbl>
          </a:graphicData>
        </a:graphic>
      </p:graphicFrame>
      <p:grpSp>
        <p:nvGrpSpPr>
          <p:cNvPr id="8" name="Group 7">
            <a:extLst>
              <a:ext uri="{FF2B5EF4-FFF2-40B4-BE49-F238E27FC236}">
                <a16:creationId xmlns:a16="http://schemas.microsoft.com/office/drawing/2014/main" id="{2F77100D-460F-EFEB-DEAC-CDD911A7CE85}"/>
              </a:ext>
            </a:extLst>
          </p:cNvPr>
          <p:cNvGrpSpPr/>
          <p:nvPr/>
        </p:nvGrpSpPr>
        <p:grpSpPr>
          <a:xfrm>
            <a:off x="5469166" y="3023702"/>
            <a:ext cx="2818010" cy="2264515"/>
            <a:chOff x="6205914" y="3696139"/>
            <a:chExt cx="2818010" cy="2264515"/>
          </a:xfrm>
        </p:grpSpPr>
        <p:sp>
          <p:nvSpPr>
            <p:cNvPr id="10" name="Content Placeholder 2">
              <a:extLst>
                <a:ext uri="{FF2B5EF4-FFF2-40B4-BE49-F238E27FC236}">
                  <a16:creationId xmlns:a16="http://schemas.microsoft.com/office/drawing/2014/main" id="{5474DD27-BC24-D552-6632-6DC6742411FA}"/>
                </a:ext>
              </a:extLst>
            </p:cNvPr>
            <p:cNvSpPr txBox="1">
              <a:spLocks/>
            </p:cNvSpPr>
            <p:nvPr/>
          </p:nvSpPr>
          <p:spPr>
            <a:xfrm>
              <a:off x="6205914" y="4156979"/>
              <a:ext cx="2818010" cy="1803675"/>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400" b="0" i="0" u="none" strike="noStrike" kern="1200" cap="none" spc="0" normalizeH="0" baseline="0" noProof="0" dirty="0">
                  <a:ln>
                    <a:noFill/>
                  </a:ln>
                  <a:effectLst/>
                  <a:uLnTx/>
                  <a:uFillTx/>
                  <a:latin typeface="Aptos" panose="02110004020202020204"/>
                  <a:ea typeface="+mn-ea"/>
                  <a:cs typeface="+mn-cs"/>
                </a:rPr>
                <a:t>The methodology’s purpose is not to produce documentation. It supports better decisions and preserves accountability as operating conditions change.</a:t>
              </a:r>
            </a:p>
          </p:txBody>
        </p:sp>
        <p:grpSp>
          <p:nvGrpSpPr>
            <p:cNvPr id="11" name="Group 10">
              <a:extLst>
                <a:ext uri="{FF2B5EF4-FFF2-40B4-BE49-F238E27FC236}">
                  <a16:creationId xmlns:a16="http://schemas.microsoft.com/office/drawing/2014/main" id="{026127E8-2BF0-3BB7-2A6C-86341C23512E}"/>
                </a:ext>
              </a:extLst>
            </p:cNvPr>
            <p:cNvGrpSpPr/>
            <p:nvPr/>
          </p:nvGrpSpPr>
          <p:grpSpPr>
            <a:xfrm>
              <a:off x="6240796" y="3696139"/>
              <a:ext cx="2319428" cy="626609"/>
              <a:chOff x="4642223" y="736770"/>
              <a:chExt cx="2319428" cy="626609"/>
            </a:xfrm>
          </p:grpSpPr>
          <p:sp>
            <p:nvSpPr>
              <p:cNvPr id="12" name="Rectangle: Rounded Corners 11">
                <a:extLst>
                  <a:ext uri="{FF2B5EF4-FFF2-40B4-BE49-F238E27FC236}">
                    <a16:creationId xmlns:a16="http://schemas.microsoft.com/office/drawing/2014/main" id="{72F1952F-1F78-B01E-CF44-F1631BE3899A}"/>
                  </a:ext>
                </a:extLst>
              </p:cNvPr>
              <p:cNvSpPr/>
              <p:nvPr/>
            </p:nvSpPr>
            <p:spPr>
              <a:xfrm>
                <a:off x="4653109" y="736770"/>
                <a:ext cx="2221456" cy="396888"/>
              </a:xfrm>
              <a:prstGeom prst="roundRect">
                <a:avLst/>
              </a:prstGeom>
              <a:solidFill>
                <a:srgbClr val="0218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Content Placeholder 2">
                <a:extLst>
                  <a:ext uri="{FF2B5EF4-FFF2-40B4-BE49-F238E27FC236}">
                    <a16:creationId xmlns:a16="http://schemas.microsoft.com/office/drawing/2014/main" id="{3460FE1C-A83C-F675-0F5D-98211915221A}"/>
                  </a:ext>
                </a:extLst>
              </p:cNvPr>
              <p:cNvSpPr txBox="1">
                <a:spLocks/>
              </p:cNvSpPr>
              <p:nvPr/>
            </p:nvSpPr>
            <p:spPr>
              <a:xfrm>
                <a:off x="4642223" y="791200"/>
                <a:ext cx="2319428" cy="572179"/>
              </a:xfrm>
              <a:prstGeom prst="rect">
                <a:avLst/>
              </a:prstGeom>
            </p:spPr>
            <p:txBody>
              <a:bodyPr vert="horz" lIns="45720" tIns="45720" rIns="4572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prstClr val="white">
                      <a:lumMod val="50000"/>
                    </a:prstClr>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Aptos" panose="02110004020202020204"/>
                    <a:ea typeface="+mn-ea"/>
                    <a:cs typeface="+mn-cs"/>
                  </a:rPr>
                  <a:t>Guiding Philosophy: </a:t>
                </a:r>
                <a:endParaRPr kumimoji="0" lang="en-US"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sp>
        <p:nvSpPr>
          <p:cNvPr id="15" name="Right Brace 14">
            <a:extLst>
              <a:ext uri="{FF2B5EF4-FFF2-40B4-BE49-F238E27FC236}">
                <a16:creationId xmlns:a16="http://schemas.microsoft.com/office/drawing/2014/main" id="{3E668544-110D-5CD5-B442-556298A1203A}"/>
              </a:ext>
            </a:extLst>
          </p:cNvPr>
          <p:cNvSpPr/>
          <p:nvPr/>
        </p:nvSpPr>
        <p:spPr>
          <a:xfrm>
            <a:off x="4427378" y="1413530"/>
            <a:ext cx="822791" cy="4878414"/>
          </a:xfrm>
          <a:prstGeom prst="rightBrace">
            <a:avLst>
              <a:gd name="adj1" fmla="val 8333"/>
              <a:gd name="adj2" fmla="val 46175"/>
            </a:avLst>
          </a:prstGeom>
          <a:ln>
            <a:solidFill>
              <a:srgbClr val="021836"/>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7867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B9F3-17BB-50DE-D602-12BF0A246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73D26-7FE0-5848-51D7-6CBA69A54C48}"/>
              </a:ext>
            </a:extLst>
          </p:cNvPr>
          <p:cNvSpPr>
            <a:spLocks noGrp="1"/>
          </p:cNvSpPr>
          <p:nvPr>
            <p:ph type="title"/>
          </p:nvPr>
        </p:nvSpPr>
        <p:spPr>
          <a:xfrm>
            <a:off x="273533" y="-86630"/>
            <a:ext cx="9218809" cy="1325563"/>
          </a:xfrm>
        </p:spPr>
        <p:txBody>
          <a:bodyPr>
            <a:normAutofit/>
          </a:bodyPr>
          <a:lstStyle/>
          <a:p>
            <a:r>
              <a:rPr lang="en-US" sz="4000" dirty="0"/>
              <a:t>Key Principles</a:t>
            </a:r>
          </a:p>
        </p:txBody>
      </p:sp>
      <p:sp>
        <p:nvSpPr>
          <p:cNvPr id="9" name="Content Placeholder 2">
            <a:extLst>
              <a:ext uri="{FF2B5EF4-FFF2-40B4-BE49-F238E27FC236}">
                <a16:creationId xmlns:a16="http://schemas.microsoft.com/office/drawing/2014/main" id="{4CE3983D-EFEE-4413-7E8F-B70988D7CA93}"/>
              </a:ext>
            </a:extLst>
          </p:cNvPr>
          <p:cNvSpPr txBox="1">
            <a:spLocks/>
          </p:cNvSpPr>
          <p:nvPr/>
        </p:nvSpPr>
        <p:spPr>
          <a:xfrm>
            <a:off x="317078" y="844267"/>
            <a:ext cx="7886700" cy="299244"/>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Clr>
                <a:srgbClr val="021836"/>
              </a:buClr>
              <a:buNone/>
              <a:defRPr/>
            </a:pPr>
            <a:r>
              <a:rPr lang="en-US" sz="1200" i="1" dirty="0">
                <a:solidFill>
                  <a:prstClr val="white">
                    <a:lumMod val="50000"/>
                  </a:prstClr>
                </a:solidFill>
              </a:rPr>
              <a:t>Understanding the philosophy behind the methodology</a:t>
            </a:r>
          </a:p>
        </p:txBody>
      </p:sp>
      <p:sp>
        <p:nvSpPr>
          <p:cNvPr id="4" name="Content Placeholder 2">
            <a:extLst>
              <a:ext uri="{FF2B5EF4-FFF2-40B4-BE49-F238E27FC236}">
                <a16:creationId xmlns:a16="http://schemas.microsoft.com/office/drawing/2014/main" id="{B58D40DC-A8F3-E148-3142-6004AE1A2264}"/>
              </a:ext>
            </a:extLst>
          </p:cNvPr>
          <p:cNvSpPr txBox="1">
            <a:spLocks/>
          </p:cNvSpPr>
          <p:nvPr/>
        </p:nvSpPr>
        <p:spPr>
          <a:xfrm>
            <a:off x="389164" y="1774368"/>
            <a:ext cx="7886700" cy="4528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0" lang="en-US" sz="2000" b="1" i="0" u="none" strike="noStrike" kern="1200" cap="none" spc="0" normalizeH="0" baseline="0" noProof="0" dirty="0">
                <a:ln>
                  <a:noFill/>
                </a:ln>
                <a:solidFill>
                  <a:srgbClr val="021836"/>
                </a:solidFill>
                <a:effectLst/>
                <a:uLnTx/>
                <a:uFillTx/>
                <a:latin typeface="Aptos" panose="02110004020202020204"/>
                <a:ea typeface="+mn-ea"/>
                <a:cs typeface="+mn-cs"/>
              </a:rPr>
              <a:t>Start with work, not tools.</a:t>
            </a:r>
          </a:p>
          <a:p>
            <a:r>
              <a:rPr lang="en-US" sz="2000" b="1" dirty="0">
                <a:solidFill>
                  <a:srgbClr val="021836"/>
                </a:solidFill>
                <a:latin typeface="Aptos" panose="02110004020202020204"/>
              </a:rPr>
              <a:t>Policy is not the operating model.</a:t>
            </a:r>
          </a:p>
          <a:p>
            <a:r>
              <a:rPr kumimoji="0" lang="en-US" sz="2000" b="1" i="0" u="none" strike="noStrike" kern="1200" cap="none" spc="0" normalizeH="0" baseline="0" noProof="0" dirty="0">
                <a:ln>
                  <a:noFill/>
                </a:ln>
                <a:solidFill>
                  <a:srgbClr val="021836"/>
                </a:solidFill>
                <a:effectLst/>
                <a:uLnTx/>
                <a:uFillTx/>
                <a:latin typeface="Aptos" panose="02110004020202020204"/>
                <a:ea typeface="+mn-ea"/>
                <a:cs typeface="+mn-cs"/>
              </a:rPr>
              <a:t>Access does not equal authority.</a:t>
            </a:r>
          </a:p>
          <a:p>
            <a:r>
              <a:rPr kumimoji="0" lang="en-US" sz="2000" b="1" i="0" u="none" strike="noStrike" kern="1200" cap="none" spc="0" normalizeH="0" baseline="0" noProof="0" dirty="0">
                <a:ln>
                  <a:noFill/>
                </a:ln>
                <a:solidFill>
                  <a:srgbClr val="021836"/>
                </a:solidFill>
                <a:effectLst/>
                <a:uLnTx/>
                <a:uFillTx/>
                <a:latin typeface="Aptos" panose="02110004020202020204"/>
                <a:ea typeface="+mn-ea"/>
                <a:cs typeface="+mn-cs"/>
              </a:rPr>
              <a:t>Human involvement does not equal human accountability.</a:t>
            </a:r>
          </a:p>
          <a:p>
            <a:r>
              <a:rPr lang="en-US" sz="2000" b="1" dirty="0">
                <a:solidFill>
                  <a:srgbClr val="021836"/>
                </a:solidFill>
                <a:latin typeface="Aptos" panose="02110004020202020204"/>
              </a:rPr>
              <a:t>Controls should be executable, not merely documented.</a:t>
            </a:r>
          </a:p>
          <a:p>
            <a:r>
              <a:rPr lang="en-US" sz="2000" b="1" dirty="0">
                <a:solidFill>
                  <a:srgbClr val="021836"/>
                </a:solidFill>
                <a:latin typeface="Aptos" panose="02110004020202020204"/>
              </a:rPr>
              <a:t>Governance decisions should rely on sufficient, trustworthy evidence.</a:t>
            </a:r>
          </a:p>
          <a:p>
            <a:r>
              <a:rPr kumimoji="0" lang="en-US" sz="2000" b="1" i="0" u="none" strike="noStrike" kern="1200" cap="none" spc="0" normalizeH="0" baseline="0" noProof="0" dirty="0">
                <a:ln>
                  <a:noFill/>
                </a:ln>
                <a:solidFill>
                  <a:srgbClr val="021836"/>
                </a:solidFill>
                <a:effectLst/>
                <a:uLnTx/>
                <a:uFillTx/>
                <a:latin typeface="Aptos" panose="02110004020202020204"/>
                <a:ea typeface="+mn-ea"/>
                <a:cs typeface="+mn-cs"/>
              </a:rPr>
              <a:t>Pilot the operating model, not just the techno</a:t>
            </a:r>
            <a:r>
              <a:rPr lang="en-US" sz="2000" b="1" dirty="0">
                <a:solidFill>
                  <a:srgbClr val="021836"/>
                </a:solidFill>
                <a:latin typeface="Aptos" panose="02110004020202020204"/>
              </a:rPr>
              <a:t>logy.</a:t>
            </a:r>
          </a:p>
          <a:p>
            <a:r>
              <a:rPr kumimoji="0" lang="en-US" sz="2000" b="1" i="0" u="none" strike="noStrike" kern="1200" cap="none" spc="0" normalizeH="0" baseline="0" noProof="0" dirty="0">
                <a:ln>
                  <a:noFill/>
                </a:ln>
                <a:solidFill>
                  <a:srgbClr val="021836"/>
                </a:solidFill>
                <a:effectLst/>
                <a:uLnTx/>
                <a:uFillTx/>
                <a:latin typeface="Aptos" panose="02110004020202020204"/>
                <a:ea typeface="+mn-ea"/>
                <a:cs typeface="+mn-cs"/>
              </a:rPr>
              <a:t>Changing conditions can change the validity of prior decisions.</a:t>
            </a:r>
          </a:p>
          <a:p>
            <a:r>
              <a:rPr kumimoji="0" lang="en-US" sz="2000" b="1" i="0" u="none" strike="noStrike" kern="1200" cap="none" spc="0" normalizeH="0" baseline="0" noProof="0" dirty="0">
                <a:ln>
                  <a:noFill/>
                </a:ln>
                <a:solidFill>
                  <a:srgbClr val="021836"/>
                </a:solidFill>
                <a:effectLst/>
                <a:uLnTx/>
                <a:uFillTx/>
                <a:latin typeface="Aptos" panose="02110004020202020204"/>
                <a:ea typeface="+mn-ea"/>
                <a:cs typeface="+mn-cs"/>
              </a:rPr>
              <a:t>Accountability must persist after launch.</a:t>
            </a:r>
          </a:p>
        </p:txBody>
      </p:sp>
    </p:spTree>
    <p:extLst>
      <p:ext uri="{BB962C8B-B14F-4D97-AF65-F5344CB8AC3E}">
        <p14:creationId xmlns:p14="http://schemas.microsoft.com/office/powerpoint/2010/main" val="2725457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860C-3C96-91D2-DC39-7E9FBC311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A6201-4469-B78E-E758-10F534CF0C5D}"/>
              </a:ext>
            </a:extLst>
          </p:cNvPr>
          <p:cNvSpPr>
            <a:spLocks noGrp="1"/>
          </p:cNvSpPr>
          <p:nvPr>
            <p:ph type="title"/>
          </p:nvPr>
        </p:nvSpPr>
        <p:spPr>
          <a:xfrm>
            <a:off x="273533" y="0"/>
            <a:ext cx="8511237" cy="1325563"/>
          </a:xfrm>
        </p:spPr>
        <p:txBody>
          <a:bodyPr>
            <a:normAutofit/>
          </a:bodyPr>
          <a:lstStyle/>
          <a:p>
            <a:r>
              <a:rPr lang="en-US" sz="3600" dirty="0"/>
              <a:t>About this Orientation &amp; Methodology Map</a:t>
            </a:r>
          </a:p>
        </p:txBody>
      </p:sp>
      <p:sp>
        <p:nvSpPr>
          <p:cNvPr id="8" name="Content Placeholder 2">
            <a:extLst>
              <a:ext uri="{FF2B5EF4-FFF2-40B4-BE49-F238E27FC236}">
                <a16:creationId xmlns:a16="http://schemas.microsoft.com/office/drawing/2014/main" id="{A3926D50-2573-B5C3-CD8A-53C4DE4DD9D9}"/>
              </a:ext>
            </a:extLst>
          </p:cNvPr>
          <p:cNvSpPr txBox="1">
            <a:spLocks/>
          </p:cNvSpPr>
          <p:nvPr/>
        </p:nvSpPr>
        <p:spPr>
          <a:xfrm>
            <a:off x="359230" y="1130078"/>
            <a:ext cx="8230960" cy="566737"/>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solidFill>
                  <a:srgbClr val="021836"/>
                </a:solidFill>
              </a:rPr>
              <a:t>Companion Resource</a:t>
            </a:r>
            <a:br>
              <a:rPr lang="en-US" sz="1200" dirty="0"/>
            </a:br>
            <a:r>
              <a:rPr lang="en-US" sz="1200" dirty="0"/>
              <a:t>This Orientation &amp; Methodology Map is designed to be used with the </a:t>
            </a:r>
            <a:r>
              <a:rPr lang="en-US" sz="1200" i="1" dirty="0"/>
              <a:t>AI Operational Readiness &amp; Governance Practitioner Guide and AI Operational Readiness and Governance Toolkit</a:t>
            </a:r>
            <a:r>
              <a:rPr lang="en-US" sz="1200" dirty="0"/>
              <a:t>. </a:t>
            </a:r>
            <a:br>
              <a:rPr lang="en-US" sz="1200" dirty="0"/>
            </a:br>
            <a:br>
              <a:rPr lang="en-US" sz="1200" dirty="0"/>
            </a:br>
            <a:r>
              <a:rPr lang="en-US" sz="1200" dirty="0"/>
              <a:t>For the complete methodology, principles, and lifecycle content, access the Practitioner Guide here:</a:t>
            </a:r>
            <a:br>
              <a:rPr lang="en-US" sz="1200" dirty="0"/>
            </a:br>
            <a:r>
              <a:rPr lang="en-US" sz="1200" dirty="0"/>
              <a:t> </a:t>
            </a:r>
            <a:r>
              <a:rPr lang="en-US" sz="1200" dirty="0">
                <a:hlinkClick r:id="rId3"/>
              </a:rPr>
              <a:t>Access the AI Operational Readiness &amp; Governance Practitioner Guide on </a:t>
            </a:r>
            <a:r>
              <a:rPr lang="en-US" sz="1200" dirty="0" err="1">
                <a:hlinkClick r:id="rId3"/>
              </a:rPr>
              <a:t>Zenodo</a:t>
            </a:r>
            <a:endParaRPr lang="en-US" sz="1200" dirty="0"/>
          </a:p>
          <a:p>
            <a:pPr marL="0" indent="0">
              <a:buNone/>
            </a:pPr>
            <a:r>
              <a:rPr lang="en-US" sz="1200" dirty="0"/>
              <a:t>Access the Toolkit here:</a:t>
            </a:r>
          </a:p>
          <a:p>
            <a:pPr marL="0" indent="0">
              <a:spcBef>
                <a:spcPts val="0"/>
              </a:spcBef>
              <a:buNone/>
            </a:pPr>
            <a:r>
              <a:rPr lang="en-US" sz="1200" dirty="0">
                <a:hlinkClick r:id="rId4"/>
              </a:rPr>
              <a:t>AI Operational Readiness &amp; Governance Toolkit | </a:t>
            </a:r>
            <a:r>
              <a:rPr lang="en-US" sz="1200" dirty="0" err="1">
                <a:hlinkClick r:id="rId4"/>
              </a:rPr>
              <a:t>Zenodo</a:t>
            </a:r>
            <a:endParaRPr lang="en-US" sz="1200" dirty="0"/>
          </a:p>
          <a:p>
            <a:pPr marL="0" indent="0">
              <a:buNone/>
            </a:pPr>
            <a:r>
              <a:rPr lang="en-US" sz="1200" b="1" dirty="0">
                <a:solidFill>
                  <a:srgbClr val="021836"/>
                </a:solidFill>
              </a:rPr>
              <a:t>Use &amp; Attribution</a:t>
            </a:r>
            <a:br>
              <a:rPr lang="en-US" sz="1200" dirty="0"/>
            </a:br>
            <a:r>
              <a:rPr lang="en-US" sz="1200" dirty="0"/>
              <a:t>© 2026 Chloe C. Devine. All rights reserved. You may use this resource in its original form for practitioner reference and application. When referenced, reproduced, presented, or incorporated into other work, attribution to Chloe C. Devine and the </a:t>
            </a:r>
            <a:r>
              <a:rPr lang="en-US" sz="1200" i="1" dirty="0"/>
              <a:t>AI Operational Readiness and Governance Practitioner Guide</a:t>
            </a:r>
            <a:r>
              <a:rPr lang="en-US" sz="1200" dirty="0"/>
              <a:t> is required. </a:t>
            </a:r>
          </a:p>
          <a:p>
            <a:pPr marL="0" indent="0">
              <a:buNone/>
            </a:pPr>
            <a:r>
              <a:rPr lang="en-US" sz="1200" dirty="0"/>
              <a:t>You may not alter or republish the underlying framework, instructional content, attribution, or methodology as a modified work without permission.</a:t>
            </a:r>
          </a:p>
          <a:p>
            <a:pPr marL="0" indent="0">
              <a:buNone/>
            </a:pPr>
            <a:r>
              <a:rPr lang="en-US" sz="1200" b="1" dirty="0">
                <a:solidFill>
                  <a:srgbClr val="021836"/>
                </a:solidFill>
              </a:rPr>
              <a:t>AI Assistance Disclosure</a:t>
            </a:r>
            <a:br>
              <a:rPr lang="en-US" sz="1200" dirty="0"/>
            </a:br>
            <a:r>
              <a:rPr lang="en-US" sz="1200" dirty="0"/>
              <a:t>AI tools supported research synthesis, content organization, editing, and design assistance in developing this resource. The framework, methodology, practitioner guidance, and final editorial decisions were developed and reviewed by Chloe C. Devine.</a:t>
            </a:r>
          </a:p>
          <a:p>
            <a:pPr marL="0" indent="0">
              <a:buNone/>
            </a:pPr>
            <a:r>
              <a:rPr lang="en-US" sz="1200" b="1" dirty="0">
                <a:solidFill>
                  <a:srgbClr val="021836"/>
                </a:solidFill>
              </a:rPr>
              <a:t>Practitioner Notice</a:t>
            </a:r>
            <a:br>
              <a:rPr lang="en-US" sz="1200" dirty="0"/>
            </a:br>
            <a:r>
              <a:rPr lang="en-US" sz="1200" dirty="0"/>
              <a:t>This resource provides practical guidance and is not a substitute for legal, regulatory, security, compliance, or other professional advice. Organizations should adapt its application to their specific context, risks, policies, and obligations.</a:t>
            </a:r>
          </a:p>
          <a:p>
            <a:pPr marL="0" indent="0" algn="r">
              <a:spcBef>
                <a:spcPts val="0"/>
              </a:spcBef>
              <a:buNone/>
            </a:pPr>
            <a:r>
              <a:rPr lang="en-US" sz="1200" dirty="0"/>
              <a:t>AI Operational Readiness &amp; Governance Toolkit: Orientation &amp; Methodology Map | Version 2.0 | September 2026</a:t>
            </a:r>
          </a:p>
          <a:p>
            <a:pPr marL="0" indent="0" algn="r">
              <a:spcBef>
                <a:spcPts val="0"/>
              </a:spcBef>
              <a:buNone/>
            </a:pPr>
            <a:r>
              <a:rPr lang="en-US" sz="1200" dirty="0"/>
              <a:t>DOI: 10.5281/zenodo.22983272</a:t>
            </a:r>
          </a:p>
          <a:p>
            <a:pPr marL="0" indent="0" algn="r">
              <a:spcBef>
                <a:spcPts val="0"/>
              </a:spcBef>
              <a:buNone/>
            </a:pPr>
            <a:r>
              <a:rPr lang="en-US" sz="1200" dirty="0"/>
              <a:t>https://doi.org/10.5281/zenodo.22983272</a:t>
            </a:r>
          </a:p>
          <a:p>
            <a:pPr marL="0" marR="0" lvl="0" indent="0" algn="l" defTabSz="914400" rtl="0" eaLnBrk="1" fontAlgn="auto" latinLnBrk="0" hangingPunct="1">
              <a:lnSpc>
                <a:spcPct val="90000"/>
              </a:lnSpc>
              <a:spcBef>
                <a:spcPts val="1000"/>
              </a:spcBef>
              <a:spcAft>
                <a:spcPts val="0"/>
              </a:spcAft>
              <a:buClr>
                <a:srgbClr val="021836"/>
              </a:buClr>
              <a:buSzTx/>
              <a:buFont typeface="Arial" panose="020B0604020202020204" pitchFamily="34" charset="0"/>
              <a:buNone/>
              <a:tabLst/>
              <a:defRPr/>
            </a:pPr>
            <a:endParaRPr kumimoji="0" lang="en-US" sz="1200" i="0" u="none" strike="noStrike" kern="1200" cap="none" spc="0" normalizeH="0" baseline="0" noProof="0" dirty="0">
              <a:ln>
                <a:noFill/>
              </a:ln>
              <a:solidFill>
                <a:srgbClr val="021836"/>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09926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1397</TotalTime>
  <Words>989</Words>
  <Application>Microsoft Office PowerPoint</Application>
  <PresentationFormat>On-screen Show (4:3)</PresentationFormat>
  <Paragraphs>156</Paragraphs>
  <Slides>8</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Aptos</vt:lpstr>
      <vt:lpstr>Aptos Display</vt:lpstr>
      <vt:lpstr>Arial</vt:lpstr>
      <vt:lpstr>Office Theme</vt:lpstr>
      <vt:lpstr>1_Office Theme</vt:lpstr>
      <vt:lpstr>PowerPoint Presentation</vt:lpstr>
      <vt:lpstr>Methodology Overview</vt:lpstr>
      <vt:lpstr>Methodology Map</vt:lpstr>
      <vt:lpstr>How the Toolkit Assets Work</vt:lpstr>
      <vt:lpstr>Asset Map</vt:lpstr>
      <vt:lpstr>From Discovery to Accountable Operations</vt:lpstr>
      <vt:lpstr>Key Principles</vt:lpstr>
      <vt:lpstr>About this Orientation &amp; Methodology 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Chloe Devine</dc:creator>
  <cp:lastModifiedBy>Chloe Devine</cp:lastModifiedBy>
  <cp:revision>14</cp:revision>
  <dcterms:created xsi:type="dcterms:W3CDTF">2026-06-10T23:49:53Z</dcterms:created>
  <dcterms:modified xsi:type="dcterms:W3CDTF">2026-09-26T21:41:40Z</dcterms:modified>
</cp:coreProperties>
</file>